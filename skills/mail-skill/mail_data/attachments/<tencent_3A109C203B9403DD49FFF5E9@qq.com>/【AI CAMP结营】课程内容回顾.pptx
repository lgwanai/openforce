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BM" initials="A" lastIdx="0" clrIdx="0"/>
  <p:cmAuthor id="2" name="未知用户95" initials="未" lastIdx="0" clrIdx="1"/>
  <p:cmAuthor id="3" name="Li,Chen(ECR_VAS)" initials="L" lastIdx="0" clrIdx="2"/>
  <p:cmAuthor id="4" name="He,Yanan" initials="H" lastIdx="0" clrIdx="3"/>
  <p:cmAuthor id="5" name="未知用户96" initials="未" lastIdx="0" clrIdx="4"/>
  <p:cmAuthor id="6" name="Lenovo" initials="L" lastIdx="0" clrIdx="5"/>
  <p:cmAuthor id="7" name="未知用户" initials="未" lastIdx="0" clrIdx="6"/>
  <p:cmAuthor id="8" name="未知用户97" initials="未" lastIdx="0" clrIdx="7"/>
  <p:cmAuthor id="9" name="新萝卜家园" initials="新" lastIdx="0" clrIdx="8"/>
  <p:cmAuthor id="10" name="李正" initials="李" lastIdx="0" clrIdx="9"/>
  <p:cmAuthor id="11" name="未知用户98" initials="未" lastIdx="0" clrIdx="10"/>
  <p:cmAuthor id="12" name="China" initials="C" lastIdx="0" clrIdx="11"/>
  <p:cmAuthor id="13" name="吴铭锐" initials="吴" lastIdx="0" clrIdx="12"/>
  <p:cmAuthor id="14" name="未知用户99" initials="未" lastIdx="0" clrIdx="13"/>
  <p:cmAuthor id="15" name="张杰" initials="张" lastIdx="0" clrIdx="14"/>
  <p:cmAuthor id="16" name="孟祥超" initials="孟" lastIdx="0" clrIdx="15"/>
  <p:cmAuthor id="17" name="未知用户100" initials="未" lastIdx="0" clrIdx="16"/>
  <p:cmAuthor id="18" name="杨艳霞" initials="杨" lastIdx="0" clrIdx="17"/>
  <p:cmAuthor id="19" name="陶川" initials="陶" lastIdx="0" clrIdx="18"/>
  <p:cmAuthor id="20" name="未知用户101" initials="未" lastIdx="0" clrIdx="19"/>
  <p:cmAuthor id="21" name="user" initials="u" lastIdx="0" clrIdx="20"/>
  <p:cmAuthor id="22" name="周开雷" initials="周" lastIdx="0" clrIdx="21"/>
  <p:cmAuthor id="23" name="未定义" initials="未" lastIdx="0" clrIdx="22"/>
  <p:cmAuthor id="24" name="未知用户22" initials="未" lastIdx="0" clrIdx="23"/>
  <p:cmAuthor id="25" name="Microsoft Office 用户" initials="M" lastIdx="0" clrIdx="24"/>
  <p:cmAuthor id="26" name="未知用户4" initials="未" lastIdx="0" clrIdx="25"/>
  <p:cmAuthor id="27" name="lx" initials="l" lastIdx="0" clrIdx="26"/>
  <p:cmAuthor id="28" name="段振华" initials="段" lastIdx="0" clrIdx="27"/>
  <p:cmAuthor id="29" name="andres.x.gomez" initials="a" lastIdx="0" clrIdx="28"/>
  <p:cmAuthor id="30" name="赵兰玉" initials="赵" lastIdx="0" clrIdx="29"/>
  <p:cmAuthor id="31" name="lou cynthia" initials="l" lastIdx="0" clrIdx="30"/>
  <p:cmAuthor id="32" name="微软用户" initials="微" lastIdx="0" clrIdx="31"/>
  <p:cmAuthor id="33" name="李振宇" initials="李" lastIdx="0" clrIdx="32"/>
  <p:cmAuthor id="34" name="Author" initials="A" lastIdx="0" clrIdx="33"/>
  <p:cmAuthor id="35" name="nine" initials="n" lastIdx="0" clrIdx="34"/>
  <p:cmAuthor id="36" name="邹洋" initials="邹" lastIdx="0" clrIdx="35"/>
  <p:cmAuthor id="37" name="马红" initials="马" lastIdx="0" clrIdx="36"/>
  <p:cmAuthor id="38" name="王志刚" initials="王" lastIdx="0" clrIdx="37"/>
  <p:cmAuthor id="39" name="未知用户13" initials="未" lastIdx="0" clrIdx="38"/>
  <p:cmAuthor id="40" name="未知用户5" initials="未" lastIdx="0" clrIdx="39"/>
  <p:cmAuthor id="41" name="yangkun" initials="y" lastIdx="0" clrIdx="40"/>
  <p:cmAuthor id="42" name="王明明" initials="王" lastIdx="0" clrIdx="41"/>
  <p:cmAuthor id="43" name="Lenovo User" initials="L" lastIdx="0" clrIdx="42"/>
  <p:cmAuthor id="44" name="hys2" initials="h" lastIdx="0" clrIdx="43"/>
  <p:cmAuthor id="45" name="赵琦" initials="赵" lastIdx="0" clrIdx="44"/>
  <p:cmAuthor id="46" name="朱绍春" initials="朱" lastIdx="0" clrIdx="45"/>
  <p:cmAuthor id="47" name="番茄花园" initials="番" lastIdx="0" clrIdx="46"/>
  <p:cmAuthor id="48" name="朱悦龙" initials="朱" lastIdx="0" clrIdx="47"/>
  <p:cmAuthor id="49" name="evil" initials="e" lastIdx="0" clrIdx="48"/>
  <p:cmAuthor id="50" name="dell" initials="d" lastIdx="0" clrIdx="49"/>
  <p:cmAuthor id="51" name="吕志勇" initials="吕" lastIdx="0" clrIdx="50"/>
  <p:cmAuthor id="52" name="何已龙" initials="何" lastIdx="0" clrIdx="51"/>
  <p:cmAuthor id="53" name="叶得会" initials="叶" lastIdx="0" clrIdx="52"/>
  <p:cmAuthor id="54" name="未知用户6" initials="未" lastIdx="0" clrIdx="53"/>
  <p:cmAuthor id="55" name="未知用户8" initials="未" lastIdx="0" clrIdx="54"/>
  <p:cmAuthor id="56" name="未知用户7" initials="未" lastIdx="0" clrIdx="55"/>
  <p:cmAuthor id="57" name="未知用户9" initials="未" lastIdx="0" clrIdx="56"/>
  <p:cmAuthor id="58" name="未知用户17" initials="未" lastIdx="0" clrIdx="57"/>
  <p:cmAuthor id="59" name="未知用户18" initials="未" lastIdx="0" clrIdx="58"/>
  <p:cmAuthor id="60" name="未知用户20" initials="未" lastIdx="0" clrIdx="59"/>
  <p:cmAuthor id="61" name="未知用户19" initials="未" lastIdx="0" clrIdx="60"/>
  <p:cmAuthor id="62" name="未知用户21" initials="未" lastIdx="0" clrIdx="61"/>
  <p:cmAuthor id="63" name="未知用户14" initials="未" lastIdx="0" clrIdx="62"/>
  <p:cmAuthor id="64" name="未知用户15" initials="未" lastIdx="0" clrIdx="63"/>
  <p:cmAuthor id="65" name="未知用户16" initials="未" lastIdx="0" clrIdx="64"/>
  <p:cmAuthor id="66" name="郝崇" initials="郝" lastIdx="0" clrIdx="65"/>
  <p:cmAuthor id="67" name="吴杰" initials="吴" lastIdx="0" clrIdx="66"/>
  <p:cmAuthor id="68" name="刘丽仙" initials="刘" lastIdx="0" clrIdx="67"/>
  <p:cmAuthor id="69" name="马静" initials="马" lastIdx="0" clrIdx="68"/>
  <p:cmAuthor id="70" name="李百秋" initials="李" lastIdx="0" clrIdx="69"/>
  <p:cmAuthor id="71" name="范作霖" initials="范" lastIdx="0" clrIdx="70"/>
  <p:cmAuthor id="72" name="rq fan" initials="r" lastIdx="0" clrIdx="71"/>
  <p:cmAuthor id="73" name="李刚" initials="李" lastIdx="0" clrIdx="72"/>
  <p:cmAuthor id="74" name="dingbo" initials="d" lastIdx="0" clrIdx="73"/>
  <p:cmAuthor id="75" name="李永欣" initials="李" lastIdx="0" clrIdx="74"/>
  <p:cmAuthor id="76" name="仝德志" initials="仝" lastIdx="0" clrIdx="75"/>
  <p:cmAuthor id="77" name="丁芙蓉" initials="丁" lastIdx="0" clrIdx="76"/>
  <p:cmAuthor id="78" name="许弘扬" initials="许" lastIdx="0" clrIdx="77"/>
  <p:cmAuthor id="79" name="未知用户23" initials="未" lastIdx="0" clrIdx="78"/>
  <p:cmAuthor id="80" name="未知用户24" initials="未" lastIdx="0" clrIdx="79"/>
  <p:cmAuthor id="81" name="未知用户25" initials="未" lastIdx="0" clrIdx="80"/>
  <p:cmAuthor id="82" name="未知用户26" initials="未" lastIdx="0" clrIdx="81"/>
  <p:cmAuthor id="83" name="未知用户27" initials="未" lastIdx="0" clrIdx="82"/>
  <p:cmAuthor id="84" name="未知用户28" initials="未" lastIdx="0" clrIdx="83"/>
  <p:cmAuthor id="85" name="未知用户29" initials="未" lastIdx="0" clrIdx="84"/>
  <p:cmAuthor id="86" name="未知用户30" initials="未" lastIdx="0" clrIdx="85"/>
  <p:cmAuthor id="87" name="未知用户10" initials="未" lastIdx="0" clrIdx="86"/>
  <p:cmAuthor id="88" name="未知用户12" initials="未" lastIdx="0" clrIdx="87"/>
  <p:cmAuthor id="89" name="未知用户11" initials="未" lastIdx="0" clrIdx="88"/>
  <p:cmAuthor id="90" name="贡鑫" initials="贡" lastIdx="0" clrIdx="89"/>
  <p:cmAuthor id="91" name="administrator1" initials="a" lastIdx="0" clrIdx="90"/>
  <p:cmAuthor id="92" name="杜雪梅" initials="杜" lastIdx="0" clrIdx="91"/>
  <p:cmAuthor id="93" name="lijin" initials="l" lastIdx="0" clrIdx="92"/>
  <p:cmAuthor id="94" name="gtmc" initials="g" lastIdx="0" clrIdx="93"/>
  <p:cmAuthor id="95" name="chunsong_hu" initials="c" lastIdx="0" clrIdx="94"/>
  <p:cmAuthor id="96" name="张雁" initials="张" lastIdx="0" clrIdx="95"/>
  <p:cmAuthor id="97" name="贾清山" initials="贾" lastIdx="0" clrIdx="96"/>
  <p:cmAuthor id="98" name="陈桂枝" initials="陈" lastIdx="0" clrIdx="97"/>
  <p:cmAuthor id="99" name="王向羽" initials="王" lastIdx="0" clrIdx="98"/>
  <p:cmAuthor id="100" name="thinkpad" initials="t" lastIdx="0" clrIdx="99"/>
  <p:cmAuthor id="101" name="LEO L" initials="L" lastIdx="0" clrIdx="100"/>
  <p:cmAuthor id="102" name="马海燕" initials="马" lastIdx="0" clrIdx="101"/>
  <p:cmAuthor id="103" name="libin1204@163.com" initials="l" lastIdx="0" clrIdx="102"/>
  <p:cmAuthor id="104" name="Qingyunli" initials="Q" lastIdx="0" clrIdx="103"/>
  <p:cmAuthor id="105" name="吴军" initials="吴" lastIdx="0" clrIdx="104"/>
  <p:cmAuthor id="106" name="USER" initials="U" lastIdx="0" clrIdx="105"/>
  <p:cmAuthor id="107" name="陈尚文" initials="陈" lastIdx="0" clrIdx="106"/>
  <p:cmAuthor id="108" name="张宏伟" initials="张" lastIdx="0" clrIdx="107"/>
  <p:cmAuthor id="109" name="未知用户36" initials="未" lastIdx="0" clrIdx="108"/>
  <p:cmAuthor id="110" name="Pei" initials="P" lastIdx="0" clrIdx="109"/>
  <p:cmAuthor id="111" name="徐光宇" initials="徐" lastIdx="0" clrIdx="110"/>
  <p:cmAuthor id="112" name="mac" initials="m" lastIdx="0" clrIdx="111"/>
  <p:cmAuthor id="113" name="Liu, Leo (MBSHR cs)" initials="L" lastIdx="0" clrIdx="112"/>
  <p:cmAuthor id="114" name="刘豹" initials="刘" lastIdx="0" clrIdx="113"/>
  <p:cmAuthor id="115" name="张艳芳" initials="张" lastIdx="0" clrIdx="114"/>
  <p:cmAuthor id="116" name="刘广艳" initials="刘" lastIdx="0" clrIdx="115"/>
  <p:cmAuthor id="117" name="邹积逊" initials="邹" lastIdx="0" clrIdx="116"/>
  <p:cmAuthor id="118" name="yangyanxia" initials="y" lastIdx="0" clrIdx="117"/>
  <p:cmAuthor id="119" name="刘春辉" initials="刘" lastIdx="0" clrIdx="118"/>
  <p:cmAuthor id="120" name="Youwen Sun" initials="Y" lastIdx="0" clrIdx="119"/>
  <p:cmAuthor id="121" name="杜娇龙" initials="杜" lastIdx="0" clrIdx="120"/>
  <p:cmAuthor id="122" name="张钦" initials="张" lastIdx="0" clrIdx="121"/>
  <p:cmAuthor id="123" name="涛娜" initials="涛" lastIdx="0" clrIdx="122"/>
  <p:cmAuthor id="124" name="未知用户80" initials="未" lastIdx="0" clrIdx="123"/>
  <p:cmAuthor id="125" name="李丽华" initials="李" lastIdx="0" clrIdx="124"/>
  <p:cmAuthor id="126" name="Microsoft 帐户" initials="M" lastIdx="0" clrIdx="125"/>
  <p:cmAuthor id="127" name="王志虎" initials="王" lastIdx="0" clrIdx="126"/>
  <p:cmAuthor id="128" name="魏永生" initials="魏" lastIdx="0" clrIdx="127"/>
  <p:cmAuthor id="129" name="Zhou, Judy" initials="Z" lastIdx="0" clrIdx="128"/>
  <p:cmAuthor id="130" name=" " initials=" " lastIdx="0" clrIdx="129"/>
  <p:cmAuthor id="131" name="未知用户51" initials="未" lastIdx="0" clrIdx="130"/>
  <p:cmAuthor id="132" name="未知用户82" initials="未" lastIdx="0" clrIdx="131"/>
  <p:cmAuthor id="133" name="未知用户52" initials="未" lastIdx="0" clrIdx="132"/>
  <p:cmAuthor id="134" name="侯 林" initials="侯" lastIdx="0" clrIdx="133"/>
  <p:cmAuthor id="135" name="孙大威" initials="孙" lastIdx="0" clrIdx="134"/>
  <p:cmAuthor id="136" name="未知用户83" initials="未" lastIdx="0" clrIdx="135"/>
  <p:cmAuthor id="137" name="李明" initials="李" lastIdx="0" clrIdx="136"/>
  <p:cmAuthor id="138" name="未知用户2" initials="未" lastIdx="0" clrIdx="137"/>
  <p:cmAuthor id="139" name="徐仕超" initials="徐" lastIdx="0" clrIdx="138"/>
  <p:cmAuthor id="140" name="未知用户84" initials="未" lastIdx="0" clrIdx="139"/>
  <p:cmAuthor id="141" name="Lzy" initials="L" lastIdx="0" clrIdx="140"/>
  <p:cmAuthor id="142" name="未知用户3" initials="未" lastIdx="0" clrIdx="141"/>
  <p:cmAuthor id="143" name="未知用户62" initials="未" lastIdx="0" clrIdx="142"/>
  <p:cmAuthor id="144" name="未知用户85" initials="未" lastIdx="0" clrIdx="143"/>
  <p:cmAuthor id="145" name="未知用户63" initials="未" lastIdx="0" clrIdx="144"/>
  <p:cmAuthor id="146" name="未知用户86" initials="未" lastIdx="0" clrIdx="145"/>
  <p:cmAuthor id="147" name="未知用户87" initials="未" lastIdx="0" clrIdx="146"/>
  <p:cmAuthor id="148" name="未知用户88" initials="未" lastIdx="0" clrIdx="147"/>
  <p:cmAuthor id="149" name="宋少霞" initials="宋" lastIdx="0" clrIdx="148"/>
  <p:cmAuthor id="150" name="未知用户89" initials="未" lastIdx="0" clrIdx="149"/>
  <p:cmAuthor id="151" name="未知用户90" initials="未" lastIdx="0" clrIdx="150"/>
  <p:cmAuthor id="152" name="张惠" initials="张" lastIdx="0" clrIdx="151"/>
  <p:cmAuthor id="153" name="未知用户91" initials="未" lastIdx="0" clrIdx="152"/>
  <p:cmAuthor id="154" name="未知用户92" initials="未" lastIdx="0" clrIdx="153"/>
  <p:cmAuthor id="155" name="panhong" initials="p" lastIdx="0" clrIdx="154"/>
  <p:cmAuthor id="156" name="未知用户93" initials="未" lastIdx="0" clrIdx="155"/>
  <p:cmAuthor id="157" name="未知用户94" initials="未" lastIdx="0" clrIdx="156"/>
  <p:cmAuthor id="158" name="Dannerbeck Anke, CB-1" initials="DAC" lastIdx="0" clrIdx="157"/>
  <p:cmAuthor id="159" name="Karen" initials="K" lastIdx="0" clrIdx="15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image" Target="../media/image2.png"/><Relationship Id="rId5" Type="http://schemas.openxmlformats.org/officeDocument/2006/relationships/tags" Target="../tags/tag21.xml"/><Relationship Id="rId4" Type="http://schemas.openxmlformats.org/officeDocument/2006/relationships/image" Target="../media/image1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image" Target="../media/image2.png"/><Relationship Id="rId5" Type="http://schemas.openxmlformats.org/officeDocument/2006/relationships/tags" Target="../tags/tag29.xml"/><Relationship Id="rId4" Type="http://schemas.openxmlformats.org/officeDocument/2006/relationships/image" Target="../media/image1.png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image" Target="../media/image2.png"/><Relationship Id="rId5" Type="http://schemas.openxmlformats.org/officeDocument/2006/relationships/tags" Target="../tags/tag69.xml"/><Relationship Id="rId4" Type="http://schemas.openxmlformats.org/officeDocument/2006/relationships/image" Target="../media/image1.png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2"/>
            </p:custDataLst>
          </p:nvPr>
        </p:nvSpPr>
        <p:spPr>
          <a:xfrm>
            <a:off x="635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 Medium" charset="0"/>
            </a:endParaRPr>
          </a:p>
        </p:txBody>
      </p:sp>
      <p:pic>
        <p:nvPicPr>
          <p:cNvPr id="3" name="图片 2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cxnSp>
        <p:nvCxnSpPr>
          <p:cNvPr id="32" name="直接连接符 31"/>
          <p:cNvCxnSpPr/>
          <p:nvPr userDrawn="1">
            <p:custDataLst>
              <p:tags r:id="rId7"/>
            </p:custDataLst>
          </p:nvPr>
        </p:nvCxnSpPr>
        <p:spPr>
          <a:xfrm>
            <a:off x="721895" y="5955632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 flipH="1">
            <a:off x="6902116" y="5987716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燕尾形 56"/>
          <p:cNvSpPr/>
          <p:nvPr userDrawn="1">
            <p:custDataLst>
              <p:tags r:id="rId9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10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1"/>
            </p:custDataLst>
          </p:nvPr>
        </p:nvSpPr>
        <p:spPr>
          <a:xfrm>
            <a:off x="5291323" y="5744812"/>
            <a:ext cx="1609354" cy="42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ea"/>
                <a:ea typeface="+mn-ea"/>
                <a:cs typeface="BMWGroupTN Condensed TT Medium" charset="0"/>
              </a:defRPr>
            </a:lvl1pPr>
          </a:lstStyle>
          <a:p>
            <a:pPr lvl="0" algn="ctr"/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type="body" idx="2"/>
            <p:custDataLst>
              <p:tags r:id="rId12"/>
            </p:custDataLst>
          </p:nvPr>
        </p:nvSpPr>
        <p:spPr>
          <a:xfrm>
            <a:off x="1929130" y="3429000"/>
            <a:ext cx="8334375" cy="432995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800" b="0" i="0" u="none" strike="noStrike" kern="1200" cap="none" spc="0" normalizeH="0" baseline="0" noProof="1" dirty="0">
                <a:solidFill>
                  <a:srgbClr val="FFFFFF"/>
                </a:solidFill>
                <a:latin typeface="+mn-ea"/>
                <a:ea typeface="+mn-ea"/>
                <a:cs typeface="BMWGroupTN Condensed TT Medium" charset="0"/>
              </a:defRPr>
            </a:lvl1pPr>
          </a:lstStyle>
          <a:p>
            <a:pPr lvl="0" algn="ctr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3"/>
            </p:custDataLst>
          </p:nvPr>
        </p:nvSpPr>
        <p:spPr>
          <a:xfrm>
            <a:off x="1929130" y="1586230"/>
            <a:ext cx="8334375" cy="16764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zh-CN" sz="6600" b="0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BMWGroupTN Condensed TT Medium" charset="0"/>
              </a:defRPr>
            </a:lvl1pPr>
          </a:lstStyle>
          <a:p>
            <a:pPr lvl="0" algn="ctr">
              <a:lnSpc>
                <a:spcPct val="100000"/>
              </a:lnSpc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/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 Medium" charset="0"/>
            </a:endParaRPr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cxnSp>
        <p:nvCxnSpPr>
          <p:cNvPr id="47" name="直接连接符 46"/>
          <p:cNvCxnSpPr/>
          <p:nvPr userDrawn="1">
            <p:custDataLst>
              <p:tags r:id="rId7"/>
            </p:custDataLst>
          </p:nvPr>
        </p:nvCxnSpPr>
        <p:spPr>
          <a:xfrm>
            <a:off x="2482182" y="1122981"/>
            <a:ext cx="9613231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854243" y="699376"/>
            <a:ext cx="2656708" cy="8316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5400" b="0" i="0" u="none" strike="noStrike" kern="1200" cap="none" spc="30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BMWGroupTN Condensed TT Medium" charset="0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 Medium" charset="0"/>
            </a:endParaRPr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sp>
        <p:nvSpPr>
          <p:cNvPr id="57" name="燕尾形 56"/>
          <p:cNvSpPr/>
          <p:nvPr userDrawn="1">
            <p:custDataLst>
              <p:tags r:id="rId7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8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9"/>
            </p:custDataLst>
          </p:nvPr>
        </p:nvSpPr>
        <p:spPr>
          <a:xfrm>
            <a:off x="2500489" y="2426407"/>
            <a:ext cx="7191021" cy="6430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800" b="1" i="1" u="none" strike="noStrike" kern="1200" cap="none" spc="30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atin typeface="+mn-ea"/>
                <a:ea typeface="+mn-ea"/>
                <a:cs typeface="BMWGroupTN Condensed TT Medium" charset="0"/>
              </a:defRPr>
            </a:lvl1pPr>
          </a:lstStyle>
          <a:p>
            <a:pPr lvl="0" algn="ctr"/>
            <a:r>
              <a:rPr>
                <a:sym typeface="+mn-ea"/>
              </a:rPr>
              <a:t>编辑节编号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2500630" y="3180080"/>
            <a:ext cx="7190740" cy="14052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5400" b="0" i="1" u="none" strike="noStrike" kern="1200" cap="none" spc="30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BMWGroupTN Condensed TT Medium" charset="0"/>
              </a:defRPr>
            </a:lvl1pPr>
          </a:lstStyle>
          <a:p>
            <a:pPr lvl="0" algn="ctr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3" name="内容占位符 1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839788" y="360000"/>
            <a:ext cx="10515600" cy="864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 Medium" charset="0"/>
            </a:endParaRPr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cxnSp>
        <p:nvCxnSpPr>
          <p:cNvPr id="32" name="直接连接符 31"/>
          <p:cNvCxnSpPr/>
          <p:nvPr userDrawn="1">
            <p:custDataLst>
              <p:tags r:id="rId7"/>
            </p:custDataLst>
          </p:nvPr>
        </p:nvCxnSpPr>
        <p:spPr>
          <a:xfrm>
            <a:off x="721895" y="5955632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 flipH="1">
            <a:off x="6902116" y="5987716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燕尾形 56"/>
          <p:cNvSpPr/>
          <p:nvPr userDrawn="1">
            <p:custDataLst>
              <p:tags r:id="rId9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10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1"/>
            </p:custDataLst>
          </p:nvPr>
        </p:nvSpPr>
        <p:spPr>
          <a:xfrm>
            <a:off x="2233930" y="1696085"/>
            <a:ext cx="7724140" cy="23431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600" b="0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BMWGroupTN Condensed TT Medium" charset="0"/>
              </a:defRPr>
            </a:lvl1pPr>
          </a:lstStyle>
          <a:p>
            <a:pPr lvl="0" algn="ctr">
              <a:lnSpc>
                <a:spcPct val="100000"/>
              </a:lnSpc>
            </a:pPr>
            <a:r>
              <a:rPr dirty="0" err="1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12"/>
            </p:custDataLst>
          </p:nvPr>
        </p:nvSpPr>
        <p:spPr>
          <a:xfrm>
            <a:off x="5291323" y="5744812"/>
            <a:ext cx="1609354" cy="42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ea"/>
                <a:ea typeface="+mn-ea"/>
                <a:cs typeface="BMWGroupTN Condensed TT Medium" charset="0"/>
              </a:defRPr>
            </a:lvl1pPr>
          </a:lstStyle>
          <a:p>
            <a:pPr lvl="0" algn="ctr"/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87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86.xml"/><Relationship Id="rId18" Type="http://schemas.openxmlformats.org/officeDocument/2006/relationships/tags" Target="../tags/tag85.xml"/><Relationship Id="rId17" Type="http://schemas.openxmlformats.org/officeDocument/2006/relationships/tags" Target="../tags/tag84.xml"/><Relationship Id="rId16" Type="http://schemas.openxmlformats.org/officeDocument/2006/relationships/tags" Target="../tags/tag83.xml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cxnSp>
        <p:nvCxnSpPr>
          <p:cNvPr id="7" name="直接连接符 6"/>
          <p:cNvCxnSpPr/>
          <p:nvPr userDrawn="1">
            <p:custDataLst>
              <p:tags r:id="rId13"/>
            </p:custDataLst>
          </p:nvPr>
        </p:nvCxnSpPr>
        <p:spPr>
          <a:xfrm flipV="1">
            <a:off x="583974" y="0"/>
            <a:ext cx="0" cy="644044"/>
          </a:xfrm>
          <a:prstGeom prst="line">
            <a:avLst/>
          </a:prstGeom>
          <a:noFill/>
          <a:ln w="18415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直接连接符 8"/>
          <p:cNvCxnSpPr/>
          <p:nvPr userDrawn="1">
            <p:custDataLst>
              <p:tags r:id="rId14"/>
            </p:custDataLst>
          </p:nvPr>
        </p:nvCxnSpPr>
        <p:spPr>
          <a:xfrm flipV="1">
            <a:off x="405554" y="0"/>
            <a:ext cx="0" cy="805603"/>
          </a:xfrm>
          <a:prstGeom prst="line">
            <a:avLst/>
          </a:prstGeom>
          <a:noFill/>
          <a:ln w="18415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BMWGroupTN Condensed TT Medium" charset="0"/>
                <a:ea typeface="BMWGroupTN Condensed TT Medium" charset="0"/>
                <a:cs typeface="BMWGroupTN Condensed TT Medium" charset="0"/>
              </a:defRPr>
            </a:lvl1pPr>
          </a:lstStyle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BMWGroupTN Condensed TT Medium" charset="0"/>
                <a:ea typeface="BMWGroupTN Condensed TT Medium" charset="0"/>
                <a:cs typeface="BMWGroupTN Condensed TT Medium" charset="0"/>
              </a:defRPr>
            </a:lvl1pPr>
          </a:lstStyle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BMWGroupTN Condensed TT Medium" charset="0"/>
                <a:ea typeface="BMWGroupTN Condensed TT Medium" charset="0"/>
                <a:cs typeface="BMWGroupTN Condensed TT Medium" charset="0"/>
              </a:defRPr>
            </a:lvl1pPr>
          </a:lstStyle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2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atin typeface="BMWGroupTN Condensed TT Medium" charset="0"/>
          <a:ea typeface="BMWGroupTN Condensed TT Medium" charset="0"/>
          <a:cs typeface="BMWGroupTN Condensed TT Medium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zh-CN" altLang="en-US" sz="1800" b="0" i="0" u="none" strike="noStrike" kern="1200" cap="none" spc="150" normalizeH="0" baseline="0" dirty="0">
          <a:ln>
            <a:noFill/>
            <a:prstDash val="sysDot"/>
          </a:ln>
          <a:solidFill>
            <a:srgbClr val="FFFFFF"/>
          </a:solidFill>
          <a:uFillTx/>
          <a:latin typeface="BMWGroupTN Condensed TT Medium" charset="0"/>
          <a:ea typeface="BMWGroupTN Condensed TT Medium" charset="0"/>
          <a:cs typeface="BMWGroupTN Condensed TT Medium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rgbClr val="FFFFFF"/>
          </a:solidFill>
          <a:uFillTx/>
          <a:latin typeface="BMWGroupTN Condensed TT Medium" charset="0"/>
          <a:ea typeface="BMWGroupTN Condensed TT Medium" charset="0"/>
          <a:cs typeface="BMWGroupTN Condensed TT Medium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rgbClr val="FFFFFF"/>
          </a:solidFill>
          <a:uFillTx/>
          <a:latin typeface="BMWGroupTN Condensed TT Medium" charset="0"/>
          <a:ea typeface="BMWGroupTN Condensed TT Medium" charset="0"/>
          <a:cs typeface="BMWGroupTN Condensed TT Medium" charset="0"/>
          <a:sym typeface="BMWGroupTN Condensed TT Medium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dirty="0">
          <a:solidFill>
            <a:srgbClr val="FFFFFF"/>
          </a:solidFill>
          <a:uFillTx/>
          <a:latin typeface="BMWGroupTN Condensed TT Medium" charset="0"/>
          <a:ea typeface="BMWGroupTN Condensed TT Medium" charset="0"/>
          <a:cs typeface="BMWGroupTN Condensed TT Medium" charset="0"/>
          <a:sym typeface="BMWGroupTN Condensed TT Medium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dirty="0">
          <a:solidFill>
            <a:srgbClr val="FFFFFF"/>
          </a:solidFill>
          <a:uFillTx/>
          <a:latin typeface="BMWGroupTN Condensed TT Medium" charset="0"/>
          <a:ea typeface="BMWGroupTN Condensed TT Medium" charset="0"/>
          <a:cs typeface="BMWGroupTN Condensed TT Medium" charset="0"/>
          <a:sym typeface="BMWGroupTN Condensed TT Medium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99.xml"/><Relationship Id="rId12" Type="http://schemas.openxmlformats.org/officeDocument/2006/relationships/image" Target="../media/image3.png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tags" Target="../tags/tag88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课程内容回顾</a:t>
            </a:r>
            <a:r>
              <a:rPr lang="en-US" altLang="zh-CN">
                <a:ea typeface="BMWGroupTN Condensed TT Medium" charset="0"/>
              </a:rPr>
              <a:t>——GAIA</a:t>
            </a:r>
            <a:r>
              <a:rPr lang="zh-CN" altLang="en-US">
                <a:ea typeface="宋体" panose="02010600030101010101" pitchFamily="2" charset="-122"/>
              </a:rPr>
              <a:t>知识库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文本框 16"/>
          <p:cNvSpPr txBox="1"/>
          <p:nvPr>
            <p:custDataLst>
              <p:tags r:id="rId2"/>
            </p:custDataLst>
          </p:nvPr>
        </p:nvSpPr>
        <p:spPr>
          <a:xfrm>
            <a:off x="473075" y="2728595"/>
            <a:ext cx="627380" cy="662305"/>
          </a:xfrm>
          <a:prstGeom prst="rect">
            <a:avLst/>
          </a:prstGeom>
          <a:noFill/>
        </p:spPr>
        <p:txBody>
          <a:bodyPr wrap="none" lIns="0" tIns="36195" rIns="0" bIns="0" rtlCol="0" anchor="ctr" anchorCtr="0">
            <a:noAutofit/>
          </a:bodyPr>
          <a:lstStyle/>
          <a:p>
            <a:pPr algn="ctr" fontAlgn="ctr"/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lt"/>
                <a:cs typeface="BMWGroupTN Condensed TT Light" charset="0"/>
                <a:sym typeface="+mn-ea"/>
              </a:rPr>
              <a:t>01</a:t>
            </a:r>
            <a:endParaRPr lang="en-US" altLang="zh-CN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lt"/>
              <a:cs typeface="BMWGroupTN Condensed TT Light" charset="0"/>
              <a:sym typeface="+mn-ea"/>
            </a:endParaRPr>
          </a:p>
        </p:txBody>
      </p:sp>
      <p:sp>
        <p:nvSpPr>
          <p:cNvPr id="44" name="文本框 43"/>
          <p:cNvSpPr txBox="1"/>
          <p:nvPr>
            <p:custDataLst>
              <p:tags r:id="rId3"/>
            </p:custDataLst>
          </p:nvPr>
        </p:nvSpPr>
        <p:spPr>
          <a:xfrm>
            <a:off x="1189673" y="3390344"/>
            <a:ext cx="3989705" cy="661670"/>
          </a:xfrm>
          <a:prstGeom prst="rect">
            <a:avLst/>
          </a:prstGeom>
          <a:noFill/>
        </p:spPr>
        <p:txBody>
          <a:bodyPr wrap="square" lIns="0" tIns="0" rIns="0" bIns="36195" rtlCol="0" anchor="ctr" anchorCtr="0">
            <a:noAutofit/>
          </a:bodyPr>
          <a:lstStyle/>
          <a:p>
            <a:pPr indent="0" algn="l" fontAlgn="ctr">
              <a:lnSpc>
                <a:spcPct val="140000"/>
              </a:lnSpc>
              <a:spcAft>
                <a:spcPts val="0"/>
              </a:spcAft>
            </a:pPr>
            <a:r>
              <a:rPr lang="zh-CN" altLang="en-US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掌握知识库构建与切片的核心逻辑</a:t>
            </a:r>
            <a:endParaRPr lang="zh-CN" altLang="en-US" sz="1600" kern="1300" dirty="0">
              <a:solidFill>
                <a:schemeClr val="tx1">
                  <a:lumMod val="85000"/>
                  <a:lumOff val="15000"/>
                </a:schemeClr>
              </a:solidFill>
              <a:uFillTx/>
              <a:cs typeface="BMWGroupTN Condensed TT Light" charset="0"/>
              <a:sym typeface="+mn-ea"/>
            </a:endParaRPr>
          </a:p>
        </p:txBody>
      </p:sp>
      <p:sp>
        <p:nvSpPr>
          <p:cNvPr id="45" name="文本框 44"/>
          <p:cNvSpPr txBox="1"/>
          <p:nvPr>
            <p:custDataLst>
              <p:tags r:id="rId4"/>
            </p:custDataLst>
          </p:nvPr>
        </p:nvSpPr>
        <p:spPr>
          <a:xfrm>
            <a:off x="1189673" y="4052014"/>
            <a:ext cx="3989705" cy="661670"/>
          </a:xfrm>
          <a:prstGeom prst="rect">
            <a:avLst/>
          </a:prstGeom>
          <a:noFill/>
        </p:spPr>
        <p:txBody>
          <a:bodyPr wrap="square" lIns="0" tIns="0" rIns="0" bIns="36195" rtlCol="0" anchor="ctr" anchorCtr="0">
            <a:noAutofit/>
          </a:bodyPr>
          <a:lstStyle/>
          <a:p>
            <a:pPr indent="0" algn="l" fontAlgn="ctr">
              <a:lnSpc>
                <a:spcPct val="140000"/>
              </a:lnSpc>
              <a:spcAft>
                <a:spcPts val="0"/>
              </a:spcAft>
            </a:pPr>
            <a:r>
              <a:rPr lang="zh-CN" altLang="en-US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识别传统</a:t>
            </a:r>
            <a:r>
              <a:rPr lang="en-US" altLang="zh-CN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RAG</a:t>
            </a:r>
            <a:r>
              <a:rPr lang="zh-CN" altLang="en-US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的局限与进阶优化方向</a:t>
            </a:r>
            <a:endParaRPr lang="zh-CN" altLang="en-US" sz="1600" kern="1300" dirty="0">
              <a:solidFill>
                <a:schemeClr val="tx1">
                  <a:lumMod val="85000"/>
                  <a:lumOff val="15000"/>
                </a:schemeClr>
              </a:solidFill>
              <a:uFillTx/>
              <a:cs typeface="BMWGroupTN Condensed TT Light" charset="0"/>
              <a:sym typeface="+mn-ea"/>
            </a:endParaRPr>
          </a:p>
        </p:txBody>
      </p:sp>
      <p:sp>
        <p:nvSpPr>
          <p:cNvPr id="46" name="文本框 45"/>
          <p:cNvSpPr txBox="1"/>
          <p:nvPr>
            <p:custDataLst>
              <p:tags r:id="rId5"/>
            </p:custDataLst>
          </p:nvPr>
        </p:nvSpPr>
        <p:spPr>
          <a:xfrm>
            <a:off x="1189038" y="2747724"/>
            <a:ext cx="3989705" cy="661670"/>
          </a:xfrm>
          <a:prstGeom prst="rect">
            <a:avLst/>
          </a:prstGeom>
          <a:noFill/>
        </p:spPr>
        <p:txBody>
          <a:bodyPr wrap="square" lIns="0" tIns="0" rIns="0" bIns="36195" rtlCol="0" anchor="ctr" anchorCtr="0">
            <a:noAutofit/>
          </a:bodyPr>
          <a:lstStyle/>
          <a:p>
            <a:pPr indent="0" algn="l" fontAlgn="ctr">
              <a:lnSpc>
                <a:spcPct val="140000"/>
              </a:lnSpc>
              <a:spcAft>
                <a:spcPts val="0"/>
              </a:spcAft>
            </a:pPr>
            <a:r>
              <a:rPr lang="zh-CN" altLang="en-US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理解</a:t>
            </a:r>
            <a:r>
              <a:rPr lang="en-US" altLang="zh-CN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RAG</a:t>
            </a:r>
            <a:r>
              <a:rPr lang="zh-CN" altLang="en-US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如何让</a:t>
            </a:r>
            <a:r>
              <a:rPr lang="en-US" altLang="zh-CN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AI“</a:t>
            </a:r>
            <a:r>
              <a:rPr lang="zh-CN" altLang="en-US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开卷考试</a:t>
            </a:r>
            <a:r>
              <a:rPr lang="en-US" altLang="zh-CN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”</a:t>
            </a:r>
            <a:endParaRPr lang="en-US" altLang="zh-CN" sz="1600" kern="1300" dirty="0">
              <a:solidFill>
                <a:schemeClr val="tx1">
                  <a:lumMod val="85000"/>
                  <a:lumOff val="15000"/>
                </a:schemeClr>
              </a:solidFill>
              <a:uFillTx/>
              <a:cs typeface="BMWGroupTN Condensed TT Light" charset="0"/>
              <a:sym typeface="+mn-ea"/>
            </a:endParaRPr>
          </a:p>
        </p:txBody>
      </p:sp>
      <p:sp>
        <p:nvSpPr>
          <p:cNvPr id="50" name="文本框 49"/>
          <p:cNvSpPr txBox="1"/>
          <p:nvPr>
            <p:custDataLst>
              <p:tags r:id="rId6"/>
            </p:custDataLst>
          </p:nvPr>
        </p:nvSpPr>
        <p:spPr>
          <a:xfrm>
            <a:off x="472758" y="3390979"/>
            <a:ext cx="627380" cy="662305"/>
          </a:xfrm>
          <a:prstGeom prst="rect">
            <a:avLst/>
          </a:prstGeom>
          <a:noFill/>
        </p:spPr>
        <p:txBody>
          <a:bodyPr wrap="none" lIns="0" tIns="36195" rIns="0" bIns="0" rtlCol="0" anchor="ctr" anchorCtr="0">
            <a:noAutofit/>
            <a:scene3d>
              <a:camera prst="orthographicFront"/>
              <a:lightRig rig="threePt" dir="t"/>
            </a:scene3d>
          </a:bodyPr>
          <a:lstStyle/>
          <a:p>
            <a:pPr algn="ctr" fontAlgn="ctr"/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lt"/>
                <a:cs typeface="BMWGroupTN Condensed TT Light" charset="0"/>
                <a:sym typeface="+mn-ea"/>
              </a:rPr>
              <a:t>02</a:t>
            </a:r>
            <a:endParaRPr lang="en-US" altLang="zh-CN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lt"/>
              <a:cs typeface="BMWGroupTN Condensed TT Light" charset="0"/>
              <a:sym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7"/>
            </p:custDataLst>
          </p:nvPr>
        </p:nvSpPr>
        <p:spPr>
          <a:xfrm>
            <a:off x="472758" y="4053284"/>
            <a:ext cx="627380" cy="662305"/>
          </a:xfrm>
          <a:prstGeom prst="rect">
            <a:avLst/>
          </a:prstGeom>
          <a:noFill/>
        </p:spPr>
        <p:txBody>
          <a:bodyPr wrap="none" lIns="0" tIns="36195" rIns="0" bIns="0" rtlCol="0" anchor="ctr" anchorCtr="0">
            <a:noAutofit/>
            <a:scene3d>
              <a:camera prst="orthographicFront"/>
              <a:lightRig rig="threePt" dir="t"/>
            </a:scene3d>
          </a:bodyPr>
          <a:lstStyle/>
          <a:p>
            <a:pPr algn="ctr" fontAlgn="ctr"/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lt"/>
                <a:cs typeface="BMWGroupTN Condensed TT Light" charset="0"/>
                <a:sym typeface="+mn-ea"/>
              </a:rPr>
              <a:t>03</a:t>
            </a:r>
            <a:endParaRPr lang="en-US" altLang="zh-CN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lt"/>
              <a:cs typeface="BMWGroupTN Condensed TT Light" charset="0"/>
              <a:sym typeface="+mn-ea"/>
            </a:endParaRPr>
          </a:p>
        </p:txBody>
      </p:sp>
      <p:sp>
        <p:nvSpPr>
          <p:cNvPr id="8" name="文本占位符 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66750" y="2023745"/>
            <a:ext cx="1818005" cy="484505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r>
              <a:rPr lang="zh-CN" altLang="en-US" sz="2400">
                <a:solidFill>
                  <a:srgbClr val="000000"/>
                </a:solidFill>
                <a:latin typeface="BMWGroupTN Condensed TT Light" charset="0"/>
                <a:ea typeface="BMWGroupTN Condensed TT Light" charset="0"/>
              </a:rPr>
              <a:t>课程目标</a:t>
            </a:r>
            <a:endParaRPr lang="zh-CN" altLang="en-US" sz="2400">
              <a:solidFill>
                <a:srgbClr val="000000"/>
              </a:solidFill>
              <a:latin typeface="BMWGroupTN Condensed TT Light" charset="0"/>
              <a:ea typeface="BMWGroupTN Condensed TT Light" charset="0"/>
            </a:endParaRPr>
          </a:p>
        </p:txBody>
      </p:sp>
      <p:cxnSp>
        <p:nvCxnSpPr>
          <p:cNvPr id="32" name="直接连接符 31"/>
          <p:cNvCxnSpPr/>
          <p:nvPr userDrawn="1">
            <p:custDataLst>
              <p:tags r:id="rId9"/>
            </p:custDataLst>
          </p:nvPr>
        </p:nvCxnSpPr>
        <p:spPr>
          <a:xfrm flipH="1">
            <a:off x="507265" y="3357847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直接连接符 9"/>
          <p:cNvCxnSpPr/>
          <p:nvPr userDrawn="1">
            <p:custDataLst>
              <p:tags r:id="rId10"/>
            </p:custDataLst>
          </p:nvPr>
        </p:nvCxnSpPr>
        <p:spPr>
          <a:xfrm flipH="1">
            <a:off x="507265" y="4000467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直接连接符 10"/>
          <p:cNvCxnSpPr/>
          <p:nvPr userDrawn="1">
            <p:custDataLst>
              <p:tags r:id="rId11"/>
            </p:custDataLst>
          </p:nvPr>
        </p:nvCxnSpPr>
        <p:spPr>
          <a:xfrm flipH="1">
            <a:off x="507265" y="4643087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78400" y="1343660"/>
            <a:ext cx="7077075" cy="418782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7146290" cy="72009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RAG：让AI"带着宝马的资料来见你"</a:t>
            </a:r>
            <a:endParaRPr lang="zh-CN" altLang="en-US">
              <a:sym typeface="+mn-ea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95960" y="992505"/>
            <a:ext cx="11250295" cy="22225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不靠AI的记忆，靠AI现场查阅宝马专属知识库</a:t>
            </a:r>
            <a:endParaRPr lang="en-US" altLang="zh-CN" sz="18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492125" y="14446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99A1AF"/>
          </a:solidFill>
        </p:spPr>
      </p:sp>
      <p:sp>
        <p:nvSpPr>
          <p:cNvPr id="19" name="Shape 5"/>
          <p:cNvSpPr/>
          <p:nvPr/>
        </p:nvSpPr>
        <p:spPr>
          <a:xfrm>
            <a:off x="631031" y="15716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0" name="Text 6"/>
          <p:cNvSpPr/>
          <p:nvPr/>
        </p:nvSpPr>
        <p:spPr>
          <a:xfrm>
            <a:off x="1031875" y="1460500"/>
            <a:ext cx="178593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chemeClr val="tx1">
                    <a:lumMod val="85000"/>
                  </a:scheme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传统AI（纯大模型）</a:t>
            </a:r>
            <a:endParaRPr lang="en-US" sz="1500" b="1" dirty="0">
              <a:solidFill>
                <a:schemeClr val="tx1">
                  <a:lumMod val="85000"/>
                </a:schemeClr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1" name="Text 7"/>
          <p:cNvSpPr/>
          <p:nvPr/>
        </p:nvSpPr>
        <p:spPr>
          <a:xfrm>
            <a:off x="1031875" y="1714500"/>
            <a:ext cx="17462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闭卷考试模式</a:t>
            </a:r>
            <a:endParaRPr lang="en-US" sz="875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492125" y="2016125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9"/>
          <p:cNvSpPr/>
          <p:nvPr/>
        </p:nvSpPr>
        <p:spPr>
          <a:xfrm>
            <a:off x="595630" y="2234565"/>
            <a:ext cx="166370" cy="16637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63500" y="43656"/>
                </a:moveTo>
                <a:cubicBezTo>
                  <a:pt x="59110" y="43656"/>
                  <a:pt x="55563" y="47203"/>
                  <a:pt x="55563" y="51594"/>
                </a:cubicBezTo>
                <a:cubicBezTo>
                  <a:pt x="55563" y="54893"/>
                  <a:pt x="52908" y="57547"/>
                  <a:pt x="49609" y="57547"/>
                </a:cubicBezTo>
                <a:cubicBezTo>
                  <a:pt x="46310" y="57547"/>
                  <a:pt x="43656" y="54893"/>
                  <a:pt x="43656" y="51594"/>
                </a:cubicBezTo>
                <a:cubicBezTo>
                  <a:pt x="43656" y="40630"/>
                  <a:pt x="52536" y="31750"/>
                  <a:pt x="63500" y="31750"/>
                </a:cubicBezTo>
                <a:cubicBezTo>
                  <a:pt x="74464" y="31750"/>
                  <a:pt x="83344" y="40630"/>
                  <a:pt x="83344" y="51594"/>
                </a:cubicBezTo>
                <a:cubicBezTo>
                  <a:pt x="83344" y="63302"/>
                  <a:pt x="74414" y="68263"/>
                  <a:pt x="69453" y="70073"/>
                </a:cubicBezTo>
                <a:lnTo>
                  <a:pt x="69453" y="71016"/>
                </a:lnTo>
                <a:cubicBezTo>
                  <a:pt x="69453" y="74315"/>
                  <a:pt x="66799" y="76969"/>
                  <a:pt x="63500" y="76969"/>
                </a:cubicBezTo>
                <a:cubicBezTo>
                  <a:pt x="60201" y="76969"/>
                  <a:pt x="57547" y="74315"/>
                  <a:pt x="57547" y="71016"/>
                </a:cubicBezTo>
                <a:lnTo>
                  <a:pt x="57547" y="69007"/>
                </a:lnTo>
                <a:cubicBezTo>
                  <a:pt x="57547" y="63922"/>
                  <a:pt x="61218" y="60275"/>
                  <a:pt x="65013" y="59035"/>
                </a:cubicBezTo>
                <a:cubicBezTo>
                  <a:pt x="66601" y="58514"/>
                  <a:pt x="68287" y="57671"/>
                  <a:pt x="69528" y="56480"/>
                </a:cubicBezTo>
                <a:cubicBezTo>
                  <a:pt x="70594" y="55438"/>
                  <a:pt x="71438" y="54000"/>
                  <a:pt x="71438" y="51619"/>
                </a:cubicBezTo>
                <a:cubicBezTo>
                  <a:pt x="71438" y="47228"/>
                  <a:pt x="67890" y="43681"/>
                  <a:pt x="63500" y="43681"/>
                </a:cubicBezTo>
                <a:close/>
                <a:moveTo>
                  <a:pt x="55563" y="91281"/>
                </a:moveTo>
                <a:cubicBezTo>
                  <a:pt x="55563" y="86900"/>
                  <a:pt x="59119" y="83344"/>
                  <a:pt x="63500" y="83344"/>
                </a:cubicBezTo>
                <a:cubicBezTo>
                  <a:pt x="67881" y="83344"/>
                  <a:pt x="71438" y="86900"/>
                  <a:pt x="71438" y="91281"/>
                </a:cubicBezTo>
                <a:cubicBezTo>
                  <a:pt x="71438" y="95662"/>
                  <a:pt x="67881" y="99219"/>
                  <a:pt x="63500" y="99219"/>
                </a:cubicBezTo>
                <a:cubicBezTo>
                  <a:pt x="59119" y="99219"/>
                  <a:pt x="55563" y="95662"/>
                  <a:pt x="55563" y="91281"/>
                </a:cubicBezTo>
                <a:close/>
              </a:path>
            </a:pathLst>
          </a:custGeom>
          <a:solidFill>
            <a:srgbClr val="99A1AF"/>
          </a:solidFill>
        </p:spPr>
      </p:sp>
      <p:sp>
        <p:nvSpPr>
          <p:cNvPr id="30" name="Text 10"/>
          <p:cNvSpPr/>
          <p:nvPr/>
        </p:nvSpPr>
        <p:spPr>
          <a:xfrm>
            <a:off x="817880" y="2210435"/>
            <a:ext cx="66738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提问</a:t>
            </a:r>
            <a:endParaRPr lang="en-US" sz="1400" b="1" dirty="0">
              <a:solidFill>
                <a:schemeClr val="tx1">
                  <a:lumMod val="85000"/>
                </a:schemeClr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1403350" y="2095183"/>
            <a:ext cx="4415155" cy="4451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"宝马X5的空气悬架有什么技术优势？"</a:t>
            </a:r>
            <a:endParaRPr lang="en-US" sz="16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2" name="Shape 12"/>
          <p:cNvSpPr/>
          <p:nvPr/>
        </p:nvSpPr>
        <p:spPr>
          <a:xfrm>
            <a:off x="3103563" y="27146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99A1AF"/>
          </a:solidFill>
        </p:spPr>
      </p:sp>
      <p:sp>
        <p:nvSpPr>
          <p:cNvPr id="33" name="Shape 13"/>
          <p:cNvSpPr/>
          <p:nvPr/>
        </p:nvSpPr>
        <p:spPr>
          <a:xfrm>
            <a:off x="492125" y="3000375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14"/>
          <p:cNvSpPr/>
          <p:nvPr/>
        </p:nvSpPr>
        <p:spPr>
          <a:xfrm>
            <a:off x="603250" y="3218815"/>
            <a:ext cx="166370" cy="16637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29766" y="13891"/>
                </a:moveTo>
                <a:cubicBezTo>
                  <a:pt x="29766" y="6226"/>
                  <a:pt x="35992" y="0"/>
                  <a:pt x="43656" y="0"/>
                </a:cubicBezTo>
                <a:lnTo>
                  <a:pt x="49609" y="0"/>
                </a:lnTo>
                <a:cubicBezTo>
                  <a:pt x="54000" y="0"/>
                  <a:pt x="57547" y="3547"/>
                  <a:pt x="57547" y="7938"/>
                </a:cubicBezTo>
                <a:lnTo>
                  <a:pt x="57547" y="119063"/>
                </a:lnTo>
                <a:cubicBezTo>
                  <a:pt x="57547" y="123453"/>
                  <a:pt x="54000" y="127000"/>
                  <a:pt x="49609" y="127000"/>
                </a:cubicBezTo>
                <a:lnTo>
                  <a:pt x="41672" y="127000"/>
                </a:lnTo>
                <a:cubicBezTo>
                  <a:pt x="34280" y="127000"/>
                  <a:pt x="28054" y="121940"/>
                  <a:pt x="26293" y="115094"/>
                </a:cubicBezTo>
                <a:cubicBezTo>
                  <a:pt x="26119" y="115094"/>
                  <a:pt x="25971" y="115094"/>
                  <a:pt x="25797" y="115094"/>
                </a:cubicBezTo>
                <a:cubicBezTo>
                  <a:pt x="14833" y="115094"/>
                  <a:pt x="5953" y="106214"/>
                  <a:pt x="5953" y="95250"/>
                </a:cubicBezTo>
                <a:cubicBezTo>
                  <a:pt x="5953" y="90785"/>
                  <a:pt x="7441" y="86668"/>
                  <a:pt x="9922" y="83344"/>
                </a:cubicBezTo>
                <a:cubicBezTo>
                  <a:pt x="5110" y="79722"/>
                  <a:pt x="1984" y="73968"/>
                  <a:pt x="1984" y="67469"/>
                </a:cubicBezTo>
                <a:cubicBezTo>
                  <a:pt x="1984" y="59804"/>
                  <a:pt x="6350" y="53132"/>
                  <a:pt x="12700" y="49833"/>
                </a:cubicBezTo>
                <a:cubicBezTo>
                  <a:pt x="10939" y="46856"/>
                  <a:pt x="9922" y="43383"/>
                  <a:pt x="9922" y="39688"/>
                </a:cubicBezTo>
                <a:cubicBezTo>
                  <a:pt x="9922" y="28724"/>
                  <a:pt x="18802" y="19844"/>
                  <a:pt x="29766" y="19844"/>
                </a:cubicBezTo>
                <a:lnTo>
                  <a:pt x="29766" y="13891"/>
                </a:lnTo>
                <a:close/>
                <a:moveTo>
                  <a:pt x="97234" y="13891"/>
                </a:moveTo>
                <a:lnTo>
                  <a:pt x="97234" y="19844"/>
                </a:lnTo>
                <a:cubicBezTo>
                  <a:pt x="108198" y="19844"/>
                  <a:pt x="117078" y="28724"/>
                  <a:pt x="117078" y="39688"/>
                </a:cubicBezTo>
                <a:cubicBezTo>
                  <a:pt x="117078" y="43408"/>
                  <a:pt x="116061" y="46881"/>
                  <a:pt x="114300" y="49833"/>
                </a:cubicBezTo>
                <a:cubicBezTo>
                  <a:pt x="120675" y="53132"/>
                  <a:pt x="125016" y="59779"/>
                  <a:pt x="125016" y="67469"/>
                </a:cubicBezTo>
                <a:cubicBezTo>
                  <a:pt x="125016" y="73968"/>
                  <a:pt x="121890" y="79722"/>
                  <a:pt x="117078" y="83344"/>
                </a:cubicBezTo>
                <a:cubicBezTo>
                  <a:pt x="119559" y="86668"/>
                  <a:pt x="121047" y="90785"/>
                  <a:pt x="121047" y="95250"/>
                </a:cubicBezTo>
                <a:cubicBezTo>
                  <a:pt x="121047" y="106214"/>
                  <a:pt x="112167" y="115094"/>
                  <a:pt x="101203" y="115094"/>
                </a:cubicBezTo>
                <a:cubicBezTo>
                  <a:pt x="101029" y="115094"/>
                  <a:pt x="100881" y="115094"/>
                  <a:pt x="100707" y="115094"/>
                </a:cubicBezTo>
                <a:cubicBezTo>
                  <a:pt x="98946" y="121940"/>
                  <a:pt x="92720" y="127000"/>
                  <a:pt x="85328" y="127000"/>
                </a:cubicBezTo>
                <a:lnTo>
                  <a:pt x="77391" y="127000"/>
                </a:lnTo>
                <a:cubicBezTo>
                  <a:pt x="73000" y="127000"/>
                  <a:pt x="69453" y="123453"/>
                  <a:pt x="69453" y="119063"/>
                </a:cubicBezTo>
                <a:lnTo>
                  <a:pt x="69453" y="7938"/>
                </a:lnTo>
                <a:cubicBezTo>
                  <a:pt x="69453" y="3547"/>
                  <a:pt x="73000" y="0"/>
                  <a:pt x="77391" y="0"/>
                </a:cubicBezTo>
                <a:lnTo>
                  <a:pt x="83344" y="0"/>
                </a:lnTo>
                <a:cubicBezTo>
                  <a:pt x="91008" y="0"/>
                  <a:pt x="97234" y="6226"/>
                  <a:pt x="97234" y="13891"/>
                </a:cubicBezTo>
                <a:close/>
              </a:path>
            </a:pathLst>
          </a:custGeom>
          <a:solidFill>
            <a:srgbClr val="99A1AF"/>
          </a:solidFill>
        </p:spPr>
      </p:sp>
      <p:sp>
        <p:nvSpPr>
          <p:cNvPr id="35" name="Text 15"/>
          <p:cNvSpPr/>
          <p:nvPr/>
        </p:nvSpPr>
        <p:spPr>
          <a:xfrm>
            <a:off x="809625" y="3206750"/>
            <a:ext cx="12287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AI思考</a:t>
            </a:r>
            <a:endParaRPr lang="en-US" sz="1400" b="1" dirty="0">
              <a:solidFill>
                <a:schemeClr val="tx1">
                  <a:lumMod val="85000"/>
                </a:schemeClr>
              </a:solidFill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1514475" y="3079433"/>
            <a:ext cx="4304030" cy="44513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en-US" sz="1600" dirty="0"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凭训练数据中的通用知识作答</a:t>
            </a:r>
            <a:endParaRPr lang="en-US" sz="1600" dirty="0"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  <p:sp>
        <p:nvSpPr>
          <p:cNvPr id="37" name="Shape 17"/>
          <p:cNvSpPr/>
          <p:nvPr/>
        </p:nvSpPr>
        <p:spPr>
          <a:xfrm>
            <a:off x="3103563" y="36988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99A1AF"/>
          </a:solidFill>
        </p:spPr>
      </p:sp>
      <p:sp>
        <p:nvSpPr>
          <p:cNvPr id="38" name="Shape 18"/>
          <p:cNvSpPr/>
          <p:nvPr/>
        </p:nvSpPr>
        <p:spPr>
          <a:xfrm>
            <a:off x="496094" y="3988594"/>
            <a:ext cx="5357813" cy="611188"/>
          </a:xfrm>
          <a:custGeom>
            <a:avLst/>
            <a:gdLst/>
            <a:ahLst/>
            <a:cxnLst/>
            <a:rect l="l" t="t" r="r" b="b"/>
            <a:pathLst>
              <a:path w="5357813" h="611188">
                <a:moveTo>
                  <a:pt x="63502" y="0"/>
                </a:moveTo>
                <a:lnTo>
                  <a:pt x="5294310" y="0"/>
                </a:lnTo>
                <a:cubicBezTo>
                  <a:pt x="5329382" y="0"/>
                  <a:pt x="5357812" y="28431"/>
                  <a:pt x="5357812" y="63502"/>
                </a:cubicBezTo>
                <a:lnTo>
                  <a:pt x="5357813" y="547685"/>
                </a:lnTo>
                <a:cubicBezTo>
                  <a:pt x="5357812" y="582757"/>
                  <a:pt x="5329382" y="611187"/>
                  <a:pt x="5294310" y="611188"/>
                </a:cubicBezTo>
                <a:lnTo>
                  <a:pt x="63502" y="611188"/>
                </a:lnTo>
                <a:cubicBezTo>
                  <a:pt x="28431" y="611188"/>
                  <a:pt x="0" y="582757"/>
                  <a:pt x="0" y="547685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EF2F2"/>
          </a:solidFill>
          <a:ln w="12700">
            <a:solidFill>
              <a:srgbClr val="FFC9C9"/>
            </a:solidFill>
            <a:prstDash val="solid"/>
          </a:ln>
        </p:spPr>
      </p:sp>
      <p:sp>
        <p:nvSpPr>
          <p:cNvPr id="39" name="Shape 19"/>
          <p:cNvSpPr/>
          <p:nvPr/>
        </p:nvSpPr>
        <p:spPr>
          <a:xfrm>
            <a:off x="611505" y="4211003"/>
            <a:ext cx="166370" cy="16637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40" name="Text 20"/>
          <p:cNvSpPr/>
          <p:nvPr/>
        </p:nvSpPr>
        <p:spPr>
          <a:xfrm>
            <a:off x="817563" y="4198938"/>
            <a:ext cx="317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7000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回答</a:t>
            </a:r>
            <a:endParaRPr lang="en-US" sz="1200" b="1" dirty="0">
              <a:solidFill>
                <a:srgbClr val="E7000B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1" name="Text 21"/>
          <p:cNvSpPr/>
          <p:nvPr/>
        </p:nvSpPr>
        <p:spPr>
          <a:xfrm>
            <a:off x="1503680" y="4050348"/>
            <a:ext cx="4303395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提供汽车媒体的泛泛</a:t>
            </a:r>
            <a:r>
              <a:rPr lang="zh-CN" altLang="en-US" sz="1200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内容，</a:t>
            </a:r>
            <a:r>
              <a:rPr lang="en-US" sz="1200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缺乏宝马官方话术和竞品拆解数据</a:t>
            </a:r>
            <a:endParaRPr lang="en-US" sz="1200" dirty="0">
              <a:solidFill>
                <a:srgbClr val="1E293B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3" name="Shape 23"/>
          <p:cNvSpPr/>
          <p:nvPr/>
        </p:nvSpPr>
        <p:spPr>
          <a:xfrm>
            <a:off x="841375" y="5064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48617" y="34727"/>
                </a:moveTo>
                <a:cubicBezTo>
                  <a:pt x="48617" y="30893"/>
                  <a:pt x="51729" y="27781"/>
                  <a:pt x="55563" y="27781"/>
                </a:cubicBezTo>
                <a:cubicBezTo>
                  <a:pt x="59396" y="27781"/>
                  <a:pt x="62508" y="30893"/>
                  <a:pt x="62508" y="34727"/>
                </a:cubicBezTo>
                <a:cubicBezTo>
                  <a:pt x="62508" y="38560"/>
                  <a:pt x="59396" y="41672"/>
                  <a:pt x="55563" y="41672"/>
                </a:cubicBezTo>
                <a:cubicBezTo>
                  <a:pt x="51729" y="41672"/>
                  <a:pt x="48617" y="38560"/>
                  <a:pt x="48617" y="34727"/>
                </a:cubicBezTo>
                <a:close/>
                <a:moveTo>
                  <a:pt x="46881" y="48617"/>
                </a:moveTo>
                <a:lnTo>
                  <a:pt x="57299" y="48617"/>
                </a:lnTo>
                <a:cubicBezTo>
                  <a:pt x="60185" y="48617"/>
                  <a:pt x="62508" y="50940"/>
                  <a:pt x="62508" y="53826"/>
                </a:cubicBezTo>
                <a:lnTo>
                  <a:pt x="62508" y="72926"/>
                </a:lnTo>
                <a:lnTo>
                  <a:pt x="64244" y="72926"/>
                </a:lnTo>
                <a:cubicBezTo>
                  <a:pt x="67131" y="72926"/>
                  <a:pt x="69453" y="75248"/>
                  <a:pt x="69453" y="78135"/>
                </a:cubicBezTo>
                <a:cubicBezTo>
                  <a:pt x="69453" y="81021"/>
                  <a:pt x="67131" y="83344"/>
                  <a:pt x="64244" y="83344"/>
                </a:cubicBezTo>
                <a:lnTo>
                  <a:pt x="46881" y="83344"/>
                </a:lnTo>
                <a:cubicBezTo>
                  <a:pt x="43994" y="83344"/>
                  <a:pt x="41672" y="81021"/>
                  <a:pt x="41672" y="78135"/>
                </a:cubicBezTo>
                <a:cubicBezTo>
                  <a:pt x="41672" y="75248"/>
                  <a:pt x="43994" y="72926"/>
                  <a:pt x="46881" y="72926"/>
                </a:cubicBezTo>
                <a:lnTo>
                  <a:pt x="52090" y="72926"/>
                </a:lnTo>
                <a:lnTo>
                  <a:pt x="52090" y="59035"/>
                </a:lnTo>
                <a:lnTo>
                  <a:pt x="46881" y="59035"/>
                </a:lnTo>
                <a:cubicBezTo>
                  <a:pt x="43994" y="59035"/>
                  <a:pt x="41672" y="56713"/>
                  <a:pt x="41672" y="53826"/>
                </a:cubicBezTo>
                <a:cubicBezTo>
                  <a:pt x="41672" y="50940"/>
                  <a:pt x="43994" y="48617"/>
                  <a:pt x="46881" y="48617"/>
                </a:cubicBezTo>
                <a:close/>
              </a:path>
            </a:pathLst>
          </a:custGeom>
          <a:solidFill>
            <a:srgbClr val="FF0000"/>
          </a:solidFill>
        </p:spPr>
      </p:sp>
      <p:sp>
        <p:nvSpPr>
          <p:cNvPr id="44" name="Text 24"/>
          <p:cNvSpPr/>
          <p:nvPr/>
        </p:nvSpPr>
        <p:spPr>
          <a:xfrm>
            <a:off x="695801" y="5095875"/>
            <a:ext cx="50482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000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训练数据里没有宝马内部的返利政策、产品技术细节、合规文档</a:t>
            </a:r>
            <a:endParaRPr lang="en-US" sz="1200" dirty="0">
              <a:solidFill>
                <a:srgbClr val="FF0000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5" name="Shape 25"/>
          <p:cNvSpPr/>
          <p:nvPr/>
        </p:nvSpPr>
        <p:spPr>
          <a:xfrm>
            <a:off x="6167438" y="1277938"/>
            <a:ext cx="5699125" cy="4460875"/>
          </a:xfrm>
          <a:custGeom>
            <a:avLst/>
            <a:gdLst/>
            <a:ahLst/>
            <a:cxnLst/>
            <a:rect l="l" t="t" r="r" b="b"/>
            <a:pathLst>
              <a:path w="5699125" h="4460875">
                <a:moveTo>
                  <a:pt x="127001" y="0"/>
                </a:moveTo>
                <a:lnTo>
                  <a:pt x="5572124" y="0"/>
                </a:lnTo>
                <a:cubicBezTo>
                  <a:pt x="5642265" y="0"/>
                  <a:pt x="5699125" y="56860"/>
                  <a:pt x="5699125" y="127001"/>
                </a:cubicBezTo>
                <a:lnTo>
                  <a:pt x="5699125" y="4333874"/>
                </a:lnTo>
                <a:cubicBezTo>
                  <a:pt x="5699125" y="4404015"/>
                  <a:pt x="5642265" y="4460875"/>
                  <a:pt x="5572124" y="4460875"/>
                </a:cubicBezTo>
                <a:lnTo>
                  <a:pt x="127001" y="4460875"/>
                </a:lnTo>
                <a:cubicBezTo>
                  <a:pt x="56860" y="4460875"/>
                  <a:pt x="0" y="4404015"/>
                  <a:pt x="0" y="4333874"/>
                </a:cubicBezTo>
                <a:lnTo>
                  <a:pt x="0" y="127001"/>
                </a:lnTo>
                <a:cubicBezTo>
                  <a:pt x="0" y="56860"/>
                  <a:pt x="56860" y="0"/>
                  <a:pt x="127001" y="0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6" name="Shape 26"/>
          <p:cNvSpPr/>
          <p:nvPr/>
        </p:nvSpPr>
        <p:spPr>
          <a:xfrm>
            <a:off x="6334125" y="14446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47" name="Shape 27"/>
          <p:cNvSpPr/>
          <p:nvPr/>
        </p:nvSpPr>
        <p:spPr>
          <a:xfrm>
            <a:off x="6461125" y="1571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1A535C"/>
          </a:solidFill>
        </p:spPr>
      </p:sp>
      <p:sp>
        <p:nvSpPr>
          <p:cNvPr id="48" name="Text 28"/>
          <p:cNvSpPr/>
          <p:nvPr/>
        </p:nvSpPr>
        <p:spPr>
          <a:xfrm>
            <a:off x="6873875" y="1460500"/>
            <a:ext cx="86518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RAG模式</a:t>
            </a:r>
            <a:endParaRPr lang="en-US" sz="15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9" name="Text 29"/>
          <p:cNvSpPr/>
          <p:nvPr/>
        </p:nvSpPr>
        <p:spPr>
          <a:xfrm>
            <a:off x="6873875" y="1714500"/>
            <a:ext cx="8255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开卷考试模式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1" name="Shape 31"/>
          <p:cNvSpPr/>
          <p:nvPr/>
        </p:nvSpPr>
        <p:spPr>
          <a:xfrm>
            <a:off x="6445250" y="220630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63500" y="43656"/>
                </a:moveTo>
                <a:cubicBezTo>
                  <a:pt x="59110" y="43656"/>
                  <a:pt x="55563" y="47203"/>
                  <a:pt x="55563" y="51594"/>
                </a:cubicBezTo>
                <a:cubicBezTo>
                  <a:pt x="55563" y="54893"/>
                  <a:pt x="52908" y="57547"/>
                  <a:pt x="49609" y="57547"/>
                </a:cubicBezTo>
                <a:cubicBezTo>
                  <a:pt x="46310" y="57547"/>
                  <a:pt x="43656" y="54893"/>
                  <a:pt x="43656" y="51594"/>
                </a:cubicBezTo>
                <a:cubicBezTo>
                  <a:pt x="43656" y="40630"/>
                  <a:pt x="52536" y="31750"/>
                  <a:pt x="63500" y="31750"/>
                </a:cubicBezTo>
                <a:cubicBezTo>
                  <a:pt x="74464" y="31750"/>
                  <a:pt x="83344" y="40630"/>
                  <a:pt x="83344" y="51594"/>
                </a:cubicBezTo>
                <a:cubicBezTo>
                  <a:pt x="83344" y="63302"/>
                  <a:pt x="74414" y="68263"/>
                  <a:pt x="69453" y="70073"/>
                </a:cubicBezTo>
                <a:lnTo>
                  <a:pt x="69453" y="71016"/>
                </a:lnTo>
                <a:cubicBezTo>
                  <a:pt x="69453" y="74315"/>
                  <a:pt x="66799" y="76969"/>
                  <a:pt x="63500" y="76969"/>
                </a:cubicBezTo>
                <a:cubicBezTo>
                  <a:pt x="60201" y="76969"/>
                  <a:pt x="57547" y="74315"/>
                  <a:pt x="57547" y="71016"/>
                </a:cubicBezTo>
                <a:lnTo>
                  <a:pt x="57547" y="69007"/>
                </a:lnTo>
                <a:cubicBezTo>
                  <a:pt x="57547" y="63922"/>
                  <a:pt x="61218" y="60275"/>
                  <a:pt x="65013" y="59035"/>
                </a:cubicBezTo>
                <a:cubicBezTo>
                  <a:pt x="66601" y="58514"/>
                  <a:pt x="68287" y="57671"/>
                  <a:pt x="69528" y="56480"/>
                </a:cubicBezTo>
                <a:cubicBezTo>
                  <a:pt x="70594" y="55438"/>
                  <a:pt x="71438" y="54000"/>
                  <a:pt x="71438" y="51619"/>
                </a:cubicBezTo>
                <a:cubicBezTo>
                  <a:pt x="71438" y="47228"/>
                  <a:pt x="67890" y="43681"/>
                  <a:pt x="63500" y="43681"/>
                </a:cubicBezTo>
                <a:close/>
                <a:moveTo>
                  <a:pt x="55563" y="91281"/>
                </a:moveTo>
                <a:cubicBezTo>
                  <a:pt x="55563" y="86900"/>
                  <a:pt x="59119" y="83344"/>
                  <a:pt x="63500" y="83344"/>
                </a:cubicBezTo>
                <a:cubicBezTo>
                  <a:pt x="67881" y="83344"/>
                  <a:pt x="71438" y="86900"/>
                  <a:pt x="71438" y="91281"/>
                </a:cubicBezTo>
                <a:cubicBezTo>
                  <a:pt x="71438" y="95662"/>
                  <a:pt x="67881" y="99219"/>
                  <a:pt x="63500" y="99219"/>
                </a:cubicBezTo>
                <a:cubicBezTo>
                  <a:pt x="59119" y="99219"/>
                  <a:pt x="55563" y="95662"/>
                  <a:pt x="55563" y="9128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2" name="Text 32"/>
          <p:cNvSpPr/>
          <p:nvPr/>
        </p:nvSpPr>
        <p:spPr>
          <a:xfrm>
            <a:off x="6778625" y="2206308"/>
            <a:ext cx="317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提问</a:t>
            </a:r>
            <a:endParaRPr lang="en-US" sz="1200" b="1" dirty="0">
              <a:solidFill>
                <a:srgbClr val="FFFFFF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3" name="Text 33"/>
          <p:cNvSpPr/>
          <p:nvPr/>
        </p:nvSpPr>
        <p:spPr>
          <a:xfrm>
            <a:off x="8251825" y="2096135"/>
            <a:ext cx="3408680" cy="427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"宝马X5的空气悬架有什么技术优势？"</a:t>
            </a:r>
            <a:endParaRPr lang="en-US" sz="1200" dirty="0">
              <a:solidFill>
                <a:srgbClr val="FFFFFF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6" name="Shape 36"/>
          <p:cNvSpPr/>
          <p:nvPr/>
        </p:nvSpPr>
        <p:spPr>
          <a:xfrm>
            <a:off x="6401435" y="315880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67" name="Text 37"/>
          <p:cNvSpPr/>
          <p:nvPr/>
        </p:nvSpPr>
        <p:spPr>
          <a:xfrm>
            <a:off x="6373654" y="3158808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R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8" name="Text 38"/>
          <p:cNvSpPr/>
          <p:nvPr/>
        </p:nvSpPr>
        <p:spPr>
          <a:xfrm>
            <a:off x="6746875" y="3127693"/>
            <a:ext cx="1000760" cy="285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Retrieval 检索</a:t>
            </a:r>
            <a:endParaRPr lang="en-US" sz="1200" b="1" dirty="0">
              <a:solidFill>
                <a:srgbClr val="FFFFFF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9" name="Text 39"/>
          <p:cNvSpPr/>
          <p:nvPr/>
        </p:nvSpPr>
        <p:spPr>
          <a:xfrm>
            <a:off x="8261350" y="3032125"/>
            <a:ext cx="3399155" cy="476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接到问题 → 去知识库里找最相关的资料片段</a:t>
            </a:r>
            <a:endParaRPr lang="en-US" sz="1200" dirty="0">
              <a:solidFill>
                <a:srgbClr val="FFFFFF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2" name="Shape 42"/>
          <p:cNvSpPr/>
          <p:nvPr/>
        </p:nvSpPr>
        <p:spPr>
          <a:xfrm>
            <a:off x="6410325" y="4064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73" name="Text 43"/>
          <p:cNvSpPr/>
          <p:nvPr/>
        </p:nvSpPr>
        <p:spPr>
          <a:xfrm>
            <a:off x="6382544" y="4064000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4" name="Text 44"/>
          <p:cNvSpPr/>
          <p:nvPr/>
        </p:nvSpPr>
        <p:spPr>
          <a:xfrm>
            <a:off x="6746875" y="4095750"/>
            <a:ext cx="1031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Augmented 增强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5" name="Text 45"/>
          <p:cNvSpPr/>
          <p:nvPr/>
        </p:nvSpPr>
        <p:spPr>
          <a:xfrm>
            <a:off x="8269605" y="3889375"/>
            <a:ext cx="3390900" cy="603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把找到的资料和原问题拼在一起</a:t>
            </a:r>
            <a:endParaRPr lang="en-US" sz="1200" dirty="0">
              <a:solidFill>
                <a:srgbClr val="FFFFFF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8" name="Shape 48"/>
          <p:cNvSpPr/>
          <p:nvPr/>
        </p:nvSpPr>
        <p:spPr>
          <a:xfrm>
            <a:off x="6410325" y="505777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79" name="Text 49"/>
          <p:cNvSpPr/>
          <p:nvPr/>
        </p:nvSpPr>
        <p:spPr>
          <a:xfrm>
            <a:off x="6382544" y="5067300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G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0" name="Text 50"/>
          <p:cNvSpPr/>
          <p:nvPr/>
        </p:nvSpPr>
        <p:spPr>
          <a:xfrm>
            <a:off x="6746875" y="5032375"/>
            <a:ext cx="122872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Generation 生成</a:t>
            </a:r>
            <a:endParaRPr lang="en-US" sz="1200" b="1" dirty="0">
              <a:solidFill>
                <a:srgbClr val="FFFFFF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1" name="Text 51"/>
          <p:cNvSpPr/>
          <p:nvPr/>
        </p:nvSpPr>
        <p:spPr>
          <a:xfrm>
            <a:off x="8222615" y="4968240"/>
            <a:ext cx="3437890" cy="508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基于资料组织语言生成答案</a:t>
            </a:r>
            <a:endParaRPr lang="en-US" sz="1200" dirty="0">
              <a:solidFill>
                <a:srgbClr val="FFFFFF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2" name="Shape 52"/>
          <p:cNvSpPr/>
          <p:nvPr/>
        </p:nvSpPr>
        <p:spPr>
          <a:xfrm>
            <a:off x="317500" y="5873750"/>
            <a:ext cx="11557000" cy="698500"/>
          </a:xfrm>
          <a:custGeom>
            <a:avLst/>
            <a:gdLst/>
            <a:ahLst/>
            <a:cxnLst/>
            <a:rect l="l" t="t" r="r" b="b"/>
            <a:pathLst>
              <a:path w="11557000" h="698500">
                <a:moveTo>
                  <a:pt x="95247" y="0"/>
                </a:moveTo>
                <a:lnTo>
                  <a:pt x="11461753" y="0"/>
                </a:lnTo>
                <a:cubicBezTo>
                  <a:pt x="11514356" y="0"/>
                  <a:pt x="11557000" y="42644"/>
                  <a:pt x="11557000" y="95247"/>
                </a:cubicBezTo>
                <a:lnTo>
                  <a:pt x="11557000" y="603253"/>
                </a:lnTo>
                <a:cubicBezTo>
                  <a:pt x="11557000" y="655856"/>
                  <a:pt x="11514356" y="698500"/>
                  <a:pt x="11461753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gradFill flip="none" rotWithShape="1">
            <a:gsLst>
              <a:gs pos="0">
                <a:srgbClr val="1A535C">
                  <a:alpha val="62000"/>
                </a:srgbClr>
              </a:gs>
              <a:gs pos="100000">
                <a:srgbClr val="4ECDC4">
                  <a:alpha val="0"/>
                </a:srgbClr>
              </a:gs>
            </a:gsLst>
            <a:lin ang="0" scaled="1"/>
          </a:gradFill>
        </p:spPr>
      </p:sp>
      <p:sp>
        <p:nvSpPr>
          <p:cNvPr id="83" name="Shape 53"/>
          <p:cNvSpPr/>
          <p:nvPr/>
        </p:nvSpPr>
        <p:spPr>
          <a:xfrm>
            <a:off x="515938" y="60801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4" name="Text 54"/>
          <p:cNvSpPr/>
          <p:nvPr/>
        </p:nvSpPr>
        <p:spPr>
          <a:xfrm>
            <a:off x="928688" y="6000750"/>
            <a:ext cx="5405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一句话总结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5" name="Text 55"/>
          <p:cNvSpPr/>
          <p:nvPr/>
        </p:nvSpPr>
        <p:spPr>
          <a:xfrm>
            <a:off x="929005" y="6254750"/>
            <a:ext cx="788416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RAG不靠AI的记忆，靠AI</a:t>
            </a:r>
            <a:r>
              <a:rPr lang="en-US" sz="14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现场查阅</a:t>
            </a:r>
            <a:r>
              <a:rPr lang="en-US" sz="140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宝马专属的知识库。它不是"更聪明的AI"，而是</a:t>
            </a:r>
            <a:r>
              <a:rPr lang="en-US" sz="14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"带图书馆的AI"</a:t>
            </a:r>
            <a:endParaRPr lang="en-US" sz="1400" b="1" dirty="0">
              <a:solidFill>
                <a:srgbClr val="FFFFFF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6" name="下箭头 85"/>
          <p:cNvSpPr/>
          <p:nvPr/>
        </p:nvSpPr>
        <p:spPr>
          <a:xfrm>
            <a:off x="9203055" y="4538345"/>
            <a:ext cx="666115" cy="285750"/>
          </a:xfrm>
          <a:prstGeom prst="downArrow">
            <a:avLst/>
          </a:prstGeom>
          <a:noFill/>
          <a:ln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 Light" charset="0"/>
            </a:endParaRPr>
          </a:p>
        </p:txBody>
      </p:sp>
      <p:sp>
        <p:nvSpPr>
          <p:cNvPr id="87" name="下箭头 86"/>
          <p:cNvSpPr/>
          <p:nvPr/>
        </p:nvSpPr>
        <p:spPr>
          <a:xfrm>
            <a:off x="9203055" y="2714625"/>
            <a:ext cx="666115" cy="285750"/>
          </a:xfrm>
          <a:prstGeom prst="downArrow">
            <a:avLst/>
          </a:prstGeom>
          <a:noFill/>
          <a:ln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 Light" charset="0"/>
            </a:endParaRPr>
          </a:p>
        </p:txBody>
      </p:sp>
      <p:sp>
        <p:nvSpPr>
          <p:cNvPr id="88" name="下箭头 87"/>
          <p:cNvSpPr/>
          <p:nvPr/>
        </p:nvSpPr>
        <p:spPr>
          <a:xfrm>
            <a:off x="9203055" y="3626485"/>
            <a:ext cx="666115" cy="285750"/>
          </a:xfrm>
          <a:prstGeom prst="downArrow">
            <a:avLst/>
          </a:prstGeom>
          <a:noFill/>
          <a:ln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7146290" cy="72009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切片策略：决定AI是"专家"还是"断片"</a:t>
            </a:r>
            <a:endParaRPr lang="zh-CN" altLang="en-US">
              <a:sym typeface="+mn-ea"/>
            </a:endParaRPr>
          </a:p>
        </p:txBody>
      </p:sp>
      <p:sp>
        <p:nvSpPr>
          <p:cNvPr id="16" name="Text 2"/>
          <p:cNvSpPr/>
          <p:nvPr/>
        </p:nvSpPr>
        <p:spPr>
          <a:xfrm>
            <a:off x="393700" y="1219200"/>
            <a:ext cx="11503025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zh-CN" dirty="0"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找到语义完整性与检索精度的平衡点</a:t>
            </a:r>
            <a:endParaRPr lang="en-US" altLang="zh-CN" dirty="0"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381000" y="1847850"/>
            <a:ext cx="11543665" cy="3653155"/>
          </a:xfrm>
          <a:custGeom>
            <a:avLst/>
            <a:gdLst/>
            <a:ahLst/>
            <a:cxnLst/>
            <a:rect l="l" t="t" r="r" b="b"/>
            <a:pathLst>
              <a:path w="11430000" h="2638425">
                <a:moveTo>
                  <a:pt x="152395" y="0"/>
                </a:moveTo>
                <a:lnTo>
                  <a:pt x="11277605" y="0"/>
                </a:lnTo>
                <a:cubicBezTo>
                  <a:pt x="11361714" y="0"/>
                  <a:pt x="11430000" y="68286"/>
                  <a:pt x="11430000" y="152395"/>
                </a:cubicBezTo>
                <a:lnTo>
                  <a:pt x="11430000" y="2486030"/>
                </a:lnTo>
                <a:cubicBezTo>
                  <a:pt x="11430000" y="2570139"/>
                  <a:pt x="11361714" y="2638425"/>
                  <a:pt x="11277605" y="2638425"/>
                </a:cubicBezTo>
                <a:lnTo>
                  <a:pt x="152395" y="2638425"/>
                </a:lnTo>
                <a:cubicBezTo>
                  <a:pt x="68286" y="2638425"/>
                  <a:pt x="0" y="2570139"/>
                  <a:pt x="0" y="2486030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p>
            <a:endParaRPr lang="zh-CN" altLang="en-US">
              <a:cs typeface="BMWGroupTN Condensed TT Light" charset="0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33400" y="2000250"/>
          <a:ext cx="11214100" cy="3296920"/>
        </p:xfrm>
        <a:graphic>
          <a:graphicData uri="http://schemas.openxmlformats.org/drawingml/2006/table">
            <a:tbl>
              <a:tblPr/>
              <a:tblGrid>
                <a:gridCol w="1278255"/>
                <a:gridCol w="1441450"/>
                <a:gridCol w="1306195"/>
                <a:gridCol w="1605280"/>
                <a:gridCol w="5582920"/>
              </a:tblGrid>
              <a:tr h="53403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切片方式</a:t>
                      </a:r>
                      <a:endParaRPr lang="en-US" sz="1000" u="none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机制原理</a:t>
                      </a:r>
                      <a:endParaRPr lang="en-US" sz="1000" u="none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优势</a:t>
                      </a:r>
                      <a:endParaRPr lang="en-US" sz="1000" u="none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劣势</a:t>
                      </a:r>
                      <a:endParaRPr lang="en-US" sz="1000" u="none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宝马场景影响</a:t>
                      </a:r>
                      <a:endParaRPr lang="en-US" sz="1000" u="none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固定长度切片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按500字符硬切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简单、速度快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语义腰斩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可能把"发动机参数"和其后的"扭矩/功率数值表"切到两个文件，AI学到断腿的信息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3467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递归字符分割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按段落(\n)切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保持段落完整性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无法处理复杂表格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适合纯文字SOP，面对"返利阶梯表"直接崩溃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语义分块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AI理解语义后再切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质量最高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计算慢、成本略高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推荐：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                                自动识别"竞品对比要点"为独立语义块，不会被切断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3403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基于文档结构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按标题/章节切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保留层级关系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依赖文档有规范结构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适合产品手册等有章节目录的文档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父子文档检索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存大块、搜小块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兼顾精准与完整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实现相对复杂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先定位具体条款（小块），再返回整章上下文（大块）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课程内容回顾</a:t>
            </a:r>
            <a:r>
              <a:rPr lang="en-US" altLang="zh-CN">
                <a:ea typeface="BMWGroupTN Condensed TT Medium" charset="0"/>
              </a:rPr>
              <a:t>——</a:t>
            </a:r>
            <a:r>
              <a:rPr lang="en-US">
                <a:ea typeface="BMWGroupTN Condensed TT Medium" charset="0"/>
              </a:rPr>
              <a:t>Chat BI</a:t>
            </a:r>
            <a:r>
              <a:rPr lang="zh-CN" altLang="en-US">
                <a:ea typeface="宋体" panose="02010600030101010101" pitchFamily="2" charset="-122"/>
              </a:rPr>
              <a:t>与工作流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8" name="Text 4"/>
          <p:cNvSpPr/>
          <p:nvPr/>
        </p:nvSpPr>
        <p:spPr>
          <a:xfrm>
            <a:off x="689610" y="1080135"/>
            <a:ext cx="11418570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用宝马人都懂的比喻，理解AI数据分析的核心逻辑</a:t>
            </a:r>
            <a:endParaRPr lang="en-US" sz="13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99" name="Shape 5"/>
          <p:cNvSpPr/>
          <p:nvPr/>
        </p:nvSpPr>
        <p:spPr>
          <a:xfrm>
            <a:off x="385763" y="1795463"/>
            <a:ext cx="3676650" cy="3476625"/>
          </a:xfrm>
          <a:custGeom>
            <a:avLst/>
            <a:gdLst/>
            <a:ahLst/>
            <a:cxnLst/>
            <a:rect l="l" t="t" r="r" b="b"/>
            <a:pathLst>
              <a:path w="3676650" h="3476625">
                <a:moveTo>
                  <a:pt x="152415" y="0"/>
                </a:moveTo>
                <a:lnTo>
                  <a:pt x="3524235" y="0"/>
                </a:lnTo>
                <a:cubicBezTo>
                  <a:pt x="3608411" y="0"/>
                  <a:pt x="3676650" y="68239"/>
                  <a:pt x="3676650" y="152415"/>
                </a:cubicBezTo>
                <a:lnTo>
                  <a:pt x="3676650" y="3324210"/>
                </a:lnTo>
                <a:cubicBezTo>
                  <a:pt x="3676650" y="3408386"/>
                  <a:pt x="3608411" y="3476625"/>
                  <a:pt x="3524235" y="3476625"/>
                </a:cubicBezTo>
                <a:lnTo>
                  <a:pt x="152415" y="3476625"/>
                </a:lnTo>
                <a:cubicBezTo>
                  <a:pt x="68239" y="3476625"/>
                  <a:pt x="0" y="3408386"/>
                  <a:pt x="0" y="3324210"/>
                </a:cubicBezTo>
                <a:lnTo>
                  <a:pt x="0" y="152415"/>
                </a:lnTo>
                <a:cubicBezTo>
                  <a:pt x="0" y="68239"/>
                  <a:pt x="68239" y="0"/>
                  <a:pt x="152415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1">
                  <a:alpha val="10000"/>
                </a:schemeClr>
              </a:gs>
              <a:gs pos="100000">
                <a:srgbClr val="1A1D21">
                  <a:alpha val="45000"/>
                </a:srgbClr>
              </a:gs>
            </a:gsLst>
            <a:lin ang="2700000" scaled="1"/>
          </a:gra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100" name="Shape 6"/>
          <p:cNvSpPr/>
          <p:nvPr/>
        </p:nvSpPr>
        <p:spPr>
          <a:xfrm>
            <a:off x="581025" y="1990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</p:spPr>
      </p:sp>
      <p:sp>
        <p:nvSpPr>
          <p:cNvPr id="101" name="Shape 7"/>
          <p:cNvSpPr/>
          <p:nvPr/>
        </p:nvSpPr>
        <p:spPr>
          <a:xfrm>
            <a:off x="719138" y="21431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63445"/>
                </a:moveTo>
                <a:lnTo>
                  <a:pt x="0" y="214313"/>
                </a:lnTo>
                <a:cubicBezTo>
                  <a:pt x="0" y="222215"/>
                  <a:pt x="6385" y="228600"/>
                  <a:pt x="14288" y="228600"/>
                </a:cubicBezTo>
                <a:cubicBezTo>
                  <a:pt x="22190" y="228600"/>
                  <a:pt x="28575" y="222215"/>
                  <a:pt x="28575" y="214313"/>
                </a:cubicBezTo>
                <a:lnTo>
                  <a:pt x="28575" y="107156"/>
                </a:lnTo>
                <a:cubicBezTo>
                  <a:pt x="28575" y="99253"/>
                  <a:pt x="34960" y="92869"/>
                  <a:pt x="42863" y="92869"/>
                </a:cubicBezTo>
                <a:lnTo>
                  <a:pt x="214313" y="92869"/>
                </a:lnTo>
                <a:cubicBezTo>
                  <a:pt x="222215" y="92869"/>
                  <a:pt x="228600" y="99253"/>
                  <a:pt x="228600" y="107156"/>
                </a:cubicBezTo>
                <a:lnTo>
                  <a:pt x="228600" y="214313"/>
                </a:lnTo>
                <a:cubicBezTo>
                  <a:pt x="228600" y="222215"/>
                  <a:pt x="234985" y="228600"/>
                  <a:pt x="242888" y="228600"/>
                </a:cubicBezTo>
                <a:cubicBezTo>
                  <a:pt x="250790" y="228600"/>
                  <a:pt x="257175" y="222215"/>
                  <a:pt x="257175" y="214313"/>
                </a:cubicBezTo>
                <a:lnTo>
                  <a:pt x="257175" y="63445"/>
                </a:lnTo>
                <a:cubicBezTo>
                  <a:pt x="257175" y="51167"/>
                  <a:pt x="249317" y="40228"/>
                  <a:pt x="237619" y="36344"/>
                </a:cubicBezTo>
                <a:lnTo>
                  <a:pt x="135374" y="2277"/>
                </a:lnTo>
                <a:cubicBezTo>
                  <a:pt x="130954" y="804"/>
                  <a:pt x="126221" y="804"/>
                  <a:pt x="121801" y="2277"/>
                </a:cubicBezTo>
                <a:lnTo>
                  <a:pt x="19556" y="36344"/>
                </a:lnTo>
                <a:cubicBezTo>
                  <a:pt x="7858" y="40228"/>
                  <a:pt x="0" y="51167"/>
                  <a:pt x="0" y="63445"/>
                </a:cubicBezTo>
                <a:close/>
                <a:moveTo>
                  <a:pt x="207169" y="114300"/>
                </a:moveTo>
                <a:lnTo>
                  <a:pt x="50006" y="114300"/>
                </a:lnTo>
                <a:lnTo>
                  <a:pt x="50006" y="142875"/>
                </a:lnTo>
                <a:lnTo>
                  <a:pt x="207169" y="142875"/>
                </a:lnTo>
                <a:lnTo>
                  <a:pt x="207169" y="114300"/>
                </a:lnTo>
                <a:close/>
                <a:moveTo>
                  <a:pt x="50006" y="185738"/>
                </a:moveTo>
                <a:lnTo>
                  <a:pt x="207169" y="185738"/>
                </a:lnTo>
                <a:lnTo>
                  <a:pt x="207169" y="157163"/>
                </a:lnTo>
                <a:lnTo>
                  <a:pt x="50006" y="157163"/>
                </a:lnTo>
                <a:lnTo>
                  <a:pt x="50006" y="185738"/>
                </a:lnTo>
                <a:close/>
                <a:moveTo>
                  <a:pt x="207169" y="200025"/>
                </a:moveTo>
                <a:lnTo>
                  <a:pt x="50006" y="200025"/>
                </a:lnTo>
                <a:lnTo>
                  <a:pt x="50006" y="228600"/>
                </a:lnTo>
                <a:lnTo>
                  <a:pt x="207169" y="228600"/>
                </a:lnTo>
                <a:lnTo>
                  <a:pt x="207169" y="200025"/>
                </a:lnTo>
                <a:close/>
              </a:path>
            </a:pathLst>
          </a:custGeom>
          <a:solidFill>
            <a:schemeClr val="tx1"/>
          </a:solidFill>
        </p:spPr>
      </p:sp>
      <p:sp>
        <p:nvSpPr>
          <p:cNvPr id="102" name="Text 8"/>
          <p:cNvSpPr/>
          <p:nvPr/>
        </p:nvSpPr>
        <p:spPr>
          <a:xfrm>
            <a:off x="1228725" y="2028825"/>
            <a:ext cx="676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数据库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1228725" y="2295525"/>
            <a:ext cx="64770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Database</a:t>
            </a:r>
            <a:endParaRPr lang="en-US" sz="10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585788" y="2681288"/>
            <a:ext cx="3276600" cy="2085975"/>
          </a:xfrm>
          <a:custGeom>
            <a:avLst/>
            <a:gdLst/>
            <a:ahLst/>
            <a:cxnLst/>
            <a:rect l="l" t="t" r="r" b="b"/>
            <a:pathLst>
              <a:path w="3276600" h="2085975">
                <a:moveTo>
                  <a:pt x="114291" y="0"/>
                </a:moveTo>
                <a:lnTo>
                  <a:pt x="3162309" y="0"/>
                </a:lnTo>
                <a:cubicBezTo>
                  <a:pt x="3225430" y="0"/>
                  <a:pt x="3276600" y="51170"/>
                  <a:pt x="3276600" y="114291"/>
                </a:cubicBezTo>
                <a:lnTo>
                  <a:pt x="3276600" y="1971684"/>
                </a:lnTo>
                <a:cubicBezTo>
                  <a:pt x="3276600" y="2034805"/>
                  <a:pt x="3225430" y="2085975"/>
                  <a:pt x="3162309" y="2085975"/>
                </a:cubicBezTo>
                <a:lnTo>
                  <a:pt x="114291" y="2085975"/>
                </a:lnTo>
                <a:cubicBezTo>
                  <a:pt x="51170" y="2085975"/>
                  <a:pt x="0" y="2034805"/>
                  <a:pt x="0" y="1971684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4E54">
                <a:alpha val="20000"/>
              </a:srgbClr>
            </a:solidFill>
            <a:prstDash val="solid"/>
          </a:ln>
        </p:spPr>
      </p:sp>
      <p:sp>
        <p:nvSpPr>
          <p:cNvPr id="105" name="Text 11"/>
          <p:cNvSpPr/>
          <p:nvPr/>
        </p:nvSpPr>
        <p:spPr>
          <a:xfrm>
            <a:off x="742950" y="2838450"/>
            <a:ext cx="3038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= 宝马中心仓库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742950" y="3143250"/>
            <a:ext cx="3028950" cy="438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里面有所有零件的库存、销售单据、客户信息。数据量庞大，但你需要</a:t>
            </a:r>
            <a:r>
              <a:rPr lang="en-US" sz="1050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特定编码</a:t>
            </a: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才能查到东西。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07" name="Shape 13"/>
          <p:cNvSpPr/>
          <p:nvPr/>
        </p:nvSpPr>
        <p:spPr>
          <a:xfrm>
            <a:off x="608409" y="491013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chemeClr val="tx1"/>
          </a:solidFill>
        </p:spPr>
      </p:sp>
      <p:sp>
        <p:nvSpPr>
          <p:cNvPr id="108" name="Text 14"/>
          <p:cNvSpPr/>
          <p:nvPr/>
        </p:nvSpPr>
        <p:spPr>
          <a:xfrm>
            <a:off x="824230" y="4881880"/>
            <a:ext cx="1374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结构化数据存储</a:t>
            </a:r>
            <a:endParaRPr lang="en-US" sz="1200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09" name="Shape 15"/>
          <p:cNvSpPr/>
          <p:nvPr/>
        </p:nvSpPr>
        <p:spPr>
          <a:xfrm>
            <a:off x="4259238" y="1795463"/>
            <a:ext cx="3676650" cy="3476625"/>
          </a:xfrm>
          <a:custGeom>
            <a:avLst/>
            <a:gdLst/>
            <a:ahLst/>
            <a:cxnLst/>
            <a:rect l="l" t="t" r="r" b="b"/>
            <a:pathLst>
              <a:path w="3676650" h="3476625">
                <a:moveTo>
                  <a:pt x="152415" y="0"/>
                </a:moveTo>
                <a:lnTo>
                  <a:pt x="3524235" y="0"/>
                </a:lnTo>
                <a:cubicBezTo>
                  <a:pt x="3608411" y="0"/>
                  <a:pt x="3676650" y="68239"/>
                  <a:pt x="3676650" y="152415"/>
                </a:cubicBezTo>
                <a:lnTo>
                  <a:pt x="3676650" y="3324210"/>
                </a:lnTo>
                <a:cubicBezTo>
                  <a:pt x="3676650" y="3408386"/>
                  <a:pt x="3608411" y="3476625"/>
                  <a:pt x="3524235" y="3476625"/>
                </a:cubicBezTo>
                <a:lnTo>
                  <a:pt x="152415" y="3476625"/>
                </a:lnTo>
                <a:cubicBezTo>
                  <a:pt x="68239" y="3476625"/>
                  <a:pt x="0" y="3408386"/>
                  <a:pt x="0" y="3324210"/>
                </a:cubicBezTo>
                <a:lnTo>
                  <a:pt x="0" y="152415"/>
                </a:lnTo>
                <a:cubicBezTo>
                  <a:pt x="0" y="68239"/>
                  <a:pt x="68239" y="0"/>
                  <a:pt x="152415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8000"/>
                </a:schemeClr>
              </a:gs>
              <a:gs pos="100000">
                <a:schemeClr val="tx2">
                  <a:alpha val="17000"/>
                </a:schemeClr>
              </a:gs>
            </a:gsLst>
            <a:lin ang="2700000" scaled="1"/>
          </a:gradFill>
          <a:ln w="12700">
            <a:noFill/>
            <a:prstDash val="solid"/>
          </a:ln>
        </p:spPr>
      </p:sp>
      <p:sp>
        <p:nvSpPr>
          <p:cNvPr id="110" name="Shape 16"/>
          <p:cNvSpPr/>
          <p:nvPr/>
        </p:nvSpPr>
        <p:spPr>
          <a:xfrm>
            <a:off x="4454500" y="1990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A9E0">
              <a:alpha val="30196"/>
            </a:srgbClr>
          </a:solidFill>
        </p:spPr>
      </p:sp>
      <p:sp>
        <p:nvSpPr>
          <p:cNvPr id="111" name="Shape 17"/>
          <p:cNvSpPr/>
          <p:nvPr/>
        </p:nvSpPr>
        <p:spPr>
          <a:xfrm>
            <a:off x="4592613" y="21431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chemeClr val="tx1"/>
          </a:solidFill>
        </p:spPr>
      </p:sp>
      <p:sp>
        <p:nvSpPr>
          <p:cNvPr id="112" name="Text 18"/>
          <p:cNvSpPr/>
          <p:nvPr/>
        </p:nvSpPr>
        <p:spPr>
          <a:xfrm>
            <a:off x="5102200" y="2028825"/>
            <a:ext cx="1162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SQL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5102200" y="2295525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Structured Query</a:t>
            </a:r>
            <a:endParaRPr lang="en-US" sz="10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14" name="Shape 20"/>
          <p:cNvSpPr/>
          <p:nvPr/>
        </p:nvSpPr>
        <p:spPr>
          <a:xfrm>
            <a:off x="4459263" y="2681288"/>
            <a:ext cx="3276600" cy="2085975"/>
          </a:xfrm>
          <a:custGeom>
            <a:avLst/>
            <a:gdLst/>
            <a:ahLst/>
            <a:cxnLst/>
            <a:rect l="l" t="t" r="r" b="b"/>
            <a:pathLst>
              <a:path w="3276600" h="2085975">
                <a:moveTo>
                  <a:pt x="114291" y="0"/>
                </a:moveTo>
                <a:lnTo>
                  <a:pt x="3162309" y="0"/>
                </a:lnTo>
                <a:cubicBezTo>
                  <a:pt x="3225430" y="0"/>
                  <a:pt x="3276600" y="51170"/>
                  <a:pt x="3276600" y="114291"/>
                </a:cubicBezTo>
                <a:lnTo>
                  <a:pt x="3276600" y="1971684"/>
                </a:lnTo>
                <a:cubicBezTo>
                  <a:pt x="3276600" y="2034805"/>
                  <a:pt x="3225430" y="2085975"/>
                  <a:pt x="3162309" y="2085975"/>
                </a:cubicBezTo>
                <a:lnTo>
                  <a:pt x="114291" y="2085975"/>
                </a:lnTo>
                <a:cubicBezTo>
                  <a:pt x="51170" y="2085975"/>
                  <a:pt x="0" y="2034805"/>
                  <a:pt x="0" y="1971684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00A9E0">
                <a:alpha val="20000"/>
              </a:srgbClr>
            </a:solidFill>
            <a:prstDash val="solid"/>
          </a:ln>
        </p:spPr>
      </p:sp>
      <p:sp>
        <p:nvSpPr>
          <p:cNvPr id="115" name="Text 21"/>
          <p:cNvSpPr/>
          <p:nvPr/>
        </p:nvSpPr>
        <p:spPr>
          <a:xfrm>
            <a:off x="4616425" y="2838450"/>
            <a:ext cx="3038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= 仓库管理系统指令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16" name="Text 22"/>
          <p:cNvSpPr/>
          <p:nvPr/>
        </p:nvSpPr>
        <p:spPr>
          <a:xfrm>
            <a:off x="4616425" y="3143250"/>
            <a:ext cx="3028950" cy="438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你得用特定编码才能查询：</a:t>
            </a:r>
            <a:r>
              <a:rPr lang="en-US" sz="900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SELECT * FROM sales WHERE...</a:t>
            </a: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业务人员</a:t>
            </a:r>
            <a:r>
              <a:rPr lang="en-US" sz="1050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不会写</a:t>
            </a: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，也</a:t>
            </a:r>
            <a:r>
              <a:rPr lang="en-US" sz="1050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不想学</a:t>
            </a: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。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17" name="Shape 23"/>
          <p:cNvSpPr/>
          <p:nvPr/>
        </p:nvSpPr>
        <p:spPr>
          <a:xfrm>
            <a:off x="4473550" y="491013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2448" y="30889"/>
                </a:moveTo>
                <a:cubicBezTo>
                  <a:pt x="-807" y="27634"/>
                  <a:pt x="-807" y="22347"/>
                  <a:pt x="2448" y="19091"/>
                </a:cubicBezTo>
                <a:cubicBezTo>
                  <a:pt x="5704" y="15835"/>
                  <a:pt x="10991" y="15835"/>
                  <a:pt x="14247" y="19091"/>
                </a:cubicBezTo>
                <a:lnTo>
                  <a:pt x="55918" y="60763"/>
                </a:lnTo>
                <a:cubicBezTo>
                  <a:pt x="59174" y="64018"/>
                  <a:pt x="59174" y="69306"/>
                  <a:pt x="55918" y="72561"/>
                </a:cubicBezTo>
                <a:lnTo>
                  <a:pt x="14247" y="114233"/>
                </a:lnTo>
                <a:cubicBezTo>
                  <a:pt x="10991" y="117489"/>
                  <a:pt x="5704" y="117489"/>
                  <a:pt x="2448" y="114233"/>
                </a:cubicBezTo>
                <a:cubicBezTo>
                  <a:pt x="-807" y="110977"/>
                  <a:pt x="-807" y="105690"/>
                  <a:pt x="2448" y="102435"/>
                </a:cubicBezTo>
                <a:lnTo>
                  <a:pt x="38208" y="66675"/>
                </a:lnTo>
                <a:lnTo>
                  <a:pt x="2448" y="30889"/>
                </a:lnTo>
                <a:close/>
                <a:moveTo>
                  <a:pt x="58341" y="100013"/>
                </a:moveTo>
                <a:lnTo>
                  <a:pt x="125016" y="100013"/>
                </a:lnTo>
                <a:cubicBezTo>
                  <a:pt x="129626" y="100013"/>
                  <a:pt x="133350" y="103737"/>
                  <a:pt x="133350" y="108347"/>
                </a:cubicBezTo>
                <a:cubicBezTo>
                  <a:pt x="133350" y="112957"/>
                  <a:pt x="129626" y="116681"/>
                  <a:pt x="125016" y="116681"/>
                </a:cubicBezTo>
                <a:lnTo>
                  <a:pt x="58341" y="116681"/>
                </a:lnTo>
                <a:cubicBezTo>
                  <a:pt x="53731" y="116681"/>
                  <a:pt x="50006" y="112957"/>
                  <a:pt x="50006" y="108347"/>
                </a:cubicBezTo>
                <a:cubicBezTo>
                  <a:pt x="50006" y="103737"/>
                  <a:pt x="53731" y="100013"/>
                  <a:pt x="58341" y="100013"/>
                </a:cubicBezTo>
                <a:close/>
              </a:path>
            </a:pathLst>
          </a:custGeom>
          <a:solidFill>
            <a:schemeClr val="tx1"/>
          </a:solidFill>
        </p:spPr>
      </p:sp>
      <p:sp>
        <p:nvSpPr>
          <p:cNvPr id="118" name="Text 24"/>
          <p:cNvSpPr/>
          <p:nvPr/>
        </p:nvSpPr>
        <p:spPr>
          <a:xfrm>
            <a:off x="4697095" y="4881880"/>
            <a:ext cx="100774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技术门槛高</a:t>
            </a:r>
            <a:endParaRPr lang="en-US" sz="1200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19" name="Shape 25"/>
          <p:cNvSpPr/>
          <p:nvPr/>
        </p:nvSpPr>
        <p:spPr>
          <a:xfrm>
            <a:off x="8132713" y="1795463"/>
            <a:ext cx="3676650" cy="3476625"/>
          </a:xfrm>
          <a:custGeom>
            <a:avLst/>
            <a:gdLst/>
            <a:ahLst/>
            <a:cxnLst/>
            <a:rect l="l" t="t" r="r" b="b"/>
            <a:pathLst>
              <a:path w="3676650" h="3476625">
                <a:moveTo>
                  <a:pt x="152415" y="0"/>
                </a:moveTo>
                <a:lnTo>
                  <a:pt x="3524235" y="0"/>
                </a:lnTo>
                <a:cubicBezTo>
                  <a:pt x="3608411" y="0"/>
                  <a:pt x="3676650" y="68239"/>
                  <a:pt x="3676650" y="152415"/>
                </a:cubicBezTo>
                <a:lnTo>
                  <a:pt x="3676650" y="3324210"/>
                </a:lnTo>
                <a:cubicBezTo>
                  <a:pt x="3676650" y="3408386"/>
                  <a:pt x="3608411" y="3476625"/>
                  <a:pt x="3524235" y="3476625"/>
                </a:cubicBezTo>
                <a:lnTo>
                  <a:pt x="152415" y="3476625"/>
                </a:lnTo>
                <a:cubicBezTo>
                  <a:pt x="68239" y="3476625"/>
                  <a:pt x="0" y="3408386"/>
                  <a:pt x="0" y="3324210"/>
                </a:cubicBezTo>
                <a:lnTo>
                  <a:pt x="0" y="152415"/>
                </a:lnTo>
                <a:cubicBezTo>
                  <a:pt x="0" y="68239"/>
                  <a:pt x="68239" y="0"/>
                  <a:pt x="152415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37000"/>
                </a:schemeClr>
              </a:gs>
              <a:gs pos="100000">
                <a:srgbClr val="1A1D21">
                  <a:alpha val="53000"/>
                </a:srgbClr>
              </a:gs>
            </a:gsLst>
            <a:lin ang="2700000" scaled="1"/>
          </a:gradFill>
          <a:ln w="12700">
            <a:noFill/>
            <a:prstDash val="solid"/>
          </a:ln>
        </p:spPr>
      </p:sp>
      <p:sp>
        <p:nvSpPr>
          <p:cNvPr id="120" name="Shape 26"/>
          <p:cNvSpPr/>
          <p:nvPr/>
        </p:nvSpPr>
        <p:spPr>
          <a:xfrm>
            <a:off x="8327975" y="1990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C8A45C">
              <a:alpha val="30196"/>
            </a:srgbClr>
          </a:solidFill>
        </p:spPr>
      </p:sp>
      <p:sp>
        <p:nvSpPr>
          <p:cNvPr id="121" name="Shape 27"/>
          <p:cNvSpPr/>
          <p:nvPr/>
        </p:nvSpPr>
        <p:spPr>
          <a:xfrm>
            <a:off x="8451800" y="21431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chemeClr val="tx1"/>
          </a:solidFill>
        </p:spPr>
      </p:sp>
      <p:sp>
        <p:nvSpPr>
          <p:cNvPr id="122" name="Text 28"/>
          <p:cNvSpPr/>
          <p:nvPr/>
        </p:nvSpPr>
        <p:spPr>
          <a:xfrm>
            <a:off x="8975675" y="2028825"/>
            <a:ext cx="971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ChatBI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23" name="Text 29"/>
          <p:cNvSpPr/>
          <p:nvPr/>
        </p:nvSpPr>
        <p:spPr>
          <a:xfrm>
            <a:off x="8975675" y="2295525"/>
            <a:ext cx="9429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AI-Powered BI</a:t>
            </a:r>
            <a:endParaRPr lang="en-US" sz="10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24" name="Shape 30"/>
          <p:cNvSpPr/>
          <p:nvPr/>
        </p:nvSpPr>
        <p:spPr>
          <a:xfrm>
            <a:off x="8332738" y="2681288"/>
            <a:ext cx="3276600" cy="2085975"/>
          </a:xfrm>
          <a:custGeom>
            <a:avLst/>
            <a:gdLst/>
            <a:ahLst/>
            <a:cxnLst/>
            <a:rect l="l" t="t" r="r" b="b"/>
            <a:pathLst>
              <a:path w="3276600" h="2085975">
                <a:moveTo>
                  <a:pt x="114291" y="0"/>
                </a:moveTo>
                <a:lnTo>
                  <a:pt x="3162309" y="0"/>
                </a:lnTo>
                <a:cubicBezTo>
                  <a:pt x="3225430" y="0"/>
                  <a:pt x="3276600" y="51170"/>
                  <a:pt x="3276600" y="114291"/>
                </a:cubicBezTo>
                <a:lnTo>
                  <a:pt x="3276600" y="1971684"/>
                </a:lnTo>
                <a:cubicBezTo>
                  <a:pt x="3276600" y="2034805"/>
                  <a:pt x="3225430" y="2085975"/>
                  <a:pt x="3162309" y="2085975"/>
                </a:cubicBezTo>
                <a:lnTo>
                  <a:pt x="114291" y="2085975"/>
                </a:lnTo>
                <a:cubicBezTo>
                  <a:pt x="51170" y="2085975"/>
                  <a:pt x="0" y="2034805"/>
                  <a:pt x="0" y="1971684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C8A45C">
                <a:alpha val="20000"/>
              </a:srgbClr>
            </a:solidFill>
            <a:prstDash val="solid"/>
          </a:ln>
        </p:spPr>
      </p:sp>
      <p:sp>
        <p:nvSpPr>
          <p:cNvPr id="125" name="Text 31"/>
          <p:cNvSpPr/>
          <p:nvPr/>
        </p:nvSpPr>
        <p:spPr>
          <a:xfrm>
            <a:off x="8489900" y="2838450"/>
            <a:ext cx="3038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= 聪明的AI仓库管理员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26" name="Text 32"/>
          <p:cNvSpPr/>
          <p:nvPr/>
        </p:nvSpPr>
        <p:spPr>
          <a:xfrm>
            <a:off x="8489900" y="3143250"/>
            <a:ext cx="3028950" cy="647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你说"我要一个M运动方向盘"，他</a:t>
            </a:r>
            <a:r>
              <a:rPr lang="en-US" sz="1050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自动翻译成货架编号</a:t>
            </a: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去取。用</a:t>
            </a:r>
            <a:r>
              <a:rPr lang="en-US" sz="105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自然语言</a:t>
            </a: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直接查询，系统自动生成SQL、执行、返回可视化图表。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27" name="Shape 33"/>
          <p:cNvSpPr/>
          <p:nvPr/>
        </p:nvSpPr>
        <p:spPr>
          <a:xfrm>
            <a:off x="8347025" y="491013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3789" y="3177"/>
                </a:moveTo>
                <a:lnTo>
                  <a:pt x="80817" y="26149"/>
                </a:lnTo>
                <a:lnTo>
                  <a:pt x="107201" y="52533"/>
                </a:lnTo>
                <a:lnTo>
                  <a:pt x="130173" y="29561"/>
                </a:lnTo>
                <a:cubicBezTo>
                  <a:pt x="132204" y="27503"/>
                  <a:pt x="133350" y="24743"/>
                  <a:pt x="133350" y="21878"/>
                </a:cubicBezTo>
                <a:cubicBezTo>
                  <a:pt x="133350" y="19013"/>
                  <a:pt x="132204" y="16252"/>
                  <a:pt x="130173" y="14194"/>
                </a:cubicBezTo>
                <a:lnTo>
                  <a:pt x="119156" y="3177"/>
                </a:lnTo>
                <a:cubicBezTo>
                  <a:pt x="117098" y="1146"/>
                  <a:pt x="114337" y="0"/>
                  <a:pt x="111472" y="0"/>
                </a:cubicBezTo>
                <a:cubicBezTo>
                  <a:pt x="108607" y="0"/>
                  <a:pt x="105847" y="1146"/>
                  <a:pt x="103789" y="3177"/>
                </a:cubicBezTo>
                <a:close/>
                <a:moveTo>
                  <a:pt x="71988" y="34978"/>
                </a:moveTo>
                <a:lnTo>
                  <a:pt x="3177" y="103789"/>
                </a:lnTo>
                <a:cubicBezTo>
                  <a:pt x="1146" y="105847"/>
                  <a:pt x="0" y="108607"/>
                  <a:pt x="0" y="111472"/>
                </a:cubicBezTo>
                <a:cubicBezTo>
                  <a:pt x="0" y="114337"/>
                  <a:pt x="1146" y="117098"/>
                  <a:pt x="3177" y="119156"/>
                </a:cubicBezTo>
                <a:lnTo>
                  <a:pt x="14194" y="130173"/>
                </a:lnTo>
                <a:cubicBezTo>
                  <a:pt x="16252" y="132204"/>
                  <a:pt x="19013" y="133350"/>
                  <a:pt x="21878" y="133350"/>
                </a:cubicBezTo>
                <a:cubicBezTo>
                  <a:pt x="24743" y="133350"/>
                  <a:pt x="27503" y="132204"/>
                  <a:pt x="29561" y="130173"/>
                </a:cubicBezTo>
                <a:lnTo>
                  <a:pt x="98372" y="61362"/>
                </a:lnTo>
                <a:lnTo>
                  <a:pt x="71988" y="34978"/>
                </a:lnTo>
                <a:close/>
              </a:path>
            </a:pathLst>
          </a:custGeom>
          <a:solidFill>
            <a:schemeClr val="tx1"/>
          </a:solidFill>
        </p:spPr>
      </p:sp>
      <p:sp>
        <p:nvSpPr>
          <p:cNvPr id="128" name="Text 34"/>
          <p:cNvSpPr/>
          <p:nvPr/>
        </p:nvSpPr>
        <p:spPr>
          <a:xfrm>
            <a:off x="8570595" y="4881880"/>
            <a:ext cx="1374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零门槛智能查询</a:t>
            </a:r>
            <a:endParaRPr lang="en-US" sz="1200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29" name="Shape 35"/>
          <p:cNvSpPr/>
          <p:nvPr/>
        </p:nvSpPr>
        <p:spPr>
          <a:xfrm>
            <a:off x="385763" y="5467350"/>
            <a:ext cx="11420475" cy="1009650"/>
          </a:xfrm>
          <a:custGeom>
            <a:avLst/>
            <a:gdLst/>
            <a:ahLst/>
            <a:cxnLst/>
            <a:rect l="l" t="t" r="r" b="b"/>
            <a:pathLst>
              <a:path w="11420475" h="1009650">
                <a:moveTo>
                  <a:pt x="152397" y="0"/>
                </a:moveTo>
                <a:lnTo>
                  <a:pt x="11268078" y="0"/>
                </a:lnTo>
                <a:cubicBezTo>
                  <a:pt x="11352245" y="0"/>
                  <a:pt x="11420475" y="68230"/>
                  <a:pt x="11420475" y="152397"/>
                </a:cubicBezTo>
                <a:lnTo>
                  <a:pt x="11420475" y="857253"/>
                </a:lnTo>
                <a:cubicBezTo>
                  <a:pt x="11420475" y="941420"/>
                  <a:pt x="11352245" y="1009650"/>
                  <a:pt x="11268078" y="1009650"/>
                </a:cubicBezTo>
                <a:lnTo>
                  <a:pt x="152397" y="1009650"/>
                </a:lnTo>
                <a:cubicBezTo>
                  <a:pt x="68230" y="1009650"/>
                  <a:pt x="0" y="941420"/>
                  <a:pt x="0" y="857253"/>
                </a:cubicBezTo>
                <a:lnTo>
                  <a:pt x="0" y="152397"/>
                </a:lnTo>
                <a:cubicBezTo>
                  <a:pt x="0" y="68230"/>
                  <a:pt x="68230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9E0">
                  <a:alpha val="10000"/>
                </a:srgbClr>
              </a:gs>
              <a:gs pos="50000">
                <a:srgbClr val="C8A45C">
                  <a:alpha val="10000"/>
                </a:srgbClr>
              </a:gs>
              <a:gs pos="100000">
                <a:srgbClr val="00A9E0">
                  <a:alpha val="10000"/>
                </a:srgbClr>
              </a:gs>
            </a:gsLst>
            <a:lin ang="0" scaled="1"/>
          </a:gradFill>
          <a:ln w="12700">
            <a:solidFill>
              <a:srgbClr val="00A9E0">
                <a:alpha val="20000"/>
              </a:srgbClr>
            </a:solidFill>
            <a:prstDash val="solid"/>
          </a:ln>
        </p:spPr>
      </p:sp>
      <p:sp>
        <p:nvSpPr>
          <p:cNvPr id="130" name="Shape 36"/>
          <p:cNvSpPr/>
          <p:nvPr/>
        </p:nvSpPr>
        <p:spPr>
          <a:xfrm>
            <a:off x="581025" y="56626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31" name="Shape 37"/>
          <p:cNvSpPr/>
          <p:nvPr/>
        </p:nvSpPr>
        <p:spPr>
          <a:xfrm>
            <a:off x="726281" y="579596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</p:sp>
      <p:sp>
        <p:nvSpPr>
          <p:cNvPr id="132" name="Text 38"/>
          <p:cNvSpPr/>
          <p:nvPr/>
        </p:nvSpPr>
        <p:spPr>
          <a:xfrm>
            <a:off x="1190625" y="5662613"/>
            <a:ext cx="1051560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一句话定义：</a:t>
            </a:r>
            <a:r>
              <a:rPr lang="en-US" sz="15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ChatBI让业务人员用</a:t>
            </a:r>
            <a:r>
              <a:rPr lang="en-US" sz="1500" b="1" dirty="0">
                <a:solidFill>
                  <a:srgbClr val="C8A45C"/>
                </a:solidFill>
                <a:highlight>
                  <a:srgbClr val="C8A45C">
                    <a:alpha val="2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自然语言 </a:t>
            </a:r>
            <a:r>
              <a:rPr lang="en-US" sz="15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直接查询结构化数据，系统自动生成SQL、执行、返回可视化图表。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33" name="Shape 39"/>
          <p:cNvSpPr/>
          <p:nvPr/>
        </p:nvSpPr>
        <p:spPr>
          <a:xfrm>
            <a:off x="1209675" y="6115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134" name="Text 40"/>
          <p:cNvSpPr/>
          <p:nvPr/>
        </p:nvSpPr>
        <p:spPr>
          <a:xfrm>
            <a:off x="1433513" y="6086475"/>
            <a:ext cx="112395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无需学习SQL语法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35" name="Shape 41"/>
          <p:cNvSpPr/>
          <p:nvPr/>
        </p:nvSpPr>
        <p:spPr>
          <a:xfrm>
            <a:off x="2740372" y="6115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136" name="Text 42"/>
          <p:cNvSpPr/>
          <p:nvPr/>
        </p:nvSpPr>
        <p:spPr>
          <a:xfrm>
            <a:off x="2964210" y="6086475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实时生成可视化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37" name="Shape 43"/>
          <p:cNvSpPr/>
          <p:nvPr/>
        </p:nvSpPr>
        <p:spPr>
          <a:xfrm>
            <a:off x="4145310" y="6115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138" name="Text 44"/>
          <p:cNvSpPr/>
          <p:nvPr/>
        </p:nvSpPr>
        <p:spPr>
          <a:xfrm>
            <a:off x="4369147" y="6086475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支持复杂业务逻辑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AI</a:t>
            </a:r>
            <a:r>
              <a:rPr lang="zh-CN" altLang="en-US"/>
              <a:t>最容易在哪翻车？</a:t>
            </a:r>
            <a:r>
              <a:rPr lang="en-US" altLang="zh-CN"/>
              <a:t>——</a:t>
            </a:r>
            <a:r>
              <a:rPr lang="zh-CN" altLang="en-US"/>
              <a:t>口径陷阱</a:t>
            </a:r>
            <a:endParaRPr lang="zh-CN" altLang="en-US"/>
          </a:p>
        </p:txBody>
      </p:sp>
      <p:sp>
        <p:nvSpPr>
          <p:cNvPr id="98" name="Text 4"/>
          <p:cNvSpPr/>
          <p:nvPr/>
        </p:nvSpPr>
        <p:spPr>
          <a:xfrm>
            <a:off x="689610" y="1080135"/>
            <a:ext cx="11418570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用宝马人都懂的比喻，理解AI数据分析的核心逻辑</a:t>
            </a:r>
            <a:endParaRPr lang="en-US" sz="13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5763" y="1452563"/>
            <a:ext cx="5591175" cy="4124325"/>
          </a:xfrm>
          <a:custGeom>
            <a:avLst/>
            <a:gdLst/>
            <a:ahLst/>
            <a:cxnLst/>
            <a:rect l="l" t="t" r="r" b="b"/>
            <a:pathLst>
              <a:path w="5591175" h="4124325">
                <a:moveTo>
                  <a:pt x="152394" y="0"/>
                </a:moveTo>
                <a:lnTo>
                  <a:pt x="5438781" y="0"/>
                </a:lnTo>
                <a:cubicBezTo>
                  <a:pt x="5522946" y="0"/>
                  <a:pt x="5591175" y="68229"/>
                  <a:pt x="5591175" y="152394"/>
                </a:cubicBezTo>
                <a:lnTo>
                  <a:pt x="5591175" y="3971931"/>
                </a:lnTo>
                <a:cubicBezTo>
                  <a:pt x="5591175" y="4056096"/>
                  <a:pt x="5522946" y="4124325"/>
                  <a:pt x="5438781" y="4124325"/>
                </a:cubicBezTo>
                <a:lnTo>
                  <a:pt x="152394" y="4124325"/>
                </a:lnTo>
                <a:cubicBezTo>
                  <a:pt x="68229" y="4124325"/>
                  <a:pt x="0" y="4056096"/>
                  <a:pt x="0" y="3971931"/>
                </a:cubicBezTo>
                <a:lnTo>
                  <a:pt x="0" y="152394"/>
                </a:lnTo>
                <a:cubicBezTo>
                  <a:pt x="0" y="68229"/>
                  <a:pt x="68229" y="0"/>
                  <a:pt x="152394" y="0"/>
                </a:cubicBezTo>
                <a:close/>
              </a:path>
            </a:pathLst>
          </a:custGeom>
          <a:noFill/>
          <a:ln w="12700">
            <a:solidFill>
              <a:srgbClr val="FB2C36">
                <a:alpha val="3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647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76275" y="1743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9" name="Text 7"/>
          <p:cNvSpPr/>
          <p:nvPr/>
        </p:nvSpPr>
        <p:spPr>
          <a:xfrm>
            <a:off x="1076325" y="1704975"/>
            <a:ext cx="1609725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未加知识库的AI回答</a:t>
            </a:r>
            <a:endParaRPr lang="en-US" sz="135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0075" y="2181225"/>
            <a:ext cx="5181600" cy="685800"/>
          </a:xfrm>
          <a:custGeom>
            <a:avLst/>
            <a:gdLst/>
            <a:ahLst/>
            <a:cxnLst/>
            <a:rect l="l" t="t" r="r" b="b"/>
            <a:pathLst>
              <a:path w="5181600" h="685800">
                <a:moveTo>
                  <a:pt x="38100" y="0"/>
                </a:moveTo>
                <a:lnTo>
                  <a:pt x="5105401" y="0"/>
                </a:lnTo>
                <a:cubicBezTo>
                  <a:pt x="5147484" y="0"/>
                  <a:pt x="5181600" y="34116"/>
                  <a:pt x="5181600" y="76199"/>
                </a:cubicBezTo>
                <a:lnTo>
                  <a:pt x="5181600" y="609601"/>
                </a:lnTo>
                <a:cubicBezTo>
                  <a:pt x="5181600" y="651684"/>
                  <a:pt x="5147484" y="685800"/>
                  <a:pt x="51054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1">
              <a:alpha val="9000"/>
            </a:schemeClr>
          </a:solidFill>
        </p:spPr>
      </p:sp>
      <p:sp>
        <p:nvSpPr>
          <p:cNvPr id="11" name="Shape 9"/>
          <p:cNvSpPr/>
          <p:nvPr/>
        </p:nvSpPr>
        <p:spPr>
          <a:xfrm>
            <a:off x="600075" y="21812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/>
          </a:solidFill>
        </p:spPr>
      </p:sp>
      <p:sp>
        <p:nvSpPr>
          <p:cNvPr id="12" name="Text 10"/>
          <p:cNvSpPr/>
          <p:nvPr/>
        </p:nvSpPr>
        <p:spPr>
          <a:xfrm>
            <a:off x="733425" y="2295525"/>
            <a:ext cx="5000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用户输入</a:t>
            </a:r>
            <a:endParaRPr lang="en-US" sz="1050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3425" y="2524125"/>
            <a:ext cx="5010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"查一下上个月纯电车型的销量"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85788" y="2986088"/>
            <a:ext cx="5191125" cy="1371600"/>
          </a:xfrm>
          <a:custGeom>
            <a:avLst/>
            <a:gdLst/>
            <a:ahLst/>
            <a:cxnLst/>
            <a:rect l="l" t="t" r="r" b="b"/>
            <a:pathLst>
              <a:path w="5191125" h="1371600">
                <a:moveTo>
                  <a:pt x="76206" y="0"/>
                </a:moveTo>
                <a:lnTo>
                  <a:pt x="5114919" y="0"/>
                </a:lnTo>
                <a:cubicBezTo>
                  <a:pt x="5157006" y="0"/>
                  <a:pt x="5191125" y="34119"/>
                  <a:pt x="5191125" y="76206"/>
                </a:cubicBezTo>
                <a:lnTo>
                  <a:pt x="5191125" y="1295394"/>
                </a:lnTo>
                <a:cubicBezTo>
                  <a:pt x="5191125" y="1337481"/>
                  <a:pt x="5157006" y="1371600"/>
                  <a:pt x="5114919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noFill/>
          <a:ln w="12700">
            <a:solidFill>
              <a:srgbClr val="FB2C36">
                <a:alpha val="30196"/>
              </a:srgb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82181A">
                    <a:alpha val="20000"/>
                  </a:srgbClr>
                </a:solidFill>
              </a14:hiddenFill>
            </a:ext>
          </a:extLst>
        </p:spPr>
      </p:sp>
      <p:sp>
        <p:nvSpPr>
          <p:cNvPr id="15" name="Text 13"/>
          <p:cNvSpPr/>
          <p:nvPr/>
        </p:nvSpPr>
        <p:spPr>
          <a:xfrm>
            <a:off x="704850" y="3105150"/>
            <a:ext cx="50196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AI生成的错误SQL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04850" y="3371850"/>
            <a:ext cx="5019675" cy="866775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SELECT SUM(quantity)</a:t>
            </a:r>
            <a:endParaRPr 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BMWGroupTN Condensed TT Light" charset="0"/>
            </a:endParaRPr>
          </a:p>
          <a:p>
            <a:pPr>
              <a:lnSpc>
                <a:spcPct val="14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FROM sales</a:t>
            </a:r>
            <a:endParaRPr 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BMWGroupTN Condensed TT Light" charset="0"/>
            </a:endParaRPr>
          </a:p>
          <a:p>
            <a:pPr>
              <a:lnSpc>
                <a:spcPct val="14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WHERE type=</a:t>
            </a: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B2C36">
                    <a:alpha val="2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'电动'</a:t>
            </a:r>
            <a:endParaRPr 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BMWGroupTN Condensed TT Light" charset="0"/>
            </a:endParaRPr>
          </a:p>
          <a:p>
            <a:pPr>
              <a:lnSpc>
                <a:spcPct val="14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AND date &gt;= '2025-03-01'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1741" y="4507706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50006" y="25003"/>
                </a:moveTo>
                <a:cubicBezTo>
                  <a:pt x="50006" y="11199"/>
                  <a:pt x="61206" y="0"/>
                  <a:pt x="75009" y="0"/>
                </a:cubicBezTo>
                <a:cubicBezTo>
                  <a:pt x="88813" y="0"/>
                  <a:pt x="100013" y="11199"/>
                  <a:pt x="100013" y="25003"/>
                </a:cubicBezTo>
                <a:lnTo>
                  <a:pt x="100013" y="25941"/>
                </a:lnTo>
                <a:cubicBezTo>
                  <a:pt x="100013" y="30030"/>
                  <a:pt x="96705" y="33337"/>
                  <a:pt x="92616" y="33337"/>
                </a:cubicBezTo>
                <a:lnTo>
                  <a:pt x="57429" y="33337"/>
                </a:lnTo>
                <a:cubicBezTo>
                  <a:pt x="53340" y="33337"/>
                  <a:pt x="50032" y="30030"/>
                  <a:pt x="50032" y="25941"/>
                </a:cubicBezTo>
                <a:lnTo>
                  <a:pt x="50032" y="25003"/>
                </a:lnTo>
                <a:close/>
                <a:moveTo>
                  <a:pt x="140018" y="28337"/>
                </a:moveTo>
                <a:cubicBezTo>
                  <a:pt x="142778" y="32009"/>
                  <a:pt x="142023" y="37244"/>
                  <a:pt x="138351" y="40005"/>
                </a:cubicBezTo>
                <a:lnTo>
                  <a:pt x="112879" y="59096"/>
                </a:lnTo>
                <a:cubicBezTo>
                  <a:pt x="114259" y="61414"/>
                  <a:pt x="115301" y="63966"/>
                  <a:pt x="115952" y="66675"/>
                </a:cubicBezTo>
                <a:lnTo>
                  <a:pt x="141684" y="66675"/>
                </a:lnTo>
                <a:cubicBezTo>
                  <a:pt x="146294" y="66675"/>
                  <a:pt x="150019" y="70399"/>
                  <a:pt x="150019" y="75009"/>
                </a:cubicBezTo>
                <a:cubicBezTo>
                  <a:pt x="150019" y="79619"/>
                  <a:pt x="146294" y="83344"/>
                  <a:pt x="141684" y="83344"/>
                </a:cubicBezTo>
                <a:lnTo>
                  <a:pt x="116681" y="83344"/>
                </a:lnTo>
                <a:lnTo>
                  <a:pt x="116681" y="91678"/>
                </a:lnTo>
                <a:cubicBezTo>
                  <a:pt x="116681" y="92355"/>
                  <a:pt x="116655" y="93059"/>
                  <a:pt x="116629" y="93736"/>
                </a:cubicBezTo>
                <a:lnTo>
                  <a:pt x="138351" y="110014"/>
                </a:lnTo>
                <a:cubicBezTo>
                  <a:pt x="142023" y="112775"/>
                  <a:pt x="142778" y="118010"/>
                  <a:pt x="140018" y="121682"/>
                </a:cubicBezTo>
                <a:cubicBezTo>
                  <a:pt x="137257" y="125354"/>
                  <a:pt x="132022" y="126110"/>
                  <a:pt x="128349" y="123349"/>
                </a:cubicBezTo>
                <a:lnTo>
                  <a:pt x="111915" y="111030"/>
                </a:lnTo>
                <a:cubicBezTo>
                  <a:pt x="105873" y="122541"/>
                  <a:pt x="94595" y="130876"/>
                  <a:pt x="81260" y="132881"/>
                </a:cubicBezTo>
                <a:lnTo>
                  <a:pt x="81260" y="72926"/>
                </a:lnTo>
                <a:cubicBezTo>
                  <a:pt x="81260" y="69462"/>
                  <a:pt x="78473" y="66675"/>
                  <a:pt x="75009" y="66675"/>
                </a:cubicBezTo>
                <a:cubicBezTo>
                  <a:pt x="71545" y="66675"/>
                  <a:pt x="68759" y="69462"/>
                  <a:pt x="68759" y="72926"/>
                </a:cubicBezTo>
                <a:lnTo>
                  <a:pt x="68759" y="132881"/>
                </a:lnTo>
                <a:cubicBezTo>
                  <a:pt x="55424" y="130876"/>
                  <a:pt x="44146" y="122541"/>
                  <a:pt x="38104" y="111030"/>
                </a:cubicBezTo>
                <a:lnTo>
                  <a:pt x="21669" y="123349"/>
                </a:lnTo>
                <a:cubicBezTo>
                  <a:pt x="17997" y="126110"/>
                  <a:pt x="12762" y="125354"/>
                  <a:pt x="10001" y="121682"/>
                </a:cubicBezTo>
                <a:cubicBezTo>
                  <a:pt x="7240" y="118010"/>
                  <a:pt x="7996" y="112775"/>
                  <a:pt x="11668" y="110014"/>
                </a:cubicBezTo>
                <a:lnTo>
                  <a:pt x="33390" y="93736"/>
                </a:lnTo>
                <a:cubicBezTo>
                  <a:pt x="33364" y="93059"/>
                  <a:pt x="33338" y="92381"/>
                  <a:pt x="33338" y="91678"/>
                </a:cubicBezTo>
                <a:lnTo>
                  <a:pt x="33338" y="83344"/>
                </a:lnTo>
                <a:lnTo>
                  <a:pt x="8334" y="83344"/>
                </a:lnTo>
                <a:cubicBezTo>
                  <a:pt x="3724" y="83344"/>
                  <a:pt x="0" y="79619"/>
                  <a:pt x="0" y="75009"/>
                </a:cubicBezTo>
                <a:cubicBezTo>
                  <a:pt x="0" y="70399"/>
                  <a:pt x="3724" y="66675"/>
                  <a:pt x="8334" y="66675"/>
                </a:cubicBezTo>
                <a:lnTo>
                  <a:pt x="34067" y="66675"/>
                </a:lnTo>
                <a:cubicBezTo>
                  <a:pt x="34718" y="63966"/>
                  <a:pt x="35760" y="61414"/>
                  <a:pt x="37140" y="59096"/>
                </a:cubicBezTo>
                <a:lnTo>
                  <a:pt x="11668" y="40005"/>
                </a:lnTo>
                <a:cubicBezTo>
                  <a:pt x="7996" y="37244"/>
                  <a:pt x="7240" y="32009"/>
                  <a:pt x="10001" y="28337"/>
                </a:cubicBezTo>
                <a:cubicBezTo>
                  <a:pt x="12762" y="24665"/>
                  <a:pt x="17997" y="23909"/>
                  <a:pt x="21669" y="26670"/>
                </a:cubicBezTo>
                <a:lnTo>
                  <a:pt x="50006" y="47923"/>
                </a:lnTo>
                <a:cubicBezTo>
                  <a:pt x="53210" y="46594"/>
                  <a:pt x="56726" y="45839"/>
                  <a:pt x="60424" y="45839"/>
                </a:cubicBezTo>
                <a:lnTo>
                  <a:pt x="89595" y="45839"/>
                </a:lnTo>
                <a:cubicBezTo>
                  <a:pt x="93293" y="45839"/>
                  <a:pt x="96809" y="46568"/>
                  <a:pt x="100013" y="47923"/>
                </a:cubicBezTo>
                <a:lnTo>
                  <a:pt x="128349" y="26670"/>
                </a:lnTo>
                <a:cubicBezTo>
                  <a:pt x="132022" y="23909"/>
                  <a:pt x="137257" y="24665"/>
                  <a:pt x="140018" y="28337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8" name="Text 16"/>
          <p:cNvSpPr/>
          <p:nvPr/>
        </p:nvSpPr>
        <p:spPr>
          <a:xfrm>
            <a:off x="824230" y="4476750"/>
            <a:ext cx="304863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错误！数据库字段名是</a:t>
            </a:r>
            <a:r>
              <a:rPr lang="en-US" sz="1200" dirty="0">
                <a:solidFill>
                  <a:schemeClr val="tx1"/>
                </a:solidFill>
                <a:highlight>
                  <a:srgbClr val="FB2C36">
                    <a:alpha val="2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fuel_type </a:t>
            </a:r>
            <a:r>
              <a:rPr lang="en-US" sz="12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，值是</a:t>
            </a:r>
            <a:r>
              <a:rPr lang="en-US" sz="1200" dirty="0">
                <a:solidFill>
                  <a:schemeClr val="tx1"/>
                </a:solidFill>
                <a:highlight>
                  <a:srgbClr val="FB2C36">
                    <a:alpha val="2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BEV</a:t>
            </a:r>
            <a:endParaRPr lang="en-US" sz="1200" dirty="0">
              <a:solidFill>
                <a:schemeClr val="tx1"/>
              </a:solidFill>
              <a:highlight>
                <a:srgbClr val="FB2C36">
                  <a:alpha val="20000"/>
                </a:srgbClr>
              </a:highligh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85763" y="5738813"/>
            <a:ext cx="5591175" cy="733425"/>
          </a:xfrm>
          <a:custGeom>
            <a:avLst/>
            <a:gdLst/>
            <a:ahLst/>
            <a:cxnLst/>
            <a:rect l="l" t="t" r="r" b="b"/>
            <a:pathLst>
              <a:path w="5591175" h="733425">
                <a:moveTo>
                  <a:pt x="114297" y="0"/>
                </a:moveTo>
                <a:lnTo>
                  <a:pt x="5476878" y="0"/>
                </a:lnTo>
                <a:cubicBezTo>
                  <a:pt x="5540003" y="0"/>
                  <a:pt x="5591175" y="51172"/>
                  <a:pt x="5591175" y="114297"/>
                </a:cubicBezTo>
                <a:lnTo>
                  <a:pt x="5591175" y="619128"/>
                </a:lnTo>
                <a:cubicBezTo>
                  <a:pt x="5591175" y="682253"/>
                  <a:pt x="5540003" y="733425"/>
                  <a:pt x="5476878" y="733425"/>
                </a:cubicBezTo>
                <a:lnTo>
                  <a:pt x="114297" y="733425"/>
                </a:lnTo>
                <a:cubicBezTo>
                  <a:pt x="51172" y="733425"/>
                  <a:pt x="0" y="682253"/>
                  <a:pt x="0" y="619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noFill/>
          <a:ln w="12700">
            <a:solidFill>
              <a:srgbClr val="FB2C36">
                <a:alpha val="3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1025" y="5949950"/>
            <a:ext cx="160655" cy="34671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FF6467"/>
          </a:solidFill>
        </p:spPr>
      </p:sp>
      <p:sp>
        <p:nvSpPr>
          <p:cNvPr id="21" name="Text 19"/>
          <p:cNvSpPr/>
          <p:nvPr/>
        </p:nvSpPr>
        <p:spPr>
          <a:xfrm>
            <a:off x="895350" y="5895975"/>
            <a:ext cx="2962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结果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95350" y="6124575"/>
            <a:ext cx="342265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要么报错，要么返回0，要么返回一个离谱的数字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15380" y="1448435"/>
            <a:ext cx="5591175" cy="4116070"/>
          </a:xfrm>
          <a:custGeom>
            <a:avLst/>
            <a:gdLst/>
            <a:ahLst/>
            <a:cxnLst/>
            <a:rect l="l" t="t" r="r" b="b"/>
            <a:pathLst>
              <a:path w="5591175" h="4314825">
                <a:moveTo>
                  <a:pt x="152400" y="0"/>
                </a:moveTo>
                <a:lnTo>
                  <a:pt x="5438775" y="0"/>
                </a:lnTo>
                <a:cubicBezTo>
                  <a:pt x="5522943" y="0"/>
                  <a:pt x="5591175" y="68232"/>
                  <a:pt x="5591175" y="152400"/>
                </a:cubicBezTo>
                <a:lnTo>
                  <a:pt x="5591175" y="4162425"/>
                </a:lnTo>
                <a:cubicBezTo>
                  <a:pt x="5591175" y="4246593"/>
                  <a:pt x="5522943" y="4314825"/>
                  <a:pt x="5438775" y="4314825"/>
                </a:cubicBezTo>
                <a:lnTo>
                  <a:pt x="152400" y="4314825"/>
                </a:lnTo>
                <a:cubicBezTo>
                  <a:pt x="68232" y="4314825"/>
                  <a:pt x="0" y="4246593"/>
                  <a:pt x="0" y="416242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ln>
            <a:solidFill>
              <a:schemeClr val="accent2">
                <a:alpha val="37000"/>
              </a:schemeClr>
            </a:solidFill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4" name="Shape 22"/>
          <p:cNvSpPr/>
          <p:nvPr/>
        </p:nvSpPr>
        <p:spPr>
          <a:xfrm>
            <a:off x="6410325" y="1647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9E0">
              <a:alpha val="20000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6505575" y="1743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26" name="Text 24"/>
          <p:cNvSpPr/>
          <p:nvPr/>
        </p:nvSpPr>
        <p:spPr>
          <a:xfrm>
            <a:off x="6905625" y="1704975"/>
            <a:ext cx="2238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核心痛点：AI不懂宝马"黑话"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15088" y="2185988"/>
            <a:ext cx="5191125" cy="1266825"/>
          </a:xfrm>
          <a:custGeom>
            <a:avLst/>
            <a:gdLst/>
            <a:ahLst/>
            <a:cxnLst/>
            <a:rect l="l" t="t" r="r" b="b"/>
            <a:pathLst>
              <a:path w="5191125" h="1266825">
                <a:moveTo>
                  <a:pt x="114306" y="0"/>
                </a:moveTo>
                <a:lnTo>
                  <a:pt x="5076819" y="0"/>
                </a:lnTo>
                <a:cubicBezTo>
                  <a:pt x="5139949" y="0"/>
                  <a:pt x="5191125" y="51176"/>
                  <a:pt x="5191125" y="114306"/>
                </a:cubicBezTo>
                <a:lnTo>
                  <a:pt x="5191125" y="1152519"/>
                </a:lnTo>
                <a:cubicBezTo>
                  <a:pt x="5191125" y="1215649"/>
                  <a:pt x="5139949" y="1266825"/>
                  <a:pt x="507681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chemeClr val="tx1">
              <a:alpha val="11000"/>
            </a:schemeClr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72250" y="23812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45C">
              <a:alpha val="20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6698382" y="2438400"/>
            <a:ext cx="123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91350" y="2343150"/>
            <a:ext cx="2105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什么叫"纯电车型"？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991350" y="2647950"/>
            <a:ext cx="209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• i3、i4、iX、i5、i7算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991350" y="2876550"/>
            <a:ext cx="209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• i8</a:t>
            </a:r>
            <a:r>
              <a:rPr lang="en-US" sz="1050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算不算？</a:t>
            </a: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（已停产，需排除）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991350" y="3105150"/>
            <a:ext cx="209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• 530Le</a:t>
            </a:r>
            <a:r>
              <a:rPr lang="en-US" sz="1050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算不算？</a:t>
            </a: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（插混，不算）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415088" y="3614738"/>
            <a:ext cx="5191125" cy="1266825"/>
          </a:xfrm>
          <a:custGeom>
            <a:avLst/>
            <a:gdLst/>
            <a:ahLst/>
            <a:cxnLst/>
            <a:rect l="l" t="t" r="r" b="b"/>
            <a:pathLst>
              <a:path w="5191125" h="1266825">
                <a:moveTo>
                  <a:pt x="114306" y="0"/>
                </a:moveTo>
                <a:lnTo>
                  <a:pt x="5076819" y="0"/>
                </a:lnTo>
                <a:cubicBezTo>
                  <a:pt x="5139949" y="0"/>
                  <a:pt x="5191125" y="51176"/>
                  <a:pt x="5191125" y="114306"/>
                </a:cubicBezTo>
                <a:lnTo>
                  <a:pt x="5191125" y="1152519"/>
                </a:lnTo>
                <a:cubicBezTo>
                  <a:pt x="5191125" y="1215649"/>
                  <a:pt x="5139949" y="1266825"/>
                  <a:pt x="507681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72250" y="381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45C">
              <a:alpha val="20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6687145" y="3867150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2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991350" y="3771900"/>
            <a:ext cx="1847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什么叫"华东区"？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991350" y="4076700"/>
            <a:ext cx="1838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• 上海、江苏、浙江、安徽</a:t>
            </a:r>
            <a:r>
              <a:rPr lang="en-US" sz="1050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✓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991350" y="4305300"/>
            <a:ext cx="1838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• 山东</a:t>
            </a:r>
            <a:r>
              <a:rPr lang="en-US" sz="1050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算华东还是华北？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991350" y="4533900"/>
            <a:ext cx="1838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• 福建</a:t>
            </a:r>
            <a:r>
              <a:rPr lang="en-US" sz="1050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算华东还是华南？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215380" y="5734050"/>
            <a:ext cx="5591175" cy="733425"/>
          </a:xfrm>
          <a:custGeom>
            <a:avLst/>
            <a:gdLst/>
            <a:ahLst/>
            <a:cxnLst/>
            <a:rect l="l" t="t" r="r" b="b"/>
            <a:pathLst>
              <a:path w="5591175" h="542925">
                <a:moveTo>
                  <a:pt x="114302" y="0"/>
                </a:moveTo>
                <a:lnTo>
                  <a:pt x="5476873" y="0"/>
                </a:lnTo>
                <a:cubicBezTo>
                  <a:pt x="5540000" y="0"/>
                  <a:pt x="5591175" y="51175"/>
                  <a:pt x="5591175" y="114302"/>
                </a:cubicBezTo>
                <a:lnTo>
                  <a:pt x="5591175" y="428623"/>
                </a:lnTo>
                <a:cubicBezTo>
                  <a:pt x="5591175" y="491750"/>
                  <a:pt x="5540000" y="542925"/>
                  <a:pt x="54768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2" name="Shape 40"/>
          <p:cNvSpPr>
            <a:spLocks noChangeAspect="1"/>
          </p:cNvSpPr>
          <p:nvPr/>
        </p:nvSpPr>
        <p:spPr>
          <a:xfrm>
            <a:off x="6419850" y="61055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C8A45C"/>
          </a:solidFill>
        </p:spPr>
      </p:sp>
      <p:sp>
        <p:nvSpPr>
          <p:cNvPr id="43" name="Text 41"/>
          <p:cNvSpPr/>
          <p:nvPr/>
        </p:nvSpPr>
        <p:spPr>
          <a:xfrm>
            <a:off x="6724650" y="6086475"/>
            <a:ext cx="2800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解决方案：</a:t>
            </a: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给AI一本</a:t>
            </a:r>
            <a:r>
              <a:rPr lang="en-US" sz="1200" b="1" dirty="0">
                <a:solidFill>
                  <a:srgbClr val="C8A45C"/>
                </a:solidFill>
                <a:highlight>
                  <a:srgbClr val="C8A45C">
                    <a:alpha val="2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《宝马数据词典》</a:t>
            </a:r>
            <a:endParaRPr lang="en-US" sz="1600" dirty="0"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工作流优化</a:t>
            </a:r>
            <a:r>
              <a:rPr lang="en-US" altLang="zh-CN"/>
              <a:t>——</a:t>
            </a:r>
            <a:r>
              <a:rPr lang="zh-CN" altLang="en-US"/>
              <a:t>增加归因分析链路</a:t>
            </a:r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37971" y="1097348"/>
            <a:ext cx="4506283" cy="4998637"/>
          </a:xfrm>
          <a:custGeom>
            <a:avLst/>
            <a:gdLst/>
            <a:ahLst/>
            <a:cxnLst/>
            <a:rect l="l" t="t" r="r" b="b"/>
            <a:pathLst>
              <a:path w="4506283" h="4998637">
                <a:moveTo>
                  <a:pt x="133521" y="0"/>
                </a:moveTo>
                <a:lnTo>
                  <a:pt x="4372762" y="0"/>
                </a:lnTo>
                <a:cubicBezTo>
                  <a:pt x="4446504" y="0"/>
                  <a:pt x="4506283" y="59779"/>
                  <a:pt x="4506283" y="133521"/>
                </a:cubicBezTo>
                <a:lnTo>
                  <a:pt x="4506283" y="4865115"/>
                </a:lnTo>
                <a:cubicBezTo>
                  <a:pt x="4506283" y="4938857"/>
                  <a:pt x="4446504" y="4998637"/>
                  <a:pt x="4372762" y="4998637"/>
                </a:cubicBezTo>
                <a:lnTo>
                  <a:pt x="133521" y="4998637"/>
                </a:lnTo>
                <a:cubicBezTo>
                  <a:pt x="59779" y="4998637"/>
                  <a:pt x="0" y="4938857"/>
                  <a:pt x="0" y="4865115"/>
                </a:cubicBezTo>
                <a:lnTo>
                  <a:pt x="0" y="133521"/>
                </a:lnTo>
                <a:cubicBezTo>
                  <a:pt x="0" y="59829"/>
                  <a:pt x="59829" y="0"/>
                  <a:pt x="133521" y="0"/>
                </a:cubicBezTo>
                <a:close/>
              </a:path>
            </a:pathLst>
          </a:custGeom>
          <a:solidFill>
            <a:schemeClr val="tx2">
              <a:alpha val="11000"/>
            </a:schemeClr>
          </a:solidFill>
          <a:ln w="12700">
            <a:noFill/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9043" y="1268420"/>
            <a:ext cx="4239244" cy="2336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新增节点</a:t>
            </a:r>
            <a:endParaRPr lang="en-US" sz="1185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3216" y="1639771"/>
            <a:ext cx="4155795" cy="675943"/>
          </a:xfrm>
          <a:custGeom>
            <a:avLst/>
            <a:gdLst/>
            <a:ahLst/>
            <a:cxnLst/>
            <a:rect l="l" t="t" r="r" b="b"/>
            <a:pathLst>
              <a:path w="4155795" h="675943">
                <a:moveTo>
                  <a:pt x="100141" y="0"/>
                </a:moveTo>
                <a:lnTo>
                  <a:pt x="4055654" y="0"/>
                </a:lnTo>
                <a:cubicBezTo>
                  <a:pt x="4110960" y="0"/>
                  <a:pt x="4155795" y="44835"/>
                  <a:pt x="4155795" y="100141"/>
                </a:cubicBezTo>
                <a:lnTo>
                  <a:pt x="4155795" y="575802"/>
                </a:lnTo>
                <a:cubicBezTo>
                  <a:pt x="4155795" y="631108"/>
                  <a:pt x="4110960" y="675943"/>
                  <a:pt x="4055654" y="675943"/>
                </a:cubicBezTo>
                <a:lnTo>
                  <a:pt x="100141" y="675943"/>
                </a:lnTo>
                <a:cubicBezTo>
                  <a:pt x="44835" y="675943"/>
                  <a:pt x="0" y="631108"/>
                  <a:pt x="0" y="575802"/>
                </a:cubicBezTo>
                <a:lnTo>
                  <a:pt x="0" y="100141"/>
                </a:lnTo>
                <a:cubicBezTo>
                  <a:pt x="0" y="44872"/>
                  <a:pt x="44872" y="0"/>
                  <a:pt x="10014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C8A45C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908" y="1777463"/>
            <a:ext cx="200279" cy="200279"/>
          </a:xfrm>
          <a:custGeom>
            <a:avLst/>
            <a:gdLst/>
            <a:ahLst/>
            <a:cxnLst/>
            <a:rect l="l" t="t" r="r" b="b"/>
            <a:pathLst>
              <a:path w="200279" h="200279">
                <a:moveTo>
                  <a:pt x="33381" y="0"/>
                </a:moveTo>
                <a:lnTo>
                  <a:pt x="166899" y="0"/>
                </a:lnTo>
                <a:cubicBezTo>
                  <a:pt x="185322" y="0"/>
                  <a:pt x="200279" y="14957"/>
                  <a:pt x="200279" y="33381"/>
                </a:cubicBezTo>
                <a:lnTo>
                  <a:pt x="200279" y="166899"/>
                </a:lnTo>
                <a:cubicBezTo>
                  <a:pt x="200279" y="185322"/>
                  <a:pt x="185322" y="200279"/>
                  <a:pt x="166899" y="200279"/>
                </a:cubicBezTo>
                <a:lnTo>
                  <a:pt x="33381" y="200279"/>
                </a:lnTo>
                <a:cubicBezTo>
                  <a:pt x="14957" y="200279"/>
                  <a:pt x="0" y="185322"/>
                  <a:pt x="0" y="166899"/>
                </a:cubicBezTo>
                <a:lnTo>
                  <a:pt x="0" y="33381"/>
                </a:lnTo>
                <a:cubicBezTo>
                  <a:pt x="0" y="14957"/>
                  <a:pt x="14957" y="0"/>
                  <a:pt x="33381" y="0"/>
                </a:cubicBezTo>
                <a:close/>
              </a:path>
            </a:pathLst>
          </a:custGeom>
          <a:solidFill>
            <a:srgbClr val="C8A45C">
              <a:alpha val="2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718059" y="1810843"/>
            <a:ext cx="116830" cy="13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7947" y="1794153"/>
            <a:ext cx="942982" cy="166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并行知识库检索2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0908" y="2044502"/>
            <a:ext cx="3930480" cy="13352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查询《市场活动记录库》，关键词"北京+上月"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3216" y="2424198"/>
            <a:ext cx="4155795" cy="675943"/>
          </a:xfrm>
          <a:custGeom>
            <a:avLst/>
            <a:gdLst/>
            <a:ahLst/>
            <a:cxnLst/>
            <a:rect l="l" t="t" r="r" b="b"/>
            <a:pathLst>
              <a:path w="4155795" h="675943">
                <a:moveTo>
                  <a:pt x="100141" y="0"/>
                </a:moveTo>
                <a:lnTo>
                  <a:pt x="4055654" y="0"/>
                </a:lnTo>
                <a:cubicBezTo>
                  <a:pt x="4110960" y="0"/>
                  <a:pt x="4155795" y="44835"/>
                  <a:pt x="4155795" y="100141"/>
                </a:cubicBezTo>
                <a:lnTo>
                  <a:pt x="4155795" y="575802"/>
                </a:lnTo>
                <a:cubicBezTo>
                  <a:pt x="4155795" y="631108"/>
                  <a:pt x="4110960" y="675943"/>
                  <a:pt x="4055654" y="675943"/>
                </a:cubicBezTo>
                <a:lnTo>
                  <a:pt x="100141" y="675943"/>
                </a:lnTo>
                <a:cubicBezTo>
                  <a:pt x="44835" y="675943"/>
                  <a:pt x="0" y="631108"/>
                  <a:pt x="0" y="575802"/>
                </a:cubicBezTo>
                <a:lnTo>
                  <a:pt x="0" y="100141"/>
                </a:lnTo>
                <a:cubicBezTo>
                  <a:pt x="0" y="44872"/>
                  <a:pt x="44872" y="0"/>
                  <a:pt x="10014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00A9E0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0908" y="2561890"/>
            <a:ext cx="200279" cy="200279"/>
          </a:xfrm>
          <a:custGeom>
            <a:avLst/>
            <a:gdLst/>
            <a:ahLst/>
            <a:cxnLst/>
            <a:rect l="l" t="t" r="r" b="b"/>
            <a:pathLst>
              <a:path w="200279" h="200279">
                <a:moveTo>
                  <a:pt x="33381" y="0"/>
                </a:moveTo>
                <a:lnTo>
                  <a:pt x="166899" y="0"/>
                </a:lnTo>
                <a:cubicBezTo>
                  <a:pt x="185322" y="0"/>
                  <a:pt x="200279" y="14957"/>
                  <a:pt x="200279" y="33381"/>
                </a:cubicBezTo>
                <a:lnTo>
                  <a:pt x="200279" y="166899"/>
                </a:lnTo>
                <a:cubicBezTo>
                  <a:pt x="200279" y="185322"/>
                  <a:pt x="185322" y="200279"/>
                  <a:pt x="166899" y="200279"/>
                </a:cubicBezTo>
                <a:lnTo>
                  <a:pt x="33381" y="200279"/>
                </a:lnTo>
                <a:cubicBezTo>
                  <a:pt x="14957" y="200279"/>
                  <a:pt x="0" y="185322"/>
                  <a:pt x="0" y="166899"/>
                </a:cubicBezTo>
                <a:lnTo>
                  <a:pt x="0" y="33381"/>
                </a:lnTo>
                <a:cubicBezTo>
                  <a:pt x="0" y="14957"/>
                  <a:pt x="14957" y="0"/>
                  <a:pt x="33381" y="0"/>
                </a:cubicBezTo>
                <a:close/>
              </a:path>
            </a:pathLst>
          </a:custGeom>
          <a:solidFill>
            <a:srgbClr val="00A9E0">
              <a:alpha val="2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717928" y="2595270"/>
            <a:ext cx="116830" cy="13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B</a:t>
            </a:r>
            <a:endParaRPr lang="en-US" sz="79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7947" y="2578580"/>
            <a:ext cx="759392" cy="166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数据对比节点</a:t>
            </a:r>
            <a:endParaRPr lang="en-US" sz="92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0908" y="2828929"/>
            <a:ext cx="3930480" cy="13352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计算环比跌幅（-15%）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13216" y="3208625"/>
            <a:ext cx="4155795" cy="675943"/>
          </a:xfrm>
          <a:custGeom>
            <a:avLst/>
            <a:gdLst/>
            <a:ahLst/>
            <a:cxnLst/>
            <a:rect l="l" t="t" r="r" b="b"/>
            <a:pathLst>
              <a:path w="4155795" h="675943">
                <a:moveTo>
                  <a:pt x="100141" y="0"/>
                </a:moveTo>
                <a:lnTo>
                  <a:pt x="4055654" y="0"/>
                </a:lnTo>
                <a:cubicBezTo>
                  <a:pt x="4110960" y="0"/>
                  <a:pt x="4155795" y="44835"/>
                  <a:pt x="4155795" y="100141"/>
                </a:cubicBezTo>
                <a:lnTo>
                  <a:pt x="4155795" y="575802"/>
                </a:lnTo>
                <a:cubicBezTo>
                  <a:pt x="4155795" y="631108"/>
                  <a:pt x="4110960" y="675943"/>
                  <a:pt x="4055654" y="675943"/>
                </a:cubicBezTo>
                <a:lnTo>
                  <a:pt x="100141" y="675943"/>
                </a:lnTo>
                <a:cubicBezTo>
                  <a:pt x="44835" y="675943"/>
                  <a:pt x="0" y="631108"/>
                  <a:pt x="0" y="575802"/>
                </a:cubicBezTo>
                <a:lnTo>
                  <a:pt x="0" y="100141"/>
                </a:lnTo>
                <a:cubicBezTo>
                  <a:pt x="0" y="44872"/>
                  <a:pt x="44872" y="0"/>
                  <a:pt x="10014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C8A45C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0908" y="3346317"/>
            <a:ext cx="200279" cy="200279"/>
          </a:xfrm>
          <a:custGeom>
            <a:avLst/>
            <a:gdLst/>
            <a:ahLst/>
            <a:cxnLst/>
            <a:rect l="l" t="t" r="r" b="b"/>
            <a:pathLst>
              <a:path w="200279" h="200279">
                <a:moveTo>
                  <a:pt x="33381" y="0"/>
                </a:moveTo>
                <a:lnTo>
                  <a:pt x="166899" y="0"/>
                </a:lnTo>
                <a:cubicBezTo>
                  <a:pt x="185322" y="0"/>
                  <a:pt x="200279" y="14957"/>
                  <a:pt x="200279" y="33381"/>
                </a:cubicBezTo>
                <a:lnTo>
                  <a:pt x="200279" y="166899"/>
                </a:lnTo>
                <a:cubicBezTo>
                  <a:pt x="200279" y="185322"/>
                  <a:pt x="185322" y="200279"/>
                  <a:pt x="166899" y="200279"/>
                </a:cubicBezTo>
                <a:lnTo>
                  <a:pt x="33381" y="200279"/>
                </a:lnTo>
                <a:cubicBezTo>
                  <a:pt x="14957" y="200279"/>
                  <a:pt x="0" y="185322"/>
                  <a:pt x="0" y="166899"/>
                </a:cubicBezTo>
                <a:lnTo>
                  <a:pt x="0" y="33381"/>
                </a:lnTo>
                <a:cubicBezTo>
                  <a:pt x="0" y="14957"/>
                  <a:pt x="14957" y="0"/>
                  <a:pt x="33381" y="0"/>
                </a:cubicBezTo>
                <a:close/>
              </a:path>
            </a:pathLst>
          </a:custGeom>
          <a:solidFill>
            <a:srgbClr val="C8A45C">
              <a:alpha val="2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716103" y="3379697"/>
            <a:ext cx="116830" cy="13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C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7947" y="3363007"/>
            <a:ext cx="993051" cy="166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归因分析LLM节点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0908" y="3613356"/>
            <a:ext cx="3930480" cy="13352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根据跌幅、市场活动、竞品动态生成分析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37971" y="6237849"/>
            <a:ext cx="4506283" cy="442283"/>
          </a:xfrm>
          <a:custGeom>
            <a:avLst/>
            <a:gdLst/>
            <a:ahLst/>
            <a:cxnLst/>
            <a:rect l="l" t="t" r="r" b="b"/>
            <a:pathLst>
              <a:path w="4506283" h="442283">
                <a:moveTo>
                  <a:pt x="100142" y="0"/>
                </a:moveTo>
                <a:lnTo>
                  <a:pt x="4406142" y="0"/>
                </a:lnTo>
                <a:cubicBezTo>
                  <a:pt x="4461448" y="0"/>
                  <a:pt x="4506283" y="44835"/>
                  <a:pt x="4506283" y="100142"/>
                </a:cubicBezTo>
                <a:lnTo>
                  <a:pt x="4506283" y="342142"/>
                </a:lnTo>
                <a:cubicBezTo>
                  <a:pt x="4506283" y="397448"/>
                  <a:pt x="4461448" y="442283"/>
                  <a:pt x="4406142" y="442283"/>
                </a:cubicBezTo>
                <a:lnTo>
                  <a:pt x="100142" y="442283"/>
                </a:lnTo>
                <a:cubicBezTo>
                  <a:pt x="44835" y="442283"/>
                  <a:pt x="0" y="397448"/>
                  <a:pt x="0" y="342142"/>
                </a:cubicBezTo>
                <a:lnTo>
                  <a:pt x="0" y="100142"/>
                </a:lnTo>
                <a:cubicBezTo>
                  <a:pt x="0" y="44872"/>
                  <a:pt x="44872" y="0"/>
                  <a:pt x="100142" y="0"/>
                </a:cubicBezTo>
                <a:close/>
              </a:path>
            </a:pathLst>
          </a:custGeom>
          <a:solidFill>
            <a:schemeClr val="tx2">
              <a:alpha val="11000"/>
            </a:schemeClr>
          </a:solidFill>
          <a:ln w="12700">
            <a:solidFill>
              <a:srgbClr val="C8A45C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6526" y="6375541"/>
            <a:ext cx="166899" cy="166899"/>
          </a:xfrm>
          <a:custGeom>
            <a:avLst/>
            <a:gdLst/>
            <a:ahLst/>
            <a:cxnLst/>
            <a:rect l="l" t="t" r="r" b="b"/>
            <a:pathLst>
              <a:path w="166899" h="166899">
                <a:moveTo>
                  <a:pt x="0" y="26078"/>
                </a:moveTo>
                <a:cubicBezTo>
                  <a:pt x="0" y="17440"/>
                  <a:pt x="7008" y="10431"/>
                  <a:pt x="15647" y="10431"/>
                </a:cubicBezTo>
                <a:lnTo>
                  <a:pt x="46940" y="10431"/>
                </a:lnTo>
                <a:cubicBezTo>
                  <a:pt x="55579" y="10431"/>
                  <a:pt x="62587" y="17440"/>
                  <a:pt x="62587" y="26078"/>
                </a:cubicBezTo>
                <a:lnTo>
                  <a:pt x="62587" y="31294"/>
                </a:lnTo>
                <a:lnTo>
                  <a:pt x="104312" y="31294"/>
                </a:lnTo>
                <a:lnTo>
                  <a:pt x="104312" y="26078"/>
                </a:lnTo>
                <a:cubicBezTo>
                  <a:pt x="104312" y="17440"/>
                  <a:pt x="111321" y="10431"/>
                  <a:pt x="119959" y="10431"/>
                </a:cubicBezTo>
                <a:lnTo>
                  <a:pt x="151253" y="10431"/>
                </a:lnTo>
                <a:cubicBezTo>
                  <a:pt x="159891" y="10431"/>
                  <a:pt x="166899" y="17440"/>
                  <a:pt x="166899" y="26078"/>
                </a:cubicBezTo>
                <a:lnTo>
                  <a:pt x="166899" y="57372"/>
                </a:lnTo>
                <a:cubicBezTo>
                  <a:pt x="166899" y="66010"/>
                  <a:pt x="159891" y="73018"/>
                  <a:pt x="151253" y="73018"/>
                </a:cubicBezTo>
                <a:lnTo>
                  <a:pt x="119959" y="73018"/>
                </a:lnTo>
                <a:cubicBezTo>
                  <a:pt x="111321" y="73018"/>
                  <a:pt x="104312" y="66010"/>
                  <a:pt x="104312" y="57372"/>
                </a:cubicBezTo>
                <a:lnTo>
                  <a:pt x="104312" y="52156"/>
                </a:lnTo>
                <a:lnTo>
                  <a:pt x="62587" y="52156"/>
                </a:lnTo>
                <a:lnTo>
                  <a:pt x="62587" y="57372"/>
                </a:lnTo>
                <a:cubicBezTo>
                  <a:pt x="62587" y="59751"/>
                  <a:pt x="62033" y="62033"/>
                  <a:pt x="61088" y="64054"/>
                </a:cubicBezTo>
                <a:lnTo>
                  <a:pt x="83450" y="93881"/>
                </a:lnTo>
                <a:lnTo>
                  <a:pt x="109528" y="93881"/>
                </a:lnTo>
                <a:cubicBezTo>
                  <a:pt x="118166" y="93881"/>
                  <a:pt x="125175" y="100889"/>
                  <a:pt x="125175" y="109528"/>
                </a:cubicBezTo>
                <a:lnTo>
                  <a:pt x="125175" y="140821"/>
                </a:lnTo>
                <a:cubicBezTo>
                  <a:pt x="125175" y="149460"/>
                  <a:pt x="118166" y="156468"/>
                  <a:pt x="109528" y="156468"/>
                </a:cubicBezTo>
                <a:lnTo>
                  <a:pt x="78234" y="156468"/>
                </a:lnTo>
                <a:cubicBezTo>
                  <a:pt x="69596" y="156468"/>
                  <a:pt x="62587" y="149460"/>
                  <a:pt x="62587" y="140821"/>
                </a:cubicBezTo>
                <a:lnTo>
                  <a:pt x="62587" y="109528"/>
                </a:lnTo>
                <a:cubicBezTo>
                  <a:pt x="62587" y="107148"/>
                  <a:pt x="63141" y="104866"/>
                  <a:pt x="64087" y="102845"/>
                </a:cubicBezTo>
                <a:lnTo>
                  <a:pt x="41725" y="73018"/>
                </a:lnTo>
                <a:lnTo>
                  <a:pt x="15647" y="73018"/>
                </a:lnTo>
                <a:cubicBezTo>
                  <a:pt x="7008" y="73018"/>
                  <a:pt x="0" y="66010"/>
                  <a:pt x="0" y="57372"/>
                </a:cubicBezTo>
                <a:lnTo>
                  <a:pt x="0" y="26078"/>
                </a:lnTo>
                <a:close/>
              </a:path>
            </a:pathLst>
          </a:custGeom>
          <a:solidFill>
            <a:srgbClr val="C8A45C"/>
          </a:solidFill>
        </p:spPr>
      </p:sp>
      <p:sp>
        <p:nvSpPr>
          <p:cNvPr id="25" name="Text 23"/>
          <p:cNvSpPr/>
          <p:nvPr/>
        </p:nvSpPr>
        <p:spPr>
          <a:xfrm>
            <a:off x="784427" y="6375541"/>
            <a:ext cx="2278177" cy="166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在工作流画布上增加分支，实现多维度分析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15587" y="1097348"/>
            <a:ext cx="6842875" cy="4965257"/>
          </a:xfrm>
          <a:custGeom>
            <a:avLst/>
            <a:gdLst/>
            <a:ahLst/>
            <a:cxnLst/>
            <a:rect l="l" t="t" r="r" b="b"/>
            <a:pathLst>
              <a:path w="6842875" h="4965257">
                <a:moveTo>
                  <a:pt x="133516" y="0"/>
                </a:moveTo>
                <a:lnTo>
                  <a:pt x="6709359" y="0"/>
                </a:lnTo>
                <a:cubicBezTo>
                  <a:pt x="6783048" y="0"/>
                  <a:pt x="6842875" y="59826"/>
                  <a:pt x="6842875" y="133516"/>
                </a:cubicBezTo>
                <a:lnTo>
                  <a:pt x="6842875" y="4831741"/>
                </a:lnTo>
                <a:cubicBezTo>
                  <a:pt x="6842875" y="4905480"/>
                  <a:pt x="6783098" y="4965257"/>
                  <a:pt x="6709359" y="4965257"/>
                </a:cubicBezTo>
                <a:lnTo>
                  <a:pt x="133516" y="4965257"/>
                </a:lnTo>
                <a:cubicBezTo>
                  <a:pt x="59826" y="4965257"/>
                  <a:pt x="0" y="4905430"/>
                  <a:pt x="0" y="4831741"/>
                </a:cubicBezTo>
                <a:lnTo>
                  <a:pt x="0" y="133516"/>
                </a:lnTo>
                <a:cubicBezTo>
                  <a:pt x="0" y="59777"/>
                  <a:pt x="59777" y="0"/>
                  <a:pt x="13351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4E54">
                  <a:alpha val="2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6659" y="1268420"/>
            <a:ext cx="6575836" cy="2336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最终输出效果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190832" y="1639771"/>
            <a:ext cx="6492386" cy="1610579"/>
          </a:xfrm>
          <a:custGeom>
            <a:avLst/>
            <a:gdLst/>
            <a:ahLst/>
            <a:cxnLst/>
            <a:rect l="l" t="t" r="r" b="b"/>
            <a:pathLst>
              <a:path w="6492386" h="1610579">
                <a:moveTo>
                  <a:pt x="100146" y="0"/>
                </a:moveTo>
                <a:lnTo>
                  <a:pt x="6392240" y="0"/>
                </a:lnTo>
                <a:cubicBezTo>
                  <a:pt x="6447549" y="0"/>
                  <a:pt x="6492386" y="44837"/>
                  <a:pt x="6492386" y="100146"/>
                </a:cubicBezTo>
                <a:lnTo>
                  <a:pt x="6492386" y="1510433"/>
                </a:lnTo>
                <a:cubicBezTo>
                  <a:pt x="6492386" y="1565742"/>
                  <a:pt x="6447549" y="1610579"/>
                  <a:pt x="6392240" y="1610579"/>
                </a:cubicBezTo>
                <a:lnTo>
                  <a:pt x="100146" y="1610579"/>
                </a:lnTo>
                <a:cubicBezTo>
                  <a:pt x="44837" y="1610579"/>
                  <a:pt x="0" y="1565742"/>
                  <a:pt x="0" y="1510433"/>
                </a:cubicBezTo>
                <a:lnTo>
                  <a:pt x="0" y="100146"/>
                </a:lnTo>
                <a:cubicBezTo>
                  <a:pt x="0" y="44874"/>
                  <a:pt x="44874" y="0"/>
                  <a:pt x="100146" y="0"/>
                </a:cubicBezTo>
                <a:close/>
              </a:path>
            </a:pathLst>
          </a:custGeom>
          <a:solidFill>
            <a:schemeClr val="tx1">
              <a:alpha val="0"/>
            </a:schemeClr>
          </a:solidFill>
          <a:ln w="12700">
            <a:solidFill>
              <a:srgbClr val="00A9E0">
                <a:alpha val="30196"/>
              </a:srgbClr>
            </a:solidFill>
            <a:prstDash val="solid"/>
          </a:ln>
        </p:spPr>
        <p:txBody>
          <a:bodyPr/>
          <a:p>
            <a:endParaRPr lang="zh-CN" altLang="en-US">
              <a:cs typeface="BMWGroupTN Condensed TT Light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328524" y="1777463"/>
            <a:ext cx="6275417" cy="166899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图表：近三个月北京地区销量趋势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62043" y="2712099"/>
            <a:ext cx="1894308" cy="0"/>
          </a:xfrm>
          <a:custGeom>
            <a:avLst/>
            <a:gdLst/>
            <a:ahLst/>
            <a:cxnLst/>
            <a:rect l="l" t="t" r="r" b="b"/>
            <a:pathLst>
              <a:path w="1894308">
                <a:moveTo>
                  <a:pt x="0" y="0"/>
                </a:moveTo>
                <a:lnTo>
                  <a:pt x="1894308" y="0"/>
                </a:lnTo>
                <a:lnTo>
                  <a:pt x="1894308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4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6327638" y="2778859"/>
            <a:ext cx="208624" cy="13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E8E9EA">
                    <a:alpha val="6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8月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331745" y="2979138"/>
            <a:ext cx="200279" cy="13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142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489284" y="2712099"/>
            <a:ext cx="1894308" cy="0"/>
          </a:xfrm>
          <a:custGeom>
            <a:avLst/>
            <a:gdLst/>
            <a:ahLst/>
            <a:cxnLst/>
            <a:rect l="l" t="t" r="r" b="b"/>
            <a:pathLst>
              <a:path w="1894308">
                <a:moveTo>
                  <a:pt x="0" y="0"/>
                </a:moveTo>
                <a:lnTo>
                  <a:pt x="1894308" y="0"/>
                </a:lnTo>
                <a:lnTo>
                  <a:pt x="1894308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6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8356313" y="2778859"/>
            <a:ext cx="208624" cy="13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E8E9EA">
                    <a:alpha val="6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9月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355205" y="2979138"/>
            <a:ext cx="208624" cy="13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168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516590" y="2712099"/>
            <a:ext cx="1894308" cy="0"/>
          </a:xfrm>
          <a:custGeom>
            <a:avLst/>
            <a:gdLst/>
            <a:ahLst/>
            <a:cxnLst/>
            <a:rect l="l" t="t" r="r" b="b"/>
            <a:pathLst>
              <a:path w="1894308">
                <a:moveTo>
                  <a:pt x="0" y="0"/>
                </a:moveTo>
                <a:lnTo>
                  <a:pt x="1894308" y="0"/>
                </a:lnTo>
                <a:lnTo>
                  <a:pt x="1894308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6467">
              <a:alpha val="60000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10297757" y="2778859"/>
            <a:ext cx="383869" cy="13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b="1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10月 ↓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384988" y="2979138"/>
            <a:ext cx="208624" cy="13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143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190832" y="3392214"/>
            <a:ext cx="6492386" cy="2495146"/>
          </a:xfrm>
          <a:custGeom>
            <a:avLst/>
            <a:gdLst/>
            <a:ahLst/>
            <a:cxnLst/>
            <a:rect l="l" t="t" r="r" b="b"/>
            <a:pathLst>
              <a:path w="6492386" h="2495146">
                <a:moveTo>
                  <a:pt x="100130" y="0"/>
                </a:moveTo>
                <a:lnTo>
                  <a:pt x="6392256" y="0"/>
                </a:lnTo>
                <a:cubicBezTo>
                  <a:pt x="6447556" y="0"/>
                  <a:pt x="6492386" y="44830"/>
                  <a:pt x="6492386" y="100130"/>
                </a:cubicBezTo>
                <a:lnTo>
                  <a:pt x="6492386" y="2395016"/>
                </a:lnTo>
                <a:cubicBezTo>
                  <a:pt x="6492386" y="2450316"/>
                  <a:pt x="6447556" y="2495146"/>
                  <a:pt x="6392256" y="2495146"/>
                </a:cubicBezTo>
                <a:lnTo>
                  <a:pt x="100130" y="2495146"/>
                </a:lnTo>
                <a:cubicBezTo>
                  <a:pt x="44830" y="2495146"/>
                  <a:pt x="0" y="2450316"/>
                  <a:pt x="0" y="2395016"/>
                </a:cubicBezTo>
                <a:lnTo>
                  <a:pt x="0" y="100130"/>
                </a:lnTo>
                <a:cubicBezTo>
                  <a:pt x="0" y="44867"/>
                  <a:pt x="44867" y="0"/>
                  <a:pt x="10013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C8A45C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28524" y="3529906"/>
            <a:ext cx="6275417" cy="166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4A4E54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文字结论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328524" y="3796945"/>
            <a:ext cx="267039" cy="267039"/>
          </a:xfrm>
          <a:custGeom>
            <a:avLst/>
            <a:gdLst/>
            <a:ahLst/>
            <a:cxnLst/>
            <a:rect l="l" t="t" r="r" b="b"/>
            <a:pathLst>
              <a:path w="267039" h="267039">
                <a:moveTo>
                  <a:pt x="66760" y="0"/>
                </a:moveTo>
                <a:lnTo>
                  <a:pt x="200279" y="0"/>
                </a:lnTo>
                <a:cubicBezTo>
                  <a:pt x="237125" y="0"/>
                  <a:pt x="267039" y="29914"/>
                  <a:pt x="267039" y="66760"/>
                </a:cubicBezTo>
                <a:lnTo>
                  <a:pt x="267039" y="200279"/>
                </a:lnTo>
                <a:cubicBezTo>
                  <a:pt x="267039" y="237125"/>
                  <a:pt x="237125" y="267039"/>
                  <a:pt x="200279" y="267039"/>
                </a:cubicBezTo>
                <a:lnTo>
                  <a:pt x="66760" y="267039"/>
                </a:lnTo>
                <a:cubicBezTo>
                  <a:pt x="29914" y="267039"/>
                  <a:pt x="0" y="237125"/>
                  <a:pt x="0" y="200279"/>
                </a:cubicBezTo>
                <a:lnTo>
                  <a:pt x="0" y="66760"/>
                </a:lnTo>
                <a:cubicBezTo>
                  <a:pt x="0" y="29914"/>
                  <a:pt x="29914" y="0"/>
                  <a:pt x="66760" y="0"/>
                </a:cubicBezTo>
                <a:close/>
              </a:path>
            </a:pathLst>
          </a:custGeom>
          <a:solidFill>
            <a:srgbClr val="FF6467">
              <a:alpha val="2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5330023" y="3847015"/>
            <a:ext cx="325454" cy="166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-15%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2" name="Text 41"/>
          <p:cNvSpPr/>
          <p:nvPr/>
        </p:nvSpPr>
        <p:spPr>
          <a:xfrm>
            <a:off x="5695950" y="3796665"/>
            <a:ext cx="3662045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10月北京地区销量环比下降15%</a:t>
            </a:r>
            <a:endParaRPr lang="en-US" sz="1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3" name="Text 42"/>
          <p:cNvSpPr/>
          <p:nvPr/>
        </p:nvSpPr>
        <p:spPr>
          <a:xfrm>
            <a:off x="5695950" y="3997325"/>
            <a:ext cx="3646170" cy="167005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从168台降至143台</a:t>
            </a:r>
            <a:endParaRPr lang="en-US" sz="102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4" name="Shape 43"/>
          <p:cNvSpPr/>
          <p:nvPr/>
        </p:nvSpPr>
        <p:spPr>
          <a:xfrm>
            <a:off x="5328524" y="4264264"/>
            <a:ext cx="6217002" cy="801117"/>
          </a:xfrm>
          <a:custGeom>
            <a:avLst/>
            <a:gdLst/>
            <a:ahLst/>
            <a:cxnLst/>
            <a:rect l="l" t="t" r="r" b="b"/>
            <a:pathLst>
              <a:path w="6217002" h="801117">
                <a:moveTo>
                  <a:pt x="66757" y="0"/>
                </a:moveTo>
                <a:lnTo>
                  <a:pt x="6150245" y="0"/>
                </a:lnTo>
                <a:cubicBezTo>
                  <a:pt x="6187114" y="0"/>
                  <a:pt x="6217002" y="29888"/>
                  <a:pt x="6217002" y="66757"/>
                </a:cubicBezTo>
                <a:lnTo>
                  <a:pt x="6217002" y="734360"/>
                </a:lnTo>
                <a:cubicBezTo>
                  <a:pt x="6217002" y="771229"/>
                  <a:pt x="6187114" y="801117"/>
                  <a:pt x="6150245" y="801117"/>
                </a:cubicBezTo>
                <a:lnTo>
                  <a:pt x="66757" y="801117"/>
                </a:lnTo>
                <a:cubicBezTo>
                  <a:pt x="29888" y="801117"/>
                  <a:pt x="0" y="771229"/>
                  <a:pt x="0" y="734360"/>
                </a:cubicBezTo>
                <a:lnTo>
                  <a:pt x="0" y="66757"/>
                </a:lnTo>
                <a:cubicBezTo>
                  <a:pt x="0" y="29913"/>
                  <a:pt x="29913" y="0"/>
                  <a:pt x="66757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</p:spPr>
      </p:sp>
      <p:sp>
        <p:nvSpPr>
          <p:cNvPr id="75" name="Text 44"/>
          <p:cNvSpPr/>
          <p:nvPr/>
        </p:nvSpPr>
        <p:spPr>
          <a:xfrm>
            <a:off x="5428663" y="4364403"/>
            <a:ext cx="6075138" cy="166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分析发现：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6" name="Text 45"/>
          <p:cNvSpPr/>
          <p:nvPr/>
        </p:nvSpPr>
        <p:spPr>
          <a:xfrm>
            <a:off x="5428663" y="4598062"/>
            <a:ext cx="6075138" cy="166899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① 上月北京无大型市场活动，而去年同期有"BMW i体验日"</a:t>
            </a:r>
            <a:endParaRPr lang="en-US" sz="92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7" name="Text 46"/>
          <p:cNvSpPr/>
          <p:nvPr/>
        </p:nvSpPr>
        <p:spPr>
          <a:xfrm>
            <a:off x="5428663" y="4798342"/>
            <a:ext cx="6075138" cy="166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8E9EA">
                    <a:alpha val="8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② 竞品奔驰EQE同期推出大幅终端优惠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8" name="Shape 47"/>
          <p:cNvSpPr/>
          <p:nvPr/>
        </p:nvSpPr>
        <p:spPr>
          <a:xfrm>
            <a:off x="5332696" y="5169693"/>
            <a:ext cx="6208657" cy="575803"/>
          </a:xfrm>
          <a:custGeom>
            <a:avLst/>
            <a:gdLst/>
            <a:ahLst/>
            <a:cxnLst/>
            <a:rect l="l" t="t" r="r" b="b"/>
            <a:pathLst>
              <a:path w="6208657" h="575803">
                <a:moveTo>
                  <a:pt x="66759" y="0"/>
                </a:moveTo>
                <a:lnTo>
                  <a:pt x="6141898" y="0"/>
                </a:lnTo>
                <a:cubicBezTo>
                  <a:pt x="6178768" y="0"/>
                  <a:pt x="6208657" y="29889"/>
                  <a:pt x="6208657" y="66759"/>
                </a:cubicBezTo>
                <a:lnTo>
                  <a:pt x="6208657" y="509044"/>
                </a:lnTo>
                <a:cubicBezTo>
                  <a:pt x="6208657" y="545914"/>
                  <a:pt x="6178768" y="575803"/>
                  <a:pt x="6141898" y="575803"/>
                </a:cubicBezTo>
                <a:lnTo>
                  <a:pt x="66759" y="575803"/>
                </a:lnTo>
                <a:cubicBezTo>
                  <a:pt x="29914" y="575803"/>
                  <a:pt x="0" y="545889"/>
                  <a:pt x="0" y="509044"/>
                </a:cubicBezTo>
                <a:lnTo>
                  <a:pt x="0" y="66759"/>
                </a:lnTo>
                <a:cubicBezTo>
                  <a:pt x="0" y="29914"/>
                  <a:pt x="29914" y="0"/>
                  <a:pt x="66759" y="0"/>
                </a:cubicBez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>
                <a:alpha val="30196"/>
              </a:srgbClr>
            </a:solidFill>
            <a:prstDash val="solid"/>
          </a:ln>
        </p:spPr>
      </p:sp>
      <p:sp>
        <p:nvSpPr>
          <p:cNvPr id="79" name="Text 48"/>
          <p:cNvSpPr/>
          <p:nvPr/>
        </p:nvSpPr>
        <p:spPr>
          <a:xfrm>
            <a:off x="5437008" y="5274005"/>
            <a:ext cx="6058448" cy="166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建议：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0" name="Text 49"/>
          <p:cNvSpPr/>
          <p:nvPr/>
        </p:nvSpPr>
        <p:spPr>
          <a:xfrm>
            <a:off x="5437008" y="5474284"/>
            <a:ext cx="6058448" cy="166899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11月结合"i5城市漫游"活动，针对北京市场追加区域营销预算</a:t>
            </a:r>
            <a:endParaRPr lang="en-US" sz="92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1" name="Shape 50"/>
          <p:cNvSpPr/>
          <p:nvPr/>
        </p:nvSpPr>
        <p:spPr>
          <a:xfrm>
            <a:off x="5015587" y="6204469"/>
            <a:ext cx="6842875" cy="475663"/>
          </a:xfrm>
          <a:custGeom>
            <a:avLst/>
            <a:gdLst/>
            <a:ahLst/>
            <a:cxnLst/>
            <a:rect l="l" t="t" r="r" b="b"/>
            <a:pathLst>
              <a:path w="6842875" h="475663">
                <a:moveTo>
                  <a:pt x="100141" y="0"/>
                </a:moveTo>
                <a:lnTo>
                  <a:pt x="6742733" y="0"/>
                </a:lnTo>
                <a:cubicBezTo>
                  <a:pt x="6798040" y="0"/>
                  <a:pt x="6842875" y="44835"/>
                  <a:pt x="6842875" y="100141"/>
                </a:cubicBezTo>
                <a:lnTo>
                  <a:pt x="6842875" y="375522"/>
                </a:lnTo>
                <a:cubicBezTo>
                  <a:pt x="6842875" y="430828"/>
                  <a:pt x="6798040" y="475663"/>
                  <a:pt x="6742733" y="475663"/>
                </a:cubicBezTo>
                <a:lnTo>
                  <a:pt x="100141" y="475663"/>
                </a:lnTo>
                <a:cubicBezTo>
                  <a:pt x="44872" y="475663"/>
                  <a:pt x="0" y="430791"/>
                  <a:pt x="0" y="375522"/>
                </a:cubicBezTo>
                <a:lnTo>
                  <a:pt x="0" y="100141"/>
                </a:lnTo>
                <a:cubicBezTo>
                  <a:pt x="0" y="44872"/>
                  <a:pt x="44872" y="0"/>
                  <a:pt x="100141" y="0"/>
                </a:cubicBezTo>
                <a:close/>
              </a:path>
            </a:pathLst>
          </a:custGeom>
          <a:solidFill>
            <a:schemeClr val="tx2">
              <a:alpha val="11000"/>
            </a:schemeClr>
          </a:solidFill>
          <a:ln w="12700">
            <a:solidFill>
              <a:srgbClr val="00A9E0">
                <a:alpha val="30196"/>
              </a:srgbClr>
            </a:solidFill>
            <a:prstDash val="solid"/>
          </a:ln>
        </p:spPr>
      </p:sp>
      <p:sp>
        <p:nvSpPr>
          <p:cNvPr id="82" name="Shape 51"/>
          <p:cNvSpPr/>
          <p:nvPr/>
        </p:nvSpPr>
        <p:spPr>
          <a:xfrm>
            <a:off x="5174142" y="6358851"/>
            <a:ext cx="166899" cy="166899"/>
          </a:xfrm>
          <a:custGeom>
            <a:avLst/>
            <a:gdLst/>
            <a:ahLst/>
            <a:cxnLst/>
            <a:rect l="l" t="t" r="r" b="b"/>
            <a:pathLst>
              <a:path w="166899" h="166899">
                <a:moveTo>
                  <a:pt x="39117" y="18255"/>
                </a:moveTo>
                <a:cubicBezTo>
                  <a:pt x="39117" y="8182"/>
                  <a:pt x="47299" y="0"/>
                  <a:pt x="57372" y="0"/>
                </a:cubicBezTo>
                <a:lnTo>
                  <a:pt x="65195" y="0"/>
                </a:lnTo>
                <a:cubicBezTo>
                  <a:pt x="70965" y="0"/>
                  <a:pt x="75626" y="4661"/>
                  <a:pt x="75626" y="10431"/>
                </a:cubicBezTo>
                <a:lnTo>
                  <a:pt x="75626" y="156468"/>
                </a:lnTo>
                <a:cubicBezTo>
                  <a:pt x="75626" y="162238"/>
                  <a:pt x="70965" y="166899"/>
                  <a:pt x="65195" y="166899"/>
                </a:cubicBezTo>
                <a:lnTo>
                  <a:pt x="54764" y="166899"/>
                </a:lnTo>
                <a:cubicBezTo>
                  <a:pt x="45050" y="166899"/>
                  <a:pt x="36868" y="160249"/>
                  <a:pt x="34553" y="151253"/>
                </a:cubicBezTo>
                <a:cubicBezTo>
                  <a:pt x="34325" y="151253"/>
                  <a:pt x="34130" y="151253"/>
                  <a:pt x="33901" y="151253"/>
                </a:cubicBezTo>
                <a:cubicBezTo>
                  <a:pt x="19493" y="151253"/>
                  <a:pt x="7823" y="139583"/>
                  <a:pt x="7823" y="125175"/>
                </a:cubicBezTo>
                <a:cubicBezTo>
                  <a:pt x="7823" y="119307"/>
                  <a:pt x="9779" y="113896"/>
                  <a:pt x="13039" y="109528"/>
                </a:cubicBezTo>
                <a:cubicBezTo>
                  <a:pt x="6715" y="104768"/>
                  <a:pt x="2608" y="97206"/>
                  <a:pt x="2608" y="88665"/>
                </a:cubicBezTo>
                <a:cubicBezTo>
                  <a:pt x="2608" y="78593"/>
                  <a:pt x="8345" y="69824"/>
                  <a:pt x="16690" y="65488"/>
                </a:cubicBezTo>
                <a:cubicBezTo>
                  <a:pt x="14376" y="61577"/>
                  <a:pt x="13039" y="57013"/>
                  <a:pt x="13039" y="52156"/>
                </a:cubicBezTo>
                <a:cubicBezTo>
                  <a:pt x="13039" y="37748"/>
                  <a:pt x="24709" y="26078"/>
                  <a:pt x="39117" y="26078"/>
                </a:cubicBezTo>
                <a:lnTo>
                  <a:pt x="39117" y="18255"/>
                </a:lnTo>
                <a:close/>
                <a:moveTo>
                  <a:pt x="127782" y="18255"/>
                </a:moveTo>
                <a:lnTo>
                  <a:pt x="127782" y="26078"/>
                </a:lnTo>
                <a:cubicBezTo>
                  <a:pt x="142190" y="26078"/>
                  <a:pt x="153860" y="37748"/>
                  <a:pt x="153860" y="52156"/>
                </a:cubicBezTo>
                <a:cubicBezTo>
                  <a:pt x="153860" y="57046"/>
                  <a:pt x="152524" y="61609"/>
                  <a:pt x="150209" y="65488"/>
                </a:cubicBezTo>
                <a:cubicBezTo>
                  <a:pt x="158587" y="69824"/>
                  <a:pt x="164292" y="78560"/>
                  <a:pt x="164292" y="88665"/>
                </a:cubicBezTo>
                <a:cubicBezTo>
                  <a:pt x="164292" y="97206"/>
                  <a:pt x="160184" y="104768"/>
                  <a:pt x="153860" y="109528"/>
                </a:cubicBezTo>
                <a:cubicBezTo>
                  <a:pt x="157120" y="113896"/>
                  <a:pt x="159076" y="119307"/>
                  <a:pt x="159076" y="125175"/>
                </a:cubicBezTo>
                <a:cubicBezTo>
                  <a:pt x="159076" y="139583"/>
                  <a:pt x="147406" y="151253"/>
                  <a:pt x="132998" y="151253"/>
                </a:cubicBezTo>
                <a:cubicBezTo>
                  <a:pt x="132770" y="151253"/>
                  <a:pt x="132574" y="151253"/>
                  <a:pt x="132346" y="151253"/>
                </a:cubicBezTo>
                <a:cubicBezTo>
                  <a:pt x="130032" y="160249"/>
                  <a:pt x="121850" y="166899"/>
                  <a:pt x="112136" y="166899"/>
                </a:cubicBezTo>
                <a:lnTo>
                  <a:pt x="101704" y="166899"/>
                </a:lnTo>
                <a:cubicBezTo>
                  <a:pt x="95935" y="166899"/>
                  <a:pt x="91273" y="162238"/>
                  <a:pt x="91273" y="156468"/>
                </a:cubicBezTo>
                <a:lnTo>
                  <a:pt x="91273" y="10431"/>
                </a:lnTo>
                <a:cubicBezTo>
                  <a:pt x="91273" y="4661"/>
                  <a:pt x="95935" y="0"/>
                  <a:pt x="101704" y="0"/>
                </a:cubicBezTo>
                <a:lnTo>
                  <a:pt x="109528" y="0"/>
                </a:lnTo>
                <a:cubicBezTo>
                  <a:pt x="119600" y="0"/>
                  <a:pt x="127782" y="8182"/>
                  <a:pt x="127782" y="18255"/>
                </a:cubicBezTo>
                <a:close/>
              </a:path>
            </a:pathLst>
          </a:custGeom>
          <a:solidFill>
            <a:srgbClr val="C8A45C"/>
          </a:solidFill>
        </p:spPr>
      </p:sp>
      <p:sp>
        <p:nvSpPr>
          <p:cNvPr id="83" name="Text 52"/>
          <p:cNvSpPr/>
          <p:nvPr/>
        </p:nvSpPr>
        <p:spPr>
          <a:xfrm>
            <a:off x="5462043" y="6342161"/>
            <a:ext cx="4280969" cy="200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AI不仅给了数，还给了</a:t>
            </a:r>
            <a:r>
              <a:rPr lang="en-US" sz="1050" b="1" dirty="0">
                <a:solidFill>
                  <a:srgbClr val="C8A45C"/>
                </a:solidFill>
                <a:highlight>
                  <a:srgbClr val="C8A45C">
                    <a:alpha val="2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"药方" </a:t>
            </a:r>
            <a:r>
              <a:rPr lang="en-US" sz="105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。小王现在不是取数员了，是策略分析师</a:t>
            </a:r>
            <a:endParaRPr lang="en-US" sz="1600" dirty="0"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课程内容回顾</a:t>
            </a:r>
            <a:r>
              <a:rPr lang="en-US" altLang="zh-CN">
                <a:ea typeface="BMWGroupTN Condensed TT Medium" charset="0"/>
              </a:rPr>
              <a:t>——</a:t>
            </a:r>
            <a:r>
              <a:rPr lang="en-US" altLang="zh-CN">
                <a:sym typeface="+mn-ea"/>
              </a:rPr>
              <a:t>Copilot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实战进阶</a:t>
            </a:r>
            <a:endParaRPr lang="zh-CN" altLang="en-US">
              <a:ea typeface="宋体" panose="02010600030101010101" pitchFamily="2" charset="-122"/>
              <a:sym typeface="+mn-ea"/>
            </a:endParaRPr>
          </a:p>
        </p:txBody>
      </p:sp>
      <p:grpSp>
        <p:nvGrpSpPr>
          <p:cNvPr id="3" name="组合 2"/>
          <p:cNvGrpSpPr>
            <a:grpSpLocks noChangeAspect="1"/>
          </p:cNvGrpSpPr>
          <p:nvPr/>
        </p:nvGrpSpPr>
        <p:grpSpPr>
          <a:xfrm>
            <a:off x="604520" y="1802765"/>
            <a:ext cx="11097895" cy="4257463"/>
            <a:chOff x="1200" y="2800"/>
            <a:chExt cx="23200" cy="8900"/>
          </a:xfrm>
        </p:grpSpPr>
        <p:sp>
          <p:nvSpPr>
            <p:cNvPr id="5" name="Shape 3"/>
            <p:cNvSpPr/>
            <p:nvPr/>
          </p:nvSpPr>
          <p:spPr>
            <a:xfrm>
              <a:off x="1200" y="2800"/>
              <a:ext cx="7401" cy="7357"/>
            </a:xfrm>
            <a:prstGeom prst="roundRect">
              <a:avLst>
                <a:gd name="adj" fmla="val 5000"/>
              </a:avLst>
            </a:prstGeom>
            <a:solidFill>
              <a:srgbClr val="FFFFFF">
                <a:alpha val="25000"/>
              </a:srgbClr>
            </a:solidFill>
            <a:effectLst>
              <a:outerShdw blurRad="127000" dist="50800" dir="5400000" algn="bl" rotWithShape="0">
                <a:srgbClr val="000000">
                  <a:alpha val="6275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1690" y="3200"/>
              <a:ext cx="540" cy="720"/>
            </a:xfrm>
            <a:custGeom>
              <a:avLst/>
              <a:gdLst/>
              <a:ahLst/>
              <a:cxnLst/>
              <a:rect l="l" t="t" r="r" b="b"/>
              <a:pathLst>
                <a:path w="342900" h="457200">
                  <a:moveTo>
                    <a:pt x="0" y="57150"/>
                  </a:moveTo>
                  <a:cubicBezTo>
                    <a:pt x="0" y="25628"/>
                    <a:pt x="25628" y="0"/>
                    <a:pt x="57150" y="0"/>
                  </a:cubicBezTo>
                  <a:lnTo>
                    <a:pt x="190649" y="0"/>
                  </a:lnTo>
                  <a:cubicBezTo>
                    <a:pt x="205829" y="0"/>
                    <a:pt x="220385" y="5983"/>
                    <a:pt x="231100" y="16699"/>
                  </a:cubicBezTo>
                  <a:lnTo>
                    <a:pt x="326201" y="111889"/>
                  </a:lnTo>
                  <a:cubicBezTo>
                    <a:pt x="336917" y="122605"/>
                    <a:pt x="342900" y="137160"/>
                    <a:pt x="342900" y="152340"/>
                  </a:cubicBezTo>
                  <a:lnTo>
                    <a:pt x="342900" y="400050"/>
                  </a:lnTo>
                  <a:cubicBezTo>
                    <a:pt x="342900" y="431572"/>
                    <a:pt x="317272" y="457200"/>
                    <a:pt x="285750" y="457200"/>
                  </a:cubicBezTo>
                  <a:lnTo>
                    <a:pt x="57150" y="457200"/>
                  </a:lnTo>
                  <a:cubicBezTo>
                    <a:pt x="25628" y="457200"/>
                    <a:pt x="0" y="431572"/>
                    <a:pt x="0" y="400050"/>
                  </a:cubicBezTo>
                  <a:lnTo>
                    <a:pt x="0" y="57150"/>
                  </a:lnTo>
                  <a:close/>
                  <a:moveTo>
                    <a:pt x="185738" y="52239"/>
                  </a:moveTo>
                  <a:lnTo>
                    <a:pt x="185738" y="135731"/>
                  </a:lnTo>
                  <a:cubicBezTo>
                    <a:pt x="185738" y="147608"/>
                    <a:pt x="195292" y="157163"/>
                    <a:pt x="207169" y="157163"/>
                  </a:cubicBezTo>
                  <a:lnTo>
                    <a:pt x="290661" y="157163"/>
                  </a:lnTo>
                  <a:lnTo>
                    <a:pt x="185738" y="52239"/>
                  </a:lnTo>
                  <a:close/>
                  <a:moveTo>
                    <a:pt x="135731" y="228600"/>
                  </a:moveTo>
                  <a:cubicBezTo>
                    <a:pt x="123855" y="228600"/>
                    <a:pt x="114300" y="238155"/>
                    <a:pt x="114300" y="250031"/>
                  </a:cubicBezTo>
                  <a:lnTo>
                    <a:pt x="114300" y="378619"/>
                  </a:lnTo>
                  <a:cubicBezTo>
                    <a:pt x="114300" y="390495"/>
                    <a:pt x="123855" y="400050"/>
                    <a:pt x="135731" y="400050"/>
                  </a:cubicBezTo>
                  <a:cubicBezTo>
                    <a:pt x="147608" y="400050"/>
                    <a:pt x="157163" y="390495"/>
                    <a:pt x="157163" y="378619"/>
                  </a:cubicBezTo>
                  <a:lnTo>
                    <a:pt x="157163" y="357188"/>
                  </a:lnTo>
                  <a:lnTo>
                    <a:pt x="178594" y="357188"/>
                  </a:lnTo>
                  <a:cubicBezTo>
                    <a:pt x="214134" y="357188"/>
                    <a:pt x="242888" y="328434"/>
                    <a:pt x="242888" y="292894"/>
                  </a:cubicBezTo>
                  <a:cubicBezTo>
                    <a:pt x="242888" y="257354"/>
                    <a:pt x="214134" y="228600"/>
                    <a:pt x="178594" y="228600"/>
                  </a:cubicBezTo>
                  <a:lnTo>
                    <a:pt x="135731" y="228600"/>
                  </a:lnTo>
                  <a:close/>
                  <a:moveTo>
                    <a:pt x="178594" y="314325"/>
                  </a:moveTo>
                  <a:lnTo>
                    <a:pt x="157163" y="314325"/>
                  </a:lnTo>
                  <a:lnTo>
                    <a:pt x="157163" y="271463"/>
                  </a:lnTo>
                  <a:lnTo>
                    <a:pt x="178594" y="271463"/>
                  </a:lnTo>
                  <a:cubicBezTo>
                    <a:pt x="190470" y="271463"/>
                    <a:pt x="200025" y="281017"/>
                    <a:pt x="200025" y="292894"/>
                  </a:cubicBezTo>
                  <a:cubicBezTo>
                    <a:pt x="200025" y="304770"/>
                    <a:pt x="190470" y="314325"/>
                    <a:pt x="178594" y="314325"/>
                  </a:cubicBezTo>
                  <a:close/>
                </a:path>
              </a:pathLst>
            </a:custGeom>
            <a:solidFill>
              <a:schemeClr val="accent1"/>
            </a:solidFill>
          </p:spPr>
        </p:sp>
        <p:sp>
          <p:nvSpPr>
            <p:cNvPr id="7" name="Text 5"/>
            <p:cNvSpPr/>
            <p:nvPr/>
          </p:nvSpPr>
          <p:spPr>
            <a:xfrm>
              <a:off x="1600" y="4160"/>
              <a:ext cx="6600" cy="5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一份 PPT</a:t>
              </a:r>
              <a:endPara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600" y="4960"/>
              <a:ext cx="6600" cy="44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70000"/>
                </a:lnSpc>
              </a:pPr>
              <a:r>
                <a:rPr lang="en-US" sz="16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Copilot 能给：</a:t>
              </a:r>
              <a:endPara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70000"/>
                </a:lnSpc>
              </a:pPr>
              <a:r>
                <a:rPr lang="en-US" sz="16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每页的核心观点 + 数据占位 + 动作建议</a:t>
              </a:r>
              <a:endPara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70000"/>
                </a:lnSpc>
                <a:spcBef>
                  <a:spcPts val="1200"/>
                </a:spcBef>
              </a:pPr>
              <a:r>
                <a:rPr lang="en-US" sz="16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你需要做：</a:t>
              </a:r>
              <a:endPara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70000"/>
                </a:lnSpc>
              </a:pPr>
              <a:r>
                <a:rPr lang="en-US" sz="16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复制文字到 PPT，调整字体大小</a:t>
              </a:r>
              <a:endPara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9100" y="2800"/>
              <a:ext cx="7401" cy="7357"/>
            </a:xfrm>
            <a:prstGeom prst="roundRect">
              <a:avLst>
                <a:gd name="adj" fmla="val 5000"/>
              </a:avLst>
            </a:prstGeom>
            <a:solidFill>
              <a:srgbClr val="FFFFFF">
                <a:alpha val="25000"/>
              </a:srgbClr>
            </a:solidFill>
            <a:effectLst>
              <a:outerShdw blurRad="127000" dist="50800" dir="5400000" algn="bl" rotWithShape="0">
                <a:srgbClr val="000000">
                  <a:alpha val="6275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9590" y="3200"/>
              <a:ext cx="540" cy="720"/>
            </a:xfrm>
            <a:custGeom>
              <a:avLst/>
              <a:gdLst/>
              <a:ahLst/>
              <a:cxnLst/>
              <a:rect l="l" t="t" r="r" b="b"/>
              <a:pathLst>
                <a:path w="342900" h="457200">
                  <a:moveTo>
                    <a:pt x="0" y="57150"/>
                  </a:moveTo>
                  <a:cubicBezTo>
                    <a:pt x="0" y="25628"/>
                    <a:pt x="25628" y="0"/>
                    <a:pt x="57150" y="0"/>
                  </a:cubicBezTo>
                  <a:lnTo>
                    <a:pt x="190649" y="0"/>
                  </a:lnTo>
                  <a:cubicBezTo>
                    <a:pt x="205829" y="0"/>
                    <a:pt x="220385" y="5983"/>
                    <a:pt x="231100" y="16699"/>
                  </a:cubicBezTo>
                  <a:lnTo>
                    <a:pt x="326201" y="111889"/>
                  </a:lnTo>
                  <a:cubicBezTo>
                    <a:pt x="336917" y="122605"/>
                    <a:pt x="342900" y="137160"/>
                    <a:pt x="342900" y="152340"/>
                  </a:cubicBezTo>
                  <a:lnTo>
                    <a:pt x="342900" y="400050"/>
                  </a:lnTo>
                  <a:cubicBezTo>
                    <a:pt x="342900" y="431572"/>
                    <a:pt x="317272" y="457200"/>
                    <a:pt x="285750" y="457200"/>
                  </a:cubicBezTo>
                  <a:lnTo>
                    <a:pt x="57150" y="457200"/>
                  </a:lnTo>
                  <a:cubicBezTo>
                    <a:pt x="25628" y="457200"/>
                    <a:pt x="0" y="431572"/>
                    <a:pt x="0" y="400050"/>
                  </a:cubicBezTo>
                  <a:lnTo>
                    <a:pt x="0" y="57150"/>
                  </a:lnTo>
                  <a:close/>
                  <a:moveTo>
                    <a:pt x="185738" y="52239"/>
                  </a:moveTo>
                  <a:lnTo>
                    <a:pt x="185738" y="135731"/>
                  </a:lnTo>
                  <a:cubicBezTo>
                    <a:pt x="185738" y="147608"/>
                    <a:pt x="195292" y="157163"/>
                    <a:pt x="207169" y="157163"/>
                  </a:cubicBezTo>
                  <a:lnTo>
                    <a:pt x="290661" y="157163"/>
                  </a:lnTo>
                  <a:lnTo>
                    <a:pt x="185738" y="52239"/>
                  </a:lnTo>
                  <a:close/>
                  <a:moveTo>
                    <a:pt x="146447" y="238155"/>
                  </a:moveTo>
                  <a:cubicBezTo>
                    <a:pt x="139839" y="228332"/>
                    <a:pt x="126534" y="225653"/>
                    <a:pt x="116711" y="232172"/>
                  </a:cubicBezTo>
                  <a:cubicBezTo>
                    <a:pt x="106888" y="238691"/>
                    <a:pt x="104209" y="252085"/>
                    <a:pt x="110728" y="261908"/>
                  </a:cubicBezTo>
                  <a:lnTo>
                    <a:pt x="145733" y="314325"/>
                  </a:lnTo>
                  <a:lnTo>
                    <a:pt x="110728" y="366742"/>
                  </a:lnTo>
                  <a:cubicBezTo>
                    <a:pt x="104120" y="376565"/>
                    <a:pt x="106799" y="389870"/>
                    <a:pt x="116711" y="396478"/>
                  </a:cubicBezTo>
                  <a:cubicBezTo>
                    <a:pt x="126623" y="403086"/>
                    <a:pt x="139839" y="400407"/>
                    <a:pt x="146447" y="390495"/>
                  </a:cubicBezTo>
                  <a:lnTo>
                    <a:pt x="171450" y="352991"/>
                  </a:lnTo>
                  <a:lnTo>
                    <a:pt x="196453" y="390495"/>
                  </a:lnTo>
                  <a:cubicBezTo>
                    <a:pt x="203061" y="400318"/>
                    <a:pt x="216366" y="402997"/>
                    <a:pt x="226189" y="396478"/>
                  </a:cubicBezTo>
                  <a:cubicBezTo>
                    <a:pt x="236012" y="389959"/>
                    <a:pt x="238691" y="376565"/>
                    <a:pt x="232172" y="366742"/>
                  </a:cubicBezTo>
                  <a:lnTo>
                    <a:pt x="197168" y="314325"/>
                  </a:lnTo>
                  <a:lnTo>
                    <a:pt x="232172" y="261908"/>
                  </a:lnTo>
                  <a:cubicBezTo>
                    <a:pt x="238780" y="252085"/>
                    <a:pt x="236101" y="238780"/>
                    <a:pt x="226189" y="232172"/>
                  </a:cubicBezTo>
                  <a:cubicBezTo>
                    <a:pt x="216277" y="225564"/>
                    <a:pt x="203061" y="228243"/>
                    <a:pt x="196453" y="238155"/>
                  </a:cubicBezTo>
                  <a:lnTo>
                    <a:pt x="171450" y="275659"/>
                  </a:lnTo>
                  <a:lnTo>
                    <a:pt x="146447" y="238155"/>
                  </a:lnTo>
                  <a:close/>
                </a:path>
              </a:pathLst>
            </a:custGeom>
            <a:solidFill>
              <a:schemeClr val="accent1"/>
            </a:solidFill>
          </p:spPr>
        </p:sp>
        <p:sp>
          <p:nvSpPr>
            <p:cNvPr id="11" name="Text 9"/>
            <p:cNvSpPr/>
            <p:nvPr/>
          </p:nvSpPr>
          <p:spPr>
            <a:xfrm>
              <a:off x="9500" y="4160"/>
              <a:ext cx="6600" cy="5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Excel 图表</a:t>
              </a:r>
              <a:endPara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9500" y="4960"/>
              <a:ext cx="6600" cy="44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70000"/>
                </a:lnSpc>
              </a:pPr>
              <a:r>
                <a:rPr lang="en-US" sz="16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Copilot 能给：</a:t>
              </a:r>
              <a:endPara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70000"/>
                </a:lnSpc>
              </a:pPr>
              <a:r>
                <a:rPr lang="en-US" sz="16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带排名的表格 + 业务解读 + 趋势结论</a:t>
              </a:r>
              <a:endPara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70000"/>
                </a:lnSpc>
                <a:spcBef>
                  <a:spcPts val="1200"/>
                </a:spcBef>
              </a:pPr>
              <a:r>
                <a:rPr lang="en-US" sz="16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你需要做：</a:t>
              </a:r>
              <a:endPara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70000"/>
                </a:lnSpc>
              </a:pPr>
              <a:r>
                <a:rPr lang="en-US" sz="16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复制表格到 Excel，一键生成图表</a:t>
              </a:r>
              <a:endPara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16999" y="2800"/>
              <a:ext cx="7401" cy="7357"/>
            </a:xfrm>
            <a:prstGeom prst="roundRect">
              <a:avLst>
                <a:gd name="adj" fmla="val 5000"/>
              </a:avLst>
            </a:prstGeom>
            <a:solidFill>
              <a:srgbClr val="FFFFFF">
                <a:alpha val="25000"/>
              </a:srgbClr>
            </a:solidFill>
            <a:effectLst>
              <a:outerShdw blurRad="127000" dist="50800" dir="5400000" algn="bl" rotWithShape="0">
                <a:srgbClr val="000000">
                  <a:alpha val="6275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17445" y="3200"/>
              <a:ext cx="630" cy="72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57150" y="28575"/>
                  </a:moveTo>
                  <a:cubicBezTo>
                    <a:pt x="25628" y="28575"/>
                    <a:pt x="0" y="54203"/>
                    <a:pt x="0" y="85725"/>
                  </a:cubicBezTo>
                  <a:lnTo>
                    <a:pt x="0" y="371475"/>
                  </a:lnTo>
                  <a:cubicBezTo>
                    <a:pt x="0" y="402997"/>
                    <a:pt x="25628" y="428625"/>
                    <a:pt x="57150" y="428625"/>
                  </a:cubicBezTo>
                  <a:lnTo>
                    <a:pt x="342900" y="428625"/>
                  </a:lnTo>
                  <a:cubicBezTo>
                    <a:pt x="374422" y="428625"/>
                    <a:pt x="400050" y="402997"/>
                    <a:pt x="400050" y="371475"/>
                  </a:cubicBezTo>
                  <a:lnTo>
                    <a:pt x="400050" y="85725"/>
                  </a:lnTo>
                  <a:cubicBezTo>
                    <a:pt x="400050" y="54203"/>
                    <a:pt x="374422" y="28575"/>
                    <a:pt x="342900" y="28575"/>
                  </a:cubicBezTo>
                  <a:lnTo>
                    <a:pt x="57150" y="28575"/>
                  </a:lnTo>
                  <a:close/>
                  <a:moveTo>
                    <a:pt x="114300" y="100013"/>
                  </a:moveTo>
                  <a:cubicBezTo>
                    <a:pt x="137956" y="100013"/>
                    <a:pt x="157163" y="119219"/>
                    <a:pt x="157163" y="142875"/>
                  </a:cubicBezTo>
                  <a:cubicBezTo>
                    <a:pt x="157163" y="166531"/>
                    <a:pt x="137956" y="185738"/>
                    <a:pt x="114300" y="185738"/>
                  </a:cubicBezTo>
                  <a:cubicBezTo>
                    <a:pt x="90644" y="185738"/>
                    <a:pt x="71438" y="166531"/>
                    <a:pt x="71438" y="142875"/>
                  </a:cubicBezTo>
                  <a:cubicBezTo>
                    <a:pt x="71438" y="119219"/>
                    <a:pt x="90644" y="100013"/>
                    <a:pt x="114300" y="100013"/>
                  </a:cubicBezTo>
                  <a:close/>
                  <a:moveTo>
                    <a:pt x="242888" y="200025"/>
                  </a:moveTo>
                  <a:cubicBezTo>
                    <a:pt x="250388" y="200025"/>
                    <a:pt x="257264" y="203954"/>
                    <a:pt x="261193" y="210294"/>
                  </a:cubicBezTo>
                  <a:lnTo>
                    <a:pt x="339775" y="338882"/>
                  </a:lnTo>
                  <a:cubicBezTo>
                    <a:pt x="343793" y="345490"/>
                    <a:pt x="343972" y="353794"/>
                    <a:pt x="340221" y="360581"/>
                  </a:cubicBezTo>
                  <a:cubicBezTo>
                    <a:pt x="336471" y="367367"/>
                    <a:pt x="329238" y="371475"/>
                    <a:pt x="321469" y="371475"/>
                  </a:cubicBezTo>
                  <a:lnTo>
                    <a:pt x="78581" y="371475"/>
                  </a:lnTo>
                  <a:cubicBezTo>
                    <a:pt x="70634" y="371475"/>
                    <a:pt x="63222" y="367010"/>
                    <a:pt x="59561" y="359956"/>
                  </a:cubicBezTo>
                  <a:cubicBezTo>
                    <a:pt x="55900" y="352901"/>
                    <a:pt x="56436" y="344329"/>
                    <a:pt x="60990" y="337810"/>
                  </a:cubicBezTo>
                  <a:lnTo>
                    <a:pt x="110996" y="266373"/>
                  </a:lnTo>
                  <a:cubicBezTo>
                    <a:pt x="115014" y="260658"/>
                    <a:pt x="121533" y="257264"/>
                    <a:pt x="128588" y="257264"/>
                  </a:cubicBezTo>
                  <a:cubicBezTo>
                    <a:pt x="135642" y="257264"/>
                    <a:pt x="142161" y="260658"/>
                    <a:pt x="146179" y="266373"/>
                  </a:cubicBezTo>
                  <a:lnTo>
                    <a:pt x="169753" y="300127"/>
                  </a:lnTo>
                  <a:lnTo>
                    <a:pt x="224582" y="210383"/>
                  </a:lnTo>
                  <a:cubicBezTo>
                    <a:pt x="228511" y="204043"/>
                    <a:pt x="235387" y="200114"/>
                    <a:pt x="242888" y="200114"/>
                  </a:cubicBezTo>
                  <a:close/>
                </a:path>
              </a:pathLst>
            </a:custGeom>
            <a:solidFill>
              <a:schemeClr val="accent1"/>
            </a:solidFill>
          </p:spPr>
        </p:sp>
        <p:sp>
          <p:nvSpPr>
            <p:cNvPr id="15" name="Text 13"/>
            <p:cNvSpPr/>
            <p:nvPr/>
          </p:nvSpPr>
          <p:spPr>
            <a:xfrm>
              <a:off x="17400" y="4160"/>
              <a:ext cx="6600" cy="5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Liter" panose="02000503030000020004" pitchFamily="34" charset="-120"/>
                </a:rPr>
                <a:t>精美配图</a:t>
              </a:r>
              <a:endPara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17400" y="4960"/>
              <a:ext cx="6600" cy="44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70000"/>
                </a:lnSpc>
              </a:pPr>
              <a:r>
                <a:rPr lang="en-US" sz="16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Copilot 能给：</a:t>
              </a:r>
              <a:endPara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70000"/>
                </a:lnSpc>
              </a:pPr>
              <a:r>
                <a:rPr lang="en-US" sz="16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生成 PPT 背景、插图、海报</a:t>
              </a:r>
              <a:endPara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70000"/>
                </a:lnSpc>
                <a:spcBef>
                  <a:spcPts val="1200"/>
                </a:spcBef>
              </a:pPr>
              <a:r>
                <a:rPr lang="en-US" sz="16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你需要做：</a:t>
              </a:r>
              <a:endPara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70000"/>
                </a:lnSpc>
              </a:pPr>
              <a:r>
                <a:rPr lang="en-US" sz="16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下载图片，插入幻灯片</a:t>
              </a:r>
              <a:endPara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600" y="10300"/>
              <a:ext cx="22400" cy="1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60000"/>
                </a:lnSpc>
              </a:pPr>
              <a:r>
                <a:rPr lang="en-US" sz="1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结论</a:t>
              </a:r>
              <a:r>
                <a:rPr lang="en-US" sz="18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：Copilot 节省的是</a:t>
              </a:r>
              <a:r>
                <a:rPr lang="en-US" sz="1800" b="1" dirty="0">
                  <a:ln w="15875"/>
                  <a:gradFill>
                    <a:gsLst>
                      <a:gs pos="0">
                        <a:schemeClr val="accent1"/>
                      </a:gs>
                      <a:gs pos="100000">
                        <a:schemeClr val="accent6"/>
                      </a:gs>
                    </a:gsLst>
                    <a:lin ang="2700000" scaled="0"/>
                  </a:gradFill>
                  <a:effectLst/>
                  <a:ea typeface="Liter" panose="02000503030000020004" pitchFamily="34" charset="-122"/>
                  <a:cs typeface="+mn-lt"/>
                </a:rPr>
                <a:t>"想内容"</a:t>
              </a:r>
              <a:r>
                <a:rPr lang="en-US" sz="18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的时间，而不是"做排版"的时间。两者结合，依然能省下 </a:t>
              </a:r>
              <a:r>
                <a:rPr lang="en-US" sz="1800" b="1" dirty="0">
                  <a:ln w="15875"/>
                  <a:gradFill>
                    <a:gsLst>
                      <a:gs pos="0">
                        <a:schemeClr val="accent1"/>
                      </a:gs>
                      <a:gs pos="100000">
                        <a:schemeClr val="accent6"/>
                      </a:gs>
                    </a:gsLst>
                    <a:lin ang="2700000" scaled="0"/>
                  </a:gradFill>
                  <a:effectLst/>
                  <a:ea typeface="Liter" panose="02000503030000020004" pitchFamily="34" charset="-122"/>
                  <a:cs typeface="+mn-lt"/>
                </a:rPr>
                <a:t>70%</a:t>
              </a:r>
              <a:r>
                <a:rPr lang="en-US" sz="18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 的工作量。</a:t>
              </a:r>
              <a:endParaRPr lang="en-US" sz="1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</p:grpSp>
      <p:sp>
        <p:nvSpPr>
          <p:cNvPr id="4" name="Text 2"/>
          <p:cNvSpPr/>
          <p:nvPr/>
        </p:nvSpPr>
        <p:spPr>
          <a:xfrm>
            <a:off x="820420" y="1029335"/>
            <a:ext cx="11523980" cy="38100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Copilot不负责排版，但能给你</a:t>
            </a:r>
            <a:r>
              <a:rPr lang="en-US" sz="13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"可以直接用的内容"</a:t>
            </a:r>
            <a:endParaRPr lang="en-US" sz="135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场景一</a:t>
            </a:r>
            <a:r>
              <a:rPr lang="en-US" altLang="zh-CN">
                <a:ea typeface="BMWGroupTN Condensed TT Medium" charset="0"/>
              </a:rPr>
              <a:t> · PPT</a:t>
            </a:r>
            <a:r>
              <a:rPr lang="zh-CN" altLang="en-US">
                <a:ea typeface="宋体" panose="02010600030101010101" pitchFamily="2" charset="-122"/>
              </a:rPr>
              <a:t>大纲</a:t>
            </a:r>
            <a:r>
              <a:rPr lang="zh-CN" altLang="en-US">
                <a:ea typeface="BMWGroupTN Condensed TT Medium" charset="0"/>
              </a:rPr>
              <a:t>生成对比</a:t>
            </a:r>
            <a:endParaRPr lang="zh-CN" altLang="en-US">
              <a:ea typeface="BMWGroupTN Condensed TT Medium" charset="0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385763" y="1427163"/>
            <a:ext cx="5610225" cy="4562475"/>
          </a:xfrm>
          <a:custGeom>
            <a:avLst/>
            <a:gdLst/>
            <a:ahLst/>
            <a:cxnLst/>
            <a:rect l="l" t="t" r="r" b="b"/>
            <a:pathLst>
              <a:path w="5610225" h="4562475">
                <a:moveTo>
                  <a:pt x="76193" y="0"/>
                </a:moveTo>
                <a:lnTo>
                  <a:pt x="5534032" y="0"/>
                </a:lnTo>
                <a:cubicBezTo>
                  <a:pt x="5576112" y="0"/>
                  <a:pt x="5610225" y="34113"/>
                  <a:pt x="5610225" y="76193"/>
                </a:cubicBezTo>
                <a:lnTo>
                  <a:pt x="5610225" y="4486282"/>
                </a:lnTo>
                <a:cubicBezTo>
                  <a:pt x="5610225" y="4528362"/>
                  <a:pt x="5576112" y="4562475"/>
                  <a:pt x="5534032" y="4562475"/>
                </a:cubicBezTo>
                <a:lnTo>
                  <a:pt x="76193" y="4562475"/>
                </a:lnTo>
                <a:cubicBezTo>
                  <a:pt x="34113" y="4562475"/>
                  <a:pt x="0" y="4528362"/>
                  <a:pt x="0" y="44862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9" name="Shape 4"/>
          <p:cNvSpPr/>
          <p:nvPr/>
        </p:nvSpPr>
        <p:spPr>
          <a:xfrm>
            <a:off x="581025" y="16224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F7D8C">
              <a:alpha val="30196"/>
            </a:srgbClr>
          </a:solidFill>
        </p:spPr>
      </p:sp>
      <p:sp>
        <p:nvSpPr>
          <p:cNvPr id="100" name="Text 5"/>
          <p:cNvSpPr/>
          <p:nvPr/>
        </p:nvSpPr>
        <p:spPr>
          <a:xfrm>
            <a:off x="676275" y="1679575"/>
            <a:ext cx="285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普</a:t>
            </a:r>
            <a:endParaRPr lang="en-US" sz="15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1076325" y="1679575"/>
            <a:ext cx="1588770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普通 Prompt</a:t>
            </a:r>
            <a:endParaRPr lang="en-US" sz="15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02" name="Shape 7"/>
          <p:cNvSpPr/>
          <p:nvPr/>
        </p:nvSpPr>
        <p:spPr>
          <a:xfrm>
            <a:off x="600075" y="2155825"/>
            <a:ext cx="5200650" cy="552450"/>
          </a:xfrm>
          <a:custGeom>
            <a:avLst/>
            <a:gdLst/>
            <a:ahLst/>
            <a:cxnLst/>
            <a:rect l="l" t="t" r="r" b="b"/>
            <a:pathLst>
              <a:path w="5200650" h="55245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476251"/>
                </a:lnTo>
                <a:cubicBezTo>
                  <a:pt x="5200650" y="518334"/>
                  <a:pt x="5166534" y="552450"/>
                  <a:pt x="5124451" y="552450"/>
                </a:cubicBez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1">
              <a:lumMod val="95000"/>
              <a:alpha val="24000"/>
            </a:schemeClr>
          </a:solidFill>
        </p:spPr>
      </p:sp>
      <p:sp>
        <p:nvSpPr>
          <p:cNvPr id="103" name="Shape 8"/>
          <p:cNvSpPr/>
          <p:nvPr/>
        </p:nvSpPr>
        <p:spPr>
          <a:xfrm>
            <a:off x="600075" y="2155825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38100" y="0"/>
                </a:moveTo>
                <a:lnTo>
                  <a:pt x="38100" y="0"/>
                </a:lnTo>
                <a:lnTo>
                  <a:pt x="38100" y="552450"/>
                </a:ln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F7D8C"/>
          </a:solidFill>
        </p:spPr>
      </p:sp>
      <p:sp>
        <p:nvSpPr>
          <p:cNvPr id="104" name="Text 9"/>
          <p:cNvSpPr/>
          <p:nvPr/>
        </p:nvSpPr>
        <p:spPr>
          <a:xfrm>
            <a:off x="771525" y="2308225"/>
            <a:ext cx="4953000" cy="24765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"帮我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宋体" panose="02010600030101010101" pitchFamily="2" charset="-122"/>
                <a:cs typeface="BMWGroupTN Condensed TT Medium" charset="0"/>
              </a:rPr>
              <a:t>写一份</a:t>
            </a: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宝马 X3 下半年营销计划的 PPT"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14" name="Shape 19"/>
          <p:cNvSpPr/>
          <p:nvPr/>
        </p:nvSpPr>
        <p:spPr>
          <a:xfrm>
            <a:off x="6196013" y="1427163"/>
            <a:ext cx="5610225" cy="4562475"/>
          </a:xfrm>
          <a:custGeom>
            <a:avLst/>
            <a:gdLst/>
            <a:ahLst/>
            <a:cxnLst/>
            <a:rect l="l" t="t" r="r" b="b"/>
            <a:pathLst>
              <a:path w="5610225" h="4562475">
                <a:moveTo>
                  <a:pt x="76193" y="0"/>
                </a:moveTo>
                <a:lnTo>
                  <a:pt x="5534032" y="0"/>
                </a:lnTo>
                <a:cubicBezTo>
                  <a:pt x="5576112" y="0"/>
                  <a:pt x="5610225" y="34113"/>
                  <a:pt x="5610225" y="76193"/>
                </a:cubicBezTo>
                <a:lnTo>
                  <a:pt x="5610225" y="4486282"/>
                </a:lnTo>
                <a:cubicBezTo>
                  <a:pt x="5610225" y="4528362"/>
                  <a:pt x="5576112" y="4562475"/>
                  <a:pt x="5534032" y="4562475"/>
                </a:cubicBezTo>
                <a:lnTo>
                  <a:pt x="76193" y="4562475"/>
                </a:lnTo>
                <a:cubicBezTo>
                  <a:pt x="34113" y="4562475"/>
                  <a:pt x="0" y="4528362"/>
                  <a:pt x="0" y="44862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5" name="Shape 20"/>
          <p:cNvSpPr/>
          <p:nvPr/>
        </p:nvSpPr>
        <p:spPr>
          <a:xfrm>
            <a:off x="6391275" y="16224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90E2">
              <a:alpha val="30196"/>
            </a:srgbClr>
          </a:solidFill>
        </p:spPr>
      </p:sp>
      <p:sp>
        <p:nvSpPr>
          <p:cNvPr id="116" name="Text 21"/>
          <p:cNvSpPr/>
          <p:nvPr/>
        </p:nvSpPr>
        <p:spPr>
          <a:xfrm>
            <a:off x="6486525" y="1679575"/>
            <a:ext cx="285750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高</a:t>
            </a:r>
            <a:endParaRPr lang="en-US" sz="15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17" name="Text 22"/>
          <p:cNvSpPr/>
          <p:nvPr/>
        </p:nvSpPr>
        <p:spPr>
          <a:xfrm>
            <a:off x="6886575" y="1679575"/>
            <a:ext cx="1557655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高级 Prompt</a:t>
            </a:r>
            <a:endParaRPr lang="en-US" sz="15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8480" y="3066415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FFFF00"/>
                </a:solidFill>
                <a:cs typeface="+mn-lt"/>
              </a:rPr>
              <a:t>✗</a:t>
            </a:r>
            <a:r>
              <a:rPr lang="en-US" altLang="zh-CN">
                <a:solidFill>
                  <a:srgbClr val="FFFF00"/>
                </a:solidFill>
                <a:cs typeface="+mn-lt"/>
              </a:rPr>
              <a:t> </a:t>
            </a:r>
            <a:r>
              <a:rPr lang="zh-CN" altLang="en-US">
                <a:cs typeface="+mn-lt"/>
              </a:rPr>
              <a:t>只有</a:t>
            </a:r>
            <a:r>
              <a:rPr lang="en-US" altLang="zh-CN">
                <a:cs typeface="+mn-lt"/>
              </a:rPr>
              <a:t>"</a:t>
            </a:r>
            <a:r>
              <a:rPr lang="zh-CN" altLang="en-US">
                <a:cs typeface="+mn-lt"/>
              </a:rPr>
              <a:t>市场概况、策略、预算</a:t>
            </a:r>
            <a:r>
              <a:rPr lang="en-US" altLang="zh-CN">
                <a:cs typeface="+mn-lt"/>
              </a:rPr>
              <a:t>"</a:t>
            </a:r>
            <a:r>
              <a:rPr lang="zh-CN" altLang="en-US">
                <a:cs typeface="+mn-lt"/>
              </a:rPr>
              <a:t>等空洞标题</a:t>
            </a:r>
            <a:endParaRPr lang="zh-CN" altLang="en-US">
              <a:cs typeface="+mn-lt"/>
            </a:endParaRPr>
          </a:p>
          <a:p>
            <a:r>
              <a:rPr lang="en-US" altLang="en-US">
                <a:solidFill>
                  <a:srgbClr val="FFFF00"/>
                </a:solidFill>
                <a:cs typeface="+mn-lt"/>
              </a:rPr>
              <a:t>✗</a:t>
            </a:r>
            <a:r>
              <a:rPr lang="en-US" altLang="zh-CN">
                <a:solidFill>
                  <a:srgbClr val="FFFF00"/>
                </a:solidFill>
                <a:cs typeface="+mn-lt"/>
              </a:rPr>
              <a:t> </a:t>
            </a:r>
            <a:r>
              <a:rPr lang="zh-CN" altLang="en-US">
                <a:cs typeface="+mn-lt"/>
              </a:rPr>
              <a:t>每页只有一句话，无数据、无建议</a:t>
            </a:r>
            <a:endParaRPr lang="zh-CN" altLang="en-US">
              <a:cs typeface="+mn-lt"/>
            </a:endParaRPr>
          </a:p>
          <a:p>
            <a:r>
              <a:rPr lang="en-US" altLang="en-US">
                <a:solidFill>
                  <a:srgbClr val="FFFF00"/>
                </a:solidFill>
                <a:cs typeface="+mn-lt"/>
              </a:rPr>
              <a:t>✗</a:t>
            </a:r>
            <a:r>
              <a:rPr lang="en-US" altLang="zh-CN">
                <a:solidFill>
                  <a:srgbClr val="FFFF00"/>
                </a:solidFill>
                <a:cs typeface="+mn-lt"/>
              </a:rPr>
              <a:t> </a:t>
            </a:r>
            <a:r>
              <a:rPr lang="zh-CN" altLang="en-US">
                <a:cs typeface="+mn-lt"/>
              </a:rPr>
              <a:t>复制到</a:t>
            </a:r>
            <a:r>
              <a:rPr lang="en-US" altLang="zh-CN">
                <a:cs typeface="+mn-lt"/>
              </a:rPr>
              <a:t> PPT </a:t>
            </a:r>
            <a:r>
              <a:rPr lang="zh-CN" altLang="en-US">
                <a:cs typeface="+mn-lt"/>
              </a:rPr>
              <a:t>后内容几乎不可用</a:t>
            </a:r>
            <a:endParaRPr lang="zh-CN" altLang="en-US">
              <a:cs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379210" y="2113280"/>
            <a:ext cx="5280660" cy="3590925"/>
            <a:chOff x="13200" y="2640"/>
            <a:chExt cx="11200" cy="10060"/>
          </a:xfrm>
        </p:grpSpPr>
        <p:sp>
          <p:nvSpPr>
            <p:cNvPr id="10" name="Shape 8"/>
            <p:cNvSpPr/>
            <p:nvPr/>
          </p:nvSpPr>
          <p:spPr>
            <a:xfrm>
              <a:off x="13200" y="2640"/>
              <a:ext cx="11200" cy="2900"/>
            </a:xfrm>
            <a:prstGeom prst="roundRect">
              <a:avLst>
                <a:gd name="adj" fmla="val 5000"/>
              </a:avLst>
            </a:prstGeom>
            <a:solidFill>
              <a:srgbClr val="E6F0FA">
                <a:alpha val="33000"/>
              </a:srgbClr>
            </a:solidFill>
          </p:spPr>
        </p:sp>
        <p:sp>
          <p:nvSpPr>
            <p:cNvPr id="11" name="Text 9"/>
            <p:cNvSpPr/>
            <p:nvPr/>
          </p:nvSpPr>
          <p:spPr>
            <a:xfrm>
              <a:off x="13500" y="2760"/>
              <a:ext cx="10600" cy="26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60000"/>
                </a:lnSpc>
              </a:pPr>
              <a:r>
                <a:rPr lang="en-US" sz="1200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"你是宝马营销策略专家。请为 X3 下半年营销计划生成一份 PPT 大纲。每页需要包含：核心观点（一句话）+ 数据支撑（用占位标注）+ 具体执行动作。用'第1页：……'的方式分页。"</a:t>
              </a:r>
              <a:endParaRPr lang="en-US" sz="1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3200" y="5900"/>
              <a:ext cx="11200" cy="68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70000"/>
                </a:lnSpc>
              </a:pPr>
              <a:r>
                <a:rPr lang="en-US" sz="1600" dirty="0">
                  <a:solidFill>
                    <a:schemeClr val="tx1"/>
                  </a:solidFill>
                  <a:effectLst/>
                  <a:ea typeface="Liter" panose="02000503030000020004" pitchFamily="34" charset="-122"/>
                  <a:cs typeface="+mn-lt"/>
                </a:rPr>
                <a:t>✓ 每页 3-5 个要点，包含可执行建议</a:t>
              </a:r>
              <a:endParaRPr lang="en-US" sz="1600" dirty="0">
                <a:solidFill>
                  <a:schemeClr val="tx1"/>
                </a:solidFill>
                <a:effectLst/>
                <a:cs typeface="+mn-lt"/>
              </a:endParaRPr>
            </a:p>
            <a:p>
              <a:pPr>
                <a:lnSpc>
                  <a:spcPct val="170000"/>
                </a:lnSpc>
                <a:spcBef>
                  <a:spcPts val="800"/>
                </a:spcBef>
              </a:pPr>
              <a:r>
                <a:rPr lang="en-US" sz="1400" dirty="0">
                  <a:solidFill>
                    <a:schemeClr val="tx1"/>
                  </a:solidFill>
                  <a:effectLst/>
                  <a:ea typeface="Liter" panose="02000503030000020004" pitchFamily="34" charset="-122"/>
                  <a:cs typeface="+mn-lt"/>
                </a:rPr>
                <a:t>示例输出：</a:t>
              </a:r>
              <a:endParaRPr lang="en-US" sz="1600" dirty="0">
                <a:solidFill>
                  <a:schemeClr val="tx1"/>
                </a:solidFill>
                <a:effectLst/>
                <a:cs typeface="+mn-lt"/>
              </a:endParaRPr>
            </a:p>
            <a:p>
              <a:pPr>
                <a:lnSpc>
                  <a:spcPct val="170000"/>
                </a:lnSpc>
              </a:pPr>
              <a:r>
                <a:rPr lang="en-US" sz="1400" dirty="0">
                  <a:solidFill>
                    <a:schemeClr val="tx1"/>
                  </a:solidFill>
                  <a:effectLst/>
                  <a:ea typeface="Liter" panose="02000503030000020004" pitchFamily="34" charset="-122"/>
                  <a:cs typeface="+mn-lt"/>
                </a:rPr>
                <a:t>"8 月启动车主口碑短视频征集，预算 50 万"</a:t>
              </a:r>
              <a:endParaRPr lang="en-US" sz="1600" dirty="0">
                <a:solidFill>
                  <a:schemeClr val="tx1"/>
                </a:solidFill>
                <a:effectLst/>
                <a:cs typeface="+mn-lt"/>
              </a:endParaRPr>
            </a:p>
            <a:p>
              <a:pPr>
                <a:lnSpc>
                  <a:spcPct val="170000"/>
                </a:lnSpc>
                <a:spcBef>
                  <a:spcPts val="1200"/>
                </a:spcBef>
              </a:pPr>
              <a:r>
                <a:rPr lang="en-US" sz="1600" dirty="0">
                  <a:solidFill>
                    <a:schemeClr val="tx1"/>
                  </a:solidFill>
                  <a:effectLst/>
                  <a:ea typeface="Liter" panose="02000503030000020004" pitchFamily="34" charset="-122"/>
                  <a:cs typeface="+mn-lt"/>
                </a:rPr>
                <a:t>✓ 复制到 PPT 后只需简单排版</a:t>
              </a:r>
              <a:endParaRPr lang="en-US" sz="1600" dirty="0">
                <a:solidFill>
                  <a:schemeClr val="tx1"/>
                </a:solidFill>
                <a:effectLst/>
                <a:cs typeface="+mn-lt"/>
              </a:endParaRPr>
            </a:p>
            <a:p>
              <a:pPr>
                <a:lnSpc>
                  <a:spcPct val="170000"/>
                </a:lnSpc>
              </a:pPr>
              <a:r>
                <a:rPr lang="en-US" sz="1600" dirty="0">
                  <a:solidFill>
                    <a:schemeClr val="tx1"/>
                  </a:solidFill>
                  <a:effectLst/>
                  <a:ea typeface="Liter" panose="02000503030000020004" pitchFamily="34" charset="-122"/>
                  <a:cs typeface="+mn-lt"/>
                </a:rPr>
                <a:t>✓ 内容无需重写，直接可用</a:t>
              </a:r>
              <a:endParaRPr lang="en-US" sz="1600" dirty="0">
                <a:solidFill>
                  <a:schemeClr val="tx1"/>
                </a:solidFill>
                <a:effectLst/>
                <a:ea typeface="Liter" panose="02000503030000020004" pitchFamily="34" charset="-122"/>
                <a:cs typeface="+mn-lt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场景二</a:t>
            </a:r>
            <a:r>
              <a:rPr lang="en-US" altLang="zh-CN">
                <a:ea typeface="BMWGroupTN Condensed TT Medium" charset="0"/>
              </a:rPr>
              <a:t> · Excel </a:t>
            </a:r>
            <a:r>
              <a:rPr lang="zh-CN" altLang="en-US">
                <a:ea typeface="BMWGroupTN Condensed TT Medium" charset="0"/>
              </a:rPr>
              <a:t>分析对比</a:t>
            </a:r>
            <a:endParaRPr lang="zh-CN" altLang="en-US">
              <a:ea typeface="BMWGroupTN Condensed TT Medium" charset="0"/>
            </a:endParaRPr>
          </a:p>
        </p:txBody>
      </p:sp>
      <p:sp>
        <p:nvSpPr>
          <p:cNvPr id="76" name="Text 2"/>
          <p:cNvSpPr/>
          <p:nvPr/>
        </p:nvSpPr>
        <p:spPr>
          <a:xfrm>
            <a:off x="734060" y="1041400"/>
            <a:ext cx="1116266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accent1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从统计到洞察：不是不能用，是你没告诉它"怎么分析"</a:t>
            </a:r>
            <a:endParaRPr lang="en-US" sz="1350" dirty="0">
              <a:solidFill>
                <a:schemeClr val="accent1"/>
              </a:solidFill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2" name="Text 3"/>
          <p:cNvSpPr/>
          <p:nvPr/>
        </p:nvSpPr>
        <p:spPr>
          <a:xfrm>
            <a:off x="762000" y="16510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普通 PROMPT</a:t>
            </a:r>
            <a:endParaRPr lang="en-US" sz="1400" kern="0" spc="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3" name="Shape 4"/>
          <p:cNvSpPr/>
          <p:nvPr/>
        </p:nvSpPr>
        <p:spPr>
          <a:xfrm>
            <a:off x="762000" y="2057400"/>
            <a:ext cx="4020820" cy="571500"/>
          </a:xfrm>
          <a:prstGeom prst="roundRect">
            <a:avLst>
              <a:gd name="adj" fmla="val 5000"/>
            </a:avLst>
          </a:prstGeom>
          <a:solidFill>
            <a:srgbClr val="E8E8E8">
              <a:alpha val="42000"/>
            </a:srgbClr>
          </a:solidFill>
        </p:spPr>
      </p:sp>
      <p:sp>
        <p:nvSpPr>
          <p:cNvPr id="15" name="Text 5"/>
          <p:cNvSpPr/>
          <p:nvPr/>
        </p:nvSpPr>
        <p:spPr>
          <a:xfrm>
            <a:off x="952500" y="2120900"/>
            <a:ext cx="2352040" cy="444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"分析这份销量数据"</a:t>
            </a:r>
            <a:endParaRPr lang="en-US" sz="15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62000" y="2794000"/>
            <a:ext cx="2867025" cy="127000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✗ 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只有总销量、平均值</a:t>
            </a:r>
            <a:endParaRPr 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✗ 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无环比、无排名、无结论</a:t>
            </a:r>
            <a:endParaRPr 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5189220" y="2352040"/>
            <a:ext cx="8255" cy="39008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Text 8"/>
          <p:cNvSpPr>
            <a:spLocks noChangeAspect="1"/>
          </p:cNvSpPr>
          <p:nvPr/>
        </p:nvSpPr>
        <p:spPr>
          <a:xfrm>
            <a:off x="5662930" y="16510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高级 PROMPT</a:t>
            </a:r>
            <a:endParaRPr lang="en-US" sz="1400" kern="0" spc="2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22" name="Shape 9"/>
          <p:cNvSpPr>
            <a:spLocks noChangeAspect="1"/>
          </p:cNvSpPr>
          <p:nvPr/>
        </p:nvSpPr>
        <p:spPr>
          <a:xfrm>
            <a:off x="5673090" y="2049145"/>
            <a:ext cx="6130925" cy="960755"/>
          </a:xfrm>
          <a:prstGeom prst="roundRect">
            <a:avLst>
              <a:gd name="adj" fmla="val 5000"/>
            </a:avLst>
          </a:prstGeom>
          <a:solidFill>
            <a:srgbClr val="E8E8E8">
              <a:alpha val="42000"/>
            </a:srgbClr>
          </a:solidFill>
        </p:spPr>
      </p:sp>
      <p:sp>
        <p:nvSpPr>
          <p:cNvPr id="23" name="Text 10"/>
          <p:cNvSpPr>
            <a:spLocks noChangeAspect="1"/>
          </p:cNvSpPr>
          <p:nvPr/>
        </p:nvSpPr>
        <p:spPr>
          <a:xfrm>
            <a:off x="5793740" y="2127250"/>
            <a:ext cx="6102985" cy="73660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charset="0"/>
                <a:ea typeface="Liter" panose="02000503030000020004" pitchFamily="34" charset="-122"/>
                <a:cs typeface="Liter" panose="02000503030000020004" pitchFamily="34" charset="-120"/>
              </a:rPr>
              <a:t>"你是宝马销售运营分析师。请计算各区域 Q1 销量、环比 Q4 增长率，找出增长最高和最低的区域，给出 2 条原因推测，输出表格，并一句话总结。"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Liter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graphicFrame>
        <p:nvGraphicFramePr>
          <p:cNvPr id="24" name="Table 0"/>
          <p:cNvGraphicFramePr>
            <a:graphicFrameLocks noGrp="1" noChangeAspect="1"/>
          </p:cNvGraphicFramePr>
          <p:nvPr>
            <p:custDataLst>
              <p:tags r:id="rId2"/>
            </p:custDataLst>
          </p:nvPr>
        </p:nvGraphicFramePr>
        <p:xfrm>
          <a:off x="5658485" y="3209925"/>
          <a:ext cx="6169660" cy="19208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42415"/>
                <a:gridCol w="1542415"/>
                <a:gridCol w="1542415"/>
                <a:gridCol w="1542415"/>
              </a:tblGrid>
              <a:tr h="384175"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区域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Q1销量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环比增长率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排名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东区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1,520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+4.8%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1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38417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北区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1,142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-4.0%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2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38417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南区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1,210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-5.5%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3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38417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西区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980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+10.1%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4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</a:tbl>
          </a:graphicData>
        </a:graphic>
      </p:graphicFrame>
      <p:sp>
        <p:nvSpPr>
          <p:cNvPr id="25" name="Text 11"/>
          <p:cNvSpPr>
            <a:spLocks noChangeAspect="1"/>
          </p:cNvSpPr>
          <p:nvPr/>
        </p:nvSpPr>
        <p:spPr>
          <a:xfrm>
            <a:off x="5667375" y="5431790"/>
            <a:ext cx="6311265" cy="13030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增长率最高：</a:t>
            </a:r>
            <a:r>
              <a:rPr lang="en-US" sz="1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西区（+10.1%）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增长率最低：</a:t>
            </a:r>
            <a:r>
              <a:rPr lang="en-US" sz="14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南区（-5.5%）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一句话总结</a:t>
            </a: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：南区需要重点关注，建议复盘促销政策和竞品动作。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场景三</a:t>
            </a:r>
            <a:r>
              <a:rPr lang="en-US" altLang="zh-CN">
                <a:ea typeface="BMWGroupTN Condensed TT Medium" charset="0"/>
              </a:rPr>
              <a:t>  · Word </a:t>
            </a:r>
            <a:r>
              <a:rPr lang="zh-CN" altLang="en-US">
                <a:ea typeface="BMWGroupTN Condensed TT Medium" charset="0"/>
              </a:rPr>
              <a:t>会议纪要对比</a:t>
            </a:r>
            <a:endParaRPr lang="zh-CN" altLang="en-US">
              <a:ea typeface="BMWGroupTN Condensed TT Medium" charset="0"/>
            </a:endParaRPr>
          </a:p>
        </p:txBody>
      </p:sp>
      <p:sp>
        <p:nvSpPr>
          <p:cNvPr id="92" name="Text 2"/>
          <p:cNvSpPr/>
          <p:nvPr/>
        </p:nvSpPr>
        <p:spPr>
          <a:xfrm>
            <a:off x="695325" y="1079500"/>
            <a:ext cx="11201400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zh-CN" altLang="en-US" sz="13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整理跨部门会议记录，生成可追踪的纪要</a:t>
            </a:r>
            <a:endParaRPr lang="zh-CN" altLang="en-US" sz="13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95325" y="1565910"/>
            <a:ext cx="1844675" cy="21717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普通 PROMPT</a:t>
            </a:r>
            <a:endParaRPr lang="en-US" sz="1400" kern="0" spc="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5325" y="1833245"/>
            <a:ext cx="4980305" cy="375920"/>
          </a:xfrm>
          <a:prstGeom prst="roundRect">
            <a:avLst>
              <a:gd name="adj" fmla="val 5000"/>
            </a:avLst>
          </a:prstGeom>
          <a:solidFill>
            <a:srgbClr val="E8E8E8">
              <a:alpha val="42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833755" y="1875155"/>
            <a:ext cx="2229485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chemeClr val="tx1"/>
                </a:solidFill>
                <a:ea typeface="Liter" panose="02000503030000020004" pitchFamily="34" charset="-122"/>
                <a:cs typeface="+mn-lt"/>
              </a:rPr>
              <a:t>"帮我写一份会议纪要"</a:t>
            </a:r>
            <a:endParaRPr lang="en-US" sz="1500" dirty="0">
              <a:solidFill>
                <a:schemeClr val="tx1"/>
              </a:solidFill>
              <a:ea typeface="Liter" panose="02000503030000020004" pitchFamily="34" charset="-122"/>
              <a:cs typeface="+mn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95325" y="2318385"/>
            <a:ext cx="4980305" cy="836295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✗ 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流水账，无议题结论区分</a:t>
            </a:r>
            <a:endParaRPr 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✗ 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无待办事项、负责人、截止时间</a:t>
            </a:r>
            <a:endParaRPr 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59780" y="1565910"/>
            <a:ext cx="9525" cy="443103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</p:sp>
      <p:sp>
        <p:nvSpPr>
          <p:cNvPr id="10" name="Text 8"/>
          <p:cNvSpPr/>
          <p:nvPr/>
        </p:nvSpPr>
        <p:spPr>
          <a:xfrm>
            <a:off x="6044565" y="1565910"/>
            <a:ext cx="1844675" cy="21717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高级 PROMPT</a:t>
            </a:r>
            <a:endParaRPr lang="en-US" sz="1400" kern="0" spc="2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44565" y="1833245"/>
            <a:ext cx="5349240" cy="1125220"/>
          </a:xfrm>
          <a:prstGeom prst="roundRect">
            <a:avLst>
              <a:gd name="adj" fmla="val 5000"/>
            </a:avLst>
          </a:prstGeom>
          <a:solidFill>
            <a:srgbClr val="E8E8E8">
              <a:alpha val="42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6182360" y="1883410"/>
            <a:ext cx="5072380" cy="84836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"你是宝马售后业务助理。请将以下会议记录转化为正式会议纪要。要求结构：议题 → 结论 → 待办事项（负责人+截止日），待办事项用 [ ] 标注状态。"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44565" y="3193415"/>
            <a:ext cx="1844675" cy="21717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rPr>
              <a:t>高级输出效果</a:t>
            </a:r>
            <a:endParaRPr lang="en-US" sz="1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44565" y="3460750"/>
            <a:ext cx="5349240" cy="3081020"/>
          </a:xfrm>
          <a:prstGeom prst="roundRect">
            <a:avLst>
              <a:gd name="adj" fmla="val 5000"/>
            </a:avLst>
          </a:prstGeom>
          <a:solidFill>
            <a:srgbClr val="E8E8E8">
              <a:alpha val="42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6228715" y="3544570"/>
            <a:ext cx="4980305" cy="2591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会议纪要：</a:t>
            </a:r>
            <a:r>
              <a:rPr lang="en-US" sz="1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售后满意度提升专项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议题</a:t>
            </a:r>
            <a:r>
              <a:rPr lang="en-US" sz="1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：</a:t>
            </a: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Q1 NPS 下滑原因分析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sz="1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结论</a:t>
            </a:r>
            <a:r>
              <a:rPr lang="en-US" sz="1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：</a:t>
            </a: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主因是等待时间过长（45分钟 vs 目标30分钟）及配件缺货。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待办事项</a:t>
            </a:r>
            <a:r>
              <a:rPr lang="en-US" sz="1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：</a:t>
            </a:r>
            <a:endParaRPr lang="en-US" sz="1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1. 优化预约流程 → 李经理，4/30，[ ]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2. 建立安全库存预警 → 李经理，4/25，[ ]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3. 编制安抚话术并培训 SA → 王主管，4/21，[ ]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下次会议：4月24日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场景四</a:t>
            </a:r>
            <a:r>
              <a:rPr lang="en-US" altLang="zh-CN">
                <a:ea typeface="BMWGroupTN Condensed TT Medium" charset="0"/>
              </a:rPr>
              <a:t>  ·</a:t>
            </a:r>
            <a:r>
              <a:rPr lang="zh-CN">
                <a:ea typeface="宋体" panose="02010600030101010101" pitchFamily="2" charset="-122"/>
              </a:rPr>
              <a:t>邮件生成对比</a:t>
            </a:r>
            <a:endParaRPr lang="zh-CN">
              <a:ea typeface="宋体" panose="02010600030101010101" pitchFamily="2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695325" y="1565910"/>
            <a:ext cx="1844675" cy="21717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普通 PROMPT</a:t>
            </a:r>
            <a:endParaRPr lang="en-US" sz="1400" kern="0" spc="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5325" y="1833245"/>
            <a:ext cx="4980305" cy="375920"/>
          </a:xfrm>
          <a:prstGeom prst="roundRect">
            <a:avLst>
              <a:gd name="adj" fmla="val 5000"/>
            </a:avLst>
          </a:prstGeom>
          <a:solidFill>
            <a:srgbClr val="E8E8E8">
              <a:alpha val="42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833755" y="1875155"/>
            <a:ext cx="2229485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altLang="zh-CN" sz="1500" dirty="0">
                <a:solidFill>
                  <a:schemeClr val="tx1"/>
                </a:solidFill>
                <a:ea typeface="Liter" panose="02000503030000020004" pitchFamily="34" charset="-122"/>
                <a:cs typeface="+mn-lt"/>
              </a:rPr>
              <a:t>"</a:t>
            </a:r>
            <a:r>
              <a:rPr lang="zh-CN" altLang="en-US" sz="1500" dirty="0">
                <a:solidFill>
                  <a:schemeClr val="tx1"/>
                </a:solidFill>
                <a:ea typeface="Liter" panose="02000503030000020004" pitchFamily="34" charset="-122"/>
                <a:cs typeface="+mn-lt"/>
              </a:rPr>
              <a:t>写邮件催交周报</a:t>
            </a:r>
            <a:r>
              <a:rPr lang="en-US" altLang="zh-CN" sz="1500" dirty="0">
                <a:solidFill>
                  <a:schemeClr val="tx1"/>
                </a:solidFill>
                <a:ea typeface="Liter" panose="02000503030000020004" pitchFamily="34" charset="-122"/>
                <a:cs typeface="+mn-lt"/>
              </a:rPr>
              <a:t>"</a:t>
            </a:r>
            <a:endParaRPr lang="en-US" altLang="zh-CN" sz="1500" dirty="0">
              <a:solidFill>
                <a:schemeClr val="tx1"/>
              </a:solidFill>
              <a:ea typeface="Liter" panose="02000503030000020004" pitchFamily="34" charset="-122"/>
              <a:cs typeface="+mn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95325" y="2318385"/>
            <a:ext cx="4980305" cy="836295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70000"/>
              </a:lnSpc>
            </a:pPr>
            <a:r>
              <a:rPr lang="en-US" altLang="en-US" sz="1600" dirty="0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✗</a:t>
            </a:r>
            <a:r>
              <a:rPr lang="en-US" altLang="zh-CN" sz="1600" dirty="0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语气生硬（</a:t>
            </a:r>
            <a:r>
              <a:rPr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"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请尽快提交</a:t>
            </a:r>
            <a:r>
              <a:rPr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"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）</a:t>
            </a:r>
            <a:endParaRPr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altLang="en-US" sz="1600" dirty="0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✗</a:t>
            </a:r>
            <a:r>
              <a:rPr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无背景、无截止时间、无支持选项</a:t>
            </a:r>
            <a:endParaRPr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59780" y="1565910"/>
            <a:ext cx="9525" cy="443103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</p:sp>
      <p:sp>
        <p:nvSpPr>
          <p:cNvPr id="10" name="Text 8"/>
          <p:cNvSpPr/>
          <p:nvPr/>
        </p:nvSpPr>
        <p:spPr>
          <a:xfrm>
            <a:off x="6044565" y="1565910"/>
            <a:ext cx="1844675" cy="21717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高级 PROMPT</a:t>
            </a:r>
            <a:endParaRPr lang="en-US" sz="1400" kern="0" spc="2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44565" y="1833245"/>
            <a:ext cx="5349240" cy="1125220"/>
          </a:xfrm>
          <a:prstGeom prst="roundRect">
            <a:avLst>
              <a:gd name="adj" fmla="val 5000"/>
            </a:avLst>
          </a:prstGeom>
          <a:solidFill>
            <a:srgbClr val="E8E8E8">
              <a:alpha val="42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6182360" y="1883410"/>
            <a:ext cx="5072380" cy="84836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60000"/>
              </a:lnSpc>
            </a:pP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"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你是宝马销售运营总监。写邮件给区域经理。背景：本周周报用于月度</a:t>
            </a: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 executive review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。语气专业但温和。要求：截止时间周四</a:t>
            </a: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 18:00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，附模板链接，询问是否需要支持，最后感谢配合。</a:t>
            </a: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"</a:t>
            </a:r>
            <a:endParaRPr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44565" y="3193415"/>
            <a:ext cx="1844675" cy="21717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rPr>
              <a:t>高级输出效果</a:t>
            </a:r>
            <a:endParaRPr lang="en-US" sz="1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44565" y="3460750"/>
            <a:ext cx="5349240" cy="2502535"/>
          </a:xfrm>
          <a:prstGeom prst="roundRect">
            <a:avLst>
              <a:gd name="adj" fmla="val 5000"/>
            </a:avLst>
          </a:prstGeom>
          <a:solidFill>
            <a:srgbClr val="E8E8E8">
              <a:alpha val="42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6228715" y="3544570"/>
            <a:ext cx="4980305" cy="2591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主题：【重要】本周周报截止提醒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 – 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用于月度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 executive review</a:t>
            </a: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  <a:p>
            <a:pPr>
              <a:lnSpc>
                <a:spcPct val="170000"/>
              </a:lnSpc>
            </a:pP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各位区域经理：</a:t>
            </a:r>
            <a:endParaRPr lang="zh-CN" alt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  <a:p>
            <a:pPr>
              <a:lnSpc>
                <a:spcPct val="170000"/>
              </a:lnSpc>
            </a:pP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本周周报将直接用于月度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 executive review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，管理层非常关注数据完整性。</a:t>
            </a:r>
            <a:endParaRPr lang="zh-CN" alt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  <a:p>
            <a:pPr>
              <a:lnSpc>
                <a:spcPct val="170000"/>
              </a:lnSpc>
            </a:pP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恳请各位在周四（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4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月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18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日）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18:00 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前提交周报。模板链接：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[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链接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]</a:t>
            </a: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  <a:p>
            <a:pPr>
              <a:lnSpc>
                <a:spcPct val="170000"/>
              </a:lnSpc>
            </a:pP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如需支持，请随时联系。</a:t>
            </a:r>
            <a:endParaRPr lang="zh-CN" alt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  <a:p>
            <a:pPr>
              <a:lnSpc>
                <a:spcPct val="170000"/>
              </a:lnSpc>
            </a:pP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感谢配合！</a:t>
            </a:r>
            <a:endParaRPr lang="zh-CN" alt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[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签名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]</a:t>
            </a: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宋体" panose="02010600030101010101" pitchFamily="2" charset="-122"/>
              </a:rPr>
              <a:t>图像生成</a:t>
            </a:r>
            <a:r>
              <a:rPr lang="en-US" altLang="zh-CN">
                <a:ea typeface="宋体" panose="02010600030101010101" pitchFamily="2" charset="-122"/>
              </a:rPr>
              <a:t> —— </a:t>
            </a:r>
            <a:r>
              <a:rPr lang="zh-CN" altLang="en-US">
                <a:ea typeface="宋体" panose="02010600030101010101" pitchFamily="2" charset="-122"/>
              </a:rPr>
              <a:t>通用</a:t>
            </a:r>
            <a:r>
              <a:rPr lang="en-US" altLang="zh-CN">
                <a:ea typeface="宋体" panose="02010600030101010101" pitchFamily="2" charset="-122"/>
              </a:rPr>
              <a:t> Prompt </a:t>
            </a:r>
            <a:r>
              <a:rPr lang="zh-CN" altLang="en-US">
                <a:ea typeface="宋体" panose="02010600030101010101" pitchFamily="2" charset="-122"/>
              </a:rPr>
              <a:t>模板</a:t>
            </a:r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27" name="组合 26"/>
          <p:cNvGrpSpPr>
            <a:grpSpLocks noChangeAspect="1"/>
          </p:cNvGrpSpPr>
          <p:nvPr/>
        </p:nvGrpSpPr>
        <p:grpSpPr>
          <a:xfrm>
            <a:off x="443230" y="1833880"/>
            <a:ext cx="11304905" cy="4474120"/>
            <a:chOff x="1200" y="2100"/>
            <a:chExt cx="23200" cy="9181"/>
          </a:xfrm>
        </p:grpSpPr>
        <p:sp>
          <p:nvSpPr>
            <p:cNvPr id="5" name="Text 2"/>
            <p:cNvSpPr/>
            <p:nvPr/>
          </p:nvSpPr>
          <p:spPr>
            <a:xfrm>
              <a:off x="1200" y="2100"/>
              <a:ext cx="4000" cy="5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00000"/>
                </a:lnSpc>
              </a:pPr>
              <a:r>
                <a:rPr lang="en-US" sz="1400" kern="0" spc="2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Liter" panose="02000503030000020004" pitchFamily="34" charset="-120"/>
                </a:rPr>
                <a:t>公式</a:t>
              </a:r>
              <a:endParaRPr lang="en-US" sz="1400" kern="0" spc="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endParaRPr>
            </a:p>
          </p:txBody>
        </p:sp>
        <p:sp>
          <p:nvSpPr>
            <p:cNvPr id="7" name="Shape 3"/>
            <p:cNvSpPr/>
            <p:nvPr/>
          </p:nvSpPr>
          <p:spPr>
            <a:xfrm>
              <a:off x="1200" y="2740"/>
              <a:ext cx="23200" cy="1100"/>
            </a:xfrm>
            <a:prstGeom prst="roundRect">
              <a:avLst>
                <a:gd name="adj" fmla="val 5000"/>
              </a:avLst>
            </a:prstGeom>
            <a:solidFill>
              <a:srgbClr val="E6F0FA">
                <a:alpha val="29000"/>
              </a:srgbClr>
            </a:solidFill>
          </p:spPr>
        </p:sp>
        <p:sp>
          <p:nvSpPr>
            <p:cNvPr id="8" name="Text 4"/>
            <p:cNvSpPr/>
            <p:nvPr/>
          </p:nvSpPr>
          <p:spPr>
            <a:xfrm>
              <a:off x="1600" y="2840"/>
              <a:ext cx="22400" cy="9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8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[场景描述]</a:t>
              </a:r>
              <a:r>
                <a:rPr lang="en-US" sz="1800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，</a:t>
              </a:r>
              <a:r>
                <a:rPr lang="en-US" sz="18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[文字内容（可选）]</a:t>
              </a:r>
              <a:r>
                <a:rPr lang="en-US" sz="1800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，</a:t>
              </a:r>
              <a:r>
                <a:rPr lang="en-US" sz="18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[风格关键词]</a:t>
              </a:r>
              <a:r>
                <a:rPr lang="en-US" sz="1800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，</a:t>
              </a:r>
              <a:r>
                <a:rPr lang="en-US" sz="18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[光影/视角]</a:t>
              </a:r>
              <a:r>
                <a:rPr lang="en-US" sz="1800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，</a:t>
              </a:r>
              <a:r>
                <a:rPr lang="en-US" sz="18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[宽高比]</a:t>
              </a:r>
              <a:endParaRPr 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14" name="Text 5"/>
            <p:cNvSpPr/>
            <p:nvPr/>
          </p:nvSpPr>
          <p:spPr>
            <a:xfrm>
              <a:off x="1200" y="4300"/>
              <a:ext cx="4000" cy="52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400" kern="0" spc="200" dirty="0">
                  <a:solidFill>
                    <a:srgbClr val="00D4AA"/>
                  </a:solidFill>
                  <a:ea typeface="Liter" panose="02000503030000020004" pitchFamily="34" charset="-122"/>
                  <a:cs typeface="+mn-lt"/>
                </a:rPr>
                <a:t>示例（PPT 背景）</a:t>
              </a:r>
              <a:endParaRPr lang="en-US" sz="1400" kern="0" spc="200" dirty="0">
                <a:solidFill>
                  <a:srgbClr val="00D4AA"/>
                </a:solidFill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15" name="Shape 6"/>
            <p:cNvSpPr/>
            <p:nvPr/>
          </p:nvSpPr>
          <p:spPr>
            <a:xfrm>
              <a:off x="1200" y="4940"/>
              <a:ext cx="23200" cy="1600"/>
            </a:xfrm>
            <a:prstGeom prst="roundRect">
              <a:avLst>
                <a:gd name="adj" fmla="val 5000"/>
              </a:avLst>
            </a:prstGeom>
            <a:solidFill>
              <a:srgbClr val="FFFFFF">
                <a:alpha val="39000"/>
              </a:srgbClr>
            </a:solidFill>
            <a:effectLst>
              <a:outerShdw blurRad="76200" dist="25400" dir="5400000" algn="bl" rotWithShape="0">
                <a:srgbClr val="000000">
                  <a:alpha val="3137"/>
                </a:srgbClr>
              </a:outerShdw>
            </a:effectLst>
          </p:spPr>
          <p:txBody>
            <a:bodyPr>
              <a:scene3d>
                <a:camera prst="orthographicFront"/>
                <a:lightRig rig="threePt" dir="t"/>
              </a:scene3d>
            </a:bodyPr>
            <a:p>
              <a:endPara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" name="Text 7"/>
            <p:cNvSpPr/>
            <p:nvPr/>
          </p:nvSpPr>
          <p:spPr>
            <a:xfrm>
              <a:off x="1600" y="5059"/>
              <a:ext cx="22400" cy="1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60000"/>
                </a:lnSpc>
              </a:pPr>
              <a:r>
                <a:rPr lang="en-US" sz="15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Create a 16:9 image for PowerPoint background, dark blue gradient with abstract light streaks, minimalistic, space for text on the left.</a:t>
              </a:r>
              <a:endParaRPr lang="en-US" sz="1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17" name="Text 8"/>
            <p:cNvSpPr/>
            <p:nvPr/>
          </p:nvSpPr>
          <p:spPr>
            <a:xfrm>
              <a:off x="1200" y="7100"/>
              <a:ext cx="4000" cy="5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00000"/>
                </a:lnSpc>
              </a:pPr>
              <a:r>
                <a:rPr lang="en-US" sz="1400" kern="0" spc="2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Liter" panose="02000503030000020004" pitchFamily="34" charset="-120"/>
                </a:rPr>
                <a:t>核心法则</a:t>
              </a:r>
              <a:endParaRPr lang="en-US" sz="1400" kern="0" spc="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endParaRPr>
            </a:p>
          </p:txBody>
        </p:sp>
        <p:sp>
          <p:nvSpPr>
            <p:cNvPr id="18" name="Shape 9"/>
            <p:cNvSpPr/>
            <p:nvPr/>
          </p:nvSpPr>
          <p:spPr>
            <a:xfrm>
              <a:off x="1200" y="7900"/>
              <a:ext cx="7401" cy="3381"/>
            </a:xfrm>
            <a:prstGeom prst="roundRect">
              <a:avLst>
                <a:gd name="adj" fmla="val 5000"/>
              </a:avLst>
            </a:prstGeom>
            <a:solidFill>
              <a:srgbClr val="FFFFFF">
                <a:alpha val="33000"/>
              </a:srgbClr>
            </a:solidFill>
            <a:effectLst>
              <a:outerShdw blurRad="76200" dist="25400" dir="5400000" algn="bl" rotWithShape="0">
                <a:srgbClr val="000000">
                  <a:alpha val="3137"/>
                </a:srgbClr>
              </a:outerShdw>
            </a:effectLst>
          </p:spPr>
        </p:sp>
        <p:sp>
          <p:nvSpPr>
            <p:cNvPr id="19" name="Text 10"/>
            <p:cNvSpPr/>
            <p:nvPr/>
          </p:nvSpPr>
          <p:spPr>
            <a:xfrm>
              <a:off x="1600" y="8100"/>
              <a:ext cx="800" cy="7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00000"/>
                </a:lnSpc>
              </a:pPr>
              <a:r>
                <a:rPr lang="en-US" sz="28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1</a:t>
              </a:r>
              <a:endPara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20" name="Text 11"/>
            <p:cNvSpPr/>
            <p:nvPr/>
          </p:nvSpPr>
          <p:spPr>
            <a:xfrm>
              <a:off x="1600" y="8900"/>
              <a:ext cx="6600" cy="1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60000"/>
                </a:lnSpc>
              </a:pPr>
              <a:r>
                <a:rPr lang="en-US" sz="16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指定 </a:t>
              </a:r>
              <a:r>
                <a:rPr lang="en-US" sz="16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16:9</a:t>
              </a:r>
              <a:endPara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60000"/>
                </a:lnSpc>
              </a:pPr>
              <a:r>
                <a:rPr lang="en-US" sz="16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PPT 标准比例</a:t>
              </a:r>
              <a:endPara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21" name="Shape 12"/>
            <p:cNvSpPr/>
            <p:nvPr/>
          </p:nvSpPr>
          <p:spPr>
            <a:xfrm>
              <a:off x="9100" y="7900"/>
              <a:ext cx="7401" cy="3381"/>
            </a:xfrm>
            <a:prstGeom prst="roundRect">
              <a:avLst>
                <a:gd name="adj" fmla="val 5000"/>
              </a:avLst>
            </a:prstGeom>
            <a:solidFill>
              <a:srgbClr val="FFFFFF">
                <a:alpha val="33000"/>
              </a:srgbClr>
            </a:solidFill>
            <a:effectLst>
              <a:outerShdw blurRad="76200" dist="25400" dir="5400000" algn="bl" rotWithShape="0">
                <a:srgbClr val="000000">
                  <a:alpha val="3137"/>
                </a:srgbClr>
              </a:outerShdw>
            </a:effectLst>
          </p:spPr>
        </p:sp>
        <p:sp>
          <p:nvSpPr>
            <p:cNvPr id="22" name="Text 13"/>
            <p:cNvSpPr/>
            <p:nvPr/>
          </p:nvSpPr>
          <p:spPr>
            <a:xfrm>
              <a:off x="9500" y="8100"/>
              <a:ext cx="800" cy="7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00000"/>
                </a:lnSpc>
              </a:pPr>
              <a:r>
                <a:rPr lang="en-US" sz="28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2</a:t>
              </a:r>
              <a:endPara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23" name="Text 14"/>
            <p:cNvSpPr/>
            <p:nvPr/>
          </p:nvSpPr>
          <p:spPr>
            <a:xfrm>
              <a:off x="9500" y="8900"/>
              <a:ext cx="6600" cy="1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60000"/>
                </a:lnSpc>
              </a:pPr>
              <a:r>
                <a:rPr lang="en-US" sz="16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Liter" panose="02000503030000020004" pitchFamily="34" charset="-120"/>
                </a:rPr>
                <a:t>留白区域</a:t>
              </a:r>
              <a:endPara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lnSpc>
                  <a:spcPct val="160000"/>
                </a:lnSpc>
              </a:pPr>
              <a:r>
                <a:rPr lang="en-US" sz="16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Liter" panose="02000503030000020004" pitchFamily="34" charset="-120"/>
                </a:rPr>
                <a:t>用于放文字</a:t>
              </a:r>
              <a:endPara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endParaRPr>
            </a:p>
          </p:txBody>
        </p:sp>
        <p:sp>
          <p:nvSpPr>
            <p:cNvPr id="24" name="Shape 15"/>
            <p:cNvSpPr/>
            <p:nvPr/>
          </p:nvSpPr>
          <p:spPr>
            <a:xfrm>
              <a:off x="16999" y="7900"/>
              <a:ext cx="7401" cy="3381"/>
            </a:xfrm>
            <a:prstGeom prst="roundRect">
              <a:avLst>
                <a:gd name="adj" fmla="val 5000"/>
              </a:avLst>
            </a:prstGeom>
            <a:solidFill>
              <a:srgbClr val="FFFFFF">
                <a:alpha val="33000"/>
              </a:srgbClr>
            </a:solidFill>
            <a:effectLst>
              <a:outerShdw blurRad="76200" dist="25400" dir="5400000" algn="bl" rotWithShape="0">
                <a:srgbClr val="000000">
                  <a:alpha val="3137"/>
                </a:srgbClr>
              </a:outerShdw>
            </a:effectLst>
          </p:spPr>
        </p:sp>
        <p:sp>
          <p:nvSpPr>
            <p:cNvPr id="25" name="Text 16"/>
            <p:cNvSpPr/>
            <p:nvPr/>
          </p:nvSpPr>
          <p:spPr>
            <a:xfrm>
              <a:off x="17400" y="8100"/>
              <a:ext cx="800" cy="7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00000"/>
                </a:lnSpc>
              </a:pPr>
              <a:r>
                <a:rPr lang="en-US" sz="28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3</a:t>
              </a:r>
              <a:endPara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26" name="Text 17"/>
            <p:cNvSpPr/>
            <p:nvPr/>
          </p:nvSpPr>
          <p:spPr>
            <a:xfrm>
              <a:off x="17400" y="8900"/>
              <a:ext cx="6600" cy="1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60000"/>
                </a:lnSpc>
              </a:pPr>
              <a:r>
                <a:rPr lang="en-US" sz="16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风格关键词</a:t>
              </a:r>
              <a:endPara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60000"/>
                </a:lnSpc>
              </a:pPr>
              <a:r>
                <a:rPr lang="en-US" sz="16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"极简""科技感""商务蓝"</a:t>
              </a:r>
              <a:endPara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>
                <a:ea typeface="宋体" panose="02010600030101010101" pitchFamily="2" charset="-122"/>
              </a:rPr>
              <a:t>行动号召</a:t>
            </a:r>
            <a:endParaRPr lang="zh-CN"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88745" y="3032760"/>
            <a:ext cx="9415145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48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cs typeface="+mn-lt"/>
              </a:rPr>
              <a:t>AI</a:t>
            </a:r>
            <a:r>
              <a:rPr lang="zh-CN" altLang="en-US" sz="48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cs typeface="+mn-lt"/>
              </a:rPr>
              <a:t>不是替代者，而是知识加速器</a:t>
            </a:r>
            <a:endParaRPr lang="zh-CN" altLang="en-US" sz="480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cs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PRESET_TEXT" val="单击此处编辑母版文本样式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</p:tagLst>
</file>

<file path=ppt/tags/tag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3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</p:tagLst>
</file>

<file path=ppt/tags/tag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TYPE" val="i"/>
  <p:tag name="KSO_WM_UNIT_INDEX" val="4"/>
</p:tagLst>
</file>

<file path=ppt/tags/tag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32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</p:tagLst>
</file>

<file path=ppt/tags/tag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7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7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75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3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6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0296"/>
</p:tagLst>
</file>

<file path=ppt/tags/tag8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96"/>
  <p:tag name="KSO_WM_TEMPLATE_THUMBS_INDEX" val="1、9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89.xml><?xml version="1.0" encoding="utf-8"?>
<p:tagLst xmlns:p="http://schemas.openxmlformats.org/presentationml/2006/main">
  <p:tag name="KSO_WM_DIAGRAM_VIRTUALLY_FRAME" val="{&quot;height&quot;:388.8,&quot;left&quot;:37.17503937007873,&quot;top&quot;:105.68122047244097,&quot;width&quot;:868.825}"/>
  <p:tag name="KSO_WM_UNIT_HIGHLIGHT" val="0"/>
  <p:tag name="KSO_WM_UNIT_COMPATIBLE" val="0"/>
  <p:tag name="KSO_WM_UNIT_DIAGRAM_ISNUMVISUAL" val="0"/>
  <p:tag name="KSO_WM_UNIT_DIAGRAM_ISREFERUNIT" val="0"/>
  <p:tag name="KSO_WM_UNIT_ID" val="diagram20235154_10*l_h_i*1_1_1"/>
  <p:tag name="KSO_WM_TEMPLATE_CATEGORY" val="diagram"/>
  <p:tag name="KSO_WM_TEMPLATE_INDEX" val="20235154"/>
  <p:tag name="KSO_WM_UNIT_LAYERLEVEL" val="1_1_1"/>
  <p:tag name="KSO_WM_TAG_VERSION" val="3.0"/>
  <p:tag name="KSO_WM_DIAGRAM_GROUP_CODE" val="l1-1"/>
  <p:tag name="KSO_WM_UNIT_SUBTYPE" val="d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.5},{&quot;brightness&quot;:0,&quot;colorType&quot;:1,&quot;foreColorIndex&quot;:5,&quot;pos&quot;:0.9399999976158142,&quot;transparency&quot;:0.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3"/>
  <p:tag name="KSO_WM_UNIT_TEXT_FILL_TYPE" val="3"/>
  <p:tag name="KSO_WM_UNIT_USESOURCEFORMAT_APPLY" val="1"/>
</p:tagLst>
</file>

<file path=ppt/tags/tag90.xml><?xml version="1.0" encoding="utf-8"?>
<p:tagLst xmlns:p="http://schemas.openxmlformats.org/presentationml/2006/main">
  <p:tag name="KSO_WM_DIAGRAM_VIRTUALLY_FRAME" val="{&quot;height&quot;:388.8,&quot;left&quot;:37.17503937007873,&quot;top&quot;:105.68122047244097,&quot;width&quot;:868.825}"/>
  <p:tag name="KSO_WM_UNIT_HIGHLIGHT" val="0"/>
  <p:tag name="KSO_WM_UNIT_COMPATIBLE" val="0"/>
  <p:tag name="KSO_WM_UNIT_DIAGRAM_ISNUMVISUAL" val="0"/>
  <p:tag name="KSO_WM_UNIT_DIAGRAM_ISREFERUNIT" val="0"/>
  <p:tag name="KSO_WM_UNIT_ID" val="diagram20235154_10*l_h_f*1_2_1"/>
  <p:tag name="KSO_WM_TEMPLATE_CATEGORY" val="diagram"/>
  <p:tag name="KSO_WM_TEMPLATE_INDEX" val="20235154"/>
  <p:tag name="KSO_WM_UNIT_LAYERLEVEL" val="1_1_1"/>
  <p:tag name="KSO_WM_TAG_VERSION" val="3.0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2_1"/>
  <p:tag name="KSO_WM_DIAGRAM_VERSION" val="3"/>
  <p:tag name="KSO_WM_DIAGRAM_COLOR_TRICK" val="1"/>
  <p:tag name="KSO_WM_DIAGRAM_COLOR_TEXT_CAN_REMOVE" val="n"/>
  <p:tag name="KSO_WM_UNIT_TEXT_TYPE" val="1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添加正文，文字是您思想的提炼，请言简意赅的阐述您的观点。"/>
  <p:tag name="KSO_WM_UNIT_TEXT_FILL_FORE_SCHEMECOLOR_INDEX" val="1"/>
  <p:tag name="KSO_WM_UNIT_TEXT_FILL_TYPE" val="1"/>
  <p:tag name="KSO_WM_UNIT_USESOURCEFORMAT_APPLY" val="1"/>
</p:tagLst>
</file>

<file path=ppt/tags/tag91.xml><?xml version="1.0" encoding="utf-8"?>
<p:tagLst xmlns:p="http://schemas.openxmlformats.org/presentationml/2006/main">
  <p:tag name="KSO_WM_DIAGRAM_VIRTUALLY_FRAME" val="{&quot;height&quot;:388.8,&quot;left&quot;:37.17503937007873,&quot;top&quot;:105.68122047244097,&quot;width&quot;:868.825}"/>
  <p:tag name="KSO_WM_UNIT_HIGHLIGHT" val="0"/>
  <p:tag name="KSO_WM_UNIT_COMPATIBLE" val="0"/>
  <p:tag name="KSO_WM_UNIT_DIAGRAM_ISNUMVISUAL" val="0"/>
  <p:tag name="KSO_WM_UNIT_DIAGRAM_ISREFERUNIT" val="0"/>
  <p:tag name="KSO_WM_UNIT_ID" val="diagram20235154_10*l_h_f*1_3_1"/>
  <p:tag name="KSO_WM_TEMPLATE_CATEGORY" val="diagram"/>
  <p:tag name="KSO_WM_TEMPLATE_INDEX" val="20235154"/>
  <p:tag name="KSO_WM_UNIT_LAYERLEVEL" val="1_1_1"/>
  <p:tag name="KSO_WM_TAG_VERSION" val="3.0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RICK" val="1"/>
  <p:tag name="KSO_WM_DIAGRAM_COLOR_TEXT_CAN_REMOVE" val="n"/>
  <p:tag name="KSO_WM_UNIT_TEXT_TYPE" val="1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添加正文，文字是您思想的提炼，请言简意赅的阐述您的观点。"/>
  <p:tag name="KSO_WM_UNIT_TEXT_FILL_FORE_SCHEMECOLOR_INDEX" val="1"/>
  <p:tag name="KSO_WM_UNIT_TEXT_FILL_TYPE" val="1"/>
  <p:tag name="KSO_WM_UNIT_USESOURCEFORMAT_APPLY" val="1"/>
</p:tagLst>
</file>

<file path=ppt/tags/tag92.xml><?xml version="1.0" encoding="utf-8"?>
<p:tagLst xmlns:p="http://schemas.openxmlformats.org/presentationml/2006/main">
  <p:tag name="KSO_WM_DIAGRAM_VIRTUALLY_FRAME" val="{&quot;height&quot;:388.8,&quot;left&quot;:37.17503937007873,&quot;top&quot;:105.68122047244097,&quot;width&quot;:868.825}"/>
  <p:tag name="KSO_WM_UNIT_HIGHLIGHT" val="0"/>
  <p:tag name="KSO_WM_UNIT_COMPATIBLE" val="0"/>
  <p:tag name="KSO_WM_UNIT_DIAGRAM_ISNUMVISUAL" val="0"/>
  <p:tag name="KSO_WM_UNIT_DIAGRAM_ISREFERUNIT" val="0"/>
  <p:tag name="KSO_WM_UNIT_ID" val="diagram20235154_10*l_h_f*1_4_1"/>
  <p:tag name="KSO_WM_TEMPLATE_CATEGORY" val="diagram"/>
  <p:tag name="KSO_WM_TEMPLATE_INDEX" val="20235154"/>
  <p:tag name="KSO_WM_UNIT_LAYERLEVEL" val="1_1_1"/>
  <p:tag name="KSO_WM_TAG_VERSION" val="3.0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4_1"/>
  <p:tag name="KSO_WM_DIAGRAM_VERSION" val="3"/>
  <p:tag name="KSO_WM_DIAGRAM_COLOR_TRICK" val="1"/>
  <p:tag name="KSO_WM_DIAGRAM_COLOR_TEXT_CAN_REMOVE" val="n"/>
  <p:tag name="KSO_WM_UNIT_TEXT_TYPE" val="1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添加正文，文字是您思想的提炼，请言简意赅的阐述您的观点。"/>
  <p:tag name="KSO_WM_UNIT_TEXT_FILL_FORE_SCHEMECOLOR_INDEX" val="1"/>
  <p:tag name="KSO_WM_UNIT_TEXT_FILL_TYPE" val="1"/>
  <p:tag name="KSO_WM_UNIT_USESOURCEFORMAT_APPLY" val="1"/>
</p:tagLst>
</file>

<file path=ppt/tags/tag93.xml><?xml version="1.0" encoding="utf-8"?>
<p:tagLst xmlns:p="http://schemas.openxmlformats.org/presentationml/2006/main">
  <p:tag name="KSO_WM_DIAGRAM_VIRTUALLY_FRAME" val="{&quot;height&quot;:388.8,&quot;left&quot;:37.17503937007873,&quot;top&quot;:105.68122047244097,&quot;width&quot;:868.825}"/>
  <p:tag name="KSO_WM_UNIT_HIGHLIGHT" val="0"/>
  <p:tag name="KSO_WM_UNIT_COMPATIBLE" val="0"/>
  <p:tag name="KSO_WM_UNIT_DIAGRAM_ISNUMVISUAL" val="0"/>
  <p:tag name="KSO_WM_UNIT_DIAGRAM_ISREFERUNIT" val="0"/>
  <p:tag name="KSO_WM_UNIT_ID" val="diagram20235154_10*l_h_i*1_2_1"/>
  <p:tag name="KSO_WM_TEMPLATE_CATEGORY" val="diagram"/>
  <p:tag name="KSO_WM_TEMPLATE_INDEX" val="20235154"/>
  <p:tag name="KSO_WM_UNIT_LAYERLEVEL" val="1_1_1"/>
  <p:tag name="KSO_WM_TAG_VERSION" val="3.0"/>
  <p:tag name="KSO_WM_DIAGRAM_GROUP_CODE" val="l1-1"/>
  <p:tag name="KSO_WM_UNIT_SUBTYPE" val="d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.5},{&quot;brightness&quot;:0,&quot;colorType&quot;:1,&quot;foreColorIndex&quot;:5,&quot;pos&quot;:0.9399999976158142,&quot;transparency&quot;:0.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3"/>
  <p:tag name="KSO_WM_UNIT_TEXT_FILL_TYPE" val="3"/>
  <p:tag name="KSO_WM_UNIT_USESOURCEFORMAT_APPLY" val="1"/>
</p:tagLst>
</file>

<file path=ppt/tags/tag94.xml><?xml version="1.0" encoding="utf-8"?>
<p:tagLst xmlns:p="http://schemas.openxmlformats.org/presentationml/2006/main">
  <p:tag name="KSO_WM_DIAGRAM_VIRTUALLY_FRAME" val="{&quot;height&quot;:388.8,&quot;left&quot;:37.17503937007873,&quot;top&quot;:105.68122047244097,&quot;width&quot;:868.825}"/>
  <p:tag name="KSO_WM_UNIT_HIGHLIGHT" val="0"/>
  <p:tag name="KSO_WM_UNIT_COMPATIBLE" val="0"/>
  <p:tag name="KSO_WM_UNIT_DIAGRAM_ISNUMVISUAL" val="0"/>
  <p:tag name="KSO_WM_UNIT_DIAGRAM_ISREFERUNIT" val="0"/>
  <p:tag name="KSO_WM_UNIT_ID" val="diagram20235154_10*l_h_i*1_3_1"/>
  <p:tag name="KSO_WM_TEMPLATE_CATEGORY" val="diagram"/>
  <p:tag name="KSO_WM_TEMPLATE_INDEX" val="20235154"/>
  <p:tag name="KSO_WM_UNIT_LAYERLEVEL" val="1_1_1"/>
  <p:tag name="KSO_WM_TAG_VERSION" val="3.0"/>
  <p:tag name="KSO_WM_DIAGRAM_GROUP_CODE" val="l1-1"/>
  <p:tag name="KSO_WM_UNIT_SUBTYPE" val="d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.5},{&quot;brightness&quot;:0,&quot;colorType&quot;:1,&quot;foreColorIndex&quot;:5,&quot;pos&quot;:0.9399999976158142,&quot;transparency&quot;:0.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3"/>
  <p:tag name="KSO_WM_UNIT_TEXT_FILL_TYPE" val="3"/>
  <p:tag name="KSO_WM_UNIT_USESOURCEFORMAT_APPLY" val="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202_9*f*1"/>
  <p:tag name="KSO_WM_TEMPLATE_CATEGORY" val="custom"/>
  <p:tag name="KSO_WM_TEMPLATE_INDEX" val="40495202"/>
  <p:tag name="KSO_WM_UNIT_LAYERLEVEL" val="1"/>
  <p:tag name="KSO_WM_TAG_VERSION" val="3.0"/>
  <p:tag name="KSO_WM_BEAUTIFY_FLAG" val="#wm#"/>
  <p:tag name="KSO_WM_UNIT_SUBTYPE" val="b"/>
  <p:tag name="KSO_WM_UNIT_TEXT_LAYER_COUNT" val="1"/>
  <p:tag name="KSO_WM_UNIT_VALUE" val="44"/>
  <p:tag name="KSO_WM_UNIT_TYPE" val="f"/>
  <p:tag name="KSO_WM_UNIT_INDEX" val="1"/>
  <p:tag name="KSO_WM_UNIT_TEXT_TYPE" val="1"/>
  <p:tag name="KSO_WM_UNIT_NOCLEAR" val="0"/>
  <p:tag name="KSO_WM_UNIT_PRESET_TEXT" val="汇报人：WPS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01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03.xml><?xml version="1.0" encoding="utf-8"?>
<p:tagLst xmlns:p="http://schemas.openxmlformats.org/presentationml/2006/main">
  <p:tag name="TABLE_ENDDRAG_ORIGIN_RECT" val="883*259"/>
  <p:tag name="TABLE_ENDDRAG_RECT" val="42*157*883*259"/>
</p:tagLst>
</file>

<file path=ppt/tags/tag104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06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08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10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12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14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16.xml><?xml version="1.0" encoding="utf-8"?>
<p:tagLst xmlns:p="http://schemas.openxmlformats.org/presentationml/2006/main">
  <p:tag name="TABLE_ENDDRAG_ORIGIN_RECT" val="485*151"/>
  <p:tag name="TABLE_ENDDRAG_RECT" val="443*261*485*151"/>
</p:tagLst>
</file>

<file path=ppt/tags/tag117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19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1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3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5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heme/theme1.xml><?xml version="1.0" encoding="utf-8"?>
<a:theme xmlns:a="http://schemas.openxmlformats.org/drawingml/2006/main" name="科技风蓝色渐变职场办公">
  <a:themeElements>
    <a:clrScheme name="自定义 57">
      <a:dk1>
        <a:srgbClr val="000000"/>
      </a:dk1>
      <a:lt1>
        <a:srgbClr val="FFFFFF"/>
      </a:lt1>
      <a:dk2>
        <a:srgbClr val="043460"/>
      </a:dk2>
      <a:lt2>
        <a:srgbClr val="EFFFFF"/>
      </a:lt2>
      <a:accent1>
        <a:srgbClr val="09FFFF"/>
      </a:accent1>
      <a:accent2>
        <a:srgbClr val="1ADCFF"/>
      </a:accent2>
      <a:accent3>
        <a:srgbClr val="0F54FF"/>
      </a:accent3>
      <a:accent4>
        <a:srgbClr val="3D97FF"/>
      </a:accent4>
      <a:accent5>
        <a:srgbClr val="4F74FF"/>
      </a:accent5>
      <a:accent6>
        <a:srgbClr val="6051FF"/>
      </a:accent6>
      <a:hlink>
        <a:srgbClr val="4472C4"/>
      </a:hlink>
      <a:folHlink>
        <a:srgbClr val="BFBFBF"/>
      </a:folHlink>
    </a:clrScheme>
    <a:fontScheme name="自定义 77">
      <a:majorFont>
        <a:latin typeface="BMWGroupTN Condensed TT Medium"/>
        <a:ea typeface="BMWGroupTN Condensed TT Medium"/>
        <a:cs typeface=""/>
      </a:majorFont>
      <a:minorFont>
        <a:latin typeface="BMWGroupTN Condensed TT Medium"/>
        <a:ea typeface="BMWGroupTN Condensed TT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DCD6CA"/>
          </a:solidFill>
          <a:prstDash val="soli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3547</Words>
  <Application>WPS 演示</Application>
  <PresentationFormat>宽屏</PresentationFormat>
  <Paragraphs>472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BMWGroupTN Condensed TT Medium</vt:lpstr>
      <vt:lpstr>BMWGroupTN Condensed TT Light</vt:lpstr>
      <vt:lpstr>Liter</vt:lpstr>
      <vt:lpstr>Liter</vt:lpstr>
      <vt:lpstr>PMingLiU-ExtB</vt:lpstr>
      <vt:lpstr>Liter</vt:lpstr>
      <vt:lpstr>Segoe Print</vt:lpstr>
      <vt:lpstr>科技风蓝色渐变职场办公</vt:lpstr>
      <vt:lpstr>课程内容回顾——GAIA知识库</vt:lpstr>
      <vt:lpstr>RAG：让AI"带着宝马的资料来见你"</vt:lpstr>
      <vt:lpstr>切片策略：决定AI是"专家"还是"断片"</vt:lpstr>
      <vt:lpstr>课程内容回顾——GAIA知识库</vt:lpstr>
      <vt:lpstr>AI最容易在哪翻车？——口径陷阱</vt:lpstr>
      <vt:lpstr>工作流优化——增加归因分析链路</vt:lpstr>
      <vt:lpstr>课程内容回顾——Chat BI与工作流</vt:lpstr>
      <vt:lpstr>场景一 · PPT大纲生成</vt:lpstr>
      <vt:lpstr>场景二 · Excel 分析</vt:lpstr>
      <vt:lpstr>场景三  · Word 会议纪要</vt:lpstr>
      <vt:lpstr>场景四  ·邮件生成</vt:lpstr>
      <vt:lpstr>图像生成 —— 通用 Prompt 模板</vt:lpstr>
      <vt:lpstr>课程内容回顾——GAIA知识库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卿</cp:lastModifiedBy>
  <cp:revision>157</cp:revision>
  <dcterms:created xsi:type="dcterms:W3CDTF">2019-06-19T02:08:00Z</dcterms:created>
  <dcterms:modified xsi:type="dcterms:W3CDTF">2026-04-24T02:09:57Z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FF97FC5A51704DE3BC4A2C9C732075DA_11</vt:lpwstr>
  </property>
</Properties>
</file>