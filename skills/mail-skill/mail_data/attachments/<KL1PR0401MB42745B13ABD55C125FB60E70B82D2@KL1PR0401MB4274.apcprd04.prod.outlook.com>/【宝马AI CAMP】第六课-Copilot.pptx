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handoutMasterIdLst>
    <p:handoutMasterId r:id="rId26"/>
  </p:handoutMasterIdLst>
  <p:sldIdLst>
    <p:sldId id="384" r:id="rId3"/>
    <p:sldId id="401" r:id="rId4"/>
    <p:sldId id="398" r:id="rId5"/>
    <p:sldId id="309" r:id="rId6"/>
    <p:sldId id="344" r:id="rId8"/>
    <p:sldId id="385" r:id="rId9"/>
    <p:sldId id="400" r:id="rId10"/>
    <p:sldId id="386" r:id="rId11"/>
    <p:sldId id="402" r:id="rId12"/>
    <p:sldId id="387" r:id="rId13"/>
    <p:sldId id="403" r:id="rId14"/>
    <p:sldId id="405" r:id="rId15"/>
    <p:sldId id="388" r:id="rId16"/>
    <p:sldId id="406" r:id="rId17"/>
    <p:sldId id="389" r:id="rId18"/>
    <p:sldId id="407" r:id="rId19"/>
    <p:sldId id="390" r:id="rId20"/>
    <p:sldId id="408" r:id="rId21"/>
    <p:sldId id="391" r:id="rId22"/>
    <p:sldId id="395" r:id="rId23"/>
    <p:sldId id="319" r:id="rId24"/>
    <p:sldId id="409" r:id="rId25"/>
  </p:sldIdLst>
  <p:sldSz cx="12192000" cy="6858000"/>
  <p:notesSz cx="6858000" cy="12192000"/>
  <p:embeddedFontLst>
    <p:embeddedFont>
      <p:font typeface="BMWGroupTN Condensed TT Medium" charset="0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BM" initials="A" lastIdx="3" clrIdx="0"/>
  <p:cmAuthor id="151" name="未知用户95" initials="未" lastIdx="4" clrIdx="0"/>
  <p:cmAuthor id="1" name="Li,Chen(ECR_VAS)" initials="L" lastIdx="1" clrIdx="0"/>
  <p:cmAuthor id="2" name="He,Yanan" initials="H" lastIdx="2" clrIdx="1"/>
  <p:cmAuthor id="153" name="未知用户96" initials="未" lastIdx="13" clrIdx="0"/>
  <p:cmAuthor id="3" name="Lenovo" initials="L" lastIdx="1" clrIdx="2"/>
  <p:cmAuthor id="4" name="未知用户" initials="未" lastIdx="2" clrIdx="0"/>
  <p:cmAuthor id="155" name="未知用户97" initials="未" lastIdx="2" clrIdx="0"/>
  <p:cmAuthor id="5" name="新萝卜家园" initials="新" lastIdx="0" clrIdx="0"/>
  <p:cmAuthor id="6" name="李正" initials="李" lastIdx="1" clrIdx="0"/>
  <p:cmAuthor id="157" name="未知用户98" initials="未" lastIdx="2" clrIdx="1"/>
  <p:cmAuthor id="7" name="China" initials="C" lastIdx="1" clrIdx="1"/>
  <p:cmAuthor id="8" name="吴铭锐" initials="吴" lastIdx="2" clrIdx="0"/>
  <p:cmAuthor id="159" name="未知用户99" initials="未" lastIdx="16" clrIdx="2"/>
  <p:cmAuthor id="9" name="张杰" initials="张" lastIdx="7" clrIdx="0"/>
  <p:cmAuthor id="10" name="孟祥超" initials="孟" lastIdx="4" clrIdx="1"/>
  <p:cmAuthor id="161" name="未知用户100" initials="未" lastIdx="0" clrIdx="0"/>
  <p:cmAuthor id="11" name="杨艳霞" initials="杨" lastIdx="34" clrIdx="1"/>
  <p:cmAuthor id="12" name="陶川" initials="陶" lastIdx="1" clrIdx="0"/>
  <p:cmAuthor id="163" name="未知用户101" initials="未" lastIdx="3" clrIdx="0"/>
  <p:cmAuthor id="13" name="user" initials="u" lastIdx="92" clrIdx="0"/>
  <p:cmAuthor id="14" name="周开雷" initials="周" lastIdx="8" clrIdx="0"/>
  <p:cmAuthor id="15" name="未定义" initials="未" lastIdx="1" clrIdx="1"/>
  <p:cmAuthor id="16" name="未知用户22" initials="未" lastIdx="34" clrIdx="0"/>
  <p:cmAuthor id="167" name="Microsoft Office 用户" initials="M" lastIdx="0" clrIdx="104"/>
  <p:cmAuthor id="17" name="未知用户4" initials="未" lastIdx="1" clrIdx="0"/>
  <p:cmAuthor id="18" name="lx" initials="l" lastIdx="2" clrIdx="0"/>
  <p:cmAuthor id="169" name="段振华" initials="段" lastIdx="1" clrIdx="0"/>
  <p:cmAuthor id="19" name="andres.x.gomez" initials="a" lastIdx="4" clrIdx="0"/>
  <p:cmAuthor id="20" name="赵兰玉" initials="赵" lastIdx="1" clrIdx="0"/>
  <p:cmAuthor id="171" name="lou cynthia" initials="l" lastIdx="1" clrIdx="0"/>
  <p:cmAuthor id="21" name="微软用户" initials="微" lastIdx="1" clrIdx="0"/>
  <p:cmAuthor id="22" name="李振宇" initials="李" lastIdx="1" clrIdx="5"/>
  <p:cmAuthor id="173" name="Author" initials="A" lastIdx="1" clrIdx="0"/>
  <p:cmAuthor id="23" name="nine" initials="n" lastIdx="1" clrIdx="0"/>
  <p:cmAuthor id="24" name="邹洋" initials="邹" lastIdx="2" clrIdx="0"/>
  <p:cmAuthor id="175" name="马红" initials="马" lastIdx="7" clrIdx="0"/>
  <p:cmAuthor id="25" name="王志刚" initials="王" lastIdx="1" clrIdx="0"/>
  <p:cmAuthor id="26" name="未知用户13" initials="未" lastIdx="1" clrIdx="0"/>
  <p:cmAuthor id="27" name="未知用户5" initials="未" lastIdx="1" clrIdx="0"/>
  <p:cmAuthor id="28" name="yangkun" initials="y" lastIdx="0" clrIdx="0"/>
  <p:cmAuthor id="29" name="王明明" initials="王" lastIdx="3" clrIdx="0"/>
  <p:cmAuthor id="30" name="Lenovo User" initials="L" lastIdx="1" clrIdx="0"/>
  <p:cmAuthor id="31" name="hys2" initials="h" lastIdx="1" clrIdx="0"/>
  <p:cmAuthor id="32" name="赵琦" initials="赵" lastIdx="4" clrIdx="1"/>
  <p:cmAuthor id="33" name="朱绍春" initials="朱" lastIdx="13" clrIdx="0"/>
  <p:cmAuthor id="34" name="番茄花园" initials="番" lastIdx="1" clrIdx="0"/>
  <p:cmAuthor id="35" name="朱悦龙" initials="朱" lastIdx="1" clrIdx="0"/>
  <p:cmAuthor id="36" name="evil" initials="e" lastIdx="0" clrIdx="0"/>
  <p:cmAuthor id="37" name="dell" initials="d" lastIdx="1" clrIdx="4"/>
  <p:cmAuthor id="38" name="吕志勇" initials="吕" lastIdx="8" clrIdx="0"/>
  <p:cmAuthor id="39" name="何已龙" initials="何" lastIdx="2" clrIdx="2"/>
  <p:cmAuthor id="40" name="叶得会" initials="叶" lastIdx="8" clrIdx="0"/>
  <p:cmAuthor id="41" name="未知用户6" initials="未" lastIdx="1" clrIdx="0"/>
  <p:cmAuthor id="42" name="未知用户8" initials="未" lastIdx="1" clrIdx="0"/>
  <p:cmAuthor id="43" name="未知用户7" initials="未" lastIdx="1" clrIdx="0"/>
  <p:cmAuthor id="44" name="未知用户9" initials="未" lastIdx="1" clrIdx="0"/>
  <p:cmAuthor id="45" name="未知用户17" initials="未" lastIdx="1" clrIdx="1"/>
  <p:cmAuthor id="46" name="未知用户18" initials="未" lastIdx="1" clrIdx="0"/>
  <p:cmAuthor id="47" name="未知用户20" initials="未" lastIdx="1" clrIdx="0"/>
  <p:cmAuthor id="48" name="未知用户19" initials="未" lastIdx="1" clrIdx="0"/>
  <p:cmAuthor id="49" name="未知用户21" initials="未" lastIdx="1" clrIdx="0"/>
  <p:cmAuthor id="50" name="未知用户14" initials="未" lastIdx="1" clrIdx="0"/>
  <p:cmAuthor id="51" name="未知用户15" initials="未" lastIdx="1" clrIdx="0"/>
  <p:cmAuthor id="52" name="未知用户16" initials="未" lastIdx="4" clrIdx="0"/>
  <p:cmAuthor id="53" name="郝崇" initials="郝" lastIdx="4" clrIdx="1"/>
  <p:cmAuthor id="54" name="吴杰" initials="吴" lastIdx="1" clrIdx="0"/>
  <p:cmAuthor id="55" name="刘丽仙" initials="刘" lastIdx="4" clrIdx="33"/>
  <p:cmAuthor id="56" name="马静" initials="马" lastIdx="0" clrIdx="0"/>
  <p:cmAuthor id="57" name="李百秋" initials="李" lastIdx="3" clrIdx="21"/>
  <p:cmAuthor id="58" name="范作霖" initials="范" lastIdx="1" clrIdx="22"/>
  <p:cmAuthor id="59" name="rq fan" initials="r" lastIdx="3" clrIdx="1"/>
  <p:cmAuthor id="210" name="李刚" initials="李" lastIdx="3" clrIdx="0"/>
  <p:cmAuthor id="60" name="dingbo" initials="d" lastIdx="1" clrIdx="0"/>
  <p:cmAuthor id="61" name="李永欣" initials="李" lastIdx="1" clrIdx="0"/>
  <p:cmAuthor id="62" name="仝德志" initials="仝" lastIdx="1" clrIdx="0"/>
  <p:cmAuthor id="63" name="丁芙蓉" initials="丁" lastIdx="4" clrIdx="1"/>
  <p:cmAuthor id="64" name="许弘扬" initials="许" lastIdx="1" clrIdx="0"/>
  <p:cmAuthor id="65" name="未知用户23" initials="未" lastIdx="1" clrIdx="1"/>
  <p:cmAuthor id="66" name="未知用户24" initials="未" lastIdx="1" clrIdx="0"/>
  <p:cmAuthor id="67" name="未知用户25" initials="未" lastIdx="1" clrIdx="0"/>
  <p:cmAuthor id="68" name="未知用户26" initials="未" lastIdx="1" clrIdx="0"/>
  <p:cmAuthor id="69" name="未知用户27" initials="未" lastIdx="1" clrIdx="0"/>
  <p:cmAuthor id="70" name="未知用户28" initials="未" lastIdx="1" clrIdx="0"/>
  <p:cmAuthor id="71" name="未知用户29" initials="未" lastIdx="1" clrIdx="0"/>
  <p:cmAuthor id="72" name="未知用户30" initials="未" lastIdx="4" clrIdx="0"/>
  <p:cmAuthor id="73" name="未知用户10" initials="未" lastIdx="7" clrIdx="0"/>
  <p:cmAuthor id="74" name="未知用户12" initials="未" lastIdx="1" clrIdx="0"/>
  <p:cmAuthor id="75" name="未知用户11" initials="未" lastIdx="23" clrIdx="0"/>
  <p:cmAuthor id="76" name="贡鑫" initials="贡" lastIdx="2" clrIdx="0"/>
  <p:cmAuthor id="77" name="administrator1" initials="a" lastIdx="16" clrIdx="2"/>
  <p:cmAuthor id="78" name="杜雪梅" initials="杜" lastIdx="1" clrIdx="0"/>
  <p:cmAuthor id="79" name="lijin" initials="l" lastIdx="33" clrIdx="0"/>
  <p:cmAuthor id="80" name="gtmc" initials="g" lastIdx="0" clrIdx="0"/>
  <p:cmAuthor id="81" name="chunsong_hu" initials="c" lastIdx="0" clrIdx="0"/>
  <p:cmAuthor id="82" name="张雁" initials="张" lastIdx="1" clrIdx="19"/>
  <p:cmAuthor id="83" name="贾清山" initials="贾" lastIdx="1" clrIdx="0"/>
  <p:cmAuthor id="84" name="陈桂枝" initials="陈" lastIdx="1" clrIdx="0"/>
  <p:cmAuthor id="85" name="王向羽" initials="王" lastIdx="1" clrIdx="0"/>
  <p:cmAuthor id="86" name="thinkpad" initials="t" lastIdx="2" clrIdx="0"/>
  <p:cmAuthor id="87" name="LEO L" initials="L" lastIdx="1" clrIdx="0"/>
  <p:cmAuthor id="88" name="马海燕" initials="马" lastIdx="1" clrIdx="18"/>
  <p:cmAuthor id="89" name="libin1204@163.com" initials="l" lastIdx="1" clrIdx="102"/>
  <p:cmAuthor id="90" name="Qingyunli" initials="Q" lastIdx="24" clrIdx="0"/>
  <p:cmAuthor id="91" name="吴军" initials="吴" lastIdx="1" clrIdx="0"/>
  <p:cmAuthor id="92" name="USER" initials="U" lastIdx="18" clrIdx="0"/>
  <p:cmAuthor id="93" name="陈尚文" initials="陈" lastIdx="1" clrIdx="1"/>
  <p:cmAuthor id="94" name="张宏伟" initials="张" lastIdx="46" clrIdx="0"/>
  <p:cmAuthor id="95" name="未知用户36" initials="未" lastIdx="2" clrIdx="0"/>
  <p:cmAuthor id="96" name="Pei" initials="P" lastIdx="0" clrIdx="1"/>
  <p:cmAuthor id="97" name="徐光宇" initials="徐" lastIdx="1" clrIdx="0"/>
  <p:cmAuthor id="98" name="mac" initials="m" lastIdx="1" clrIdx="0"/>
  <p:cmAuthor id="99" name="Liu, Leo (MBSHR cs)" initials="L" lastIdx="2" clrIdx="0"/>
  <p:cmAuthor id="100" name="刘豹" initials="刘" lastIdx="0" clrIdx="0"/>
  <p:cmAuthor id="101" name="张艳芳" initials="张" lastIdx="3" clrIdx="0"/>
  <p:cmAuthor id="102" name="刘广艳" initials="刘" lastIdx="10" clrIdx="1"/>
  <p:cmAuthor id="103" name="邹积逊" initials="邹" lastIdx="1" clrIdx="0"/>
  <p:cmAuthor id="104" name="yangyanxia" initials="y" lastIdx="1" clrIdx="0"/>
  <p:cmAuthor id="105" name="刘春辉" initials="刘" lastIdx="4" clrIdx="28"/>
  <p:cmAuthor id="106" name="Youwen Sun" initials="Y" lastIdx="3" clrIdx="1"/>
  <p:cmAuthor id="107" name="杜娇龙" initials="杜" lastIdx="2" clrIdx="1"/>
  <p:cmAuthor id="108" name="张钦" initials="张" lastIdx="4" clrIdx="4"/>
  <p:cmAuthor id="109" name="涛娜" initials="涛" lastIdx="1" clrIdx="11"/>
  <p:cmAuthor id="110" name="未知用户80" initials="未" lastIdx="1" clrIdx="0"/>
  <p:cmAuthor id="111" name="李丽华" initials="李" lastIdx="12" clrIdx="1"/>
  <p:cmAuthor id="112" name="Microsoft 帐户" initials="M" lastIdx="1" clrIdx="0"/>
  <p:cmAuthor id="113" name="王志虎" initials="王" lastIdx="1" clrIdx="24"/>
  <p:cmAuthor id="114" name="魏永生" initials="魏" lastIdx="4" clrIdx="17"/>
  <p:cmAuthor id="115" name="Zhou, Judy" initials="Z" lastIdx="9" clrIdx="0"/>
  <p:cmAuthor id="116" name=" " initials=" " lastIdx="3" clrIdx="6"/>
  <p:cmAuthor id="117" name="未知用户51" initials="未" lastIdx="4" clrIdx="0"/>
  <p:cmAuthor id="118" name="未知用户82" initials="未" lastIdx="4" clrIdx="0"/>
  <p:cmAuthor id="119" name="未知用户52" initials="未" lastIdx="13" clrIdx="0"/>
  <p:cmAuthor id="120" name="侯 林" initials="侯" lastIdx="2" clrIdx="35"/>
  <p:cmAuthor id="121" name="孙大威" initials="孙" lastIdx="21" clrIdx="4"/>
  <p:cmAuthor id="122" name="未知用户83" initials="未" lastIdx="13" clrIdx="0"/>
  <p:cmAuthor id="123" name="李明" initials="李" lastIdx="4" clrIdx="73"/>
  <p:cmAuthor id="124" name="未知用户2" initials="未" lastIdx="0" clrIdx="0"/>
  <p:cmAuthor id="125" name="徐仕超" initials="徐" lastIdx="1" clrIdx="3"/>
  <p:cmAuthor id="126" name="未知用户84" initials="未" lastIdx="2" clrIdx="0"/>
  <p:cmAuthor id="127" name="Lzy" initials="L" lastIdx="1" clrIdx="0"/>
  <p:cmAuthor id="128" name="未知用户3" initials="未" lastIdx="4" clrIdx="1"/>
  <p:cmAuthor id="129" name="未知用户62" initials="未" lastIdx="3" clrIdx="0"/>
  <p:cmAuthor id="130" name="未知用户85" initials="未" lastIdx="2" clrIdx="1"/>
  <p:cmAuthor id="131" name="未知用户63" initials="未" lastIdx="21" clrIdx="4"/>
  <p:cmAuthor id="133" name="未知用户86" initials="未" lastIdx="16" clrIdx="2"/>
  <p:cmAuthor id="135" name="未知用户87" initials="未" lastIdx="0" clrIdx="0"/>
  <p:cmAuthor id="137" name="未知用户88" initials="未" lastIdx="3" clrIdx="0"/>
  <p:cmAuthor id="138" name="宋少霞" initials="宋" lastIdx="1" clrIdx="2"/>
  <p:cmAuthor id="139" name="未知用户89" initials="未" lastIdx="21" clrIdx="4"/>
  <p:cmAuthor id="141" name="未知用户90" initials="未" lastIdx="1" clrIdx="1"/>
  <p:cmAuthor id="142" name="张惠" initials="张" lastIdx="1" clrIdx="0"/>
  <p:cmAuthor id="143" name="未知用户91" initials="未" lastIdx="1" clrIdx="0"/>
  <p:cmAuthor id="145" name="未知用户92" initials="未" lastIdx="1" clrIdx="0"/>
  <p:cmAuthor id="146" name="panhong" initials="p" lastIdx="18" clrIdx="0"/>
  <p:cmAuthor id="147" name="未知用户93" initials="未" lastIdx="1" clrIdx="0"/>
  <p:cmAuthor id="149" name="未知用户94" initials="未" lastIdx="1" clrIdx="0"/>
  <p:cmAuthor id="158" name="Dannerbeck Anke, CB-1" initials="DAC" lastIdx="0" clrIdx="157"/>
  <p:cmAuthor id="160" name="Karen" initials="K" lastIdx="0" clrIdx="15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1.fntdata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BMWGroupTN Condensed TT Medium" charset="0"/>
                <a:ea typeface="BMWGroupTN Condensed TT Medium" charset="0"/>
                <a:cs typeface="BMWGroupTN Condensed TT Medium" charset="0"/>
              </a:rPr>
            </a:fld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BMWGroupTN Condensed TT Medium" charset="0"/>
                <a:ea typeface="BMWGroupTN Condensed TT Medium" charset="0"/>
                <a:cs typeface="BMWGroupTN Condensed TT Medium" charset="0"/>
              </a:rPr>
            </a:fld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 TT Medium" charset="0"/>
        <a:ea typeface="BMWGroupTN Condensed TT Medium" charset="0"/>
        <a:cs typeface="BMWGroupTN Condensed TT Medium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tags" Target="../tags/tag21.xml"/><Relationship Id="rId4" Type="http://schemas.openxmlformats.org/officeDocument/2006/relationships/image" Target="../media/image1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2.png"/><Relationship Id="rId5" Type="http://schemas.openxmlformats.org/officeDocument/2006/relationships/tags" Target="../tags/tag29.xml"/><Relationship Id="rId4" Type="http://schemas.openxmlformats.org/officeDocument/2006/relationships/image" Target="../media/image1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image" Target="../media/image2.png"/><Relationship Id="rId5" Type="http://schemas.openxmlformats.org/officeDocument/2006/relationships/tags" Target="../tags/tag69.xml"/><Relationship Id="rId4" Type="http://schemas.openxmlformats.org/officeDocument/2006/relationships/image" Target="../media/image1.png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635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3" name="图片 2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type="body" idx="2"/>
            <p:custDataLst>
              <p:tags r:id="rId12"/>
            </p:custDataLst>
          </p:nvPr>
        </p:nvSpPr>
        <p:spPr>
          <a:xfrm>
            <a:off x="1929130" y="3429000"/>
            <a:ext cx="8334375" cy="43299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929130" y="1586230"/>
            <a:ext cx="8334375" cy="16764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cxnSp>
        <p:nvCxnSpPr>
          <p:cNvPr id="47" name="直接连接符 46"/>
          <p:cNvCxnSpPr/>
          <p:nvPr userDrawn="1">
            <p:custDataLst>
              <p:tags r:id="rId7"/>
            </p:custDataLst>
          </p:nvPr>
        </p:nvCxnSpPr>
        <p:spPr>
          <a:xfrm>
            <a:off x="2482182" y="1122981"/>
            <a:ext cx="96132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854243" y="699376"/>
            <a:ext cx="2656708" cy="831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0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  <p:sp>
        <p:nvSpPr>
          <p:cNvPr id="57" name="燕尾形 56"/>
          <p:cNvSpPr/>
          <p:nvPr userDrawn="1">
            <p:custDataLst>
              <p:tags r:id="rId7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8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2500489" y="2426407"/>
            <a:ext cx="7191021" cy="6430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800" b="1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2500630" y="3180080"/>
            <a:ext cx="7190740" cy="1405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1" u="none" strike="noStrike" kern="1200" cap="none" spc="30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 algn="ctr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1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BMWGroupTN Condensed TT Medium" charset="0"/>
            </a:endParaRPr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69"/>
            <a:ext cx="12192000" cy="691343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95" y="5955632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2116" y="5987716"/>
            <a:ext cx="4559968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823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900" y="505460"/>
            <a:ext cx="185420" cy="18478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2233930" y="1696085"/>
            <a:ext cx="7724140" cy="2343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BMWGroupTN Condensed TT Medium" charset="0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 err="1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5291323" y="5744812"/>
            <a:ext cx="1609354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BMWGroupTN Condensed TT Medium" charset="0"/>
              </a:defRPr>
            </a:lvl1pPr>
          </a:lstStyle>
          <a:p>
            <a:pPr lvl="0" algn="ctr"/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8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2"/>
            </p:custDataLst>
          </p:nvPr>
        </p:nvSpPr>
        <p:spPr>
          <a:xfrm>
            <a:off x="0" y="-55245"/>
            <a:ext cx="12191365" cy="691261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13"/>
            </p:custDataLst>
          </p:nvPr>
        </p:nvCxnSpPr>
        <p:spPr>
          <a:xfrm flipV="1">
            <a:off x="583974" y="0"/>
            <a:ext cx="0" cy="644044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直接连接符 8"/>
          <p:cNvCxnSpPr/>
          <p:nvPr userDrawn="1">
            <p:custDataLst>
              <p:tags r:id="rId14"/>
            </p:custDataLst>
          </p:nvPr>
        </p:nvCxnSpPr>
        <p:spPr>
          <a:xfrm flipV="1">
            <a:off x="405554" y="0"/>
            <a:ext cx="0" cy="805603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BMWGroupTN Condensed TT Medium" charset="0"/>
                <a:ea typeface="BMWGroupTN Condensed TT Medium" charset="0"/>
                <a:cs typeface="BMWGroupTN Condensed TT Medium" charset="0"/>
              </a:defRPr>
            </a:lvl1pPr>
          </a:lstStyle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atin typeface="BMWGroupTN Condensed TT Medium" charset="0"/>
          <a:ea typeface="BMWGroupTN Condensed TT Medium" charset="0"/>
          <a:cs typeface="BMWGroupTN Condensed TT Medium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dirty="0">
          <a:ln>
            <a:noFill/>
            <a:prstDash val="sysDot"/>
          </a:ln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  <a:sym typeface="BMWGroupTN Condensed TT Medium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  <a:sym typeface="BMWGroupTN Condensed TT Medium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rgbClr val="FFFFFF"/>
          </a:solidFill>
          <a:uFillTx/>
          <a:latin typeface="BMWGroupTN Condensed TT Medium" charset="0"/>
          <a:ea typeface="BMWGroupTN Condensed TT Medium" charset="0"/>
          <a:cs typeface="BMWGroupTN Condensed TT Medium" charset="0"/>
          <a:sym typeface="BMWGroupTN Condensed TT Medium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2" Type="http://schemas.openxmlformats.org/officeDocument/2006/relationships/slideLayout" Target="../slideLayouts/slideLayout3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3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1976755" y="0"/>
            <a:ext cx="8334375" cy="842645"/>
          </a:xfrm>
        </p:spPr>
        <p:txBody>
          <a:bodyPr>
            <a:noAutofit/>
          </a:bodyPr>
          <a:lstStyle/>
          <a:p>
            <a:r>
              <a:rPr lang="en-US" altLang="zh-CN" sz="3600" b="1"/>
              <a:t>AI EASY OFFICE LEARNING CAMP</a:t>
            </a:r>
            <a:endParaRPr lang="en-US" altLang="zh-CN" sz="3600" b="1"/>
          </a:p>
        </p:txBody>
      </p:sp>
      <p:sp>
        <p:nvSpPr>
          <p:cNvPr id="6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10188" y="5735320"/>
            <a:ext cx="1571625" cy="41338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第六课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BMWGroupTN Condensed TT Medium" charset="0"/>
              <a:ea typeface="BMWGroupTN Condensed TT Medium" charset="0"/>
              <a:cs typeface="BMWGroupTN Condensed TT Medium" charset="0"/>
              <a:sym typeface="+mn-ea"/>
            </a:endParaRPr>
          </a:p>
        </p:txBody>
      </p:sp>
      <p:sp>
        <p:nvSpPr>
          <p:cNvPr id="8" name="标题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4510" y="1449070"/>
            <a:ext cx="11142980" cy="176466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7200" b="1" i="0" u="none" strike="noStrike" kern="1200" cap="none" spc="0" normalizeH="0" baseline="0" noProof="1">
                <a:solidFill>
                  <a:srgbClr val="FFFFFF"/>
                </a:solidFill>
                <a:effectLst>
                  <a:outerShdw blurRad="127000" dist="63500" dir="2700000" algn="tl" rotWithShape="0">
                    <a:schemeClr val="tx2">
                      <a:alpha val="2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4000">
                <a:cs typeface="BMWGroupTN Condensed TT Medium" charset="0"/>
                <a:sym typeface="+mn-ea"/>
              </a:rPr>
              <a:t>【</a:t>
            </a:r>
            <a:r>
              <a:rPr lang="en-US" altLang="zh-CN" sz="4000">
                <a:cs typeface="BMWGroupTN Condensed TT Medium" charset="0"/>
                <a:sym typeface="+mn-ea"/>
              </a:rPr>
              <a:t>Microsoft Copilot </a:t>
            </a:r>
            <a:r>
              <a:rPr lang="zh-CN" altLang="en-US" sz="4000">
                <a:cs typeface="BMWGroupTN Condensed TT Medium" charset="0"/>
                <a:sym typeface="+mn-ea"/>
              </a:rPr>
              <a:t>工作流】</a:t>
            </a:r>
            <a:endParaRPr lang="zh-CN" altLang="en-US" sz="4000">
              <a:cs typeface="BMWGroupTN Condensed TT Medium" charset="0"/>
              <a:sym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4000">
                <a:cs typeface="BMWGroupTN Condensed TT Medium" charset="0"/>
                <a:sym typeface="+mn-ea"/>
              </a:rPr>
              <a:t>文档协作新范式</a:t>
            </a:r>
            <a:r>
              <a:rPr lang="en-US" altLang="zh-CN" sz="4000">
                <a:cs typeface="BMWGroupTN Condensed TT Medium" charset="0"/>
                <a:sym typeface="+mn-ea"/>
              </a:rPr>
              <a:t>:</a:t>
            </a:r>
            <a:r>
              <a:rPr lang="en-US" sz="4000" dirty="0">
                <a:solidFill>
                  <a:schemeClr val="tx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从</a:t>
            </a:r>
            <a:r>
              <a:rPr lang="en-US" sz="40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"不好用"到"真有用"</a:t>
            </a:r>
            <a:endParaRPr lang="en-US" altLang="en-US" sz="40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3564255"/>
            <a:ext cx="1219073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BMWGroupTN Condensed TT Medium" charset="0"/>
                <a:cs typeface="BMWGroupTN Condensed TT Medium" charset="0"/>
              </a:rPr>
              <a:t>【</a:t>
            </a:r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BMWGroupTN Condensed TT Medium" charset="0"/>
              </a:rPr>
              <a:t>Microsoft Copilot Workflow</a:t>
            </a:r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BMWGroupTN Condensed TT Medium" charset="0"/>
                <a:cs typeface="BMWGroupTN Condensed TT Medium" charset="0"/>
                <a:sym typeface="+mn-ea"/>
              </a:rPr>
              <a:t>】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BMWGroupTN Condensed TT Medium" charset="0"/>
              <a:cs typeface="BMWGroupTN Condensed TT Medium" charset="0"/>
              <a:sym typeface="+mn-ea"/>
            </a:endParaRPr>
          </a:p>
          <a:p>
            <a:pPr algn="ctr"/>
            <a:r>
              <a:rPr lang="en-US" altLang="zh-CN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BMWGroupTN Condensed TT Medium" charset="0"/>
              </a:rPr>
              <a:t> A New Paradigm for Document Collaboration: From Outline Generation to Deep Polishing</a:t>
            </a:r>
            <a:endParaRPr lang="en-US" altLang="zh-CN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BMWGroupTN Condensed TT Medium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8" name="序号"/>
          <p:cNvSpPr txBox="1"/>
          <p:nvPr>
            <p:custDataLst>
              <p:tags r:id="rId2"/>
            </p:custDataLst>
          </p:nvPr>
        </p:nvSpPr>
        <p:spPr>
          <a:xfrm>
            <a:off x="369069" y="1946860"/>
            <a:ext cx="720000" cy="72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+mj-lt"/>
                <a:ea typeface="BMWGroupTN Condensed TT Medium" charset="0"/>
                <a:cs typeface="BMWGroupTN Condensed TT Medium" charset="0"/>
              </a:rPr>
              <a:t>01</a:t>
            </a:r>
            <a:endParaRPr lang="en-US" sz="2800" dirty="0">
              <a:solidFill>
                <a:schemeClr val="accent1"/>
              </a:solidFill>
              <a:latin typeface="+mj-lt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24" name="标题"/>
          <p:cNvSpPr txBox="1"/>
          <p:nvPr>
            <p:custDataLst>
              <p:tags r:id="rId3"/>
            </p:custDataLst>
          </p:nvPr>
        </p:nvSpPr>
        <p:spPr>
          <a:xfrm>
            <a:off x="931545" y="2912110"/>
            <a:ext cx="1245870" cy="10737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>
              <a:defRPr sz="2400" i="1" spc="30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2000" dirty="0">
                <a:cs typeface="BMWGroupTN Condensed TT Medium" charset="0"/>
              </a:rPr>
              <a:t>痛点共鸣</a:t>
            </a:r>
            <a:endParaRPr lang="zh-CN" altLang="en-US" sz="2000" dirty="0">
              <a:cs typeface="BMWGroupTN Condensed TT Medium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为什么 Copilot 生成内容"没法用"？</a:t>
            </a:r>
            <a:endParaRPr lang="en-US" sz="2000" dirty="0">
              <a:solidFill>
                <a:schemeClr val="tx1"/>
              </a:solidFill>
              <a:cs typeface="BMWGroupTN Condensed TT Medium" charset="0"/>
            </a:endParaRPr>
          </a:p>
          <a:p>
            <a:endParaRPr lang="en-US" altLang="en-US" sz="2000" dirty="0">
              <a:solidFill>
                <a:schemeClr val="tx1"/>
              </a:solidFill>
              <a:cs typeface="BMWGroupTN Condensed TT Medium" charset="0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4"/>
            </p:custDataLst>
          </p:nvPr>
        </p:nvCxnSpPr>
        <p:spPr>
          <a:xfrm>
            <a:off x="737227" y="2666860"/>
            <a:ext cx="0" cy="2791326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序号"/>
          <p:cNvSpPr txBox="1"/>
          <p:nvPr>
            <p:custDataLst>
              <p:tags r:id="rId5"/>
            </p:custDataLst>
          </p:nvPr>
        </p:nvSpPr>
        <p:spPr>
          <a:xfrm>
            <a:off x="2348394" y="2553061"/>
            <a:ext cx="720000" cy="72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+mj-lt"/>
                <a:ea typeface="BMWGroupTN Condensed TT Medium" charset="0"/>
                <a:cs typeface="BMWGroupTN Condensed TT Medium" charset="0"/>
              </a:rPr>
              <a:t>02</a:t>
            </a:r>
            <a:endParaRPr lang="en-US" sz="2800" dirty="0">
              <a:solidFill>
                <a:schemeClr val="accent1"/>
              </a:solidFill>
              <a:latin typeface="+mj-lt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31" name="标题"/>
          <p:cNvSpPr txBox="1"/>
          <p:nvPr>
            <p:custDataLst>
              <p:tags r:id="rId6"/>
            </p:custDataLst>
          </p:nvPr>
        </p:nvSpPr>
        <p:spPr>
          <a:xfrm>
            <a:off x="2817495" y="3510915"/>
            <a:ext cx="1783715" cy="19627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>
              <a:defRPr sz="2400" i="1" spc="30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2000" dirty="0">
                <a:cs typeface="BMWGroupTN Condensed TT Medium" charset="0"/>
              </a:rPr>
              <a:t>四场景对比</a:t>
            </a:r>
            <a:endParaRPr lang="zh-CN" altLang="en-US" sz="2000" dirty="0">
              <a:cs typeface="BMWGroupTN Condensed TT Medium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PPT/Excel  Word/邮件实战案例</a:t>
            </a:r>
            <a:endParaRPr lang="en-US" sz="1800" dirty="0">
              <a:solidFill>
                <a:schemeClr val="tx1"/>
              </a:solidFill>
              <a:cs typeface="BMWGroupTN Condensed TT Medium" charset="0"/>
            </a:endParaRPr>
          </a:p>
          <a:p>
            <a:r>
              <a:rPr lang="en-US" altLang="zh-CN" sz="2000" dirty="0">
                <a:cs typeface="BMWGroupTN Condensed TT Medium" charset="0"/>
              </a:rPr>
              <a:t> </a:t>
            </a:r>
            <a:endParaRPr lang="en-US" altLang="zh-CN" sz="2000" dirty="0">
              <a:cs typeface="BMWGroupTN Condensed TT Medium" charset="0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7"/>
            </p:custDataLst>
          </p:nvPr>
        </p:nvCxnSpPr>
        <p:spPr>
          <a:xfrm>
            <a:off x="2716552" y="3273061"/>
            <a:ext cx="0" cy="2791326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序号"/>
          <p:cNvSpPr txBox="1"/>
          <p:nvPr>
            <p:custDataLst>
              <p:tags r:id="rId8"/>
            </p:custDataLst>
          </p:nvPr>
        </p:nvSpPr>
        <p:spPr>
          <a:xfrm>
            <a:off x="4209075" y="1946860"/>
            <a:ext cx="720000" cy="72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+mj-lt"/>
                <a:ea typeface="BMWGroupTN Condensed TT Medium" charset="0"/>
                <a:cs typeface="BMWGroupTN Condensed TT Medium" charset="0"/>
              </a:rPr>
              <a:t>03</a:t>
            </a:r>
            <a:endParaRPr lang="en-US" sz="2800" dirty="0">
              <a:solidFill>
                <a:schemeClr val="accent1"/>
              </a:solidFill>
              <a:latin typeface="+mj-lt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37" name="标题"/>
          <p:cNvSpPr txBox="1"/>
          <p:nvPr>
            <p:custDataLst>
              <p:tags r:id="rId9"/>
            </p:custDataLst>
          </p:nvPr>
        </p:nvSpPr>
        <p:spPr>
          <a:xfrm>
            <a:off x="4763876" y="2912317"/>
            <a:ext cx="1627929" cy="19625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>
              <a:defRPr sz="2400" i="1" spc="30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</a:lstStyle>
          <a:p>
            <a:r>
              <a:rPr lang="en-US" altLang="zh-CN" sz="2000" dirty="0">
                <a:cs typeface="BMWGroupTN Condensed TT Medium" charset="0"/>
              </a:rPr>
              <a:t>Prompt </a:t>
            </a:r>
            <a:r>
              <a:rPr lang="zh-CN" altLang="en-US" sz="2000" dirty="0">
                <a:cs typeface="BMWGroupTN Condensed TT Medium" charset="0"/>
              </a:rPr>
              <a:t>金字塔</a:t>
            </a:r>
            <a:endParaRPr lang="zh-CN" altLang="en-US" sz="2000" dirty="0">
              <a:cs typeface="BMWGroupTN Condensed TT Medium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核心模型与万能公式</a:t>
            </a:r>
            <a:endParaRPr lang="en-US" sz="1800" dirty="0">
              <a:solidFill>
                <a:schemeClr val="tx1"/>
              </a:solidFill>
              <a:cs typeface="BMWGroupTN Condensed TT Medium" charset="0"/>
            </a:endParaRPr>
          </a:p>
          <a:p>
            <a:endParaRPr lang="en-US" altLang="en-US" sz="1800" dirty="0">
              <a:solidFill>
                <a:schemeClr val="tx1"/>
              </a:solidFill>
              <a:cs typeface="BMWGroupTN Condensed TT Medium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0"/>
            </p:custDataLst>
          </p:nvPr>
        </p:nvCxnSpPr>
        <p:spPr>
          <a:xfrm>
            <a:off x="4577233" y="2666860"/>
            <a:ext cx="0" cy="2791326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组合 5"/>
          <p:cNvGrpSpPr/>
          <p:nvPr>
            <p:custDataLst>
              <p:tags r:id="rId11"/>
            </p:custDataLst>
          </p:nvPr>
        </p:nvGrpSpPr>
        <p:grpSpPr>
          <a:xfrm>
            <a:off x="6313170" y="2662555"/>
            <a:ext cx="2007870" cy="3511550"/>
            <a:chOff x="12317" y="4322"/>
            <a:chExt cx="3162" cy="5530"/>
          </a:xfrm>
        </p:grpSpPr>
        <p:sp>
          <p:nvSpPr>
            <p:cNvPr id="46" name="序号"/>
            <p:cNvSpPr txBox="1"/>
            <p:nvPr>
              <p:custDataLst>
                <p:tags r:id="rId12"/>
              </p:custDataLst>
            </p:nvPr>
          </p:nvSpPr>
          <p:spPr>
            <a:xfrm>
              <a:off x="12317" y="4322"/>
              <a:ext cx="1134" cy="113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accent1"/>
                  </a:solidFill>
                  <a:latin typeface="+mj-lt"/>
                  <a:ea typeface="BMWGroupTN Condensed TT Medium" charset="0"/>
                  <a:cs typeface="BMWGroupTN Condensed TT Medium" charset="0"/>
                </a:rPr>
                <a:t>04</a:t>
              </a:r>
              <a:endParaRPr lang="en-US" sz="2800" dirty="0">
                <a:solidFill>
                  <a:schemeClr val="accent1"/>
                </a:solidFill>
                <a:latin typeface="+mj-lt"/>
                <a:ea typeface="BMWGroupTN Condensed TT Medium" charset="0"/>
                <a:cs typeface="BMWGroupTN Condensed TT Medium" charset="0"/>
              </a:endParaRPr>
            </a:p>
          </p:txBody>
        </p:sp>
        <p:sp>
          <p:nvSpPr>
            <p:cNvPr id="49" name="标题"/>
            <p:cNvSpPr txBox="1"/>
            <p:nvPr>
              <p:custDataLst>
                <p:tags r:id="rId13"/>
              </p:custDataLst>
            </p:nvPr>
          </p:nvSpPr>
          <p:spPr>
            <a:xfrm>
              <a:off x="12958" y="5959"/>
              <a:ext cx="2521" cy="309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zh-CN"/>
              </a:defPPr>
              <a:lvl1pPr>
                <a:defRPr sz="2400" i="1" spc="300">
                  <a:gradFill>
                    <a:gsLst>
                      <a:gs pos="0">
                        <a:schemeClr val="accent1">
                          <a:lumMod val="20000"/>
                          <a:lumOff val="8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</a:lstStyle>
            <a:p>
              <a:r>
                <a:rPr lang="zh-CN" altLang="en-US" sz="2000" dirty="0">
                  <a:cs typeface="BMWGroupTN Condensed TT Medium" charset="0"/>
                </a:rPr>
                <a:t>万能生成器</a:t>
              </a:r>
              <a:endParaRPr lang="zh-CN" altLang="en-US" sz="2000" dirty="0">
                <a:cs typeface="BMWGroupTN Condensed TT Medium" charset="0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BMWGroupTN Condensed TT Medium" charset="0"/>
                  <a:ea typeface="BMWGroupTN Condensed TT Medium" charset="0"/>
                  <a:cs typeface="BMWGroupTN Condensed TT Medium" charset="0"/>
                  <a:sym typeface="+mn-ea"/>
                </a:rPr>
                <a:t>多轮交互模板</a:t>
              </a:r>
              <a:endParaRPr lang="en-US" sz="1800" dirty="0">
                <a:solidFill>
                  <a:schemeClr val="tx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endParaRPr>
            </a:p>
            <a:p>
              <a:r>
                <a:rPr lang="en-US" sz="1800" dirty="0">
                  <a:solidFill>
                    <a:schemeClr val="tx1"/>
                  </a:solidFill>
                  <a:latin typeface="BMWGroupTN Condensed TT Medium" charset="0"/>
                  <a:ea typeface="BMWGroupTN Condensed TT Medium" charset="0"/>
                  <a:cs typeface="BMWGroupTN Condensed TT Medium" charset="0"/>
                  <a:sym typeface="+mn-ea"/>
                </a:rPr>
                <a:t>（附赠）</a:t>
              </a:r>
              <a:endParaRPr lang="en-US" sz="1800" dirty="0">
                <a:solidFill>
                  <a:schemeClr val="tx1"/>
                </a:solidFill>
                <a:cs typeface="BMWGroupTN Condensed TT Medium" charset="0"/>
              </a:endParaRPr>
            </a:p>
            <a:p>
              <a:endParaRPr lang="en-US" altLang="en-US" sz="1800" dirty="0">
                <a:solidFill>
                  <a:schemeClr val="tx1"/>
                </a:solidFill>
                <a:cs typeface="BMWGroupTN Condensed TT Medium" charset="0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4"/>
              </p:custDataLst>
            </p:nvPr>
          </p:nvCxnSpPr>
          <p:spPr>
            <a:xfrm>
              <a:off x="12897" y="5456"/>
              <a:ext cx="0" cy="4396"/>
            </a:xfrm>
            <a:prstGeom prst="line">
              <a:avLst/>
            </a:prstGeom>
            <a:noFill/>
            <a:ln w="2222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8087360" y="2080895"/>
            <a:ext cx="2108835" cy="3511550"/>
            <a:chOff x="12441" y="4438"/>
            <a:chExt cx="3321" cy="5530"/>
          </a:xfrm>
        </p:grpSpPr>
        <p:sp>
          <p:nvSpPr>
            <p:cNvPr id="8" name="序号"/>
            <p:cNvSpPr txBox="1"/>
            <p:nvPr>
              <p:custDataLst>
                <p:tags r:id="rId15"/>
              </p:custDataLst>
            </p:nvPr>
          </p:nvSpPr>
          <p:spPr>
            <a:xfrm>
              <a:off x="12441" y="4438"/>
              <a:ext cx="1134" cy="113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accent1"/>
                  </a:solidFill>
                  <a:latin typeface="+mj-lt"/>
                  <a:ea typeface="BMWGroupTN Condensed TT Medium" charset="0"/>
                  <a:cs typeface="BMWGroupTN Condensed TT Medium" charset="0"/>
                </a:rPr>
                <a:t>05</a:t>
              </a:r>
              <a:endParaRPr lang="en-US" sz="2800" dirty="0">
                <a:solidFill>
                  <a:schemeClr val="accent1"/>
                </a:solidFill>
                <a:latin typeface="+mj-lt"/>
                <a:ea typeface="BMWGroupTN Condensed TT Medium" charset="0"/>
                <a:cs typeface="BMWGroupTN Condensed TT Medium" charset="0"/>
              </a:endParaRPr>
            </a:p>
          </p:txBody>
        </p:sp>
        <p:sp>
          <p:nvSpPr>
            <p:cNvPr id="9" name="标题"/>
            <p:cNvSpPr txBox="1"/>
            <p:nvPr>
              <p:custDataLst>
                <p:tags r:id="rId16"/>
              </p:custDataLst>
            </p:nvPr>
          </p:nvSpPr>
          <p:spPr>
            <a:xfrm>
              <a:off x="13326" y="5959"/>
              <a:ext cx="2436" cy="309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zh-CN"/>
              </a:defPPr>
              <a:lvl1pPr>
                <a:defRPr sz="2400" i="1" spc="300">
                  <a:gradFill>
                    <a:gsLst>
                      <a:gs pos="0">
                        <a:schemeClr val="accent1">
                          <a:lumMod val="20000"/>
                          <a:lumOff val="8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</a:lstStyle>
            <a:p>
              <a:r>
                <a:rPr lang="zh-CN" altLang="en-US" sz="2000" dirty="0">
                  <a:cs typeface="BMWGroupTN Condensed TT Medium" charset="0"/>
                </a:rPr>
                <a:t>避坑与高阶技巧</a:t>
              </a:r>
              <a:endParaRPr lang="zh-CN" altLang="en-US" sz="2000" dirty="0">
                <a:cs typeface="BMWGroupTN Condensed TT Medium" charset="0"/>
              </a:endParaRPr>
            </a:p>
            <a:p>
              <a:r>
                <a:rPr lang="en-US" sz="2000" dirty="0">
                  <a:solidFill>
                    <a:schemeClr val="tx1"/>
                  </a:solidFill>
                  <a:latin typeface="BMWGroupTN Condensed TT Medium" charset="0"/>
                  <a:ea typeface="BMWGroupTN Condensed TT Medium" charset="0"/>
                  <a:cs typeface="BMWGroupTN Condensed TT Medium" charset="0"/>
                  <a:sym typeface="+mn-ea"/>
                </a:rPr>
                <a:t>常见陷阱与纠正方法</a:t>
              </a:r>
              <a:endParaRPr lang="en-US" sz="2000" dirty="0">
                <a:solidFill>
                  <a:schemeClr val="tx1"/>
                </a:solidFill>
                <a:cs typeface="BMWGroupTN Condensed TT Medium" charset="0"/>
              </a:endParaRPr>
            </a:p>
            <a:p>
              <a:endParaRPr lang="en-US" altLang="en-US" sz="2000" dirty="0">
                <a:solidFill>
                  <a:schemeClr val="tx1"/>
                </a:solidFill>
                <a:cs typeface="BMWGroupTN Condensed TT Medium" charset="0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17"/>
              </p:custDataLst>
            </p:nvPr>
          </p:nvCxnSpPr>
          <p:spPr>
            <a:xfrm>
              <a:off x="13021" y="5572"/>
              <a:ext cx="0" cy="4396"/>
            </a:xfrm>
            <a:prstGeom prst="line">
              <a:avLst/>
            </a:prstGeom>
            <a:noFill/>
            <a:ln w="2222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9799320" y="1962150"/>
            <a:ext cx="2108835" cy="3511550"/>
            <a:chOff x="12441" y="4438"/>
            <a:chExt cx="3321" cy="5530"/>
          </a:xfrm>
        </p:grpSpPr>
        <p:sp>
          <p:nvSpPr>
            <p:cNvPr id="4" name="序号"/>
            <p:cNvSpPr txBox="1"/>
            <p:nvPr>
              <p:custDataLst>
                <p:tags r:id="rId18"/>
              </p:custDataLst>
            </p:nvPr>
          </p:nvSpPr>
          <p:spPr>
            <a:xfrm>
              <a:off x="12441" y="4438"/>
              <a:ext cx="1134" cy="113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accent1"/>
                  </a:solidFill>
                  <a:latin typeface="+mj-lt"/>
                  <a:ea typeface="BMWGroupTN Condensed TT Medium" charset="0"/>
                  <a:cs typeface="BMWGroupTN Condensed TT Medium" charset="0"/>
                </a:rPr>
                <a:t>06</a:t>
              </a:r>
              <a:endParaRPr lang="en-US" sz="2800" dirty="0">
                <a:solidFill>
                  <a:schemeClr val="accent1"/>
                </a:solidFill>
                <a:latin typeface="+mj-lt"/>
                <a:ea typeface="BMWGroupTN Condensed TT Medium" charset="0"/>
                <a:cs typeface="BMWGroupTN Condensed TT Medium" charset="0"/>
              </a:endParaRPr>
            </a:p>
          </p:txBody>
        </p:sp>
        <p:sp>
          <p:nvSpPr>
            <p:cNvPr id="5" name="标题"/>
            <p:cNvSpPr txBox="1"/>
            <p:nvPr>
              <p:custDataLst>
                <p:tags r:id="rId19"/>
              </p:custDataLst>
            </p:nvPr>
          </p:nvSpPr>
          <p:spPr>
            <a:xfrm>
              <a:off x="13326" y="5959"/>
              <a:ext cx="2436" cy="309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zh-CN"/>
              </a:defPPr>
              <a:lvl1pPr>
                <a:defRPr sz="2400" i="1" spc="300">
                  <a:gradFill>
                    <a:gsLst>
                      <a:gs pos="0">
                        <a:schemeClr val="accent1">
                          <a:lumMod val="20000"/>
                          <a:lumOff val="8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</a:lstStyle>
            <a:p>
              <a:r>
                <a:rPr lang="zh-CN" altLang="en-US" sz="2000" dirty="0">
                  <a:cs typeface="BMWGroupTN Condensed TT Medium" charset="0"/>
                </a:rPr>
                <a:t>总结行动</a:t>
              </a:r>
              <a:endParaRPr lang="zh-CN" altLang="en-US" sz="2000" dirty="0">
                <a:cs typeface="BMWGroupTN Condensed TT Medium" charset="0"/>
              </a:endParaRPr>
            </a:p>
            <a:p>
              <a:endParaRPr lang="zh-CN" altLang="en-US" sz="2000" dirty="0">
                <a:cs typeface="BMWGroupTN Condensed TT Medium" charset="0"/>
              </a:endParaRPr>
            </a:p>
            <a:p>
              <a:r>
                <a:rPr lang="en-US" sz="2000" dirty="0">
                  <a:solidFill>
                    <a:schemeClr val="tx1"/>
                  </a:solidFill>
                  <a:latin typeface="BMWGroupTN Condensed TT Medium" charset="0"/>
                  <a:ea typeface="BMWGroupTN Condensed TT Medium" charset="0"/>
                  <a:cs typeface="BMWGroupTN Condensed TT Medium" charset="0"/>
                  <a:sym typeface="+mn-ea"/>
                </a:rPr>
                <a:t>核心要点与后续支持</a:t>
              </a:r>
              <a:endParaRPr lang="en-US" sz="2000" dirty="0">
                <a:solidFill>
                  <a:schemeClr val="tx1"/>
                </a:solidFill>
                <a:cs typeface="BMWGroupTN Condensed TT Medium" charset="0"/>
              </a:endParaRPr>
            </a:p>
            <a:p>
              <a:endParaRPr lang="en-US" altLang="en-US" sz="2000" dirty="0">
                <a:solidFill>
                  <a:schemeClr val="tx1"/>
                </a:solidFill>
                <a:cs typeface="BMWGroupTN Condensed TT Medium" charset="0"/>
              </a:endParaRPr>
            </a:p>
          </p:txBody>
        </p:sp>
        <p:cxnSp>
          <p:nvCxnSpPr>
            <p:cNvPr id="11" name="直接连接符 10"/>
            <p:cNvCxnSpPr/>
            <p:nvPr>
              <p:custDataLst>
                <p:tags r:id="rId20"/>
              </p:custDataLst>
            </p:nvPr>
          </p:nvCxnSpPr>
          <p:spPr>
            <a:xfrm>
              <a:off x="13021" y="5572"/>
              <a:ext cx="0" cy="4396"/>
            </a:xfrm>
            <a:prstGeom prst="line">
              <a:avLst/>
            </a:prstGeom>
            <a:noFill/>
            <a:ln w="22225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ONE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1201738" y="3180080"/>
            <a:ext cx="9788525" cy="1405255"/>
          </a:xfrm>
        </p:spPr>
        <p:txBody>
          <a:bodyPr>
            <a:noAutofit/>
          </a:bodyPr>
          <a:lstStyle/>
          <a:p>
            <a:r>
              <a:rPr lang="zh-CN" altLang="en-US" sz="4800">
                <a:sym typeface="+mn-ea"/>
              </a:rPr>
              <a:t>痛点共鸣</a:t>
            </a:r>
            <a:br>
              <a:rPr lang="zh-CN" altLang="en-US" sz="4800">
                <a:sym typeface="+mn-ea"/>
              </a:rPr>
            </a:br>
            <a:r>
              <a:rPr sz="4800">
                <a:sym typeface="+mn-ea"/>
              </a:rPr>
              <a:t>为什么 Copilot 生成内容"没法用"？</a:t>
            </a:r>
            <a:endParaRPr lang="zh-CN" altLang="en-US" sz="48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痛点共鸣：你遇到过这些情况吗？</a:t>
            </a:r>
            <a:endParaRPr lang="zh-CN" altLang="en-US"/>
          </a:p>
        </p:txBody>
      </p:sp>
      <p:sp>
        <p:nvSpPr>
          <p:cNvPr id="90" name="Shape 3"/>
          <p:cNvSpPr/>
          <p:nvPr/>
        </p:nvSpPr>
        <p:spPr>
          <a:xfrm>
            <a:off x="385763" y="1427163"/>
            <a:ext cx="5610225" cy="2066925"/>
          </a:xfrm>
          <a:custGeom>
            <a:avLst/>
            <a:gdLst/>
            <a:ahLst/>
            <a:cxnLst/>
            <a:rect l="l" t="t" r="r" b="b"/>
            <a:pathLst>
              <a:path w="5610225" h="2066925">
                <a:moveTo>
                  <a:pt x="76208" y="0"/>
                </a:moveTo>
                <a:lnTo>
                  <a:pt x="5534017" y="0"/>
                </a:lnTo>
                <a:cubicBezTo>
                  <a:pt x="5576106" y="0"/>
                  <a:pt x="5610225" y="34119"/>
                  <a:pt x="5610225" y="76208"/>
                </a:cubicBezTo>
                <a:lnTo>
                  <a:pt x="5610225" y="1990717"/>
                </a:lnTo>
                <a:cubicBezTo>
                  <a:pt x="5610225" y="2032806"/>
                  <a:pt x="5576106" y="2066925"/>
                  <a:pt x="5534017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1" name="Shape 4"/>
          <p:cNvSpPr/>
          <p:nvPr/>
        </p:nvSpPr>
        <p:spPr>
          <a:xfrm>
            <a:off x="619125" y="1660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92" name="Shape 5"/>
          <p:cNvSpPr/>
          <p:nvPr/>
        </p:nvSpPr>
        <p:spPr>
          <a:xfrm>
            <a:off x="762000" y="17748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7866" y="114300"/>
                </a:moveTo>
                <a:cubicBezTo>
                  <a:pt x="61927" y="114300"/>
                  <a:pt x="57150" y="119077"/>
                  <a:pt x="57150" y="125016"/>
                </a:cubicBezTo>
                <a:lnTo>
                  <a:pt x="57150" y="189309"/>
                </a:lnTo>
                <a:cubicBezTo>
                  <a:pt x="57150" y="195248"/>
                  <a:pt x="61927" y="200025"/>
                  <a:pt x="67866" y="200025"/>
                </a:cubicBezTo>
                <a:cubicBezTo>
                  <a:pt x="73804" y="200025"/>
                  <a:pt x="78581" y="195248"/>
                  <a:pt x="78581" y="189309"/>
                </a:cubicBezTo>
                <a:lnTo>
                  <a:pt x="78581" y="178594"/>
                </a:lnTo>
                <a:lnTo>
                  <a:pt x="89297" y="178594"/>
                </a:lnTo>
                <a:cubicBezTo>
                  <a:pt x="107067" y="178594"/>
                  <a:pt x="121444" y="164217"/>
                  <a:pt x="121444" y="146447"/>
                </a:cubicBezTo>
                <a:cubicBezTo>
                  <a:pt x="121444" y="128677"/>
                  <a:pt x="107067" y="114300"/>
                  <a:pt x="89297" y="114300"/>
                </a:cubicBezTo>
                <a:lnTo>
                  <a:pt x="67866" y="114300"/>
                </a:lnTo>
                <a:close/>
                <a:moveTo>
                  <a:pt x="89297" y="157163"/>
                </a:moveTo>
                <a:lnTo>
                  <a:pt x="78581" y="157163"/>
                </a:lnTo>
                <a:lnTo>
                  <a:pt x="78581" y="135731"/>
                </a:lnTo>
                <a:lnTo>
                  <a:pt x="89297" y="135731"/>
                </a:lnTo>
                <a:cubicBezTo>
                  <a:pt x="95235" y="135731"/>
                  <a:pt x="100013" y="140509"/>
                  <a:pt x="100013" y="146447"/>
                </a:cubicBezTo>
                <a:cubicBezTo>
                  <a:pt x="100013" y="152385"/>
                  <a:pt x="95235" y="157163"/>
                  <a:pt x="89297" y="157163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93" name="Text 6"/>
          <p:cNvSpPr/>
          <p:nvPr/>
        </p:nvSpPr>
        <p:spPr>
          <a:xfrm>
            <a:off x="1190625" y="1736725"/>
            <a:ext cx="10572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生成 PPT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638175" y="2308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95" name="Text 8"/>
          <p:cNvSpPr/>
          <p:nvPr/>
        </p:nvSpPr>
        <p:spPr>
          <a:xfrm>
            <a:off x="923925" y="2270125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排版混乱，视觉层次不清晰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638175" y="2670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97" name="Text 10"/>
          <p:cNvSpPr/>
          <p:nvPr/>
        </p:nvSpPr>
        <p:spPr>
          <a:xfrm>
            <a:off x="923925" y="2632075"/>
            <a:ext cx="20002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风格像 10 年前，缺乏品牌感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8" name="Shape 11"/>
          <p:cNvSpPr/>
          <p:nvPr/>
        </p:nvSpPr>
        <p:spPr>
          <a:xfrm>
            <a:off x="638175" y="3032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99" name="Text 12"/>
          <p:cNvSpPr/>
          <p:nvPr/>
        </p:nvSpPr>
        <p:spPr>
          <a:xfrm>
            <a:off x="923925" y="2994025"/>
            <a:ext cx="1600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只有大纲没有深度洞察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6196013" y="1427163"/>
            <a:ext cx="5610225" cy="2066925"/>
          </a:xfrm>
          <a:custGeom>
            <a:avLst/>
            <a:gdLst/>
            <a:ahLst/>
            <a:cxnLst/>
            <a:rect l="l" t="t" r="r" b="b"/>
            <a:pathLst>
              <a:path w="5610225" h="2066925">
                <a:moveTo>
                  <a:pt x="76208" y="0"/>
                </a:moveTo>
                <a:lnTo>
                  <a:pt x="5534017" y="0"/>
                </a:lnTo>
                <a:cubicBezTo>
                  <a:pt x="5576106" y="0"/>
                  <a:pt x="5610225" y="34119"/>
                  <a:pt x="5610225" y="76208"/>
                </a:cubicBezTo>
                <a:lnTo>
                  <a:pt x="5610225" y="1990717"/>
                </a:lnTo>
                <a:cubicBezTo>
                  <a:pt x="5610225" y="2032806"/>
                  <a:pt x="5576106" y="2066925"/>
                  <a:pt x="5534017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1" name="Shape 14"/>
          <p:cNvSpPr/>
          <p:nvPr/>
        </p:nvSpPr>
        <p:spPr>
          <a:xfrm>
            <a:off x="6429375" y="1660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A526">
              <a:alpha val="20000"/>
            </a:srgbClr>
          </a:solidFill>
        </p:spPr>
      </p:sp>
      <p:sp>
        <p:nvSpPr>
          <p:cNvPr id="102" name="Shape 15"/>
          <p:cNvSpPr/>
          <p:nvPr/>
        </p:nvSpPr>
        <p:spPr>
          <a:xfrm>
            <a:off x="6572250" y="17748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73223" y="119077"/>
                </a:moveTo>
                <a:cubicBezTo>
                  <a:pt x="69919" y="114166"/>
                  <a:pt x="63267" y="112827"/>
                  <a:pt x="58356" y="116086"/>
                </a:cubicBezTo>
                <a:cubicBezTo>
                  <a:pt x="53444" y="119345"/>
                  <a:pt x="52105" y="126043"/>
                  <a:pt x="55364" y="130954"/>
                </a:cubicBezTo>
                <a:lnTo>
                  <a:pt x="72866" y="157163"/>
                </a:lnTo>
                <a:lnTo>
                  <a:pt x="55364" y="183371"/>
                </a:lnTo>
                <a:cubicBezTo>
                  <a:pt x="52060" y="188282"/>
                  <a:pt x="53400" y="194935"/>
                  <a:pt x="58356" y="198239"/>
                </a:cubicBezTo>
                <a:cubicBezTo>
                  <a:pt x="63311" y="201543"/>
                  <a:pt x="69919" y="200204"/>
                  <a:pt x="73223" y="195248"/>
                </a:cubicBezTo>
                <a:lnTo>
                  <a:pt x="85725" y="176495"/>
                </a:lnTo>
                <a:lnTo>
                  <a:pt x="98227" y="195248"/>
                </a:lnTo>
                <a:cubicBezTo>
                  <a:pt x="101531" y="200159"/>
                  <a:pt x="108183" y="201498"/>
                  <a:pt x="113094" y="198239"/>
                </a:cubicBezTo>
                <a:cubicBezTo>
                  <a:pt x="118006" y="194980"/>
                  <a:pt x="119345" y="188282"/>
                  <a:pt x="116086" y="183371"/>
                </a:cubicBezTo>
                <a:lnTo>
                  <a:pt x="98584" y="157163"/>
                </a:lnTo>
                <a:lnTo>
                  <a:pt x="116086" y="130954"/>
                </a:lnTo>
                <a:cubicBezTo>
                  <a:pt x="119390" y="126043"/>
                  <a:pt x="118050" y="119390"/>
                  <a:pt x="113094" y="116086"/>
                </a:cubicBezTo>
                <a:cubicBezTo>
                  <a:pt x="108139" y="112782"/>
                  <a:pt x="101531" y="114121"/>
                  <a:pt x="98227" y="119077"/>
                </a:cubicBezTo>
                <a:lnTo>
                  <a:pt x="85725" y="137830"/>
                </a:lnTo>
                <a:lnTo>
                  <a:pt x="73223" y="119077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03" name="Text 16"/>
          <p:cNvSpPr/>
          <p:nvPr/>
        </p:nvSpPr>
        <p:spPr>
          <a:xfrm>
            <a:off x="7000875" y="1736725"/>
            <a:ext cx="11906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生成 Excel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4" name="Shape 17"/>
          <p:cNvSpPr/>
          <p:nvPr/>
        </p:nvSpPr>
        <p:spPr>
          <a:xfrm>
            <a:off x="6448425" y="2308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05" name="Text 18"/>
          <p:cNvSpPr/>
          <p:nvPr/>
        </p:nvSpPr>
        <p:spPr>
          <a:xfrm>
            <a:off x="6734175" y="2270125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公式出错，计算逻辑混乱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6" name="Shape 19"/>
          <p:cNvSpPr/>
          <p:nvPr/>
        </p:nvSpPr>
        <p:spPr>
          <a:xfrm>
            <a:off x="6448425" y="2670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07" name="Text 20"/>
          <p:cNvSpPr/>
          <p:nvPr/>
        </p:nvSpPr>
        <p:spPr>
          <a:xfrm>
            <a:off x="6734175" y="2632075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没有结论，只有数据罗列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8" name="Shape 21"/>
          <p:cNvSpPr/>
          <p:nvPr/>
        </p:nvSpPr>
        <p:spPr>
          <a:xfrm>
            <a:off x="6448425" y="3032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09" name="Text 22"/>
          <p:cNvSpPr/>
          <p:nvPr/>
        </p:nvSpPr>
        <p:spPr>
          <a:xfrm>
            <a:off x="6734175" y="2994025"/>
            <a:ext cx="1295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格式无法直接使用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0" name="Shape 23"/>
          <p:cNvSpPr/>
          <p:nvPr/>
        </p:nvSpPr>
        <p:spPr>
          <a:xfrm>
            <a:off x="385763" y="3694113"/>
            <a:ext cx="5610225" cy="2066925"/>
          </a:xfrm>
          <a:custGeom>
            <a:avLst/>
            <a:gdLst/>
            <a:ahLst/>
            <a:cxnLst/>
            <a:rect l="l" t="t" r="r" b="b"/>
            <a:pathLst>
              <a:path w="5610225" h="2066925">
                <a:moveTo>
                  <a:pt x="76208" y="0"/>
                </a:moveTo>
                <a:lnTo>
                  <a:pt x="5534017" y="0"/>
                </a:lnTo>
                <a:cubicBezTo>
                  <a:pt x="5576106" y="0"/>
                  <a:pt x="5610225" y="34119"/>
                  <a:pt x="5610225" y="76208"/>
                </a:cubicBezTo>
                <a:lnTo>
                  <a:pt x="5610225" y="1990717"/>
                </a:lnTo>
                <a:cubicBezTo>
                  <a:pt x="5610225" y="2032806"/>
                  <a:pt x="5576106" y="2066925"/>
                  <a:pt x="5534017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1" name="Shape 24"/>
          <p:cNvSpPr/>
          <p:nvPr/>
        </p:nvSpPr>
        <p:spPr>
          <a:xfrm>
            <a:off x="619125" y="3927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112" name="Shape 25"/>
          <p:cNvSpPr/>
          <p:nvPr/>
        </p:nvSpPr>
        <p:spPr>
          <a:xfrm>
            <a:off x="762000" y="40417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0454" y="122694"/>
                </a:moveTo>
                <a:cubicBezTo>
                  <a:pt x="59159" y="116934"/>
                  <a:pt x="53444" y="113273"/>
                  <a:pt x="47685" y="114568"/>
                </a:cubicBezTo>
                <a:cubicBezTo>
                  <a:pt x="41925" y="115863"/>
                  <a:pt x="38264" y="121578"/>
                  <a:pt x="39559" y="127337"/>
                </a:cubicBezTo>
                <a:lnTo>
                  <a:pt x="53846" y="191631"/>
                </a:lnTo>
                <a:cubicBezTo>
                  <a:pt x="54873" y="196319"/>
                  <a:pt x="58936" y="199757"/>
                  <a:pt x="63758" y="200025"/>
                </a:cubicBezTo>
                <a:cubicBezTo>
                  <a:pt x="68580" y="200293"/>
                  <a:pt x="72956" y="197301"/>
                  <a:pt x="74474" y="192703"/>
                </a:cubicBezTo>
                <a:lnTo>
                  <a:pt x="85725" y="158904"/>
                </a:lnTo>
                <a:lnTo>
                  <a:pt x="96976" y="192703"/>
                </a:lnTo>
                <a:cubicBezTo>
                  <a:pt x="98494" y="197257"/>
                  <a:pt x="102870" y="200248"/>
                  <a:pt x="107692" y="200025"/>
                </a:cubicBezTo>
                <a:cubicBezTo>
                  <a:pt x="112514" y="199802"/>
                  <a:pt x="116577" y="196364"/>
                  <a:pt x="117604" y="191631"/>
                </a:cubicBezTo>
                <a:lnTo>
                  <a:pt x="131891" y="127337"/>
                </a:lnTo>
                <a:cubicBezTo>
                  <a:pt x="133186" y="121578"/>
                  <a:pt x="129525" y="115818"/>
                  <a:pt x="123765" y="114568"/>
                </a:cubicBezTo>
                <a:cubicBezTo>
                  <a:pt x="118006" y="113318"/>
                  <a:pt x="112246" y="116934"/>
                  <a:pt x="110996" y="122694"/>
                </a:cubicBezTo>
                <a:lnTo>
                  <a:pt x="105102" y="149215"/>
                </a:lnTo>
                <a:lnTo>
                  <a:pt x="95905" y="121622"/>
                </a:lnTo>
                <a:cubicBezTo>
                  <a:pt x="94431" y="117247"/>
                  <a:pt x="90368" y="114300"/>
                  <a:pt x="85725" y="114300"/>
                </a:cubicBezTo>
                <a:cubicBezTo>
                  <a:pt x="81082" y="114300"/>
                  <a:pt x="77019" y="117247"/>
                  <a:pt x="75545" y="121622"/>
                </a:cubicBezTo>
                <a:lnTo>
                  <a:pt x="66348" y="149215"/>
                </a:lnTo>
                <a:lnTo>
                  <a:pt x="60454" y="122694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3" name="Text 26"/>
          <p:cNvSpPr/>
          <p:nvPr/>
        </p:nvSpPr>
        <p:spPr>
          <a:xfrm>
            <a:off x="1190625" y="4003675"/>
            <a:ext cx="1209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生成 Word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4" name="Shape 27"/>
          <p:cNvSpPr/>
          <p:nvPr/>
        </p:nvSpPr>
        <p:spPr>
          <a:xfrm>
            <a:off x="638175" y="4575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15" name="Text 28"/>
          <p:cNvSpPr/>
          <p:nvPr/>
        </p:nvSpPr>
        <p:spPr>
          <a:xfrm>
            <a:off x="923925" y="4537075"/>
            <a:ext cx="1600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模板化严重，缺乏个性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6" name="Shape 29"/>
          <p:cNvSpPr/>
          <p:nvPr/>
        </p:nvSpPr>
        <p:spPr>
          <a:xfrm>
            <a:off x="638175" y="4937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17" name="Text 30"/>
          <p:cNvSpPr/>
          <p:nvPr/>
        </p:nvSpPr>
        <p:spPr>
          <a:xfrm>
            <a:off x="923925" y="4899025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缺少业务上下文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8" name="Shape 31"/>
          <p:cNvSpPr/>
          <p:nvPr/>
        </p:nvSpPr>
        <p:spPr>
          <a:xfrm>
            <a:off x="638175" y="5299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19" name="Text 32"/>
          <p:cNvSpPr/>
          <p:nvPr/>
        </p:nvSpPr>
        <p:spPr>
          <a:xfrm>
            <a:off x="923925" y="5260975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内容空洞，无可执行建议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0" name="Shape 33"/>
          <p:cNvSpPr/>
          <p:nvPr/>
        </p:nvSpPr>
        <p:spPr>
          <a:xfrm>
            <a:off x="6196013" y="3694113"/>
            <a:ext cx="5610225" cy="2066925"/>
          </a:xfrm>
          <a:custGeom>
            <a:avLst/>
            <a:gdLst/>
            <a:ahLst/>
            <a:cxnLst/>
            <a:rect l="l" t="t" r="r" b="b"/>
            <a:pathLst>
              <a:path w="5610225" h="2066925">
                <a:moveTo>
                  <a:pt x="76208" y="0"/>
                </a:moveTo>
                <a:lnTo>
                  <a:pt x="5534017" y="0"/>
                </a:lnTo>
                <a:cubicBezTo>
                  <a:pt x="5576106" y="0"/>
                  <a:pt x="5610225" y="34119"/>
                  <a:pt x="5610225" y="76208"/>
                </a:cubicBezTo>
                <a:lnTo>
                  <a:pt x="5610225" y="1990717"/>
                </a:lnTo>
                <a:cubicBezTo>
                  <a:pt x="5610225" y="2032806"/>
                  <a:pt x="5576106" y="2066925"/>
                  <a:pt x="5534017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1" name="Shape 34"/>
          <p:cNvSpPr/>
          <p:nvPr/>
        </p:nvSpPr>
        <p:spPr>
          <a:xfrm>
            <a:off x="6429375" y="3927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A526">
              <a:alpha val="20000"/>
            </a:srgbClr>
          </a:solidFill>
        </p:spPr>
      </p:sp>
      <p:sp>
        <p:nvSpPr>
          <p:cNvPr id="122" name="Shape 35"/>
          <p:cNvSpPr/>
          <p:nvPr/>
        </p:nvSpPr>
        <p:spPr>
          <a:xfrm>
            <a:off x="6543675" y="4041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23" name="Text 36"/>
          <p:cNvSpPr/>
          <p:nvPr/>
        </p:nvSpPr>
        <p:spPr>
          <a:xfrm>
            <a:off x="7000875" y="400367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生成邮件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4" name="Shape 37"/>
          <p:cNvSpPr/>
          <p:nvPr/>
        </p:nvSpPr>
        <p:spPr>
          <a:xfrm>
            <a:off x="6448425" y="4575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25" name="Text 38"/>
          <p:cNvSpPr/>
          <p:nvPr/>
        </p:nvSpPr>
        <p:spPr>
          <a:xfrm>
            <a:off x="6734175" y="4537075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语气不对，或生硬或敷衍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6" name="Shape 39"/>
          <p:cNvSpPr/>
          <p:nvPr/>
        </p:nvSpPr>
        <p:spPr>
          <a:xfrm>
            <a:off x="6448425" y="4937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27" name="Text 40"/>
          <p:cNvSpPr/>
          <p:nvPr/>
        </p:nvSpPr>
        <p:spPr>
          <a:xfrm>
            <a:off x="6734175" y="4899025"/>
            <a:ext cx="1600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背景缺失，收件人困惑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8" name="Shape 41"/>
          <p:cNvSpPr/>
          <p:nvPr/>
        </p:nvSpPr>
        <p:spPr>
          <a:xfrm>
            <a:off x="6448425" y="5299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29" name="Text 42"/>
          <p:cNvSpPr/>
          <p:nvPr/>
        </p:nvSpPr>
        <p:spPr>
          <a:xfrm>
            <a:off x="6734175" y="5260975"/>
            <a:ext cx="1295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需要大改才能发送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0" name="Shape 43"/>
          <p:cNvSpPr/>
          <p:nvPr/>
        </p:nvSpPr>
        <p:spPr>
          <a:xfrm>
            <a:off x="400050" y="5956300"/>
            <a:ext cx="11410950" cy="571500"/>
          </a:xfrm>
          <a:custGeom>
            <a:avLst/>
            <a:gdLst/>
            <a:ahLst/>
            <a:cxnLst/>
            <a:rect l="l" t="t" r="r" b="b"/>
            <a:pathLst>
              <a:path w="11410950" h="571500">
                <a:moveTo>
                  <a:pt x="0" y="0"/>
                </a:moveTo>
                <a:lnTo>
                  <a:pt x="11334752" y="0"/>
                </a:lnTo>
                <a:cubicBezTo>
                  <a:pt x="11376835" y="0"/>
                  <a:pt x="11410950" y="34115"/>
                  <a:pt x="11410950" y="76198"/>
                </a:cubicBezTo>
                <a:lnTo>
                  <a:pt x="11410950" y="495302"/>
                </a:lnTo>
                <a:cubicBezTo>
                  <a:pt x="11410950" y="537385"/>
                  <a:pt x="11376835" y="571500"/>
                  <a:pt x="11334752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A52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131" name="Shape 44"/>
          <p:cNvSpPr/>
          <p:nvPr/>
        </p:nvSpPr>
        <p:spPr>
          <a:xfrm>
            <a:off x="400050" y="59563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32" name="Shape 45"/>
          <p:cNvSpPr/>
          <p:nvPr/>
        </p:nvSpPr>
        <p:spPr>
          <a:xfrm>
            <a:off x="3454896" y="61515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33" name="Text 46"/>
          <p:cNvSpPr/>
          <p:nvPr/>
        </p:nvSpPr>
        <p:spPr>
          <a:xfrm>
            <a:off x="819150" y="6108700"/>
            <a:ext cx="1088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核心观点：不是 Copilot 能力差，而是你的 Prompt 太"普通"</a:t>
            </a:r>
            <a:endParaRPr lang="en-US" sz="1600" dirty="0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核心逻辑：</a:t>
            </a:r>
            <a:r>
              <a:rPr lang="en-US" altLang="zh-CN">
                <a:ea typeface="BMWGroupTN Condensed TT Medium" charset="0"/>
              </a:rPr>
              <a:t>Prompt </a:t>
            </a:r>
            <a:r>
              <a:rPr lang="zh-CN" altLang="en-US">
                <a:ea typeface="BMWGroupTN Condensed TT Medium" charset="0"/>
              </a:rPr>
              <a:t>是钥匙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96" name="Text 2"/>
          <p:cNvSpPr/>
          <p:nvPr/>
        </p:nvSpPr>
        <p:spPr>
          <a:xfrm>
            <a:off x="695325" y="1028700"/>
            <a:ext cx="11201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高级技巧 = 质量跃迁</a:t>
            </a:r>
            <a:endParaRPr lang="en-US" sz="1350" dirty="0">
              <a:solidFill>
                <a:schemeClr val="accent1"/>
              </a:solidFill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385763" y="1452563"/>
            <a:ext cx="6619875" cy="2419350"/>
          </a:xfrm>
          <a:custGeom>
            <a:avLst/>
            <a:gdLst/>
            <a:ahLst/>
            <a:cxnLst/>
            <a:rect l="l" t="t" r="r" b="b"/>
            <a:pathLst>
              <a:path w="6619875" h="2419350">
                <a:moveTo>
                  <a:pt x="76210" y="0"/>
                </a:moveTo>
                <a:lnTo>
                  <a:pt x="6543665" y="0"/>
                </a:lnTo>
                <a:cubicBezTo>
                  <a:pt x="6585755" y="0"/>
                  <a:pt x="6619875" y="34120"/>
                  <a:pt x="6619875" y="76210"/>
                </a:cubicBezTo>
                <a:lnTo>
                  <a:pt x="6619875" y="2343140"/>
                </a:lnTo>
                <a:cubicBezTo>
                  <a:pt x="6619875" y="2385230"/>
                  <a:pt x="6585755" y="2419350"/>
                  <a:pt x="6543665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8" name="Shape 4"/>
          <p:cNvSpPr/>
          <p:nvPr/>
        </p:nvSpPr>
        <p:spPr>
          <a:xfrm>
            <a:off x="619125" y="1685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F7D8C">
              <a:alpha val="30196"/>
            </a:srgbClr>
          </a:solidFill>
        </p:spPr>
      </p:sp>
      <p:sp>
        <p:nvSpPr>
          <p:cNvPr id="99" name="Shape 5"/>
          <p:cNvSpPr/>
          <p:nvPr/>
        </p:nvSpPr>
        <p:spPr>
          <a:xfrm>
            <a:off x="736997" y="17907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85725"/>
                </a:moveTo>
                <a:cubicBezTo>
                  <a:pt x="0" y="79798"/>
                  <a:pt x="4789" y="75009"/>
                  <a:pt x="10716" y="75009"/>
                </a:cubicBezTo>
                <a:lnTo>
                  <a:pt x="139303" y="75009"/>
                </a:lnTo>
                <a:cubicBezTo>
                  <a:pt x="145230" y="75009"/>
                  <a:pt x="150019" y="79798"/>
                  <a:pt x="150019" y="85725"/>
                </a:cubicBezTo>
                <a:cubicBezTo>
                  <a:pt x="150019" y="91652"/>
                  <a:pt x="145230" y="96441"/>
                  <a:pt x="139303" y="96441"/>
                </a:cubicBezTo>
                <a:lnTo>
                  <a:pt x="10716" y="96441"/>
                </a:lnTo>
                <a:cubicBezTo>
                  <a:pt x="4789" y="96441"/>
                  <a:pt x="0" y="91652"/>
                  <a:pt x="0" y="85725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100" name="Text 6"/>
          <p:cNvSpPr/>
          <p:nvPr/>
        </p:nvSpPr>
        <p:spPr>
          <a:xfrm>
            <a:off x="1114425" y="1724025"/>
            <a:ext cx="222694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普通 Prompt</a:t>
            </a:r>
            <a:endParaRPr lang="en-US" sz="1800" b="1" dirty="0">
              <a:solidFill>
                <a:schemeClr val="tx1"/>
              </a:solidFill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619125" y="2219325"/>
            <a:ext cx="6238875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只告诉 Copilot </a:t>
            </a:r>
            <a:r>
              <a:rPr lang="en-US" sz="135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"做什么"</a:t>
            </a:r>
            <a:endParaRPr lang="en-US" sz="135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638175" y="2672556"/>
            <a:ext cx="6134100" cy="533400"/>
          </a:xfrm>
          <a:custGeom>
            <a:avLst/>
            <a:gdLst/>
            <a:ahLst/>
            <a:cxnLst/>
            <a:rect l="l" t="t" r="r" b="b"/>
            <a:pathLst>
              <a:path w="6134100" h="533400">
                <a:moveTo>
                  <a:pt x="38100" y="0"/>
                </a:moveTo>
                <a:lnTo>
                  <a:pt x="6057898" y="0"/>
                </a:lnTo>
                <a:cubicBezTo>
                  <a:pt x="6099983" y="0"/>
                  <a:pt x="6134100" y="34117"/>
                  <a:pt x="6134100" y="76202"/>
                </a:cubicBezTo>
                <a:lnTo>
                  <a:pt x="6134100" y="457198"/>
                </a:lnTo>
                <a:cubicBezTo>
                  <a:pt x="6134100" y="499283"/>
                  <a:pt x="6099983" y="533400"/>
                  <a:pt x="605789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8000"/>
            </a:schemeClr>
          </a:solidFill>
        </p:spPr>
      </p:sp>
      <p:sp>
        <p:nvSpPr>
          <p:cNvPr id="103" name="Shape 9"/>
          <p:cNvSpPr/>
          <p:nvPr/>
        </p:nvSpPr>
        <p:spPr>
          <a:xfrm>
            <a:off x="638175" y="2650331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104" name="Text 10"/>
          <p:cNvSpPr/>
          <p:nvPr/>
        </p:nvSpPr>
        <p:spPr>
          <a:xfrm>
            <a:off x="809625" y="2802731"/>
            <a:ext cx="588645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"帮我写一份宝马 i5 上市 PPT"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5" name="Shape 11"/>
          <p:cNvSpPr/>
          <p:nvPr/>
        </p:nvSpPr>
        <p:spPr>
          <a:xfrm>
            <a:off x="385763" y="4069556"/>
            <a:ext cx="6619875" cy="2476500"/>
          </a:xfrm>
          <a:custGeom>
            <a:avLst/>
            <a:gdLst/>
            <a:ahLst/>
            <a:cxnLst/>
            <a:rect l="l" t="t" r="r" b="b"/>
            <a:pathLst>
              <a:path w="6619875" h="2476500">
                <a:moveTo>
                  <a:pt x="76202" y="0"/>
                </a:moveTo>
                <a:lnTo>
                  <a:pt x="6543673" y="0"/>
                </a:lnTo>
                <a:cubicBezTo>
                  <a:pt x="6585758" y="0"/>
                  <a:pt x="6619875" y="34117"/>
                  <a:pt x="6619875" y="76202"/>
                </a:cubicBezTo>
                <a:lnTo>
                  <a:pt x="6619875" y="2400298"/>
                </a:lnTo>
                <a:cubicBezTo>
                  <a:pt x="6619875" y="2442383"/>
                  <a:pt x="6585758" y="2476500"/>
                  <a:pt x="6543673" y="2476500"/>
                </a:cubicBezTo>
                <a:lnTo>
                  <a:pt x="76202" y="2476500"/>
                </a:lnTo>
                <a:cubicBezTo>
                  <a:pt x="34117" y="2476500"/>
                  <a:pt x="0" y="2442383"/>
                  <a:pt x="0" y="24002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6" name="Shape 12"/>
          <p:cNvSpPr/>
          <p:nvPr/>
        </p:nvSpPr>
        <p:spPr>
          <a:xfrm>
            <a:off x="619125" y="430291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90E2">
              <a:alpha val="30196"/>
            </a:srgbClr>
          </a:solidFill>
        </p:spPr>
      </p:sp>
      <p:sp>
        <p:nvSpPr>
          <p:cNvPr id="107" name="Shape 13"/>
          <p:cNvSpPr/>
          <p:nvPr/>
        </p:nvSpPr>
        <p:spPr>
          <a:xfrm>
            <a:off x="736997" y="44076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5725" y="21431"/>
                </a:moveTo>
                <a:cubicBezTo>
                  <a:pt x="85725" y="15504"/>
                  <a:pt x="80936" y="10716"/>
                  <a:pt x="75009" y="10716"/>
                </a:cubicBezTo>
                <a:cubicBezTo>
                  <a:pt x="69082" y="10716"/>
                  <a:pt x="64294" y="15504"/>
                  <a:pt x="64294" y="21431"/>
                </a:cubicBezTo>
                <a:lnTo>
                  <a:pt x="64294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64294" y="96441"/>
                </a:lnTo>
                <a:lnTo>
                  <a:pt x="64294" y="150019"/>
                </a:lnTo>
                <a:cubicBezTo>
                  <a:pt x="64294" y="155946"/>
                  <a:pt x="69082" y="160734"/>
                  <a:pt x="75009" y="160734"/>
                </a:cubicBezTo>
                <a:cubicBezTo>
                  <a:pt x="80936" y="160734"/>
                  <a:pt x="85725" y="155946"/>
                  <a:pt x="85725" y="150019"/>
                </a:cubicBezTo>
                <a:lnTo>
                  <a:pt x="85725" y="96441"/>
                </a:lnTo>
                <a:lnTo>
                  <a:pt x="139303" y="96441"/>
                </a:lnTo>
                <a:cubicBezTo>
                  <a:pt x="145230" y="96441"/>
                  <a:pt x="150019" y="91652"/>
                  <a:pt x="150019" y="85725"/>
                </a:cubicBezTo>
                <a:cubicBezTo>
                  <a:pt x="150019" y="79798"/>
                  <a:pt x="145230" y="75009"/>
                  <a:pt x="139303" y="75009"/>
                </a:cubicBezTo>
                <a:lnTo>
                  <a:pt x="85725" y="75009"/>
                </a:lnTo>
                <a:lnTo>
                  <a:pt x="85725" y="21431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8" name="Text 14"/>
          <p:cNvSpPr/>
          <p:nvPr/>
        </p:nvSpPr>
        <p:spPr>
          <a:xfrm>
            <a:off x="1114425" y="4340860"/>
            <a:ext cx="218313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高级 Prompt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619125" y="4836319"/>
            <a:ext cx="623887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>
                    <a:alpha val="8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告诉 Copilot </a:t>
            </a:r>
            <a:r>
              <a:rPr lang="en-US" sz="135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"以什么角色、按什么标准、输出什么格式、参考什么案例"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638175" y="5267325"/>
            <a:ext cx="6134100" cy="1047750"/>
          </a:xfrm>
          <a:custGeom>
            <a:avLst/>
            <a:gdLst/>
            <a:ahLst/>
            <a:cxnLst/>
            <a:rect l="l" t="t" r="r" b="b"/>
            <a:pathLst>
              <a:path w="6134100" h="1047750">
                <a:moveTo>
                  <a:pt x="38100" y="0"/>
                </a:moveTo>
                <a:lnTo>
                  <a:pt x="6057897" y="0"/>
                </a:lnTo>
                <a:cubicBezTo>
                  <a:pt x="6099955" y="0"/>
                  <a:pt x="6134100" y="34145"/>
                  <a:pt x="6134100" y="76203"/>
                </a:cubicBezTo>
                <a:lnTo>
                  <a:pt x="6134100" y="971547"/>
                </a:lnTo>
                <a:cubicBezTo>
                  <a:pt x="6134100" y="1013605"/>
                  <a:pt x="6099955" y="1047750"/>
                  <a:pt x="6057897" y="1047750"/>
                </a:cubicBez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11" name="Shape 17"/>
          <p:cNvSpPr/>
          <p:nvPr/>
        </p:nvSpPr>
        <p:spPr>
          <a:xfrm>
            <a:off x="638175" y="5267325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3810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2" name="Text 18"/>
          <p:cNvSpPr/>
          <p:nvPr/>
        </p:nvSpPr>
        <p:spPr>
          <a:xfrm>
            <a:off x="809625" y="5419725"/>
            <a:ext cx="5886450" cy="7429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"你是宝马市场部高级经理，请生成一份面向经销商大会的 i5 上市策略 PPT 大纲，要求：每页有核心观点 + 数据支撑 + 行动建议，风格采用宝马蓝白渐变，最后一页附 Q&amp;A 预判"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3" name="Shape 19"/>
          <p:cNvSpPr/>
          <p:nvPr/>
        </p:nvSpPr>
        <p:spPr>
          <a:xfrm>
            <a:off x="7243763" y="1452563"/>
            <a:ext cx="4562475" cy="5095875"/>
          </a:xfrm>
          <a:custGeom>
            <a:avLst/>
            <a:gdLst/>
            <a:ahLst/>
            <a:cxnLst/>
            <a:rect l="l" t="t" r="r" b="b"/>
            <a:pathLst>
              <a:path w="4562475" h="5095875">
                <a:moveTo>
                  <a:pt x="76193" y="0"/>
                </a:moveTo>
                <a:lnTo>
                  <a:pt x="4486282" y="0"/>
                </a:lnTo>
                <a:cubicBezTo>
                  <a:pt x="4528362" y="0"/>
                  <a:pt x="4562475" y="34113"/>
                  <a:pt x="4562475" y="76193"/>
                </a:cubicBezTo>
                <a:lnTo>
                  <a:pt x="4562475" y="5019682"/>
                </a:lnTo>
                <a:cubicBezTo>
                  <a:pt x="4562475" y="5061762"/>
                  <a:pt x="4528362" y="5095875"/>
                  <a:pt x="4486282" y="5095875"/>
                </a:cubicBezTo>
                <a:lnTo>
                  <a:pt x="76193" y="5095875"/>
                </a:lnTo>
                <a:cubicBezTo>
                  <a:pt x="34113" y="5095875"/>
                  <a:pt x="0" y="5061762"/>
                  <a:pt x="0" y="50196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4" name="Shape 20"/>
          <p:cNvSpPr/>
          <p:nvPr/>
        </p:nvSpPr>
        <p:spPr>
          <a:xfrm>
            <a:off x="7515225" y="16954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15" name="Text 21"/>
          <p:cNvSpPr/>
          <p:nvPr/>
        </p:nvSpPr>
        <p:spPr>
          <a:xfrm>
            <a:off x="7948613" y="168592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质量对比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7477125" y="2181225"/>
            <a:ext cx="4095750" cy="1409700"/>
          </a:xfrm>
          <a:custGeom>
            <a:avLst/>
            <a:gdLst/>
            <a:ahLst/>
            <a:cxnLst/>
            <a:rect l="l" t="t" r="r" b="b"/>
            <a:pathLst>
              <a:path w="4095750" h="1409700">
                <a:moveTo>
                  <a:pt x="76194" y="0"/>
                </a:moveTo>
                <a:lnTo>
                  <a:pt x="4019556" y="0"/>
                </a:lnTo>
                <a:cubicBezTo>
                  <a:pt x="4061608" y="0"/>
                  <a:pt x="4095750" y="34142"/>
                  <a:pt x="4095750" y="76194"/>
                </a:cubicBezTo>
                <a:lnTo>
                  <a:pt x="4095750" y="1333506"/>
                </a:lnTo>
                <a:cubicBezTo>
                  <a:pt x="4095750" y="1375587"/>
                  <a:pt x="4061637" y="1409700"/>
                  <a:pt x="401955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17" name="Text 23"/>
          <p:cNvSpPr/>
          <p:nvPr/>
        </p:nvSpPr>
        <p:spPr>
          <a:xfrm>
            <a:off x="7629525" y="233362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普通输出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8" name="Shape 24"/>
          <p:cNvSpPr/>
          <p:nvPr/>
        </p:nvSpPr>
        <p:spPr>
          <a:xfrm>
            <a:off x="8239125" y="2424113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9" name="Shape 25"/>
          <p:cNvSpPr/>
          <p:nvPr/>
        </p:nvSpPr>
        <p:spPr>
          <a:xfrm>
            <a:off x="7639050" y="26860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120" name="Text 26"/>
          <p:cNvSpPr/>
          <p:nvPr/>
        </p:nvSpPr>
        <p:spPr>
          <a:xfrm>
            <a:off x="7777163" y="2600325"/>
            <a:ext cx="170497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泛泛而谈"加强线上推广"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1" name="Shape 27"/>
          <p:cNvSpPr/>
          <p:nvPr/>
        </p:nvSpPr>
        <p:spPr>
          <a:xfrm>
            <a:off x="7639050" y="29908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122" name="Text 28"/>
          <p:cNvSpPr/>
          <p:nvPr/>
        </p:nvSpPr>
        <p:spPr>
          <a:xfrm>
            <a:off x="7777163" y="2905125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纯文字列表，无图表结构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3" name="Shape 29"/>
          <p:cNvSpPr/>
          <p:nvPr/>
        </p:nvSpPr>
        <p:spPr>
          <a:xfrm>
            <a:off x="7639050" y="32956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124" name="Text 30"/>
          <p:cNvSpPr/>
          <p:nvPr/>
        </p:nvSpPr>
        <p:spPr>
          <a:xfrm>
            <a:off x="7777163" y="3209925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无品牌感，风格杂乱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5" name="Shape 31"/>
          <p:cNvSpPr/>
          <p:nvPr/>
        </p:nvSpPr>
        <p:spPr>
          <a:xfrm>
            <a:off x="9439275" y="37433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26" name="Shape 32"/>
          <p:cNvSpPr/>
          <p:nvPr/>
        </p:nvSpPr>
        <p:spPr>
          <a:xfrm>
            <a:off x="7477125" y="4124325"/>
            <a:ext cx="4095750" cy="1409700"/>
          </a:xfrm>
          <a:custGeom>
            <a:avLst/>
            <a:gdLst/>
            <a:ahLst/>
            <a:cxnLst/>
            <a:rect l="l" t="t" r="r" b="b"/>
            <a:pathLst>
              <a:path w="4095750" h="1409700">
                <a:moveTo>
                  <a:pt x="76194" y="0"/>
                </a:moveTo>
                <a:lnTo>
                  <a:pt x="4019556" y="0"/>
                </a:lnTo>
                <a:cubicBezTo>
                  <a:pt x="4061608" y="0"/>
                  <a:pt x="4095750" y="34142"/>
                  <a:pt x="4095750" y="76194"/>
                </a:cubicBezTo>
                <a:lnTo>
                  <a:pt x="4095750" y="1333506"/>
                </a:lnTo>
                <a:cubicBezTo>
                  <a:pt x="4095750" y="1375587"/>
                  <a:pt x="4061637" y="1409700"/>
                  <a:pt x="401955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27" name="Text 33"/>
          <p:cNvSpPr/>
          <p:nvPr/>
        </p:nvSpPr>
        <p:spPr>
          <a:xfrm>
            <a:off x="7629525" y="4276725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高级输出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8" name="Shape 34"/>
          <p:cNvSpPr/>
          <p:nvPr/>
        </p:nvSpPr>
        <p:spPr>
          <a:xfrm>
            <a:off x="8239125" y="4367213"/>
            <a:ext cx="3181350" cy="9525"/>
          </a:xfrm>
          <a:custGeom>
            <a:avLst/>
            <a:gdLst/>
            <a:ahLst/>
            <a:cxnLst/>
            <a:rect l="l" t="t" r="r" b="b"/>
            <a:pathLst>
              <a:path w="3181350" h="9525">
                <a:moveTo>
                  <a:pt x="0" y="0"/>
                </a:moveTo>
                <a:lnTo>
                  <a:pt x="3181350" y="0"/>
                </a:lnTo>
                <a:lnTo>
                  <a:pt x="31813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9" name="Shape 35"/>
          <p:cNvSpPr/>
          <p:nvPr/>
        </p:nvSpPr>
        <p:spPr>
          <a:xfrm>
            <a:off x="7648575" y="4581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0" name="Text 36"/>
          <p:cNvSpPr/>
          <p:nvPr/>
        </p:nvSpPr>
        <p:spPr>
          <a:xfrm>
            <a:off x="7896225" y="4543425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结构清晰，逻辑严密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1" name="Shape 37"/>
          <p:cNvSpPr/>
          <p:nvPr/>
        </p:nvSpPr>
        <p:spPr>
          <a:xfrm>
            <a:off x="7648575" y="4886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2" name="Text 38"/>
          <p:cNvSpPr/>
          <p:nvPr/>
        </p:nvSpPr>
        <p:spPr>
          <a:xfrm>
            <a:off x="7896225" y="4848225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有决策深度，可执行性强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3" name="Shape 39"/>
          <p:cNvSpPr/>
          <p:nvPr/>
        </p:nvSpPr>
        <p:spPr>
          <a:xfrm>
            <a:off x="7648575" y="5191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4" name="Text 40"/>
          <p:cNvSpPr/>
          <p:nvPr/>
        </p:nvSpPr>
        <p:spPr>
          <a:xfrm>
            <a:off x="7896225" y="5153025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视觉规范，品牌一致</a:t>
            </a:r>
            <a:endParaRPr lang="en-US" sz="1600" dirty="0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场景一</a:t>
            </a:r>
            <a:r>
              <a:rPr lang="en-US" altLang="zh-CN">
                <a:ea typeface="BMWGroupTN Condensed TT Medium" charset="0"/>
              </a:rPr>
              <a:t> · PPT </a:t>
            </a:r>
            <a:r>
              <a:rPr lang="zh-CN" altLang="en-US">
                <a:ea typeface="BMWGroupTN Condensed TT Medium" charset="0"/>
              </a:rPr>
              <a:t>生成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97" name="Text 2"/>
          <p:cNvSpPr/>
          <p:nvPr/>
        </p:nvSpPr>
        <p:spPr>
          <a:xfrm>
            <a:off x="732790" y="1041400"/>
            <a:ext cx="1116393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同一需求，不同 Prompt —— 结果天壤之别</a:t>
            </a:r>
            <a:endParaRPr 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385763" y="1427163"/>
            <a:ext cx="5610225" cy="4562475"/>
          </a:xfrm>
          <a:custGeom>
            <a:avLst/>
            <a:gdLst/>
            <a:ahLst/>
            <a:cxnLst/>
            <a:rect l="l" t="t" r="r" b="b"/>
            <a:pathLst>
              <a:path w="5610225" h="4562475">
                <a:moveTo>
                  <a:pt x="76193" y="0"/>
                </a:moveTo>
                <a:lnTo>
                  <a:pt x="5534032" y="0"/>
                </a:lnTo>
                <a:cubicBezTo>
                  <a:pt x="5576112" y="0"/>
                  <a:pt x="5610225" y="34113"/>
                  <a:pt x="5610225" y="76193"/>
                </a:cubicBezTo>
                <a:lnTo>
                  <a:pt x="5610225" y="4486282"/>
                </a:lnTo>
                <a:cubicBezTo>
                  <a:pt x="5610225" y="4528362"/>
                  <a:pt x="5576112" y="4562475"/>
                  <a:pt x="5534032" y="4562475"/>
                </a:cubicBezTo>
                <a:lnTo>
                  <a:pt x="76193" y="4562475"/>
                </a:lnTo>
                <a:cubicBezTo>
                  <a:pt x="34113" y="4562475"/>
                  <a:pt x="0" y="4528362"/>
                  <a:pt x="0" y="4486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9" name="Shape 4"/>
          <p:cNvSpPr/>
          <p:nvPr/>
        </p:nvSpPr>
        <p:spPr>
          <a:xfrm>
            <a:off x="581025" y="1622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F7D8C">
              <a:alpha val="30196"/>
            </a:srgbClr>
          </a:solidFill>
        </p:spPr>
      </p:sp>
      <p:sp>
        <p:nvSpPr>
          <p:cNvPr id="100" name="Text 5"/>
          <p:cNvSpPr/>
          <p:nvPr/>
        </p:nvSpPr>
        <p:spPr>
          <a:xfrm>
            <a:off x="676275" y="1679575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F7D8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1076325" y="1679575"/>
            <a:ext cx="158877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普通 Prompt</a:t>
            </a:r>
            <a:endParaRPr lang="en-US" sz="15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600075" y="2155825"/>
            <a:ext cx="5200650" cy="552450"/>
          </a:xfrm>
          <a:custGeom>
            <a:avLst/>
            <a:gdLst/>
            <a:ahLst/>
            <a:cxnLst/>
            <a:rect l="l" t="t" r="r" b="b"/>
            <a:pathLst>
              <a:path w="5200650" h="552450">
                <a:moveTo>
                  <a:pt x="38100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476251"/>
                </a:lnTo>
                <a:cubicBezTo>
                  <a:pt x="5200650" y="518334"/>
                  <a:pt x="5166534" y="552450"/>
                  <a:pt x="5124451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03" name="Shape 8"/>
          <p:cNvSpPr/>
          <p:nvPr/>
        </p:nvSpPr>
        <p:spPr>
          <a:xfrm>
            <a:off x="600075" y="2155825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104" name="Text 9"/>
          <p:cNvSpPr/>
          <p:nvPr/>
        </p:nvSpPr>
        <p:spPr>
          <a:xfrm>
            <a:off x="771525" y="2308225"/>
            <a:ext cx="495300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"帮我做一个关于宝马 X3 下半年营销计划的 PPT，10 页左右"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600075" y="2898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06" name="Text 11"/>
          <p:cNvSpPr/>
          <p:nvPr/>
        </p:nvSpPr>
        <p:spPr>
          <a:xfrm>
            <a:off x="823913" y="2860675"/>
            <a:ext cx="216217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内容问题</a:t>
            </a:r>
            <a:endParaRPr lang="en-US" sz="1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823913" y="3089275"/>
            <a:ext cx="21526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泛泛而谈"加强线上推广"，缺乏深度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8" name="Shape 13"/>
          <p:cNvSpPr/>
          <p:nvPr/>
        </p:nvSpPr>
        <p:spPr>
          <a:xfrm>
            <a:off x="600075" y="3394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09" name="Text 14"/>
          <p:cNvSpPr/>
          <p:nvPr/>
        </p:nvSpPr>
        <p:spPr>
          <a:xfrm>
            <a:off x="823913" y="3355975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格式问题</a:t>
            </a:r>
            <a:endParaRPr lang="en-US" sz="1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823913" y="358457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纯文字列表，无图表、无结构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600075" y="3889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12" name="Text 17"/>
          <p:cNvSpPr/>
          <p:nvPr/>
        </p:nvSpPr>
        <p:spPr>
          <a:xfrm>
            <a:off x="823913" y="3851275"/>
            <a:ext cx="127635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风格问题</a:t>
            </a:r>
            <a:endParaRPr lang="en-US" sz="1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823913" y="407987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无品牌感，视觉混乱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6196013" y="1427163"/>
            <a:ext cx="5610225" cy="4562475"/>
          </a:xfrm>
          <a:custGeom>
            <a:avLst/>
            <a:gdLst/>
            <a:ahLst/>
            <a:cxnLst/>
            <a:rect l="l" t="t" r="r" b="b"/>
            <a:pathLst>
              <a:path w="5610225" h="4562475">
                <a:moveTo>
                  <a:pt x="76193" y="0"/>
                </a:moveTo>
                <a:lnTo>
                  <a:pt x="5534032" y="0"/>
                </a:lnTo>
                <a:cubicBezTo>
                  <a:pt x="5576112" y="0"/>
                  <a:pt x="5610225" y="34113"/>
                  <a:pt x="5610225" y="76193"/>
                </a:cubicBezTo>
                <a:lnTo>
                  <a:pt x="5610225" y="4486282"/>
                </a:lnTo>
                <a:cubicBezTo>
                  <a:pt x="5610225" y="4528362"/>
                  <a:pt x="5576112" y="4562475"/>
                  <a:pt x="5534032" y="4562475"/>
                </a:cubicBezTo>
                <a:lnTo>
                  <a:pt x="76193" y="4562475"/>
                </a:lnTo>
                <a:cubicBezTo>
                  <a:pt x="34113" y="4562475"/>
                  <a:pt x="0" y="4528362"/>
                  <a:pt x="0" y="448628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5" name="Shape 20"/>
          <p:cNvSpPr/>
          <p:nvPr/>
        </p:nvSpPr>
        <p:spPr>
          <a:xfrm>
            <a:off x="6391275" y="1622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90E2">
              <a:alpha val="30196"/>
            </a:srgbClr>
          </a:solidFill>
        </p:spPr>
      </p:sp>
      <p:sp>
        <p:nvSpPr>
          <p:cNvPr id="116" name="Text 21"/>
          <p:cNvSpPr/>
          <p:nvPr/>
        </p:nvSpPr>
        <p:spPr>
          <a:xfrm>
            <a:off x="6486525" y="1679575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6886575" y="1679575"/>
            <a:ext cx="155765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高级 Prompt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8" name="Shape 23"/>
          <p:cNvSpPr/>
          <p:nvPr/>
        </p:nvSpPr>
        <p:spPr>
          <a:xfrm>
            <a:off x="6410325" y="2155825"/>
            <a:ext cx="5200650" cy="2076450"/>
          </a:xfrm>
          <a:custGeom>
            <a:avLst/>
            <a:gdLst/>
            <a:ahLst/>
            <a:cxnLst/>
            <a:rect l="l" t="t" r="r" b="b"/>
            <a:pathLst>
              <a:path w="5200650" h="2076450">
                <a:moveTo>
                  <a:pt x="38100" y="0"/>
                </a:moveTo>
                <a:lnTo>
                  <a:pt x="5124444" y="0"/>
                </a:lnTo>
                <a:cubicBezTo>
                  <a:pt x="5166503" y="0"/>
                  <a:pt x="5200650" y="34147"/>
                  <a:pt x="5200650" y="76206"/>
                </a:cubicBezTo>
                <a:lnTo>
                  <a:pt x="5200650" y="2000244"/>
                </a:lnTo>
                <a:cubicBezTo>
                  <a:pt x="5200650" y="2042332"/>
                  <a:pt x="5166532" y="2076450"/>
                  <a:pt x="5124444" y="2076450"/>
                </a:cubicBezTo>
                <a:lnTo>
                  <a:pt x="38100" y="2076450"/>
                </a:lnTo>
                <a:cubicBezTo>
                  <a:pt x="17058" y="2076450"/>
                  <a:pt x="0" y="2059392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19" name="Shape 24"/>
          <p:cNvSpPr/>
          <p:nvPr/>
        </p:nvSpPr>
        <p:spPr>
          <a:xfrm>
            <a:off x="6410325" y="2155825"/>
            <a:ext cx="38100" cy="2076450"/>
          </a:xfrm>
          <a:custGeom>
            <a:avLst/>
            <a:gdLst/>
            <a:ahLst/>
            <a:cxnLst/>
            <a:rect l="l" t="t" r="r" b="b"/>
            <a:pathLst>
              <a:path w="38100" h="2076450">
                <a:moveTo>
                  <a:pt x="381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38100" y="2076450"/>
                </a:lnTo>
                <a:cubicBezTo>
                  <a:pt x="17072" y="2076450"/>
                  <a:pt x="0" y="2059378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0" name="Text 25"/>
          <p:cNvSpPr/>
          <p:nvPr/>
        </p:nvSpPr>
        <p:spPr>
          <a:xfrm>
            <a:off x="6581775" y="2308225"/>
            <a:ext cx="4953000" cy="4953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"你是宝马中国营销策略专家。请为 X3 下半年营销计划生成一份 PPT 大纲。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1" name="Text 26"/>
          <p:cNvSpPr/>
          <p:nvPr/>
        </p:nvSpPr>
        <p:spPr>
          <a:xfrm>
            <a:off x="6581775" y="2879725"/>
            <a:ext cx="4953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要求：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2" name="Text 27"/>
          <p:cNvSpPr/>
          <p:nvPr/>
        </p:nvSpPr>
        <p:spPr>
          <a:xfrm>
            <a:off x="6734175" y="3203575"/>
            <a:ext cx="47910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1. 包含 4 部分：市场分析、竞品对比（GLC/Q5）、核心策略、执行路线图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3" name="Text 28"/>
          <p:cNvSpPr/>
          <p:nvPr/>
        </p:nvSpPr>
        <p:spPr>
          <a:xfrm>
            <a:off x="6734175" y="3432175"/>
            <a:ext cx="479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2. 每页必须有：核心主张 + 数据支撑 + 视觉建议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4" name="Text 29"/>
          <p:cNvSpPr/>
          <p:nvPr/>
        </p:nvSpPr>
        <p:spPr>
          <a:xfrm>
            <a:off x="6734175" y="3660775"/>
            <a:ext cx="479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3. 风格：专业商务、深色背景、宝马蓝 (#1E88E5) 点缀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5" name="Text 30"/>
          <p:cNvSpPr/>
          <p:nvPr/>
        </p:nvSpPr>
        <p:spPr>
          <a:xfrm>
            <a:off x="6734175" y="3889375"/>
            <a:ext cx="479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4. 输出可直接用于第 1 页的标题文案"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6" name="Shape 31"/>
          <p:cNvSpPr/>
          <p:nvPr/>
        </p:nvSpPr>
        <p:spPr>
          <a:xfrm>
            <a:off x="6410325" y="4422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7" name="Text 32"/>
          <p:cNvSpPr/>
          <p:nvPr/>
        </p:nvSpPr>
        <p:spPr>
          <a:xfrm>
            <a:off x="6634163" y="4384675"/>
            <a:ext cx="1790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结构清晰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8" name="Text 33"/>
          <p:cNvSpPr/>
          <p:nvPr/>
        </p:nvSpPr>
        <p:spPr>
          <a:xfrm>
            <a:off x="6634163" y="461327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4 大部分逻辑严密，层层递进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9" name="Shape 34"/>
          <p:cNvSpPr/>
          <p:nvPr/>
        </p:nvSpPr>
        <p:spPr>
          <a:xfrm>
            <a:off x="6410325" y="4918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0" name="Text 35"/>
          <p:cNvSpPr/>
          <p:nvPr/>
        </p:nvSpPr>
        <p:spPr>
          <a:xfrm>
            <a:off x="6634163" y="4879975"/>
            <a:ext cx="1704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决策深度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1" name="Text 36"/>
          <p:cNvSpPr/>
          <p:nvPr/>
        </p:nvSpPr>
        <p:spPr>
          <a:xfrm>
            <a:off x="6634163" y="5108575"/>
            <a:ext cx="16954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每页有核心主张+数据+建议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32" name="Shape 37"/>
          <p:cNvSpPr/>
          <p:nvPr/>
        </p:nvSpPr>
        <p:spPr>
          <a:xfrm>
            <a:off x="6410325" y="5413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3" name="Text 38"/>
          <p:cNvSpPr/>
          <p:nvPr/>
        </p:nvSpPr>
        <p:spPr>
          <a:xfrm>
            <a:off x="6634163" y="5375275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视觉规范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4" name="Text 39"/>
          <p:cNvSpPr/>
          <p:nvPr/>
        </p:nvSpPr>
        <p:spPr>
          <a:xfrm>
            <a:off x="6634163" y="560387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品牌色、风格要求明确可执行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35" name="Shape 40"/>
          <p:cNvSpPr/>
          <p:nvPr/>
        </p:nvSpPr>
        <p:spPr>
          <a:xfrm>
            <a:off x="400050" y="6146800"/>
            <a:ext cx="11410950" cy="571500"/>
          </a:xfrm>
          <a:prstGeom prst="roundRect">
            <a:avLst>
              <a:gd name="adj" fmla="val 9666"/>
            </a:avLst>
          </a:prstGeom>
          <a:solidFill>
            <a:schemeClr val="tx1">
              <a:alpha val="25000"/>
            </a:schemeClr>
          </a:solidFill>
        </p:spPr>
      </p:sp>
      <p:sp>
        <p:nvSpPr>
          <p:cNvPr id="137" name="Text 42"/>
          <p:cNvSpPr/>
          <p:nvPr/>
        </p:nvSpPr>
        <p:spPr>
          <a:xfrm>
            <a:off x="528638" y="6299200"/>
            <a:ext cx="11172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关键洞察：</a:t>
            </a:r>
            <a:r>
              <a:rPr lang="en-US" sz="1350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 输出质量提升来自"深度"要求——核心主张+数据+建议缺一不可</a:t>
            </a:r>
            <a:endParaRPr lang="en-US" sz="1600" dirty="0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529840" y="3263900"/>
            <a:ext cx="7077075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Copilot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进行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PPT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自动生成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 Medium" charset="0"/>
              <a:ea typeface="BMWGroupTN Condensed TT Medium" charset="0"/>
              <a:cs typeface="BMWGroupTN Condensed TT Medium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场景二</a:t>
            </a:r>
            <a:r>
              <a:rPr lang="en-US" altLang="zh-CN">
                <a:ea typeface="BMWGroupTN Condensed TT Medium" charset="0"/>
              </a:rPr>
              <a:t> · Excel </a:t>
            </a:r>
            <a:r>
              <a:rPr lang="zh-CN" altLang="en-US">
                <a:ea typeface="BMWGroupTN Condensed TT Medium" charset="0"/>
              </a:rPr>
              <a:t>分析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76" name="Text 2"/>
          <p:cNvSpPr/>
          <p:nvPr/>
        </p:nvSpPr>
        <p:spPr>
          <a:xfrm>
            <a:off x="734060" y="1041400"/>
            <a:ext cx="1116266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从统计到洞察：不是不能用，是你没告诉它"怎么分析"</a:t>
            </a:r>
            <a:endParaRPr lang="en-US" sz="1350" dirty="0">
              <a:solidFill>
                <a:schemeClr val="accent1"/>
              </a:solidFill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385763" y="1503363"/>
            <a:ext cx="7229475" cy="2371725"/>
          </a:xfrm>
          <a:custGeom>
            <a:avLst/>
            <a:gdLst/>
            <a:ahLst/>
            <a:cxnLst/>
            <a:rect l="l" t="t" r="r" b="b"/>
            <a:pathLst>
              <a:path w="7229475" h="2371725">
                <a:moveTo>
                  <a:pt x="76204" y="0"/>
                </a:moveTo>
                <a:lnTo>
                  <a:pt x="7153271" y="0"/>
                </a:lnTo>
                <a:cubicBezTo>
                  <a:pt x="7195358" y="0"/>
                  <a:pt x="7229475" y="34117"/>
                  <a:pt x="7229475" y="76204"/>
                </a:cubicBezTo>
                <a:lnTo>
                  <a:pt x="7229475" y="2295521"/>
                </a:lnTo>
                <a:cubicBezTo>
                  <a:pt x="7229475" y="2337608"/>
                  <a:pt x="7195358" y="2371725"/>
                  <a:pt x="7153271" y="2371725"/>
                </a:cubicBezTo>
                <a:lnTo>
                  <a:pt x="76204" y="2371725"/>
                </a:lnTo>
                <a:cubicBezTo>
                  <a:pt x="34117" y="2371725"/>
                  <a:pt x="0" y="2337608"/>
                  <a:pt x="0" y="22955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6F7D8C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6F7D8C">
                <a:alpha val="30196"/>
              </a:srgbClr>
            </a:solidFill>
            <a:prstDash val="solid"/>
          </a:ln>
        </p:spPr>
      </p:sp>
      <p:sp>
        <p:nvSpPr>
          <p:cNvPr id="78" name="Shape 4"/>
          <p:cNvSpPr/>
          <p:nvPr/>
        </p:nvSpPr>
        <p:spPr>
          <a:xfrm>
            <a:off x="581025" y="1698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F7D8C">
              <a:alpha val="30196"/>
            </a:srgbClr>
          </a:solidFill>
        </p:spPr>
      </p:sp>
      <p:sp>
        <p:nvSpPr>
          <p:cNvPr id="79" name="Text 5"/>
          <p:cNvSpPr/>
          <p:nvPr/>
        </p:nvSpPr>
        <p:spPr>
          <a:xfrm>
            <a:off x="676275" y="1755775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F7D8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0" name="Text 6"/>
          <p:cNvSpPr/>
          <p:nvPr/>
        </p:nvSpPr>
        <p:spPr>
          <a:xfrm>
            <a:off x="1076325" y="1755775"/>
            <a:ext cx="142367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F7D8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普通 Prompt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600075" y="2193925"/>
            <a:ext cx="6819900" cy="533400"/>
          </a:xfrm>
          <a:custGeom>
            <a:avLst/>
            <a:gdLst/>
            <a:ahLst/>
            <a:cxnLst/>
            <a:rect l="l" t="t" r="r" b="b"/>
            <a:pathLst>
              <a:path w="6819900" h="533400">
                <a:moveTo>
                  <a:pt x="38100" y="0"/>
                </a:moveTo>
                <a:lnTo>
                  <a:pt x="6743698" y="0"/>
                </a:lnTo>
                <a:cubicBezTo>
                  <a:pt x="6785783" y="0"/>
                  <a:pt x="6819900" y="34117"/>
                  <a:pt x="6819900" y="76202"/>
                </a:cubicBezTo>
                <a:lnTo>
                  <a:pt x="6819900" y="457198"/>
                </a:lnTo>
                <a:cubicBezTo>
                  <a:pt x="6819900" y="499283"/>
                  <a:pt x="6785783" y="533400"/>
                  <a:pt x="674369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82" name="Shape 8"/>
          <p:cNvSpPr/>
          <p:nvPr/>
        </p:nvSpPr>
        <p:spPr>
          <a:xfrm>
            <a:off x="600075" y="2193925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83" name="Text 9"/>
          <p:cNvSpPr/>
          <p:nvPr/>
        </p:nvSpPr>
        <p:spPr>
          <a:xfrm>
            <a:off x="771525" y="2346325"/>
            <a:ext cx="657225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"分析这份销量数据，帮我做一下"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619125" y="28797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85" name="Text 11"/>
          <p:cNvSpPr/>
          <p:nvPr/>
        </p:nvSpPr>
        <p:spPr>
          <a:xfrm>
            <a:off x="847725" y="2841625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简单的平均值、总行数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619125" y="31845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87" name="Text 13"/>
          <p:cNvSpPr/>
          <p:nvPr/>
        </p:nvSpPr>
        <p:spPr>
          <a:xfrm>
            <a:off x="847725" y="3146425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无格式、无结论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619125" y="34893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89" name="Text 15"/>
          <p:cNvSpPr/>
          <p:nvPr/>
        </p:nvSpPr>
        <p:spPr>
          <a:xfrm>
            <a:off x="847725" y="34512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无法直接用于汇报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385763" y="4037012"/>
            <a:ext cx="7229475" cy="2638425"/>
          </a:xfrm>
          <a:custGeom>
            <a:avLst/>
            <a:gdLst/>
            <a:ahLst/>
            <a:cxnLst/>
            <a:rect l="l" t="t" r="r" b="b"/>
            <a:pathLst>
              <a:path w="7229475" h="2638425">
                <a:moveTo>
                  <a:pt x="76198" y="0"/>
                </a:moveTo>
                <a:lnTo>
                  <a:pt x="7153277" y="0"/>
                </a:lnTo>
                <a:cubicBezTo>
                  <a:pt x="7195332" y="0"/>
                  <a:pt x="7229475" y="34143"/>
                  <a:pt x="7229475" y="76198"/>
                </a:cubicBezTo>
                <a:lnTo>
                  <a:pt x="7229475" y="2562227"/>
                </a:lnTo>
                <a:cubicBezTo>
                  <a:pt x="7229475" y="2604282"/>
                  <a:pt x="7195332" y="2638425"/>
                  <a:pt x="7153277" y="2638425"/>
                </a:cubicBezTo>
                <a:lnTo>
                  <a:pt x="76198" y="2638425"/>
                </a:lnTo>
                <a:cubicBezTo>
                  <a:pt x="34143" y="2638425"/>
                  <a:pt x="0" y="2604282"/>
                  <a:pt x="0" y="25622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E2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0E2">
                <a:alpha val="30196"/>
              </a:srgbClr>
            </a:solidFill>
            <a:prstDash val="solid"/>
          </a:ln>
        </p:spPr>
      </p:sp>
      <p:sp>
        <p:nvSpPr>
          <p:cNvPr id="91" name="Shape 17"/>
          <p:cNvSpPr/>
          <p:nvPr/>
        </p:nvSpPr>
        <p:spPr>
          <a:xfrm>
            <a:off x="581025" y="4232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90E2">
              <a:alpha val="30196"/>
            </a:srgbClr>
          </a:solidFill>
        </p:spPr>
      </p:sp>
      <p:sp>
        <p:nvSpPr>
          <p:cNvPr id="92" name="Text 18"/>
          <p:cNvSpPr/>
          <p:nvPr/>
        </p:nvSpPr>
        <p:spPr>
          <a:xfrm>
            <a:off x="676275" y="4289425"/>
            <a:ext cx="285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3" name="Text 19"/>
          <p:cNvSpPr/>
          <p:nvPr/>
        </p:nvSpPr>
        <p:spPr>
          <a:xfrm>
            <a:off x="1076325" y="4289425"/>
            <a:ext cx="142367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高级 Prompt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4" name="Shape 20"/>
          <p:cNvSpPr/>
          <p:nvPr/>
        </p:nvSpPr>
        <p:spPr>
          <a:xfrm>
            <a:off x="600075" y="4727575"/>
            <a:ext cx="6819900" cy="1752600"/>
          </a:xfrm>
          <a:custGeom>
            <a:avLst/>
            <a:gdLst/>
            <a:ahLst/>
            <a:cxnLst/>
            <a:rect l="l" t="t" r="r" b="b"/>
            <a:pathLst>
              <a:path w="6819900" h="1752600">
                <a:moveTo>
                  <a:pt x="38100" y="0"/>
                </a:moveTo>
                <a:lnTo>
                  <a:pt x="6743697" y="0"/>
                </a:lnTo>
                <a:cubicBezTo>
                  <a:pt x="6785783" y="0"/>
                  <a:pt x="6819900" y="34117"/>
                  <a:pt x="6819900" y="76203"/>
                </a:cubicBezTo>
                <a:lnTo>
                  <a:pt x="6819900" y="1676397"/>
                </a:lnTo>
                <a:cubicBezTo>
                  <a:pt x="6819900" y="1718483"/>
                  <a:pt x="6785783" y="1752600"/>
                  <a:pt x="6743697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95" name="Shape 21"/>
          <p:cNvSpPr/>
          <p:nvPr/>
        </p:nvSpPr>
        <p:spPr>
          <a:xfrm>
            <a:off x="600075" y="4727575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97" name="Text 22"/>
          <p:cNvSpPr/>
          <p:nvPr/>
        </p:nvSpPr>
        <p:spPr>
          <a:xfrm>
            <a:off x="771525" y="4879975"/>
            <a:ext cx="6572250" cy="4953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"你是宝马中国销售运营分析师。请基于上传的 Excel（2026 年 Q1 各区域销量），完成以下任务：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8" name="Text 23"/>
          <p:cNvSpPr/>
          <p:nvPr/>
        </p:nvSpPr>
        <p:spPr>
          <a:xfrm>
            <a:off x="923925" y="5451475"/>
            <a:ext cx="64103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1. 按区域计算总销量、环比 Q4 增长率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9" name="Text 24"/>
          <p:cNvSpPr/>
          <p:nvPr/>
        </p:nvSpPr>
        <p:spPr>
          <a:xfrm>
            <a:off x="923925" y="5680075"/>
            <a:ext cx="64103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2. 找出增长率最高和最低的区域，并给出 2 条原因推测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923925" y="5908675"/>
            <a:ext cx="64103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3. 输出表格，用条件格式提示（红色低于 -5%，绿色高于 +10%）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1" name="Text 26"/>
          <p:cNvSpPr/>
          <p:nvPr/>
        </p:nvSpPr>
        <p:spPr>
          <a:xfrm>
            <a:off x="923925" y="6137275"/>
            <a:ext cx="64103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4. 最后用一句话总结：哪个区域需要重点关注"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2" name="Shape 27"/>
          <p:cNvSpPr/>
          <p:nvPr/>
        </p:nvSpPr>
        <p:spPr>
          <a:xfrm>
            <a:off x="7815263" y="1503363"/>
            <a:ext cx="3990975" cy="5172075"/>
          </a:xfrm>
          <a:custGeom>
            <a:avLst/>
            <a:gdLst/>
            <a:ahLst/>
            <a:cxnLst/>
            <a:rect l="l" t="t" r="r" b="b"/>
            <a:pathLst>
              <a:path w="3990975" h="5172075">
                <a:moveTo>
                  <a:pt x="76188" y="0"/>
                </a:moveTo>
                <a:lnTo>
                  <a:pt x="3914787" y="0"/>
                </a:lnTo>
                <a:cubicBezTo>
                  <a:pt x="3956836" y="0"/>
                  <a:pt x="3990975" y="34139"/>
                  <a:pt x="3990975" y="76188"/>
                </a:cubicBezTo>
                <a:lnTo>
                  <a:pt x="3990975" y="5095887"/>
                </a:lnTo>
                <a:cubicBezTo>
                  <a:pt x="3990975" y="5137965"/>
                  <a:pt x="3956865" y="5172075"/>
                  <a:pt x="3914787" y="5172075"/>
                </a:cubicBezTo>
                <a:lnTo>
                  <a:pt x="76188" y="5172075"/>
                </a:lnTo>
                <a:cubicBezTo>
                  <a:pt x="34139" y="5172075"/>
                  <a:pt x="0" y="5137936"/>
                  <a:pt x="0" y="5095887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E0A52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E0A526">
                <a:alpha val="30196"/>
              </a:srgbClr>
            </a:solidFill>
            <a:prstDash val="solid"/>
          </a:ln>
        </p:spPr>
      </p:sp>
      <p:sp>
        <p:nvSpPr>
          <p:cNvPr id="103" name="Shape 28"/>
          <p:cNvSpPr/>
          <p:nvPr/>
        </p:nvSpPr>
        <p:spPr>
          <a:xfrm>
            <a:off x="8053387" y="17176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71438"/>
                </a:moveTo>
                <a:lnTo>
                  <a:pt x="114300" y="114300"/>
                </a:lnTo>
                <a:lnTo>
                  <a:pt x="171450" y="114300"/>
                </a:lnTo>
                <a:lnTo>
                  <a:pt x="171450" y="71438"/>
                </a:lnTo>
                <a:lnTo>
                  <a:pt x="114300" y="71438"/>
                </a:lnTo>
                <a:close/>
                <a:moveTo>
                  <a:pt x="85725" y="71438"/>
                </a:moveTo>
                <a:lnTo>
                  <a:pt x="28575" y="71438"/>
                </a:lnTo>
                <a:lnTo>
                  <a:pt x="28575" y="114300"/>
                </a:lnTo>
                <a:lnTo>
                  <a:pt x="85725" y="114300"/>
                </a:lnTo>
                <a:lnTo>
                  <a:pt x="85725" y="71438"/>
                </a:lnTo>
                <a:close/>
                <a:moveTo>
                  <a:pt x="0" y="142875"/>
                </a:move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42875"/>
                </a:lnTo>
                <a:close/>
                <a:moveTo>
                  <a:pt x="171450" y="142875"/>
                </a:moveTo>
                <a:lnTo>
                  <a:pt x="114300" y="142875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142875"/>
                </a:lnTo>
                <a:close/>
                <a:moveTo>
                  <a:pt x="85725" y="185738"/>
                </a:moveTo>
                <a:lnTo>
                  <a:pt x="85725" y="142875"/>
                </a:lnTo>
                <a:lnTo>
                  <a:pt x="28575" y="142875"/>
                </a:lnTo>
                <a:lnTo>
                  <a:pt x="28575" y="185738"/>
                </a:lnTo>
                <a:lnTo>
                  <a:pt x="85725" y="185738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04" name="Text 29"/>
          <p:cNvSpPr/>
          <p:nvPr/>
        </p:nvSpPr>
        <p:spPr>
          <a:xfrm>
            <a:off x="8410575" y="1698625"/>
            <a:ext cx="283591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Excel 分析的 4 个必填指令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5" name="Shape 30"/>
          <p:cNvSpPr/>
          <p:nvPr/>
        </p:nvSpPr>
        <p:spPr>
          <a:xfrm>
            <a:off x="8029575" y="2117725"/>
            <a:ext cx="3581400" cy="838200"/>
          </a:xfrm>
          <a:custGeom>
            <a:avLst/>
            <a:gdLst/>
            <a:ahLst/>
            <a:cxnLst/>
            <a:rect l="l" t="t" r="r" b="b"/>
            <a:pathLst>
              <a:path w="3581400" h="838200">
                <a:moveTo>
                  <a:pt x="38100" y="0"/>
                </a:moveTo>
                <a:lnTo>
                  <a:pt x="3505199" y="0"/>
                </a:lnTo>
                <a:cubicBezTo>
                  <a:pt x="3547284" y="0"/>
                  <a:pt x="3581400" y="34116"/>
                  <a:pt x="3581400" y="76201"/>
                </a:cubicBezTo>
                <a:lnTo>
                  <a:pt x="3581400" y="761999"/>
                </a:lnTo>
                <a:cubicBezTo>
                  <a:pt x="3581400" y="804084"/>
                  <a:pt x="3547284" y="838200"/>
                  <a:pt x="35051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06" name="Shape 31"/>
          <p:cNvSpPr/>
          <p:nvPr/>
        </p:nvSpPr>
        <p:spPr>
          <a:xfrm>
            <a:off x="8029575" y="2117725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7" name="Shape 32"/>
          <p:cNvSpPr/>
          <p:nvPr/>
        </p:nvSpPr>
        <p:spPr>
          <a:xfrm>
            <a:off x="8201025" y="22701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8" name="Text 33"/>
          <p:cNvSpPr/>
          <p:nvPr/>
        </p:nvSpPr>
        <p:spPr>
          <a:xfrm>
            <a:off x="8167687" y="2270125"/>
            <a:ext cx="33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1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9" name="Text 34"/>
          <p:cNvSpPr/>
          <p:nvPr/>
        </p:nvSpPr>
        <p:spPr>
          <a:xfrm>
            <a:off x="8543925" y="228917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指定分析角色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0" name="Text 35"/>
          <p:cNvSpPr/>
          <p:nvPr/>
        </p:nvSpPr>
        <p:spPr>
          <a:xfrm>
            <a:off x="8543925" y="2613025"/>
            <a:ext cx="29813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"销售运营分析师 / 财务控制"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1" name="Shape 36"/>
          <p:cNvSpPr/>
          <p:nvPr/>
        </p:nvSpPr>
        <p:spPr>
          <a:xfrm>
            <a:off x="8029575" y="3070225"/>
            <a:ext cx="3581400" cy="838200"/>
          </a:xfrm>
          <a:custGeom>
            <a:avLst/>
            <a:gdLst/>
            <a:ahLst/>
            <a:cxnLst/>
            <a:rect l="l" t="t" r="r" b="b"/>
            <a:pathLst>
              <a:path w="3581400" h="838200">
                <a:moveTo>
                  <a:pt x="38100" y="0"/>
                </a:moveTo>
                <a:lnTo>
                  <a:pt x="3505199" y="0"/>
                </a:lnTo>
                <a:cubicBezTo>
                  <a:pt x="3547284" y="0"/>
                  <a:pt x="3581400" y="34116"/>
                  <a:pt x="3581400" y="76201"/>
                </a:cubicBezTo>
                <a:lnTo>
                  <a:pt x="3581400" y="761999"/>
                </a:lnTo>
                <a:cubicBezTo>
                  <a:pt x="3581400" y="804084"/>
                  <a:pt x="3547284" y="838200"/>
                  <a:pt x="35051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12" name="Shape 37"/>
          <p:cNvSpPr/>
          <p:nvPr/>
        </p:nvSpPr>
        <p:spPr>
          <a:xfrm>
            <a:off x="8029575" y="3070225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3" name="Shape 38"/>
          <p:cNvSpPr/>
          <p:nvPr/>
        </p:nvSpPr>
        <p:spPr>
          <a:xfrm>
            <a:off x="8201025" y="32226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4" name="Text 39"/>
          <p:cNvSpPr/>
          <p:nvPr/>
        </p:nvSpPr>
        <p:spPr>
          <a:xfrm>
            <a:off x="8167687" y="3222625"/>
            <a:ext cx="33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2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5" name="Text 40"/>
          <p:cNvSpPr/>
          <p:nvPr/>
        </p:nvSpPr>
        <p:spPr>
          <a:xfrm>
            <a:off x="8543925" y="324167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明确计算逻辑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6" name="Text 41"/>
          <p:cNvSpPr/>
          <p:nvPr/>
        </p:nvSpPr>
        <p:spPr>
          <a:xfrm>
            <a:off x="8543925" y="3565525"/>
            <a:ext cx="29813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"计算环比、同比、TOP 3、占比"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7" name="Shape 42"/>
          <p:cNvSpPr/>
          <p:nvPr/>
        </p:nvSpPr>
        <p:spPr>
          <a:xfrm>
            <a:off x="8029575" y="4022725"/>
            <a:ext cx="3581400" cy="838200"/>
          </a:xfrm>
          <a:custGeom>
            <a:avLst/>
            <a:gdLst/>
            <a:ahLst/>
            <a:cxnLst/>
            <a:rect l="l" t="t" r="r" b="b"/>
            <a:pathLst>
              <a:path w="3581400" h="838200">
                <a:moveTo>
                  <a:pt x="38100" y="0"/>
                </a:moveTo>
                <a:lnTo>
                  <a:pt x="3505199" y="0"/>
                </a:lnTo>
                <a:cubicBezTo>
                  <a:pt x="3547284" y="0"/>
                  <a:pt x="3581400" y="34116"/>
                  <a:pt x="3581400" y="76201"/>
                </a:cubicBezTo>
                <a:lnTo>
                  <a:pt x="3581400" y="761999"/>
                </a:lnTo>
                <a:cubicBezTo>
                  <a:pt x="3581400" y="804084"/>
                  <a:pt x="3547284" y="838200"/>
                  <a:pt x="35051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18" name="Shape 43"/>
          <p:cNvSpPr/>
          <p:nvPr/>
        </p:nvSpPr>
        <p:spPr>
          <a:xfrm>
            <a:off x="8029575" y="4022725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9" name="Shape 44"/>
          <p:cNvSpPr/>
          <p:nvPr/>
        </p:nvSpPr>
        <p:spPr>
          <a:xfrm>
            <a:off x="8201025" y="41751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0" name="Text 45"/>
          <p:cNvSpPr/>
          <p:nvPr/>
        </p:nvSpPr>
        <p:spPr>
          <a:xfrm>
            <a:off x="8167687" y="4175125"/>
            <a:ext cx="33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3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1" name="Text 46"/>
          <p:cNvSpPr/>
          <p:nvPr/>
        </p:nvSpPr>
        <p:spPr>
          <a:xfrm>
            <a:off x="8543925" y="419417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强制输出格式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2" name="Text 47"/>
          <p:cNvSpPr/>
          <p:nvPr/>
        </p:nvSpPr>
        <p:spPr>
          <a:xfrm>
            <a:off x="8543925" y="4518025"/>
            <a:ext cx="29813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"表格，第一行加粗，数字保留两位"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3" name="Shape 48"/>
          <p:cNvSpPr/>
          <p:nvPr/>
        </p:nvSpPr>
        <p:spPr>
          <a:xfrm>
            <a:off x="8029575" y="4975225"/>
            <a:ext cx="3581400" cy="838200"/>
          </a:xfrm>
          <a:custGeom>
            <a:avLst/>
            <a:gdLst/>
            <a:ahLst/>
            <a:cxnLst/>
            <a:rect l="l" t="t" r="r" b="b"/>
            <a:pathLst>
              <a:path w="3581400" h="838200">
                <a:moveTo>
                  <a:pt x="38100" y="0"/>
                </a:moveTo>
                <a:lnTo>
                  <a:pt x="3505199" y="0"/>
                </a:lnTo>
                <a:cubicBezTo>
                  <a:pt x="3547284" y="0"/>
                  <a:pt x="3581400" y="34116"/>
                  <a:pt x="3581400" y="76201"/>
                </a:cubicBezTo>
                <a:lnTo>
                  <a:pt x="3581400" y="761999"/>
                </a:lnTo>
                <a:cubicBezTo>
                  <a:pt x="3581400" y="804084"/>
                  <a:pt x="3547284" y="838200"/>
                  <a:pt x="350519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24" name="Shape 49"/>
          <p:cNvSpPr/>
          <p:nvPr/>
        </p:nvSpPr>
        <p:spPr>
          <a:xfrm>
            <a:off x="8029575" y="4975225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5" name="Shape 50"/>
          <p:cNvSpPr/>
          <p:nvPr/>
        </p:nvSpPr>
        <p:spPr>
          <a:xfrm>
            <a:off x="8201025" y="51276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6" name="Text 51"/>
          <p:cNvSpPr/>
          <p:nvPr/>
        </p:nvSpPr>
        <p:spPr>
          <a:xfrm>
            <a:off x="8167687" y="5127625"/>
            <a:ext cx="33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4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7" name="Text 52"/>
          <p:cNvSpPr/>
          <p:nvPr/>
        </p:nvSpPr>
        <p:spPr>
          <a:xfrm>
            <a:off x="8543925" y="514667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要求业务解读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8" name="Text 53"/>
          <p:cNvSpPr/>
          <p:nvPr/>
        </p:nvSpPr>
        <p:spPr>
          <a:xfrm>
            <a:off x="8543925" y="5470525"/>
            <a:ext cx="29813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"并给出 2 条 actionable insight"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9" name="Shape 54"/>
          <p:cNvSpPr/>
          <p:nvPr/>
        </p:nvSpPr>
        <p:spPr>
          <a:xfrm>
            <a:off x="8029575" y="6061075"/>
            <a:ext cx="3581400" cy="419100"/>
          </a:xfrm>
          <a:custGeom>
            <a:avLst/>
            <a:gdLst/>
            <a:ahLst/>
            <a:cxnLst/>
            <a:rect l="l" t="t" r="r" b="b"/>
            <a:pathLst>
              <a:path w="3581400" h="419100">
                <a:moveTo>
                  <a:pt x="0" y="0"/>
                </a:moveTo>
                <a:lnTo>
                  <a:pt x="3505199" y="0"/>
                </a:lnTo>
                <a:cubicBezTo>
                  <a:pt x="3547284" y="0"/>
                  <a:pt x="3581400" y="34116"/>
                  <a:pt x="3581400" y="76201"/>
                </a:cubicBezTo>
                <a:lnTo>
                  <a:pt x="3581400" y="342899"/>
                </a:lnTo>
                <a:cubicBezTo>
                  <a:pt x="3581400" y="384984"/>
                  <a:pt x="3547284" y="419100"/>
                  <a:pt x="3505199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A52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130" name="Shape 55"/>
          <p:cNvSpPr/>
          <p:nvPr/>
        </p:nvSpPr>
        <p:spPr>
          <a:xfrm>
            <a:off x="8029575" y="606107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31" name="Shape 56"/>
          <p:cNvSpPr/>
          <p:nvPr/>
        </p:nvSpPr>
        <p:spPr>
          <a:xfrm>
            <a:off x="8181975" y="6203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32" name="Text 57"/>
          <p:cNvSpPr/>
          <p:nvPr/>
        </p:nvSpPr>
        <p:spPr>
          <a:xfrm>
            <a:off x="8391525" y="6175375"/>
            <a:ext cx="3171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常见错误：</a:t>
            </a:r>
            <a:r>
              <a:rPr lang="en-US" sz="1050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只说"分析"不说"怎么分析"</a:t>
            </a:r>
            <a:endParaRPr lang="en-US" sz="1600" dirty="0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529840" y="3263900"/>
            <a:ext cx="7077075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Copilot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进行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Excel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自动分析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 Medium" charset="0"/>
              <a:ea typeface="BMWGroupTN Condensed TT Medium" charset="0"/>
              <a:cs typeface="BMWGroupTN Condensed TT Medium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场景三</a:t>
            </a:r>
            <a:r>
              <a:rPr lang="en-US" altLang="zh-CN">
                <a:ea typeface="BMWGroupTN Condensed TT Medium" charset="0"/>
              </a:rPr>
              <a:t> &amp; </a:t>
            </a:r>
            <a:r>
              <a:rPr lang="zh-CN" altLang="en-US">
                <a:ea typeface="BMWGroupTN Condensed TT Medium" charset="0"/>
              </a:rPr>
              <a:t>四</a:t>
            </a:r>
            <a:r>
              <a:rPr lang="en-US" altLang="zh-CN">
                <a:ea typeface="BMWGroupTN Condensed TT Medium" charset="0"/>
              </a:rPr>
              <a:t> · Word </a:t>
            </a:r>
            <a:r>
              <a:rPr lang="zh-CN" altLang="en-US">
                <a:ea typeface="BMWGroupTN Condensed TT Medium" charset="0"/>
              </a:rPr>
              <a:t>与邮件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92" name="Text 2"/>
          <p:cNvSpPr/>
          <p:nvPr/>
        </p:nvSpPr>
        <p:spPr>
          <a:xfrm>
            <a:off x="695325" y="1079500"/>
            <a:ext cx="1120140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从 AI 废话到专业输出：语气 + 背景 + 行动点 = 免修改</a:t>
            </a:r>
            <a:endParaRPr 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385763" y="1541463"/>
            <a:ext cx="5610225" cy="3933825"/>
          </a:xfrm>
          <a:custGeom>
            <a:avLst/>
            <a:gdLst/>
            <a:ahLst/>
            <a:cxnLst/>
            <a:rect l="l" t="t" r="r" b="b"/>
            <a:pathLst>
              <a:path w="5610225" h="393382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3857627"/>
                </a:lnTo>
                <a:cubicBezTo>
                  <a:pt x="5610225" y="3899710"/>
                  <a:pt x="5576110" y="3933825"/>
                  <a:pt x="5534027" y="3933825"/>
                </a:cubicBezTo>
                <a:lnTo>
                  <a:pt x="76198" y="3933825"/>
                </a:lnTo>
                <a:cubicBezTo>
                  <a:pt x="34115" y="3933825"/>
                  <a:pt x="0" y="3899710"/>
                  <a:pt x="0" y="3857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4" name="Shape 4"/>
          <p:cNvSpPr/>
          <p:nvPr/>
        </p:nvSpPr>
        <p:spPr>
          <a:xfrm>
            <a:off x="581025" y="1736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95" name="Shape 5"/>
          <p:cNvSpPr/>
          <p:nvPr/>
        </p:nvSpPr>
        <p:spPr>
          <a:xfrm>
            <a:off x="723900" y="18510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0454" y="122694"/>
                </a:moveTo>
                <a:cubicBezTo>
                  <a:pt x="59159" y="116934"/>
                  <a:pt x="53444" y="113273"/>
                  <a:pt x="47685" y="114568"/>
                </a:cubicBezTo>
                <a:cubicBezTo>
                  <a:pt x="41925" y="115863"/>
                  <a:pt x="38264" y="121578"/>
                  <a:pt x="39559" y="127337"/>
                </a:cubicBezTo>
                <a:lnTo>
                  <a:pt x="53846" y="191631"/>
                </a:lnTo>
                <a:cubicBezTo>
                  <a:pt x="54873" y="196319"/>
                  <a:pt x="58936" y="199757"/>
                  <a:pt x="63758" y="200025"/>
                </a:cubicBezTo>
                <a:cubicBezTo>
                  <a:pt x="68580" y="200293"/>
                  <a:pt x="72956" y="197301"/>
                  <a:pt x="74474" y="192703"/>
                </a:cubicBezTo>
                <a:lnTo>
                  <a:pt x="85725" y="158904"/>
                </a:lnTo>
                <a:lnTo>
                  <a:pt x="96976" y="192703"/>
                </a:lnTo>
                <a:cubicBezTo>
                  <a:pt x="98494" y="197257"/>
                  <a:pt x="102870" y="200248"/>
                  <a:pt x="107692" y="200025"/>
                </a:cubicBezTo>
                <a:cubicBezTo>
                  <a:pt x="112514" y="199802"/>
                  <a:pt x="116577" y="196364"/>
                  <a:pt x="117604" y="191631"/>
                </a:cubicBezTo>
                <a:lnTo>
                  <a:pt x="131891" y="127337"/>
                </a:lnTo>
                <a:cubicBezTo>
                  <a:pt x="133186" y="121578"/>
                  <a:pt x="129525" y="115818"/>
                  <a:pt x="123765" y="114568"/>
                </a:cubicBezTo>
                <a:cubicBezTo>
                  <a:pt x="118006" y="113318"/>
                  <a:pt x="112246" y="116934"/>
                  <a:pt x="110996" y="122694"/>
                </a:cubicBezTo>
                <a:lnTo>
                  <a:pt x="105102" y="149215"/>
                </a:lnTo>
                <a:lnTo>
                  <a:pt x="95905" y="121622"/>
                </a:lnTo>
                <a:cubicBezTo>
                  <a:pt x="94431" y="117247"/>
                  <a:pt x="90368" y="114300"/>
                  <a:pt x="85725" y="114300"/>
                </a:cubicBezTo>
                <a:cubicBezTo>
                  <a:pt x="81082" y="114300"/>
                  <a:pt x="77019" y="117247"/>
                  <a:pt x="75545" y="121622"/>
                </a:cubicBezTo>
                <a:lnTo>
                  <a:pt x="66348" y="149215"/>
                </a:lnTo>
                <a:lnTo>
                  <a:pt x="60454" y="122694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96" name="Text 6"/>
          <p:cNvSpPr/>
          <p:nvPr/>
        </p:nvSpPr>
        <p:spPr>
          <a:xfrm>
            <a:off x="1152525" y="1812925"/>
            <a:ext cx="1873885" cy="3048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Word 文档</a:t>
            </a:r>
            <a:endParaRPr lang="en-US" sz="1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97" name="Shape 7"/>
          <p:cNvSpPr/>
          <p:nvPr/>
        </p:nvSpPr>
        <p:spPr>
          <a:xfrm>
            <a:off x="600075" y="2346325"/>
            <a:ext cx="5200650" cy="1104900"/>
          </a:xfrm>
          <a:custGeom>
            <a:avLst/>
            <a:gdLst/>
            <a:ahLst/>
            <a:cxnLst/>
            <a:rect l="l" t="t" r="r" b="b"/>
            <a:pathLst>
              <a:path w="5200650" h="1104900">
                <a:moveTo>
                  <a:pt x="38100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028695"/>
                </a:lnTo>
                <a:cubicBezTo>
                  <a:pt x="5200650" y="1070782"/>
                  <a:pt x="5166532" y="1104900"/>
                  <a:pt x="5124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</p:spPr>
      </p:sp>
      <p:sp>
        <p:nvSpPr>
          <p:cNvPr id="98" name="Shape 8"/>
          <p:cNvSpPr/>
          <p:nvPr/>
        </p:nvSpPr>
        <p:spPr>
          <a:xfrm>
            <a:off x="600075" y="2346325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99" name="Text 9"/>
          <p:cNvSpPr/>
          <p:nvPr/>
        </p:nvSpPr>
        <p:spPr>
          <a:xfrm>
            <a:off x="771525" y="2498725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普通 Prompt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771525" y="2765425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"帮我写一份关于售后满意度提升的会议纪要"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790575" y="3146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02" name="Text 12"/>
          <p:cNvSpPr/>
          <p:nvPr/>
        </p:nvSpPr>
        <p:spPr>
          <a:xfrm>
            <a:off x="1038225" y="3108325"/>
            <a:ext cx="28670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问题：罗列发言，无决策、无负责人、无时间点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3" name="Shape 13"/>
          <p:cNvSpPr/>
          <p:nvPr/>
        </p:nvSpPr>
        <p:spPr>
          <a:xfrm>
            <a:off x="600075" y="3603625"/>
            <a:ext cx="5200650" cy="1619250"/>
          </a:xfrm>
          <a:custGeom>
            <a:avLst/>
            <a:gdLst/>
            <a:ahLst/>
            <a:cxnLst/>
            <a:rect l="l" t="t" r="r" b="b"/>
            <a:pathLst>
              <a:path w="5200650" h="161925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1543048"/>
                </a:lnTo>
                <a:cubicBezTo>
                  <a:pt x="5200650" y="1585133"/>
                  <a:pt x="5166533" y="1619250"/>
                  <a:pt x="5124448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</p:spPr>
      </p:sp>
      <p:sp>
        <p:nvSpPr>
          <p:cNvPr id="104" name="Shape 14"/>
          <p:cNvSpPr/>
          <p:nvPr/>
        </p:nvSpPr>
        <p:spPr>
          <a:xfrm>
            <a:off x="600075" y="3603625"/>
            <a:ext cx="38100" cy="1619250"/>
          </a:xfrm>
          <a:custGeom>
            <a:avLst/>
            <a:gdLst/>
            <a:ahLst/>
            <a:cxnLst/>
            <a:rect l="l" t="t" r="r" b="b"/>
            <a:pathLst>
              <a:path w="38100" h="161925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5" name="Text 15"/>
          <p:cNvSpPr/>
          <p:nvPr/>
        </p:nvSpPr>
        <p:spPr>
          <a:xfrm>
            <a:off x="771525" y="3756025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高级 Prompt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6" name="Text 16"/>
          <p:cNvSpPr/>
          <p:nvPr/>
        </p:nvSpPr>
        <p:spPr>
          <a:xfrm>
            <a:off x="771525" y="4022725"/>
            <a:ext cx="49530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"你是宝马售后业务助理。请将会议记录转化为正式会议纪要。</a:t>
            </a:r>
            <a:r>
              <a:rPr lang="en-US" sz="120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要求：</a:t>
            </a: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结构为议题→结论→待办事项（负责人+截止日），待办用 [ ] 标注状态，语气内部专业但明确。"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7" name="Shape 17"/>
          <p:cNvSpPr/>
          <p:nvPr/>
        </p:nvSpPr>
        <p:spPr>
          <a:xfrm>
            <a:off x="790575" y="4918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8" name="Text 18"/>
          <p:cNvSpPr/>
          <p:nvPr/>
        </p:nvSpPr>
        <p:spPr>
          <a:xfrm>
            <a:off x="1038225" y="4879975"/>
            <a:ext cx="23336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效果：可存档、可追踪、可直接发邮件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6196013" y="1541463"/>
            <a:ext cx="5610225" cy="3933825"/>
          </a:xfrm>
          <a:custGeom>
            <a:avLst/>
            <a:gdLst/>
            <a:ahLst/>
            <a:cxnLst/>
            <a:rect l="l" t="t" r="r" b="b"/>
            <a:pathLst>
              <a:path w="5610225" h="393382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3857627"/>
                </a:lnTo>
                <a:cubicBezTo>
                  <a:pt x="5610225" y="3899710"/>
                  <a:pt x="5576110" y="3933825"/>
                  <a:pt x="5534027" y="3933825"/>
                </a:cubicBezTo>
                <a:lnTo>
                  <a:pt x="76198" y="3933825"/>
                </a:lnTo>
                <a:cubicBezTo>
                  <a:pt x="34115" y="3933825"/>
                  <a:pt x="0" y="3899710"/>
                  <a:pt x="0" y="3857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0" name="Shape 20"/>
          <p:cNvSpPr/>
          <p:nvPr/>
        </p:nvSpPr>
        <p:spPr>
          <a:xfrm>
            <a:off x="6391275" y="1736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A526">
              <a:alpha val="20000"/>
            </a:srgbClr>
          </a:solidFill>
        </p:spPr>
      </p:sp>
      <p:sp>
        <p:nvSpPr>
          <p:cNvPr id="111" name="Shape 21"/>
          <p:cNvSpPr/>
          <p:nvPr/>
        </p:nvSpPr>
        <p:spPr>
          <a:xfrm>
            <a:off x="6505575" y="1851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12" name="Text 22"/>
          <p:cNvSpPr/>
          <p:nvPr/>
        </p:nvSpPr>
        <p:spPr>
          <a:xfrm>
            <a:off x="6962775" y="181292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邮件生成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3" name="Shape 23"/>
          <p:cNvSpPr/>
          <p:nvPr/>
        </p:nvSpPr>
        <p:spPr>
          <a:xfrm>
            <a:off x="6410325" y="2346325"/>
            <a:ext cx="5200650" cy="1104900"/>
          </a:xfrm>
          <a:custGeom>
            <a:avLst/>
            <a:gdLst/>
            <a:ahLst/>
            <a:cxnLst/>
            <a:rect l="l" t="t" r="r" b="b"/>
            <a:pathLst>
              <a:path w="5200650" h="1104900">
                <a:moveTo>
                  <a:pt x="38100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028695"/>
                </a:lnTo>
                <a:cubicBezTo>
                  <a:pt x="5200650" y="1070782"/>
                  <a:pt x="5166532" y="1104900"/>
                  <a:pt x="5124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</p:spPr>
      </p:sp>
      <p:sp>
        <p:nvSpPr>
          <p:cNvPr id="114" name="Shape 24"/>
          <p:cNvSpPr/>
          <p:nvPr/>
        </p:nvSpPr>
        <p:spPr>
          <a:xfrm>
            <a:off x="6410325" y="2346325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F7D8C"/>
          </a:solidFill>
        </p:spPr>
      </p:sp>
      <p:sp>
        <p:nvSpPr>
          <p:cNvPr id="115" name="Text 25"/>
          <p:cNvSpPr/>
          <p:nvPr/>
        </p:nvSpPr>
        <p:spPr>
          <a:xfrm>
            <a:off x="6581775" y="2498725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普通 Prompt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6" name="Text 26"/>
          <p:cNvSpPr/>
          <p:nvPr/>
        </p:nvSpPr>
        <p:spPr>
          <a:xfrm>
            <a:off x="6581775" y="2765425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"写邮件给区域经理，催他们交周报"</a:t>
            </a:r>
            <a:endParaRPr lang="en-US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7" name="Shape 27"/>
          <p:cNvSpPr/>
          <p:nvPr/>
        </p:nvSpPr>
        <p:spPr>
          <a:xfrm>
            <a:off x="6600825" y="3146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18" name="Text 28"/>
          <p:cNvSpPr/>
          <p:nvPr/>
        </p:nvSpPr>
        <p:spPr>
          <a:xfrm>
            <a:off x="6848475" y="3108325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问题：语气生硬，缺少背景和紧迫感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9" name="Shape 29"/>
          <p:cNvSpPr/>
          <p:nvPr/>
        </p:nvSpPr>
        <p:spPr>
          <a:xfrm>
            <a:off x="6410325" y="3603625"/>
            <a:ext cx="5200650" cy="1619250"/>
          </a:xfrm>
          <a:custGeom>
            <a:avLst/>
            <a:gdLst/>
            <a:ahLst/>
            <a:cxnLst/>
            <a:rect l="l" t="t" r="r" b="b"/>
            <a:pathLst>
              <a:path w="5200650" h="161925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1543048"/>
                </a:lnTo>
                <a:cubicBezTo>
                  <a:pt x="5200650" y="1585133"/>
                  <a:pt x="5166533" y="1619250"/>
                  <a:pt x="5124448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</p:spPr>
      </p:sp>
      <p:sp>
        <p:nvSpPr>
          <p:cNvPr id="120" name="Shape 30"/>
          <p:cNvSpPr/>
          <p:nvPr/>
        </p:nvSpPr>
        <p:spPr>
          <a:xfrm>
            <a:off x="6410325" y="3603625"/>
            <a:ext cx="38100" cy="1619250"/>
          </a:xfrm>
          <a:custGeom>
            <a:avLst/>
            <a:gdLst/>
            <a:ahLst/>
            <a:cxnLst/>
            <a:rect l="l" t="t" r="r" b="b"/>
            <a:pathLst>
              <a:path w="38100" h="161925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21" name="Text 31"/>
          <p:cNvSpPr/>
          <p:nvPr/>
        </p:nvSpPr>
        <p:spPr>
          <a:xfrm>
            <a:off x="6581775" y="3756025"/>
            <a:ext cx="49434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高级 Prompt</a:t>
            </a:r>
            <a:endParaRPr lang="en-US" sz="10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2" name="Text 32"/>
          <p:cNvSpPr/>
          <p:nvPr/>
        </p:nvSpPr>
        <p:spPr>
          <a:xfrm>
            <a:off x="6581775" y="4022725"/>
            <a:ext cx="49530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"你是宝马销售运营总监。请写邮件给区域销售经理。</a:t>
            </a:r>
            <a:r>
              <a:rPr lang="en-US" sz="120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背景：</a:t>
            </a: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周报用于月度 executive review。</a:t>
            </a:r>
            <a:r>
              <a:rPr lang="en-US" sz="120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语气：</a:t>
            </a: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专业但温和，强调重要性。</a:t>
            </a:r>
            <a:r>
              <a:rPr lang="en-US" sz="120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内容：</a:t>
            </a: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提醒截止时间（周四 18:00）、附加模板链接、询问是否需要支持。"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3" name="Shape 33"/>
          <p:cNvSpPr/>
          <p:nvPr/>
        </p:nvSpPr>
        <p:spPr>
          <a:xfrm>
            <a:off x="6600825" y="4918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24" name="Text 34"/>
          <p:cNvSpPr/>
          <p:nvPr/>
        </p:nvSpPr>
        <p:spPr>
          <a:xfrm>
            <a:off x="6848475" y="4879975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效果：可直接发送，仅需微调收件人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5" name="Shape 35"/>
          <p:cNvSpPr/>
          <p:nvPr/>
        </p:nvSpPr>
        <p:spPr>
          <a:xfrm>
            <a:off x="385763" y="5637213"/>
            <a:ext cx="3695700" cy="1076325"/>
          </a:xfrm>
          <a:custGeom>
            <a:avLst/>
            <a:gdLst/>
            <a:ahLst/>
            <a:cxnLst/>
            <a:rect l="l" t="t" r="r" b="b"/>
            <a:pathLst>
              <a:path w="3695700" h="1076325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1000121"/>
                </a:lnTo>
                <a:cubicBezTo>
                  <a:pt x="3695700" y="1042207"/>
                  <a:pt x="3661582" y="1076325"/>
                  <a:pt x="361949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6" name="Shape 36"/>
          <p:cNvSpPr/>
          <p:nvPr/>
        </p:nvSpPr>
        <p:spPr>
          <a:xfrm>
            <a:off x="2135163" y="57943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7" name="Text 37"/>
          <p:cNvSpPr/>
          <p:nvPr/>
        </p:nvSpPr>
        <p:spPr>
          <a:xfrm>
            <a:off x="504825" y="6099175"/>
            <a:ext cx="3457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明确角色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8" name="Text 38"/>
          <p:cNvSpPr/>
          <p:nvPr/>
        </p:nvSpPr>
        <p:spPr>
          <a:xfrm>
            <a:off x="509587" y="636587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设定发件人身份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9" name="Shape 39"/>
          <p:cNvSpPr/>
          <p:nvPr/>
        </p:nvSpPr>
        <p:spPr>
          <a:xfrm>
            <a:off x="4246513" y="5637213"/>
            <a:ext cx="3695700" cy="1076325"/>
          </a:xfrm>
          <a:custGeom>
            <a:avLst/>
            <a:gdLst/>
            <a:ahLst/>
            <a:cxnLst/>
            <a:rect l="l" t="t" r="r" b="b"/>
            <a:pathLst>
              <a:path w="3695700" h="1076325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1000121"/>
                </a:lnTo>
                <a:cubicBezTo>
                  <a:pt x="3695700" y="1042207"/>
                  <a:pt x="3661582" y="1076325"/>
                  <a:pt x="361949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0" name="Shape 40"/>
          <p:cNvSpPr/>
          <p:nvPr/>
        </p:nvSpPr>
        <p:spPr>
          <a:xfrm>
            <a:off x="5981626" y="5794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31" name="Text 41"/>
          <p:cNvSpPr/>
          <p:nvPr/>
        </p:nvSpPr>
        <p:spPr>
          <a:xfrm>
            <a:off x="4365575" y="6099175"/>
            <a:ext cx="3457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补充背景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2" name="Text 42"/>
          <p:cNvSpPr/>
          <p:nvPr/>
        </p:nvSpPr>
        <p:spPr>
          <a:xfrm>
            <a:off x="4370338" y="636587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说明场景和目的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3" name="Shape 43"/>
          <p:cNvSpPr/>
          <p:nvPr/>
        </p:nvSpPr>
        <p:spPr>
          <a:xfrm>
            <a:off x="8107338" y="5637213"/>
            <a:ext cx="3695700" cy="1076325"/>
          </a:xfrm>
          <a:custGeom>
            <a:avLst/>
            <a:gdLst/>
            <a:ahLst/>
            <a:cxnLst/>
            <a:rect l="l" t="t" r="r" b="b"/>
            <a:pathLst>
              <a:path w="3695700" h="1076325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1000121"/>
                </a:lnTo>
                <a:cubicBezTo>
                  <a:pt x="3695700" y="1042207"/>
                  <a:pt x="3661582" y="1076325"/>
                  <a:pt x="361949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4" name="Shape 44"/>
          <p:cNvSpPr/>
          <p:nvPr/>
        </p:nvSpPr>
        <p:spPr>
          <a:xfrm>
            <a:off x="9842450" y="5794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5" name="Text 45"/>
          <p:cNvSpPr/>
          <p:nvPr/>
        </p:nvSpPr>
        <p:spPr>
          <a:xfrm>
            <a:off x="8226400" y="6099175"/>
            <a:ext cx="3457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细化行动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6" name="Text 46"/>
          <p:cNvSpPr/>
          <p:nvPr/>
        </p:nvSpPr>
        <p:spPr>
          <a:xfrm>
            <a:off x="8231163" y="636587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列出具体要点</a:t>
            </a:r>
            <a:endParaRPr lang="en-US" sz="1600" dirty="0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演示</a:t>
            </a:r>
            <a:endParaRPr lang="zh-CN" altLang="en-US"/>
          </a:p>
        </p:txBody>
      </p:sp>
      <p:sp>
        <p:nvSpPr>
          <p:cNvPr id="43" name="Shape 12"/>
          <p:cNvSpPr/>
          <p:nvPr/>
        </p:nvSpPr>
        <p:spPr>
          <a:xfrm>
            <a:off x="2131060" y="2038350"/>
            <a:ext cx="7929245" cy="2781300"/>
          </a:xfrm>
          <a:prstGeom prst="roundRect">
            <a:avLst>
              <a:gd name="adj" fmla="val 6043"/>
            </a:avLst>
          </a:prstGeom>
          <a:solidFill>
            <a:schemeClr val="bg1">
              <a:lumMod val="75000"/>
              <a:lumOff val="25000"/>
              <a:alpha val="46000"/>
            </a:scheme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2174240" y="3263900"/>
            <a:ext cx="7856855" cy="406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使用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Copilot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进行</a:t>
            </a:r>
            <a:r>
              <a:rPr lang="en-US" altLang="zh-CN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Word</a:t>
            </a:r>
            <a:r>
              <a:rPr lang="zh-CN" altLang="en-US" sz="3200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BMWGroupTN Condensed TT Medium" charset="0"/>
                <a:ea typeface="BMWGroupTN Condensed TT Medium" charset="0"/>
                <a:cs typeface="BMWGroupTN Condensed TT Medium" charset="0"/>
                <a:sym typeface="+mn-ea"/>
              </a:rPr>
              <a:t>文档与邮件自动生成</a:t>
            </a:r>
            <a:endParaRPr lang="zh-CN" altLang="en-US" sz="3200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latin typeface="BMWGroupTN Condensed TT Medium" charset="0"/>
              <a:ea typeface="BMWGroupTN Condensed TT Medium" charset="0"/>
              <a:cs typeface="BMWGroupTN Condensed TT Medium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</a:t>
            </a:r>
            <a:r>
              <a:t>THREE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1432560" y="3180080"/>
            <a:ext cx="9326880" cy="1405255"/>
          </a:xfrm>
        </p:spPr>
        <p:txBody>
          <a:bodyPr>
            <a:noAutofit/>
          </a:bodyPr>
          <a:lstStyle/>
          <a:p>
            <a:r>
              <a:rPr lang="en-US" altLang="zh-CN" sz="4800">
                <a:sym typeface="+mn-ea"/>
              </a:rPr>
              <a:t>Prompt </a:t>
            </a:r>
            <a:r>
              <a:rPr lang="zh-CN" altLang="en-US" sz="4800">
                <a:sym typeface="+mn-ea"/>
              </a:rPr>
              <a:t>金字塔</a:t>
            </a:r>
            <a:br>
              <a:rPr lang="zh-CN" altLang="en-US" sz="4800">
                <a:sym typeface="+mn-ea"/>
              </a:rPr>
            </a:br>
            <a:r>
              <a:rPr lang="zh-CN" altLang="en-US" sz="4800">
                <a:sym typeface="+mn-ea"/>
              </a:rPr>
              <a:t>核心模型与万能公式</a:t>
            </a:r>
            <a:endParaRPr lang="zh-CN" altLang="en-US" sz="48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>
                <a:ea typeface="BMWGroupTN Condensed TT Medium" charset="0"/>
              </a:rPr>
              <a:t>Prompt </a:t>
            </a:r>
            <a:r>
              <a:rPr lang="zh-CN" altLang="en-US">
                <a:ea typeface="BMWGroupTN Condensed TT Medium" charset="0"/>
              </a:rPr>
              <a:t>高级技巧金字塔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695325" y="1066800"/>
            <a:ext cx="11201400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万能 Prompt 公式 —— 本课最重要的模型</a:t>
            </a:r>
            <a:endParaRPr 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1600200" y="1752600"/>
            <a:ext cx="4762500" cy="685800"/>
          </a:xfrm>
          <a:custGeom>
            <a:avLst/>
            <a:gdLst/>
            <a:ahLst/>
            <a:cxnLst/>
            <a:rect l="l" t="t" r="r" b="b"/>
            <a:pathLst>
              <a:path w="4762500" h="685800">
                <a:moveTo>
                  <a:pt x="76199" y="0"/>
                </a:moveTo>
                <a:lnTo>
                  <a:pt x="4686301" y="0"/>
                </a:lnTo>
                <a:cubicBezTo>
                  <a:pt x="4728384" y="0"/>
                  <a:pt x="4762500" y="34116"/>
                  <a:pt x="4762500" y="76199"/>
                </a:cubicBezTo>
                <a:lnTo>
                  <a:pt x="4762500" y="609601"/>
                </a:lnTo>
                <a:cubicBezTo>
                  <a:pt x="4762500" y="651684"/>
                  <a:pt x="4728384" y="685800"/>
                  <a:pt x="4686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E0A526">
                  <a:alpha val="100000"/>
                </a:srgbClr>
              </a:gs>
              <a:gs pos="100000">
                <a:srgbClr val="E0A526">
                  <a:alpha val="19000"/>
                </a:srgbClr>
              </a:gs>
            </a:gsLst>
            <a:lin ang="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05" name="Shape 5"/>
          <p:cNvSpPr/>
          <p:nvPr/>
        </p:nvSpPr>
        <p:spPr>
          <a:xfrm>
            <a:off x="1828800" y="1943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6" name="Text 6"/>
          <p:cNvSpPr/>
          <p:nvPr/>
        </p:nvSpPr>
        <p:spPr>
          <a:xfrm>
            <a:off x="1790700" y="19431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6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2286000" y="1866900"/>
            <a:ext cx="3933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示例（可选）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2286000" y="2133600"/>
            <a:ext cx="39147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给一段参考输出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09" name="Shape 9"/>
          <p:cNvSpPr/>
          <p:nvPr/>
        </p:nvSpPr>
        <p:spPr>
          <a:xfrm>
            <a:off x="1885950" y="2552700"/>
            <a:ext cx="4191000" cy="685800"/>
          </a:xfrm>
          <a:custGeom>
            <a:avLst/>
            <a:gdLst/>
            <a:ahLst/>
            <a:cxnLst/>
            <a:rect l="l" t="t" r="r" b="b"/>
            <a:pathLst>
              <a:path w="4191000" h="685800">
                <a:moveTo>
                  <a:pt x="76199" y="0"/>
                </a:moveTo>
                <a:lnTo>
                  <a:pt x="4114801" y="0"/>
                </a:lnTo>
                <a:cubicBezTo>
                  <a:pt x="4156884" y="0"/>
                  <a:pt x="4191000" y="34116"/>
                  <a:pt x="4191000" y="76199"/>
                </a:cubicBezTo>
                <a:lnTo>
                  <a:pt x="4191000" y="609601"/>
                </a:lnTo>
                <a:cubicBezTo>
                  <a:pt x="4191000" y="651684"/>
                  <a:pt x="4156884" y="685800"/>
                  <a:pt x="4114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E2"/>
              </a:gs>
              <a:gs pos="100000">
                <a:srgbClr val="4A90E2">
                  <a:alpha val="18000"/>
                </a:srgbClr>
              </a:gs>
            </a:gsLst>
            <a:lin ang="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10" name="Shape 10"/>
          <p:cNvSpPr/>
          <p:nvPr/>
        </p:nvSpPr>
        <p:spPr>
          <a:xfrm>
            <a:off x="2114550" y="274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11" name="Text 11"/>
          <p:cNvSpPr/>
          <p:nvPr/>
        </p:nvSpPr>
        <p:spPr>
          <a:xfrm>
            <a:off x="2076450" y="2743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5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2571750" y="2667000"/>
            <a:ext cx="3362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风格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2571750" y="2933700"/>
            <a:ext cx="33432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语气、品牌、视觉偏好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4" name="Shape 14"/>
          <p:cNvSpPr/>
          <p:nvPr/>
        </p:nvSpPr>
        <p:spPr>
          <a:xfrm>
            <a:off x="2171700" y="335280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76199" y="0"/>
                </a:moveTo>
                <a:lnTo>
                  <a:pt x="3543301" y="0"/>
                </a:lnTo>
                <a:cubicBezTo>
                  <a:pt x="3585384" y="0"/>
                  <a:pt x="3619500" y="34116"/>
                  <a:pt x="3619500" y="76199"/>
                </a:cubicBezTo>
                <a:lnTo>
                  <a:pt x="3619500" y="609601"/>
                </a:lnTo>
                <a:cubicBezTo>
                  <a:pt x="3619500" y="651684"/>
                  <a:pt x="3585384" y="685800"/>
                  <a:pt x="3543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E2"/>
              </a:gs>
              <a:gs pos="100000">
                <a:srgbClr val="4A90E2">
                  <a:alpha val="26000"/>
                </a:srgbClr>
              </a:gs>
            </a:gsLst>
            <a:lin ang="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  <p:txBody>
          <a:bodyPr/>
          <a:p>
            <a:endParaRPr lang="zh-CN" altLang="en-US">
              <a:cs typeface="BMWGroupTN Condensed TT Medium" charset="0"/>
            </a:endParaRPr>
          </a:p>
        </p:txBody>
      </p:sp>
      <p:sp>
        <p:nvSpPr>
          <p:cNvPr id="115" name="Shape 15"/>
          <p:cNvSpPr/>
          <p:nvPr/>
        </p:nvSpPr>
        <p:spPr>
          <a:xfrm>
            <a:off x="2400300" y="3543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16" name="Text 16"/>
          <p:cNvSpPr/>
          <p:nvPr/>
        </p:nvSpPr>
        <p:spPr>
          <a:xfrm>
            <a:off x="2362200" y="35433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4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7" name="Text 17"/>
          <p:cNvSpPr/>
          <p:nvPr/>
        </p:nvSpPr>
        <p:spPr>
          <a:xfrm>
            <a:off x="2857500" y="3467100"/>
            <a:ext cx="2790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格式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8" name="Text 18"/>
          <p:cNvSpPr/>
          <p:nvPr/>
        </p:nvSpPr>
        <p:spPr>
          <a:xfrm>
            <a:off x="2857500" y="3733800"/>
            <a:ext cx="27717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表格 / 列表 / 段落 / Markdown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19" name="Shape 19"/>
          <p:cNvSpPr/>
          <p:nvPr/>
        </p:nvSpPr>
        <p:spPr>
          <a:xfrm>
            <a:off x="2457450" y="4152900"/>
            <a:ext cx="3048000" cy="685800"/>
          </a:xfrm>
          <a:custGeom>
            <a:avLst/>
            <a:gdLst/>
            <a:ahLst/>
            <a:cxnLst/>
            <a:rect l="l" t="t" r="r" b="b"/>
            <a:pathLst>
              <a:path w="3048000" h="685800">
                <a:moveTo>
                  <a:pt x="76199" y="0"/>
                </a:moveTo>
                <a:lnTo>
                  <a:pt x="2971801" y="0"/>
                </a:lnTo>
                <a:cubicBezTo>
                  <a:pt x="3013884" y="0"/>
                  <a:pt x="3048000" y="34116"/>
                  <a:pt x="3048000" y="76199"/>
                </a:cubicBezTo>
                <a:lnTo>
                  <a:pt x="3048000" y="609601"/>
                </a:lnTo>
                <a:cubicBezTo>
                  <a:pt x="3048000" y="651684"/>
                  <a:pt x="3013884" y="685800"/>
                  <a:pt x="2971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6F7D8C"/>
              </a:gs>
              <a:gs pos="100000">
                <a:srgbClr val="6F7D8C">
                  <a:alpha val="33000"/>
                </a:srgbClr>
              </a:gs>
            </a:gsLst>
            <a:lin ang="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20" name="Shape 20"/>
          <p:cNvSpPr/>
          <p:nvPr/>
        </p:nvSpPr>
        <p:spPr>
          <a:xfrm>
            <a:off x="2686050" y="4343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21" name="Text 21"/>
          <p:cNvSpPr/>
          <p:nvPr/>
        </p:nvSpPr>
        <p:spPr>
          <a:xfrm>
            <a:off x="2647950" y="43434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3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2" name="Text 22"/>
          <p:cNvSpPr/>
          <p:nvPr/>
        </p:nvSpPr>
        <p:spPr>
          <a:xfrm>
            <a:off x="3143250" y="4267200"/>
            <a:ext cx="2219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上下文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3" name="Text 23"/>
          <p:cNvSpPr/>
          <p:nvPr/>
        </p:nvSpPr>
        <p:spPr>
          <a:xfrm>
            <a:off x="3143250" y="4533900"/>
            <a:ext cx="22002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背景、已知数据、约束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4" name="Shape 24"/>
          <p:cNvSpPr/>
          <p:nvPr/>
        </p:nvSpPr>
        <p:spPr>
          <a:xfrm>
            <a:off x="2743200" y="4953000"/>
            <a:ext cx="2476500" cy="685800"/>
          </a:xfrm>
          <a:custGeom>
            <a:avLst/>
            <a:gdLst/>
            <a:ahLst/>
            <a:cxnLst/>
            <a:rect l="l" t="t" r="r" b="b"/>
            <a:pathLst>
              <a:path w="2476500" h="685800">
                <a:moveTo>
                  <a:pt x="76199" y="0"/>
                </a:moveTo>
                <a:lnTo>
                  <a:pt x="2400301" y="0"/>
                </a:lnTo>
                <a:cubicBezTo>
                  <a:pt x="2442384" y="0"/>
                  <a:pt x="2476500" y="34116"/>
                  <a:pt x="2476500" y="76199"/>
                </a:cubicBezTo>
                <a:lnTo>
                  <a:pt x="2476500" y="609601"/>
                </a:lnTo>
                <a:cubicBezTo>
                  <a:pt x="2476500" y="651684"/>
                  <a:pt x="2442384" y="685800"/>
                  <a:pt x="24003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6F7D8C"/>
              </a:gs>
              <a:gs pos="100000">
                <a:srgbClr val="6F7D8C">
                  <a:alpha val="15000"/>
                </a:srgbClr>
              </a:gs>
            </a:gsLst>
            <a:lin ang="0" scaled="1"/>
          </a:gradFill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25" name="Shape 25"/>
          <p:cNvSpPr/>
          <p:nvPr/>
        </p:nvSpPr>
        <p:spPr>
          <a:xfrm>
            <a:off x="2971800" y="514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26" name="Text 26"/>
          <p:cNvSpPr/>
          <p:nvPr/>
        </p:nvSpPr>
        <p:spPr>
          <a:xfrm>
            <a:off x="2933700" y="51435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2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7" name="Text 27"/>
          <p:cNvSpPr/>
          <p:nvPr/>
        </p:nvSpPr>
        <p:spPr>
          <a:xfrm>
            <a:off x="3429000" y="5067300"/>
            <a:ext cx="1647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任务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3429000" y="5334000"/>
            <a:ext cx="16287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具体要做什么？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29" name="Shape 29"/>
          <p:cNvSpPr/>
          <p:nvPr/>
        </p:nvSpPr>
        <p:spPr>
          <a:xfrm>
            <a:off x="3038475" y="5762625"/>
            <a:ext cx="1885950" cy="704850"/>
          </a:xfrm>
          <a:custGeom>
            <a:avLst/>
            <a:gdLst/>
            <a:ahLst/>
            <a:cxnLst/>
            <a:rect l="l" t="t" r="r" b="b"/>
            <a:pathLst>
              <a:path w="1885950" h="704850">
                <a:moveTo>
                  <a:pt x="76201" y="0"/>
                </a:moveTo>
                <a:lnTo>
                  <a:pt x="1809749" y="0"/>
                </a:lnTo>
                <a:cubicBezTo>
                  <a:pt x="1851834" y="0"/>
                  <a:pt x="1885950" y="34116"/>
                  <a:pt x="1885950" y="76201"/>
                </a:cubicBezTo>
                <a:lnTo>
                  <a:pt x="1885950" y="628649"/>
                </a:lnTo>
                <a:cubicBezTo>
                  <a:pt x="1885950" y="670734"/>
                  <a:pt x="1851834" y="704850"/>
                  <a:pt x="1809749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A1D"/>
              </a:gs>
              <a:gs pos="100000">
                <a:srgbClr val="1A1A1D">
                  <a:alpha val="25000"/>
                </a:srgbClr>
              </a:gs>
            </a:gsLst>
            <a:lin ang="0" scaled="1"/>
          </a:gradFill>
          <a:ln w="25400">
            <a:solidFill>
              <a:srgbClr val="4A90E2"/>
            </a:solidFill>
            <a:prstDash val="solid"/>
          </a:ln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30" name="Shape 30"/>
          <p:cNvSpPr/>
          <p:nvPr/>
        </p:nvSpPr>
        <p:spPr>
          <a:xfrm>
            <a:off x="3276600" y="59626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1" name="Text 31"/>
          <p:cNvSpPr/>
          <p:nvPr/>
        </p:nvSpPr>
        <p:spPr>
          <a:xfrm>
            <a:off x="3238500" y="596265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1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2" name="Text 32"/>
          <p:cNvSpPr/>
          <p:nvPr/>
        </p:nvSpPr>
        <p:spPr>
          <a:xfrm>
            <a:off x="3733800" y="5886450"/>
            <a:ext cx="1038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角色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3" name="Text 33"/>
          <p:cNvSpPr/>
          <p:nvPr/>
        </p:nvSpPr>
        <p:spPr>
          <a:xfrm>
            <a:off x="3733800" y="6153150"/>
            <a:ext cx="10191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谁在说话？</a:t>
            </a:r>
            <a:endParaRPr lang="en-US" sz="105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134" name="Shape 34"/>
          <p:cNvSpPr/>
          <p:nvPr/>
        </p:nvSpPr>
        <p:spPr>
          <a:xfrm>
            <a:off x="7815263" y="1528763"/>
            <a:ext cx="3990975" cy="2190750"/>
          </a:xfrm>
          <a:custGeom>
            <a:avLst/>
            <a:gdLst/>
            <a:ahLst/>
            <a:cxnLst/>
            <a:rect l="l" t="t" r="r" b="b"/>
            <a:pathLst>
              <a:path w="3990975" h="2190750">
                <a:moveTo>
                  <a:pt x="76194" y="0"/>
                </a:moveTo>
                <a:lnTo>
                  <a:pt x="3914781" y="0"/>
                </a:lnTo>
                <a:cubicBezTo>
                  <a:pt x="3956833" y="0"/>
                  <a:pt x="3990975" y="34142"/>
                  <a:pt x="3990975" y="76194"/>
                </a:cubicBezTo>
                <a:lnTo>
                  <a:pt x="3990975" y="2114556"/>
                </a:lnTo>
                <a:cubicBezTo>
                  <a:pt x="3990975" y="2156637"/>
                  <a:pt x="3956862" y="2190750"/>
                  <a:pt x="3914781" y="2190750"/>
                </a:cubicBezTo>
                <a:lnTo>
                  <a:pt x="76194" y="2190750"/>
                </a:lnTo>
                <a:cubicBezTo>
                  <a:pt x="34142" y="2190750"/>
                  <a:pt x="0" y="2156608"/>
                  <a:pt x="0" y="21145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5" name="Shape 35"/>
          <p:cNvSpPr/>
          <p:nvPr/>
        </p:nvSpPr>
        <p:spPr>
          <a:xfrm>
            <a:off x="8039100" y="1743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36" name="Text 36"/>
          <p:cNvSpPr/>
          <p:nvPr/>
        </p:nvSpPr>
        <p:spPr>
          <a:xfrm>
            <a:off x="8410575" y="17240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口诀记忆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37" name="Shape 37"/>
          <p:cNvSpPr/>
          <p:nvPr/>
        </p:nvSpPr>
        <p:spPr>
          <a:xfrm>
            <a:off x="8029575" y="2105025"/>
            <a:ext cx="3581400" cy="1419225"/>
          </a:xfrm>
          <a:custGeom>
            <a:avLst/>
            <a:gdLst/>
            <a:ahLst/>
            <a:cxnLst/>
            <a:rect l="l" t="t" r="r" b="b"/>
            <a:pathLst>
              <a:path w="3581400" h="1419225">
                <a:moveTo>
                  <a:pt x="38100" y="0"/>
                </a:moveTo>
                <a:lnTo>
                  <a:pt x="3505202" y="0"/>
                </a:lnTo>
                <a:cubicBezTo>
                  <a:pt x="3547285" y="0"/>
                  <a:pt x="3581400" y="34115"/>
                  <a:pt x="3581400" y="76198"/>
                </a:cubicBezTo>
                <a:lnTo>
                  <a:pt x="3581400" y="1343027"/>
                </a:lnTo>
                <a:cubicBezTo>
                  <a:pt x="3581400" y="1385110"/>
                  <a:pt x="3547285" y="1419225"/>
                  <a:pt x="3505202" y="1419225"/>
                </a:cubicBezTo>
                <a:lnTo>
                  <a:pt x="38100" y="1419225"/>
                </a:lnTo>
                <a:cubicBezTo>
                  <a:pt x="17072" y="1419225"/>
                  <a:pt x="0" y="1402153"/>
                  <a:pt x="0" y="1381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A1D">
              <a:alpha val="50196"/>
            </a:srgbClr>
          </a:solidFill>
        </p:spPr>
      </p:sp>
      <p:sp>
        <p:nvSpPr>
          <p:cNvPr id="138" name="Shape 38"/>
          <p:cNvSpPr/>
          <p:nvPr/>
        </p:nvSpPr>
        <p:spPr>
          <a:xfrm>
            <a:off x="8029575" y="2105025"/>
            <a:ext cx="38100" cy="1419225"/>
          </a:xfrm>
          <a:custGeom>
            <a:avLst/>
            <a:gdLst/>
            <a:ahLst/>
            <a:cxnLst/>
            <a:rect l="l" t="t" r="r" b="b"/>
            <a:pathLst>
              <a:path w="38100" h="1419225">
                <a:moveTo>
                  <a:pt x="38100" y="0"/>
                </a:moveTo>
                <a:lnTo>
                  <a:pt x="38100" y="0"/>
                </a:lnTo>
                <a:lnTo>
                  <a:pt x="38100" y="1419225"/>
                </a:lnTo>
                <a:lnTo>
                  <a:pt x="38100" y="1419225"/>
                </a:lnTo>
                <a:cubicBezTo>
                  <a:pt x="17072" y="1419225"/>
                  <a:pt x="0" y="1402153"/>
                  <a:pt x="0" y="1381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39" name="Text 39"/>
          <p:cNvSpPr/>
          <p:nvPr/>
        </p:nvSpPr>
        <p:spPr>
          <a:xfrm>
            <a:off x="8158163" y="2257425"/>
            <a:ext cx="3343275" cy="1114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"角色定调，任务明确</a:t>
            </a:r>
            <a:endParaRPr lang="en-US" sz="1600" dirty="0">
              <a:cs typeface="BMWGroupTN Condensed TT Medium" charset="0"/>
            </a:endParaRPr>
          </a:p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上下文不省略</a:t>
            </a:r>
            <a:endParaRPr lang="en-US" sz="1600" dirty="0">
              <a:cs typeface="BMWGroupTN Condensed TT Medium" charset="0"/>
            </a:endParaRPr>
          </a:p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格式风格写两行</a:t>
            </a:r>
            <a:endParaRPr lang="en-US" sz="1600" dirty="0">
              <a:cs typeface="BMWGroupTN Condensed TT Medium" charset="0"/>
            </a:endParaRPr>
          </a:p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输出质量翻倍涨</a:t>
            </a: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"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40" name="Shape 40"/>
          <p:cNvSpPr/>
          <p:nvPr/>
        </p:nvSpPr>
        <p:spPr>
          <a:xfrm>
            <a:off x="7815263" y="3881438"/>
            <a:ext cx="3990975" cy="2819400"/>
          </a:xfrm>
          <a:custGeom>
            <a:avLst/>
            <a:gdLst/>
            <a:ahLst/>
            <a:cxnLst/>
            <a:rect l="l" t="t" r="r" b="b"/>
            <a:pathLst>
              <a:path w="3990975" h="2819400">
                <a:moveTo>
                  <a:pt x="76208" y="0"/>
                </a:moveTo>
                <a:lnTo>
                  <a:pt x="3914767" y="0"/>
                </a:lnTo>
                <a:cubicBezTo>
                  <a:pt x="3956855" y="0"/>
                  <a:pt x="3990975" y="34120"/>
                  <a:pt x="3990975" y="76208"/>
                </a:cubicBezTo>
                <a:lnTo>
                  <a:pt x="3990975" y="2743192"/>
                </a:lnTo>
                <a:cubicBezTo>
                  <a:pt x="3990975" y="2785280"/>
                  <a:pt x="3956855" y="2819400"/>
                  <a:pt x="3914767" y="2819400"/>
                </a:cubicBezTo>
                <a:lnTo>
                  <a:pt x="76208" y="2819400"/>
                </a:lnTo>
                <a:cubicBezTo>
                  <a:pt x="34120" y="2819400"/>
                  <a:pt x="0" y="2785280"/>
                  <a:pt x="0" y="27431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1" name="Shape 41"/>
          <p:cNvSpPr/>
          <p:nvPr/>
        </p:nvSpPr>
        <p:spPr>
          <a:xfrm>
            <a:off x="8039100" y="4095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42" name="Text 42"/>
          <p:cNvSpPr/>
          <p:nvPr/>
        </p:nvSpPr>
        <p:spPr>
          <a:xfrm>
            <a:off x="8410575" y="40767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关键要点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43" name="Shape 43"/>
          <p:cNvSpPr/>
          <p:nvPr/>
        </p:nvSpPr>
        <p:spPr>
          <a:xfrm>
            <a:off x="8010525" y="4476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144" name="Shape 44"/>
          <p:cNvSpPr/>
          <p:nvPr/>
        </p:nvSpPr>
        <p:spPr>
          <a:xfrm>
            <a:off x="8060531" y="453390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45" name="Text 45"/>
          <p:cNvSpPr/>
          <p:nvPr/>
        </p:nvSpPr>
        <p:spPr>
          <a:xfrm>
            <a:off x="8353425" y="445770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角色是最底层基础，决定输出视角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46" name="Shape 46"/>
          <p:cNvSpPr/>
          <p:nvPr/>
        </p:nvSpPr>
        <p:spPr>
          <a:xfrm>
            <a:off x="8010525" y="4838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147" name="Shape 47"/>
          <p:cNvSpPr/>
          <p:nvPr/>
        </p:nvSpPr>
        <p:spPr>
          <a:xfrm>
            <a:off x="8060531" y="489585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48" name="Text 48"/>
          <p:cNvSpPr/>
          <p:nvPr/>
        </p:nvSpPr>
        <p:spPr>
          <a:xfrm>
            <a:off x="8353425" y="481965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任务必须具体可执行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49" name="Shape 49"/>
          <p:cNvSpPr/>
          <p:nvPr/>
        </p:nvSpPr>
        <p:spPr>
          <a:xfrm>
            <a:off x="8010525" y="5200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150" name="Shape 50"/>
          <p:cNvSpPr/>
          <p:nvPr/>
        </p:nvSpPr>
        <p:spPr>
          <a:xfrm>
            <a:off x="8060531" y="525780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51" name="Text 51"/>
          <p:cNvSpPr/>
          <p:nvPr/>
        </p:nvSpPr>
        <p:spPr>
          <a:xfrm>
            <a:off x="8353425" y="51816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上下文提供必要约束和背景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52" name="Shape 52"/>
          <p:cNvSpPr/>
          <p:nvPr/>
        </p:nvSpPr>
        <p:spPr>
          <a:xfrm>
            <a:off x="8010525" y="556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153" name="Shape 53"/>
          <p:cNvSpPr/>
          <p:nvPr/>
        </p:nvSpPr>
        <p:spPr>
          <a:xfrm>
            <a:off x="8060531" y="561975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54" name="Text 54"/>
          <p:cNvSpPr/>
          <p:nvPr/>
        </p:nvSpPr>
        <p:spPr>
          <a:xfrm>
            <a:off x="8353425" y="554355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格式和风格决定可用性</a:t>
            </a:r>
            <a:endParaRPr lang="en-US" sz="1600" dirty="0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</a:t>
            </a:r>
            <a:r>
              <a:t>FOUR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1432560" y="3180080"/>
            <a:ext cx="9326880" cy="1405255"/>
          </a:xfrm>
        </p:spPr>
        <p:txBody>
          <a:bodyPr>
            <a:noAutofit/>
          </a:bodyPr>
          <a:lstStyle/>
          <a:p>
            <a:r>
              <a:rPr lang="zh-CN" altLang="en-US" sz="4800">
                <a:sym typeface="+mn-ea"/>
              </a:rPr>
              <a:t>万能生成器</a:t>
            </a:r>
            <a:br>
              <a:rPr lang="zh-CN" altLang="en-US" sz="4800">
                <a:sym typeface="+mn-ea"/>
              </a:rPr>
            </a:br>
            <a:r>
              <a:rPr lang="zh-CN" altLang="en-US" sz="4800">
                <a:sym typeface="+mn-ea"/>
              </a:rPr>
              <a:t>多轮交互模板（附赠）</a:t>
            </a:r>
            <a:endParaRPr lang="en-US" altLang="zh-CN" sz="48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附赠：万能</a:t>
            </a:r>
            <a:r>
              <a:rPr lang="en-US" altLang="zh-CN">
                <a:ea typeface="BMWGroupTN Condensed TT Medium" charset="0"/>
              </a:rPr>
              <a:t> Prompt </a:t>
            </a:r>
            <a:r>
              <a:rPr lang="zh-CN" altLang="en-US">
                <a:ea typeface="BMWGroupTN Condensed TT Medium" charset="0"/>
              </a:rPr>
              <a:t>生成器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708660" y="1073150"/>
            <a:ext cx="1118806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多轮交互模板 —— 从此告别"不会写 Prompt"</a:t>
            </a:r>
            <a:endParaRPr 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385763" y="1535113"/>
            <a:ext cx="5610225" cy="4505325"/>
          </a:xfrm>
          <a:custGeom>
            <a:avLst/>
            <a:gdLst/>
            <a:ahLst/>
            <a:cxnLst/>
            <a:rect l="l" t="t" r="r" b="b"/>
            <a:pathLst>
              <a:path w="5610225" h="4505325">
                <a:moveTo>
                  <a:pt x="76185" y="0"/>
                </a:moveTo>
                <a:lnTo>
                  <a:pt x="5534040" y="0"/>
                </a:lnTo>
                <a:cubicBezTo>
                  <a:pt x="5576116" y="0"/>
                  <a:pt x="5610225" y="34109"/>
                  <a:pt x="5610225" y="76185"/>
                </a:cubicBezTo>
                <a:lnTo>
                  <a:pt x="5610225" y="4429140"/>
                </a:lnTo>
                <a:cubicBezTo>
                  <a:pt x="5610225" y="4471216"/>
                  <a:pt x="5576116" y="4505325"/>
                  <a:pt x="5534040" y="4505325"/>
                </a:cubicBezTo>
                <a:lnTo>
                  <a:pt x="76185" y="4505325"/>
                </a:lnTo>
                <a:cubicBezTo>
                  <a:pt x="34109" y="4505325"/>
                  <a:pt x="0" y="4471216"/>
                  <a:pt x="0" y="4429140"/>
                </a:cubicBezTo>
                <a:lnTo>
                  <a:pt x="0" y="76185"/>
                </a:lnTo>
                <a:cubicBezTo>
                  <a:pt x="0" y="34137"/>
                  <a:pt x="34137" y="0"/>
                  <a:pt x="76185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7" name="Shape 4"/>
          <p:cNvSpPr/>
          <p:nvPr/>
        </p:nvSpPr>
        <p:spPr>
          <a:xfrm>
            <a:off x="581025" y="1749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78" name="Shape 5"/>
          <p:cNvSpPr/>
          <p:nvPr/>
        </p:nvSpPr>
        <p:spPr>
          <a:xfrm>
            <a:off x="666750" y="18637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9" name="Text 6"/>
          <p:cNvSpPr/>
          <p:nvPr/>
        </p:nvSpPr>
        <p:spPr>
          <a:xfrm>
            <a:off x="1152525" y="1730375"/>
            <a:ext cx="1409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工作原理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0" name="Text 7"/>
          <p:cNvSpPr/>
          <p:nvPr/>
        </p:nvSpPr>
        <p:spPr>
          <a:xfrm>
            <a:off x="1152525" y="2035175"/>
            <a:ext cx="136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F7D8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三步生成专业 Prompt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1" name="Shape 8"/>
          <p:cNvSpPr/>
          <p:nvPr/>
        </p:nvSpPr>
        <p:spPr>
          <a:xfrm>
            <a:off x="600075" y="2378075"/>
            <a:ext cx="5200650" cy="876300"/>
          </a:xfrm>
          <a:custGeom>
            <a:avLst/>
            <a:gdLst/>
            <a:ahLst/>
            <a:cxnLst/>
            <a:rect l="l" t="t" r="r" b="b"/>
            <a:pathLst>
              <a:path w="5200650" h="876300">
                <a:moveTo>
                  <a:pt x="38100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800097"/>
                </a:lnTo>
                <a:cubicBezTo>
                  <a:pt x="5200650" y="842183"/>
                  <a:pt x="5166533" y="876300"/>
                  <a:pt x="5124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ln w="6350" cap="flat" cmpd="sng" algn="ctr">
            <a:solidFill>
              <a:schemeClr val="accent1">
                <a:alpha val="51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3" name="Shape 10"/>
          <p:cNvSpPr/>
          <p:nvPr/>
        </p:nvSpPr>
        <p:spPr>
          <a:xfrm>
            <a:off x="771525" y="25304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84" name="Text 11"/>
          <p:cNvSpPr/>
          <p:nvPr/>
        </p:nvSpPr>
        <p:spPr>
          <a:xfrm>
            <a:off x="733425" y="2530475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1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1190625" y="2549525"/>
            <a:ext cx="172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复制模板发给 Copilot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1190625" y="2911475"/>
            <a:ext cx="4524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将右侧模板完整粘贴到 Copilot Chat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7" name="Shape 14"/>
          <p:cNvSpPr/>
          <p:nvPr/>
        </p:nvSpPr>
        <p:spPr>
          <a:xfrm>
            <a:off x="3119438" y="3368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88" name="Shape 15"/>
          <p:cNvSpPr/>
          <p:nvPr/>
        </p:nvSpPr>
        <p:spPr>
          <a:xfrm>
            <a:off x="600075" y="3673475"/>
            <a:ext cx="5200650" cy="876300"/>
          </a:xfrm>
          <a:custGeom>
            <a:avLst/>
            <a:gdLst/>
            <a:ahLst/>
            <a:cxnLst/>
            <a:rect l="l" t="t" r="r" b="b"/>
            <a:pathLst>
              <a:path w="5200650" h="876300">
                <a:moveTo>
                  <a:pt x="38100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800097"/>
                </a:lnTo>
                <a:cubicBezTo>
                  <a:pt x="5200650" y="842183"/>
                  <a:pt x="5166533" y="876300"/>
                  <a:pt x="5124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ln w="6350" cap="flat" cmpd="sng" algn="ctr">
            <a:solidFill>
              <a:schemeClr val="accent1">
                <a:alpha val="51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0" name="Shape 17"/>
          <p:cNvSpPr/>
          <p:nvPr/>
        </p:nvSpPr>
        <p:spPr>
          <a:xfrm>
            <a:off x="771525" y="38258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91" name="Text 18"/>
          <p:cNvSpPr/>
          <p:nvPr/>
        </p:nvSpPr>
        <p:spPr>
          <a:xfrm>
            <a:off x="733425" y="3825875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D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2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1190625" y="3844925"/>
            <a:ext cx="1485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回答 6 个收集问题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1190625" y="4206875"/>
            <a:ext cx="4524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Copilot 会依次询问，你逐个回答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3119438" y="46640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05" name="Shape 22"/>
          <p:cNvSpPr/>
          <p:nvPr/>
        </p:nvSpPr>
        <p:spPr>
          <a:xfrm>
            <a:off x="600075" y="4968875"/>
            <a:ext cx="5200650" cy="876300"/>
          </a:xfrm>
          <a:custGeom>
            <a:avLst/>
            <a:gdLst/>
            <a:ahLst/>
            <a:cxnLst/>
            <a:rect l="l" t="t" r="r" b="b"/>
            <a:pathLst>
              <a:path w="5200650" h="876300">
                <a:moveTo>
                  <a:pt x="38100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800097"/>
                </a:lnTo>
                <a:cubicBezTo>
                  <a:pt x="5200650" y="842183"/>
                  <a:pt x="5166533" y="876300"/>
                  <a:pt x="5124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ln w="6350" cap="flat" cmpd="sng" algn="ctr">
            <a:solidFill>
              <a:schemeClr val="accent1">
                <a:alpha val="51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7" name="Shape 24"/>
          <p:cNvSpPr/>
          <p:nvPr/>
        </p:nvSpPr>
        <p:spPr>
          <a:xfrm>
            <a:off x="771525" y="51212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8" name="Text 25"/>
          <p:cNvSpPr/>
          <p:nvPr/>
        </p:nvSpPr>
        <p:spPr>
          <a:xfrm>
            <a:off x="733425" y="5121275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3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09" name="Text 26"/>
          <p:cNvSpPr/>
          <p:nvPr/>
        </p:nvSpPr>
        <p:spPr>
          <a:xfrm>
            <a:off x="1190625" y="5140325"/>
            <a:ext cx="1400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获得专业 Prompt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0" name="Text 27"/>
          <p:cNvSpPr/>
          <p:nvPr/>
        </p:nvSpPr>
        <p:spPr>
          <a:xfrm>
            <a:off x="1190625" y="5502275"/>
            <a:ext cx="4524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直接使用生成的高质量 Prompt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1" name="Shape 28"/>
          <p:cNvSpPr/>
          <p:nvPr/>
        </p:nvSpPr>
        <p:spPr>
          <a:xfrm>
            <a:off x="6196013" y="1535113"/>
            <a:ext cx="5610225" cy="4505325"/>
          </a:xfrm>
          <a:custGeom>
            <a:avLst/>
            <a:gdLst/>
            <a:ahLst/>
            <a:cxnLst/>
            <a:rect l="l" t="t" r="r" b="b"/>
            <a:pathLst>
              <a:path w="5610225" h="4505325">
                <a:moveTo>
                  <a:pt x="76185" y="0"/>
                </a:moveTo>
                <a:lnTo>
                  <a:pt x="5534040" y="0"/>
                </a:lnTo>
                <a:cubicBezTo>
                  <a:pt x="5576116" y="0"/>
                  <a:pt x="5610225" y="34109"/>
                  <a:pt x="5610225" y="76185"/>
                </a:cubicBezTo>
                <a:lnTo>
                  <a:pt x="5610225" y="4429140"/>
                </a:lnTo>
                <a:cubicBezTo>
                  <a:pt x="5610225" y="4471216"/>
                  <a:pt x="5576116" y="4505325"/>
                  <a:pt x="5534040" y="4505325"/>
                </a:cubicBezTo>
                <a:lnTo>
                  <a:pt x="76185" y="4505325"/>
                </a:lnTo>
                <a:cubicBezTo>
                  <a:pt x="34109" y="4505325"/>
                  <a:pt x="0" y="4471216"/>
                  <a:pt x="0" y="4429140"/>
                </a:cubicBezTo>
                <a:lnTo>
                  <a:pt x="0" y="76185"/>
                </a:lnTo>
                <a:cubicBezTo>
                  <a:pt x="0" y="34137"/>
                  <a:pt x="34137" y="0"/>
                  <a:pt x="76185" y="0"/>
                </a:cubicBezTo>
                <a:close/>
              </a:path>
            </a:pathLst>
          </a:custGeom>
          <a:gradFill flip="none" rotWithShape="1">
            <a:gsLst>
              <a:gs pos="0">
                <a:srgbClr val="E0A52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E0A526">
                <a:alpha val="30196"/>
              </a:srgbClr>
            </a:solidFill>
            <a:prstDash val="solid"/>
          </a:ln>
        </p:spPr>
      </p:sp>
      <p:sp>
        <p:nvSpPr>
          <p:cNvPr id="112" name="Shape 29"/>
          <p:cNvSpPr/>
          <p:nvPr/>
        </p:nvSpPr>
        <p:spPr>
          <a:xfrm>
            <a:off x="6391275" y="1749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A526">
              <a:alpha val="20000"/>
            </a:srgbClr>
          </a:solidFill>
        </p:spPr>
      </p:sp>
      <p:sp>
        <p:nvSpPr>
          <p:cNvPr id="113" name="Shape 30"/>
          <p:cNvSpPr/>
          <p:nvPr/>
        </p:nvSpPr>
        <p:spPr>
          <a:xfrm>
            <a:off x="6505575" y="1863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3545" y="30718"/>
                </a:moveTo>
                <a:cubicBezTo>
                  <a:pt x="146938" y="24958"/>
                  <a:pt x="153099" y="21431"/>
                  <a:pt x="159752" y="21431"/>
                </a:cubicBezTo>
                <a:lnTo>
                  <a:pt x="160734" y="21431"/>
                </a:lnTo>
                <a:cubicBezTo>
                  <a:pt x="170602" y="21431"/>
                  <a:pt x="178594" y="29423"/>
                  <a:pt x="178594" y="39291"/>
                </a:cubicBezTo>
                <a:cubicBezTo>
                  <a:pt x="178594" y="49158"/>
                  <a:pt x="170602" y="57150"/>
                  <a:pt x="160734" y="57150"/>
                </a:cubicBezTo>
                <a:lnTo>
                  <a:pt x="128007" y="57150"/>
                </a:lnTo>
                <a:lnTo>
                  <a:pt x="143545" y="30718"/>
                </a:lnTo>
                <a:close/>
                <a:moveTo>
                  <a:pt x="85055" y="30718"/>
                </a:moveTo>
                <a:lnTo>
                  <a:pt x="100593" y="57150"/>
                </a:lnTo>
                <a:lnTo>
                  <a:pt x="67866" y="57150"/>
                </a:lnTo>
                <a:cubicBezTo>
                  <a:pt x="57998" y="57150"/>
                  <a:pt x="50006" y="49158"/>
                  <a:pt x="50006" y="39291"/>
                </a:cubicBezTo>
                <a:cubicBezTo>
                  <a:pt x="50006" y="29423"/>
                  <a:pt x="57998" y="21431"/>
                  <a:pt x="67866" y="21431"/>
                </a:cubicBezTo>
                <a:lnTo>
                  <a:pt x="68848" y="21431"/>
                </a:lnTo>
                <a:cubicBezTo>
                  <a:pt x="75501" y="21431"/>
                  <a:pt x="81707" y="24958"/>
                  <a:pt x="85055" y="30718"/>
                </a:cubicBezTo>
                <a:close/>
                <a:moveTo>
                  <a:pt x="125060" y="19869"/>
                </a:moveTo>
                <a:lnTo>
                  <a:pt x="114300" y="38174"/>
                </a:lnTo>
                <a:lnTo>
                  <a:pt x="103540" y="19869"/>
                </a:lnTo>
                <a:cubicBezTo>
                  <a:pt x="96307" y="7546"/>
                  <a:pt x="83091" y="0"/>
                  <a:pt x="68848" y="0"/>
                </a:cubicBezTo>
                <a:lnTo>
                  <a:pt x="67866" y="0"/>
                </a:lnTo>
                <a:cubicBezTo>
                  <a:pt x="46166" y="0"/>
                  <a:pt x="28575" y="17591"/>
                  <a:pt x="28575" y="39291"/>
                </a:cubicBezTo>
                <a:cubicBezTo>
                  <a:pt x="28575" y="45720"/>
                  <a:pt x="30138" y="51792"/>
                  <a:pt x="32861" y="57150"/>
                </a:cubicBez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lnTo>
                  <a:pt x="0" y="85725"/>
                </a:lnTo>
                <a:cubicBezTo>
                  <a:pt x="0" y="93628"/>
                  <a:pt x="6385" y="100013"/>
                  <a:pt x="14288" y="100013"/>
                </a:cubicBezTo>
                <a:lnTo>
                  <a:pt x="214313" y="100013"/>
                </a:lnTo>
                <a:cubicBezTo>
                  <a:pt x="222215" y="100013"/>
                  <a:pt x="228600" y="93628"/>
                  <a:pt x="228600" y="85725"/>
                </a:cubicBezTo>
                <a:lnTo>
                  <a:pt x="228600" y="71438"/>
                </a:lnTo>
                <a:cubicBezTo>
                  <a:pt x="228600" y="63535"/>
                  <a:pt x="222215" y="57150"/>
                  <a:pt x="214313" y="57150"/>
                </a:cubicBezTo>
                <a:lnTo>
                  <a:pt x="195739" y="57150"/>
                </a:lnTo>
                <a:cubicBezTo>
                  <a:pt x="198462" y="51792"/>
                  <a:pt x="200025" y="45720"/>
                  <a:pt x="200025" y="39291"/>
                </a:cubicBezTo>
                <a:cubicBezTo>
                  <a:pt x="200025" y="17591"/>
                  <a:pt x="182434" y="0"/>
                  <a:pt x="160734" y="0"/>
                </a:cubicBezTo>
                <a:lnTo>
                  <a:pt x="159752" y="0"/>
                </a:lnTo>
                <a:cubicBezTo>
                  <a:pt x="145509" y="0"/>
                  <a:pt x="132293" y="7546"/>
                  <a:pt x="125060" y="19824"/>
                </a:cubicBezTo>
                <a:close/>
                <a:moveTo>
                  <a:pt x="214313" y="121444"/>
                </a:moveTo>
                <a:lnTo>
                  <a:pt x="125016" y="121444"/>
                </a:lnTo>
                <a:lnTo>
                  <a:pt x="125016" y="214313"/>
                </a:lnTo>
                <a:lnTo>
                  <a:pt x="185738" y="214313"/>
                </a:lnTo>
                <a:cubicBezTo>
                  <a:pt x="201498" y="214313"/>
                  <a:pt x="214313" y="201498"/>
                  <a:pt x="214313" y="185738"/>
                </a:cubicBezTo>
                <a:lnTo>
                  <a:pt x="214313" y="121444"/>
                </a:lnTo>
                <a:close/>
                <a:moveTo>
                  <a:pt x="103584" y="121444"/>
                </a:moveTo>
                <a:lnTo>
                  <a:pt x="14288" y="121444"/>
                </a:lnTo>
                <a:lnTo>
                  <a:pt x="14288" y="185738"/>
                </a:lnTo>
                <a:cubicBezTo>
                  <a:pt x="14288" y="201498"/>
                  <a:pt x="27102" y="214313"/>
                  <a:pt x="42863" y="214313"/>
                </a:cubicBezTo>
                <a:lnTo>
                  <a:pt x="103584" y="214313"/>
                </a:lnTo>
                <a:lnTo>
                  <a:pt x="103584" y="121444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14" name="Text 31"/>
          <p:cNvSpPr/>
          <p:nvPr/>
        </p:nvSpPr>
        <p:spPr>
          <a:xfrm>
            <a:off x="6962775" y="173037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模板正文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5" name="Text 32"/>
          <p:cNvSpPr/>
          <p:nvPr/>
        </p:nvSpPr>
        <p:spPr>
          <a:xfrm>
            <a:off x="6962775" y="2035175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可复制使用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6" name="Shape 33"/>
          <p:cNvSpPr/>
          <p:nvPr/>
        </p:nvSpPr>
        <p:spPr>
          <a:xfrm>
            <a:off x="6396038" y="2382838"/>
            <a:ext cx="5210175" cy="3457575"/>
          </a:xfrm>
          <a:custGeom>
            <a:avLst/>
            <a:gdLst/>
            <a:ahLst/>
            <a:cxnLst/>
            <a:rect l="l" t="t" r="r" b="b"/>
            <a:pathLst>
              <a:path w="5210175" h="3457575">
                <a:moveTo>
                  <a:pt x="76205" y="0"/>
                </a:moveTo>
                <a:lnTo>
                  <a:pt x="5133970" y="0"/>
                </a:lnTo>
                <a:cubicBezTo>
                  <a:pt x="5176057" y="0"/>
                  <a:pt x="5210175" y="34118"/>
                  <a:pt x="5210175" y="76205"/>
                </a:cubicBezTo>
                <a:lnTo>
                  <a:pt x="5210175" y="3381370"/>
                </a:lnTo>
                <a:cubicBezTo>
                  <a:pt x="5210175" y="3423457"/>
                  <a:pt x="5176057" y="3457575"/>
                  <a:pt x="5133970" y="3457575"/>
                </a:cubicBezTo>
                <a:lnTo>
                  <a:pt x="76205" y="3457575"/>
                </a:lnTo>
                <a:cubicBezTo>
                  <a:pt x="34118" y="3457575"/>
                  <a:pt x="0" y="3423457"/>
                  <a:pt x="0" y="33813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A1D">
              <a:alpha val="70196"/>
            </a:srgbClr>
          </a:solidFill>
          <a:ln w="12700">
            <a:solidFill>
              <a:srgbClr val="E0A526">
                <a:alpha val="30196"/>
              </a:srgbClr>
            </a:solidFill>
            <a:prstDash val="solid"/>
          </a:ln>
        </p:spPr>
      </p:sp>
      <p:sp>
        <p:nvSpPr>
          <p:cNvPr id="117" name="Text 34"/>
          <p:cNvSpPr/>
          <p:nvPr/>
        </p:nvSpPr>
        <p:spPr>
          <a:xfrm>
            <a:off x="6553200" y="2540000"/>
            <a:ext cx="49625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你是一个顶级 Prompt 工程师。请通过多轮对话帮我生成一个专业 Prompt。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8" name="Text 35"/>
          <p:cNvSpPr/>
          <p:nvPr/>
        </p:nvSpPr>
        <p:spPr>
          <a:xfrm>
            <a:off x="6553200" y="2832894"/>
            <a:ext cx="49625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你需要依次问我以下 6 个问题（每次问一个，我回答后再问下一个）：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19" name="Text 36"/>
          <p:cNvSpPr/>
          <p:nvPr/>
        </p:nvSpPr>
        <p:spPr>
          <a:xfrm>
            <a:off x="6553200" y="3125788"/>
            <a:ext cx="49625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1. 任务类型（PPT / Excel / Word / 邮件）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0" name="Text 37"/>
          <p:cNvSpPr/>
          <p:nvPr/>
        </p:nvSpPr>
        <p:spPr>
          <a:xfrm>
            <a:off x="6553200" y="3342481"/>
            <a:ext cx="49625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2. 目标受众（例如：宝马区域经理 / 技术团队）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1" name="Text 38"/>
          <p:cNvSpPr/>
          <p:nvPr/>
        </p:nvSpPr>
        <p:spPr>
          <a:xfrm>
            <a:off x="6553200" y="3559175"/>
            <a:ext cx="49625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3. 期望风格（例如：正式报告 / 简洁要点 / 数据驱动）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2" name="Text 39"/>
          <p:cNvSpPr/>
          <p:nvPr/>
        </p:nvSpPr>
        <p:spPr>
          <a:xfrm>
            <a:off x="6553200" y="3775869"/>
            <a:ext cx="49625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4. 关键数据或输入内容（如有文件请说明）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3" name="Text 40"/>
          <p:cNvSpPr/>
          <p:nvPr/>
        </p:nvSpPr>
        <p:spPr>
          <a:xfrm>
            <a:off x="6553200" y="3992563"/>
            <a:ext cx="49625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5. 输出格式要求（表格、列表、段落、Markdown）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4" name="Text 41"/>
          <p:cNvSpPr/>
          <p:nvPr/>
        </p:nvSpPr>
        <p:spPr>
          <a:xfrm>
            <a:off x="6553200" y="4209256"/>
            <a:ext cx="49625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6. 最希望避免的 2 个问题（例如：不要编造数据、不要太长）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5" name="Text 42"/>
          <p:cNvSpPr/>
          <p:nvPr/>
        </p:nvSpPr>
        <p:spPr>
          <a:xfrm>
            <a:off x="6553200" y="4502150"/>
            <a:ext cx="49625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收集完回答后，请生成一个完整、可直接使用的专业 Prompt。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126" name="Shape 43"/>
          <p:cNvSpPr/>
          <p:nvPr/>
        </p:nvSpPr>
        <p:spPr>
          <a:xfrm>
            <a:off x="400050" y="6197600"/>
            <a:ext cx="11410950" cy="571500"/>
          </a:xfrm>
          <a:custGeom>
            <a:avLst/>
            <a:gdLst/>
            <a:ahLst/>
            <a:cxnLst/>
            <a:rect l="l" t="t" r="r" b="b"/>
            <a:pathLst>
              <a:path w="11410950" h="571500">
                <a:moveTo>
                  <a:pt x="0" y="0"/>
                </a:moveTo>
                <a:lnTo>
                  <a:pt x="11334752" y="0"/>
                </a:lnTo>
                <a:cubicBezTo>
                  <a:pt x="11376835" y="0"/>
                  <a:pt x="11410950" y="34115"/>
                  <a:pt x="11410950" y="76198"/>
                </a:cubicBezTo>
                <a:lnTo>
                  <a:pt x="11410950" y="495302"/>
                </a:lnTo>
                <a:cubicBezTo>
                  <a:pt x="11410950" y="537385"/>
                  <a:pt x="11376835" y="571500"/>
                  <a:pt x="11334752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A52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127" name="Shape 44"/>
          <p:cNvSpPr/>
          <p:nvPr/>
        </p:nvSpPr>
        <p:spPr>
          <a:xfrm>
            <a:off x="400050" y="61976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128" name="Shape 45"/>
          <p:cNvSpPr/>
          <p:nvPr/>
        </p:nvSpPr>
        <p:spPr>
          <a:xfrm>
            <a:off x="3440162" y="640238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129" name="Text 46"/>
          <p:cNvSpPr/>
          <p:nvPr/>
        </p:nvSpPr>
        <p:spPr>
          <a:xfrm>
            <a:off x="804863" y="6350000"/>
            <a:ext cx="10896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这是本节课最大的礼物！</a:t>
            </a:r>
            <a:r>
              <a:rPr lang="en-US" sz="1350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建议保存到 Teams 或 OneNote，随时调用</a:t>
            </a:r>
            <a:endParaRPr lang="en-US" sz="1600" dirty="0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</a:t>
            </a:r>
            <a:r>
              <a:t>FIVE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1432560" y="3180080"/>
            <a:ext cx="9326880" cy="1405255"/>
          </a:xfrm>
        </p:spPr>
        <p:txBody>
          <a:bodyPr>
            <a:noAutofit/>
          </a:bodyPr>
          <a:lstStyle/>
          <a:p>
            <a:r>
              <a:rPr lang="zh-CN" altLang="en-US" sz="4800">
                <a:sym typeface="+mn-ea"/>
              </a:rPr>
              <a:t>避坑与高阶技巧</a:t>
            </a:r>
            <a:br>
              <a:rPr lang="zh-CN" altLang="en-US" sz="4800">
                <a:sym typeface="+mn-ea"/>
              </a:rPr>
            </a:br>
            <a:r>
              <a:rPr lang="zh-CN" altLang="en-US" sz="4800">
                <a:sym typeface="+mn-ea"/>
              </a:rPr>
              <a:t>常见陷阱与纠正方法</a:t>
            </a:r>
            <a:endParaRPr lang="zh-CN" altLang="en-US" sz="48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最佳实践与常见陷阱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75" name="Text 2"/>
          <p:cNvSpPr/>
          <p:nvPr/>
        </p:nvSpPr>
        <p:spPr>
          <a:xfrm>
            <a:off x="772160" y="1111250"/>
            <a:ext cx="1112456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三个好习惯 + 四个常见错误纠正</a:t>
            </a:r>
            <a:endParaRPr lang="en-US" sz="135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385763" y="1573213"/>
            <a:ext cx="5610225" cy="5172075"/>
          </a:xfrm>
          <a:custGeom>
            <a:avLst/>
            <a:gdLst/>
            <a:ahLst/>
            <a:cxnLst/>
            <a:rect l="l" t="t" r="r" b="b"/>
            <a:pathLst>
              <a:path w="5610225" h="5172075">
                <a:moveTo>
                  <a:pt x="76185" y="0"/>
                </a:moveTo>
                <a:lnTo>
                  <a:pt x="5534040" y="0"/>
                </a:lnTo>
                <a:cubicBezTo>
                  <a:pt x="5576116" y="0"/>
                  <a:pt x="5610225" y="34109"/>
                  <a:pt x="5610225" y="76185"/>
                </a:cubicBezTo>
                <a:lnTo>
                  <a:pt x="5610225" y="5095890"/>
                </a:lnTo>
                <a:cubicBezTo>
                  <a:pt x="5610225" y="5137966"/>
                  <a:pt x="5576116" y="5172075"/>
                  <a:pt x="5534040" y="5172075"/>
                </a:cubicBezTo>
                <a:lnTo>
                  <a:pt x="76185" y="5172075"/>
                </a:lnTo>
                <a:cubicBezTo>
                  <a:pt x="34109" y="5172075"/>
                  <a:pt x="0" y="5137966"/>
                  <a:pt x="0" y="5095890"/>
                </a:cubicBezTo>
                <a:lnTo>
                  <a:pt x="0" y="76185"/>
                </a:lnTo>
                <a:cubicBezTo>
                  <a:pt x="0" y="34137"/>
                  <a:pt x="34137" y="0"/>
                  <a:pt x="761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E2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A90E2">
                <a:alpha val="30196"/>
              </a:srgbClr>
            </a:solidFill>
            <a:prstDash val="solid"/>
          </a:ln>
        </p:spPr>
      </p:sp>
      <p:sp>
        <p:nvSpPr>
          <p:cNvPr id="77" name="Shape 4"/>
          <p:cNvSpPr/>
          <p:nvPr/>
        </p:nvSpPr>
        <p:spPr>
          <a:xfrm>
            <a:off x="619125" y="17780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44648" y="89297"/>
                </a:moveTo>
                <a:cubicBezTo>
                  <a:pt x="54527" y="89297"/>
                  <a:pt x="62508" y="97278"/>
                  <a:pt x="62508" y="107156"/>
                </a:cubicBezTo>
                <a:lnTo>
                  <a:pt x="62508" y="250031"/>
                </a:lnTo>
                <a:cubicBezTo>
                  <a:pt x="62508" y="259910"/>
                  <a:pt x="54527" y="267891"/>
                  <a:pt x="44648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107156"/>
                </a:lnTo>
                <a:cubicBezTo>
                  <a:pt x="0" y="97278"/>
                  <a:pt x="7981" y="89297"/>
                  <a:pt x="17859" y="89297"/>
                </a:cubicBezTo>
                <a:lnTo>
                  <a:pt x="44648" y="89297"/>
                </a:lnTo>
                <a:close/>
                <a:moveTo>
                  <a:pt x="151023" y="8930"/>
                </a:moveTo>
                <a:cubicBezTo>
                  <a:pt x="166260" y="8930"/>
                  <a:pt x="178594" y="21264"/>
                  <a:pt x="178594" y="36500"/>
                </a:cubicBezTo>
                <a:lnTo>
                  <a:pt x="178594" y="38844"/>
                </a:lnTo>
                <a:cubicBezTo>
                  <a:pt x="178594" y="42639"/>
                  <a:pt x="177868" y="46434"/>
                  <a:pt x="176473" y="49950"/>
                </a:cubicBezTo>
                <a:lnTo>
                  <a:pt x="160734" y="89297"/>
                </a:lnTo>
                <a:lnTo>
                  <a:pt x="250031" y="89297"/>
                </a:lnTo>
                <a:cubicBezTo>
                  <a:pt x="264821" y="89297"/>
                  <a:pt x="276820" y="101296"/>
                  <a:pt x="276820" y="116086"/>
                </a:cubicBezTo>
                <a:cubicBezTo>
                  <a:pt x="276820" y="127081"/>
                  <a:pt x="270179" y="136513"/>
                  <a:pt x="260691" y="140643"/>
                </a:cubicBezTo>
                <a:cubicBezTo>
                  <a:pt x="270179" y="144773"/>
                  <a:pt x="276820" y="154205"/>
                  <a:pt x="276820" y="165199"/>
                </a:cubicBezTo>
                <a:cubicBezTo>
                  <a:pt x="276820" y="178259"/>
                  <a:pt x="267444" y="189142"/>
                  <a:pt x="255054" y="191486"/>
                </a:cubicBezTo>
                <a:cubicBezTo>
                  <a:pt x="257510" y="195560"/>
                  <a:pt x="258961" y="200304"/>
                  <a:pt x="258961" y="205383"/>
                </a:cubicBezTo>
                <a:cubicBezTo>
                  <a:pt x="258961" y="217773"/>
                  <a:pt x="250589" y="228154"/>
                  <a:pt x="239204" y="231223"/>
                </a:cubicBezTo>
                <a:cubicBezTo>
                  <a:pt x="240432" y="234293"/>
                  <a:pt x="241102" y="237641"/>
                  <a:pt x="241102" y="241102"/>
                </a:cubicBezTo>
                <a:cubicBezTo>
                  <a:pt x="241102" y="255891"/>
                  <a:pt x="229102" y="267891"/>
                  <a:pt x="214313" y="267891"/>
                </a:cubicBezTo>
                <a:lnTo>
                  <a:pt x="165255" y="267891"/>
                </a:lnTo>
                <a:cubicBezTo>
                  <a:pt x="144996" y="267891"/>
                  <a:pt x="125295" y="260970"/>
                  <a:pt x="109500" y="248301"/>
                </a:cubicBezTo>
                <a:lnTo>
                  <a:pt x="102691" y="242888"/>
                </a:lnTo>
                <a:cubicBezTo>
                  <a:pt x="94208" y="236134"/>
                  <a:pt x="89297" y="225865"/>
                  <a:pt x="89297" y="214982"/>
                </a:cubicBezTo>
                <a:lnTo>
                  <a:pt x="89297" y="110840"/>
                </a:lnTo>
                <a:cubicBezTo>
                  <a:pt x="89297" y="102524"/>
                  <a:pt x="91250" y="94320"/>
                  <a:pt x="94934" y="86897"/>
                </a:cubicBezTo>
                <a:lnTo>
                  <a:pt x="126299" y="24166"/>
                </a:lnTo>
                <a:cubicBezTo>
                  <a:pt x="130987" y="14846"/>
                  <a:pt x="140531" y="8930"/>
                  <a:pt x="151023" y="8930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78" name="Text 5"/>
          <p:cNvSpPr/>
          <p:nvPr/>
        </p:nvSpPr>
        <p:spPr>
          <a:xfrm>
            <a:off x="1052513" y="1768475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三个好习惯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600075" y="2225675"/>
            <a:ext cx="5200650" cy="1257300"/>
          </a:xfrm>
          <a:custGeom>
            <a:avLst/>
            <a:gdLst/>
            <a:ahLst/>
            <a:cxnLst/>
            <a:rect l="l" t="t" r="r" b="b"/>
            <a:pathLst>
              <a:path w="5200650" h="1257300">
                <a:moveTo>
                  <a:pt x="38100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181095"/>
                </a:lnTo>
                <a:cubicBezTo>
                  <a:pt x="5200650" y="1223182"/>
                  <a:pt x="5166532" y="1257300"/>
                  <a:pt x="51244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9000"/>
            </a:schemeClr>
          </a:solidFill>
        </p:spPr>
      </p:sp>
      <p:sp>
        <p:nvSpPr>
          <p:cNvPr id="81" name="Shape 8"/>
          <p:cNvSpPr/>
          <p:nvPr/>
        </p:nvSpPr>
        <p:spPr>
          <a:xfrm>
            <a:off x="771525" y="2378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82" name="Shape 9"/>
          <p:cNvSpPr/>
          <p:nvPr/>
        </p:nvSpPr>
        <p:spPr>
          <a:xfrm>
            <a:off x="867966" y="24828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8752" y="75545"/>
                </a:moveTo>
                <a:lnTo>
                  <a:pt x="10850" y="99187"/>
                </a:lnTo>
                <a:lnTo>
                  <a:pt x="10850" y="32147"/>
                </a:lnTo>
                <a:cubicBezTo>
                  <a:pt x="10850" y="20326"/>
                  <a:pt x="20460" y="10716"/>
                  <a:pt x="32281" y="10716"/>
                </a:cubicBezTo>
                <a:lnTo>
                  <a:pt x="78726" y="10716"/>
                </a:lnTo>
                <a:cubicBezTo>
                  <a:pt x="83347" y="10716"/>
                  <a:pt x="87868" y="12223"/>
                  <a:pt x="91585" y="15002"/>
                </a:cubicBezTo>
                <a:lnTo>
                  <a:pt x="104444" y="24646"/>
                </a:lnTo>
                <a:cubicBezTo>
                  <a:pt x="106286" y="26052"/>
                  <a:pt x="108563" y="26789"/>
                  <a:pt x="110873" y="26789"/>
                </a:cubicBezTo>
                <a:lnTo>
                  <a:pt x="150153" y="26789"/>
                </a:lnTo>
                <a:cubicBezTo>
                  <a:pt x="161973" y="26789"/>
                  <a:pt x="171584" y="36400"/>
                  <a:pt x="171584" y="48220"/>
                </a:cubicBezTo>
                <a:lnTo>
                  <a:pt x="171584" y="53578"/>
                </a:lnTo>
                <a:lnTo>
                  <a:pt x="49225" y="53578"/>
                </a:lnTo>
                <a:cubicBezTo>
                  <a:pt x="35395" y="53578"/>
                  <a:pt x="23106" y="62419"/>
                  <a:pt x="18719" y="75545"/>
                </a:cubicBezTo>
                <a:close/>
                <a:moveTo>
                  <a:pt x="159998" y="150019"/>
                </a:moveTo>
                <a:lnTo>
                  <a:pt x="33151" y="150019"/>
                </a:lnTo>
                <a:cubicBezTo>
                  <a:pt x="22168" y="150019"/>
                  <a:pt x="14433" y="139270"/>
                  <a:pt x="17915" y="128855"/>
                </a:cubicBezTo>
                <a:lnTo>
                  <a:pt x="33989" y="80635"/>
                </a:lnTo>
                <a:cubicBezTo>
                  <a:pt x="36165" y="74072"/>
                  <a:pt x="42327" y="69652"/>
                  <a:pt x="49225" y="69652"/>
                </a:cubicBezTo>
                <a:lnTo>
                  <a:pt x="176071" y="69652"/>
                </a:lnTo>
                <a:cubicBezTo>
                  <a:pt x="187055" y="69652"/>
                  <a:pt x="194790" y="80401"/>
                  <a:pt x="191307" y="90815"/>
                </a:cubicBezTo>
                <a:lnTo>
                  <a:pt x="175234" y="139035"/>
                </a:lnTo>
                <a:cubicBezTo>
                  <a:pt x="173057" y="145599"/>
                  <a:pt x="166896" y="150019"/>
                  <a:pt x="159998" y="150019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83" name="Text 10"/>
          <p:cNvSpPr/>
          <p:nvPr/>
        </p:nvSpPr>
        <p:spPr>
          <a:xfrm>
            <a:off x="1266825" y="2435225"/>
            <a:ext cx="263398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建立自己的 Prompt 库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771525" y="2835275"/>
            <a:ext cx="49530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把今天的高阶 Prompt 保存为模板，按场景（PPT/Excel/Word/邮件）分类存储，方便快速调用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5" name="Shape 12"/>
          <p:cNvSpPr/>
          <p:nvPr/>
        </p:nvSpPr>
        <p:spPr>
          <a:xfrm>
            <a:off x="600075" y="3635375"/>
            <a:ext cx="5200650" cy="1257300"/>
          </a:xfrm>
          <a:custGeom>
            <a:avLst/>
            <a:gdLst/>
            <a:ahLst/>
            <a:cxnLst/>
            <a:rect l="l" t="t" r="r" b="b"/>
            <a:pathLst>
              <a:path w="5200650" h="1257300">
                <a:moveTo>
                  <a:pt x="38100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181095"/>
                </a:lnTo>
                <a:cubicBezTo>
                  <a:pt x="5200650" y="1223182"/>
                  <a:pt x="5166532" y="1257300"/>
                  <a:pt x="51244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9000"/>
            </a:schemeClr>
          </a:solidFill>
        </p:spPr>
      </p:sp>
      <p:sp>
        <p:nvSpPr>
          <p:cNvPr id="87" name="Shape 14"/>
          <p:cNvSpPr/>
          <p:nvPr/>
        </p:nvSpPr>
        <p:spPr>
          <a:xfrm>
            <a:off x="771525" y="3787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A526">
              <a:alpha val="20000"/>
            </a:srgbClr>
          </a:solidFill>
        </p:spPr>
      </p:sp>
      <p:sp>
        <p:nvSpPr>
          <p:cNvPr id="88" name="Shape 15"/>
          <p:cNvSpPr/>
          <p:nvPr/>
        </p:nvSpPr>
        <p:spPr>
          <a:xfrm>
            <a:off x="878681" y="3892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68" y="64294"/>
                </a:moveTo>
                <a:lnTo>
                  <a:pt x="163413" y="64294"/>
                </a:lnTo>
                <a:cubicBezTo>
                  <a:pt x="167867" y="64294"/>
                  <a:pt x="171450" y="60711"/>
                  <a:pt x="171450" y="56257"/>
                </a:cubicBezTo>
                <a:lnTo>
                  <a:pt x="171450" y="8037"/>
                </a:lnTo>
                <a:cubicBezTo>
                  <a:pt x="171450" y="4789"/>
                  <a:pt x="169508" y="1842"/>
                  <a:pt x="166494" y="603"/>
                </a:cubicBezTo>
                <a:cubicBezTo>
                  <a:pt x="163480" y="-636"/>
                  <a:pt x="160031" y="67"/>
                  <a:pt x="157721" y="2344"/>
                </a:cubicBezTo>
                <a:lnTo>
                  <a:pt x="140408" y="19690"/>
                </a:lnTo>
                <a:cubicBezTo>
                  <a:pt x="125574" y="7400"/>
                  <a:pt x="106487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ubicBezTo>
                  <a:pt x="26521" y="45374"/>
                  <a:pt x="53344" y="21431"/>
                  <a:pt x="85725" y="21431"/>
                </a:cubicBezTo>
                <a:cubicBezTo>
                  <a:pt x="100593" y="21431"/>
                  <a:pt x="114255" y="26454"/>
                  <a:pt x="125138" y="34926"/>
                </a:cubicBezTo>
                <a:lnTo>
                  <a:pt x="109500" y="50564"/>
                </a:lnTo>
                <a:cubicBezTo>
                  <a:pt x="107190" y="52875"/>
                  <a:pt x="106520" y="56324"/>
                  <a:pt x="107759" y="59338"/>
                </a:cubicBezTo>
                <a:cubicBezTo>
                  <a:pt x="108998" y="62352"/>
                  <a:pt x="111945" y="64294"/>
                  <a:pt x="115193" y="64294"/>
                </a:cubicBezTo>
                <a:lnTo>
                  <a:pt x="160768" y="64294"/>
                </a:lnTo>
                <a:close/>
                <a:moveTo>
                  <a:pt x="170613" y="97948"/>
                </a:moveTo>
                <a:cubicBezTo>
                  <a:pt x="171450" y="92087"/>
                  <a:pt x="167365" y="86663"/>
                  <a:pt x="161538" y="85825"/>
                </a:cubicBezTo>
                <a:cubicBezTo>
                  <a:pt x="155711" y="84988"/>
                  <a:pt x="150253" y="89074"/>
                  <a:pt x="149416" y="94900"/>
                </a:cubicBezTo>
                <a:cubicBezTo>
                  <a:pt x="144962" y="126043"/>
                  <a:pt x="118140" y="149985"/>
                  <a:pt x="85758" y="149985"/>
                </a:cubicBezTo>
                <a:cubicBezTo>
                  <a:pt x="70891" y="149985"/>
                  <a:pt x="57228" y="144962"/>
                  <a:pt x="46345" y="136490"/>
                </a:cubicBezTo>
                <a:lnTo>
                  <a:pt x="61950" y="120886"/>
                </a:lnTo>
                <a:cubicBezTo>
                  <a:pt x="64260" y="118575"/>
                  <a:pt x="64930" y="115126"/>
                  <a:pt x="63691" y="112112"/>
                </a:cubicBezTo>
                <a:cubicBezTo>
                  <a:pt x="62452" y="109098"/>
                  <a:pt x="59505" y="107156"/>
                  <a:pt x="56257" y="107156"/>
                </a:cubicBezTo>
                <a:lnTo>
                  <a:pt x="8037" y="107156"/>
                </a:lnTo>
                <a:cubicBezTo>
                  <a:pt x="3583" y="107156"/>
                  <a:pt x="0" y="110739"/>
                  <a:pt x="0" y="115193"/>
                </a:cubicBezTo>
                <a:lnTo>
                  <a:pt x="0" y="163413"/>
                </a:lnTo>
                <a:cubicBezTo>
                  <a:pt x="0" y="166661"/>
                  <a:pt x="1942" y="169608"/>
                  <a:pt x="4956" y="170847"/>
                </a:cubicBezTo>
                <a:cubicBezTo>
                  <a:pt x="7970" y="172086"/>
                  <a:pt x="11419" y="171383"/>
                  <a:pt x="13729" y="169106"/>
                </a:cubicBezTo>
                <a:lnTo>
                  <a:pt x="31075" y="151760"/>
                </a:lnTo>
                <a:cubicBezTo>
                  <a:pt x="45876" y="164050"/>
                  <a:pt x="64963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89" name="Text 16"/>
          <p:cNvSpPr/>
          <p:nvPr/>
        </p:nvSpPr>
        <p:spPr>
          <a:xfrm>
            <a:off x="1266825" y="3844925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迭代而非一次性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771525" y="4244975"/>
            <a:ext cx="49530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第一轮生成 → "再加一页风险评估" → "把风格改成更口语化"，通过多轮对话逐步完善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600075" y="5045075"/>
            <a:ext cx="5200650" cy="1257300"/>
          </a:xfrm>
          <a:custGeom>
            <a:avLst/>
            <a:gdLst/>
            <a:ahLst/>
            <a:cxnLst/>
            <a:rect l="l" t="t" r="r" b="b"/>
            <a:pathLst>
              <a:path w="5200650" h="1257300">
                <a:moveTo>
                  <a:pt x="38100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181095"/>
                </a:lnTo>
                <a:cubicBezTo>
                  <a:pt x="5200650" y="1223182"/>
                  <a:pt x="5166532" y="1257300"/>
                  <a:pt x="51244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tx1">
              <a:alpha val="9000"/>
            </a:schemeClr>
          </a:solidFill>
        </p:spPr>
      </p:sp>
      <p:sp>
        <p:nvSpPr>
          <p:cNvPr id="93" name="Shape 20"/>
          <p:cNvSpPr/>
          <p:nvPr/>
        </p:nvSpPr>
        <p:spPr>
          <a:xfrm>
            <a:off x="771525" y="5197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94" name="Shape 21"/>
          <p:cNvSpPr/>
          <p:nvPr/>
        </p:nvSpPr>
        <p:spPr>
          <a:xfrm>
            <a:off x="878681" y="5302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95" name="Text 22"/>
          <p:cNvSpPr/>
          <p:nvPr/>
        </p:nvSpPr>
        <p:spPr>
          <a:xfrm>
            <a:off x="1266825" y="5254625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明确拒绝幻觉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771525" y="5654675"/>
            <a:ext cx="49530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加一句："如果没有数据，请说'信息缺失'，不要编造"，避免 AI 生成虚假内容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7" name="Shape 24"/>
          <p:cNvSpPr/>
          <p:nvPr/>
        </p:nvSpPr>
        <p:spPr>
          <a:xfrm>
            <a:off x="6196013" y="1573213"/>
            <a:ext cx="5610225" cy="5172075"/>
          </a:xfrm>
          <a:custGeom>
            <a:avLst/>
            <a:gdLst/>
            <a:ahLst/>
            <a:cxnLst/>
            <a:rect l="l" t="t" r="r" b="b"/>
            <a:pathLst>
              <a:path w="5610225" h="5172075">
                <a:moveTo>
                  <a:pt x="76185" y="0"/>
                </a:moveTo>
                <a:lnTo>
                  <a:pt x="5534040" y="0"/>
                </a:lnTo>
                <a:cubicBezTo>
                  <a:pt x="5576116" y="0"/>
                  <a:pt x="5610225" y="34109"/>
                  <a:pt x="5610225" y="76185"/>
                </a:cubicBezTo>
                <a:lnTo>
                  <a:pt x="5610225" y="5095890"/>
                </a:lnTo>
                <a:cubicBezTo>
                  <a:pt x="5610225" y="5137966"/>
                  <a:pt x="5576116" y="5172075"/>
                  <a:pt x="5534040" y="5172075"/>
                </a:cubicBezTo>
                <a:lnTo>
                  <a:pt x="76185" y="5172075"/>
                </a:lnTo>
                <a:cubicBezTo>
                  <a:pt x="34109" y="5172075"/>
                  <a:pt x="0" y="5137966"/>
                  <a:pt x="0" y="5095890"/>
                </a:cubicBezTo>
                <a:lnTo>
                  <a:pt x="0" y="76185"/>
                </a:lnTo>
                <a:cubicBezTo>
                  <a:pt x="0" y="34137"/>
                  <a:pt x="34137" y="0"/>
                  <a:pt x="76185" y="0"/>
                </a:cubicBezTo>
                <a:close/>
              </a:path>
            </a:pathLst>
          </a:custGeom>
          <a:gradFill flip="none" rotWithShape="1">
            <a:gsLst>
              <a:gs pos="0">
                <a:srgbClr val="E0A52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E0A526">
                <a:alpha val="30196"/>
              </a:srgbClr>
            </a:solidFill>
            <a:prstDash val="solid"/>
          </a:ln>
        </p:spPr>
      </p:sp>
      <p:sp>
        <p:nvSpPr>
          <p:cNvPr id="98" name="Shape 25"/>
          <p:cNvSpPr/>
          <p:nvPr/>
        </p:nvSpPr>
        <p:spPr>
          <a:xfrm>
            <a:off x="6429375" y="17780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99" name="Text 26"/>
          <p:cNvSpPr/>
          <p:nvPr/>
        </p:nvSpPr>
        <p:spPr>
          <a:xfrm>
            <a:off x="6862763" y="1768475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四个常见错误</a:t>
            </a:r>
            <a:endParaRPr lang="en-US" sz="1600" dirty="0">
              <a:cs typeface="BMWGroupTN Condensed TT Medium" charset="0"/>
            </a:endParaRPr>
          </a:p>
        </p:txBody>
      </p:sp>
      <p:graphicFrame>
        <p:nvGraphicFramePr>
          <p:cNvPr id="100" name="Table 0"/>
          <p:cNvGraphicFramePr>
            <a:graphicFrameLocks noGrp="1"/>
          </p:cNvGraphicFramePr>
          <p:nvPr/>
        </p:nvGraphicFramePr>
        <p:xfrm>
          <a:off x="6391275" y="2225675"/>
          <a:ext cx="5219700" cy="2333625"/>
        </p:xfrm>
        <a:graphic>
          <a:graphicData uri="http://schemas.openxmlformats.org/drawingml/2006/table">
            <a:tbl>
              <a:tblPr/>
              <a:tblGrid>
                <a:gridCol w="1562100"/>
                <a:gridCol w="1171575"/>
                <a:gridCol w="2486025"/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0A526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错误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0A526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后果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0A526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纠正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"帮我分析一下"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输出无结论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90E2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指定"分析维度+结论要求"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"写漂亮一点"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风格不可控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90E2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具体"专业/简洁/有品牌色"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一次给太多需求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忽略关键点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90E2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分步骤或使用多轮模板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不指定格式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0E0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杂乱文本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90E2"/>
                          </a:solidFill>
                          <a:latin typeface="BMWGroupTN Condensed TT Medium" charset="0"/>
                          <a:ea typeface="BMWGroupTN Condensed TT Medium" charset="0"/>
                          <a:cs typeface="BMWGroupTN Condensed TT Medium" charset="0"/>
                        </a:rPr>
                        <a:t>要求"表格/Markdown/分段"</a:t>
                      </a:r>
                      <a:endParaRPr lang="en-US" sz="1200" dirty="0">
                        <a:latin typeface="BMWGroupTN Condensed TT Medium" charset="0"/>
                        <a:ea typeface="BMWGroupTN Condensed TT Medium" charset="0"/>
                        <a:cs typeface="BMWGroupTN Condensed TT Medium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1" name="Shape 27"/>
          <p:cNvSpPr/>
          <p:nvPr/>
        </p:nvSpPr>
        <p:spPr>
          <a:xfrm>
            <a:off x="6410325" y="6092825"/>
            <a:ext cx="5200650" cy="457200"/>
          </a:xfrm>
          <a:custGeom>
            <a:avLst/>
            <a:gdLst/>
            <a:ahLst/>
            <a:cxnLst/>
            <a:rect l="l" t="t" r="r" b="b"/>
            <a:pathLst>
              <a:path w="5200650" h="457200">
                <a:moveTo>
                  <a:pt x="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380998"/>
                </a:lnTo>
                <a:cubicBezTo>
                  <a:pt x="5200650" y="423083"/>
                  <a:pt x="5166533" y="457200"/>
                  <a:pt x="5124448" y="457200"/>
                </a:cubicBez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E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102" name="Shape 28"/>
          <p:cNvSpPr/>
          <p:nvPr/>
        </p:nvSpPr>
        <p:spPr>
          <a:xfrm>
            <a:off x="6410325" y="6092825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3" name="Shape 29"/>
          <p:cNvSpPr/>
          <p:nvPr/>
        </p:nvSpPr>
        <p:spPr>
          <a:xfrm>
            <a:off x="6562725" y="62499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52388"/>
                </a:moveTo>
                <a:cubicBezTo>
                  <a:pt x="70931" y="52388"/>
                  <a:pt x="66675" y="56644"/>
                  <a:pt x="66675" y="61912"/>
                </a:cubicBezTo>
                <a:cubicBezTo>
                  <a:pt x="66675" y="65871"/>
                  <a:pt x="63490" y="69056"/>
                  <a:pt x="59531" y="69056"/>
                </a:cubicBezTo>
                <a:cubicBezTo>
                  <a:pt x="55572" y="69056"/>
                  <a:pt x="52388" y="65871"/>
                  <a:pt x="52388" y="61912"/>
                </a:cubicBezTo>
                <a:cubicBezTo>
                  <a:pt x="52388" y="48756"/>
                  <a:pt x="63044" y="38100"/>
                  <a:pt x="76200" y="38100"/>
                </a:cubicBezTo>
                <a:cubicBezTo>
                  <a:pt x="89356" y="38100"/>
                  <a:pt x="100013" y="48756"/>
                  <a:pt x="100013" y="61912"/>
                </a:cubicBezTo>
                <a:cubicBezTo>
                  <a:pt x="100013" y="75962"/>
                  <a:pt x="89297" y="81915"/>
                  <a:pt x="83344" y="84088"/>
                </a:cubicBezTo>
                <a:lnTo>
                  <a:pt x="83344" y="85219"/>
                </a:lnTo>
                <a:cubicBezTo>
                  <a:pt x="83344" y="89178"/>
                  <a:pt x="80159" y="92363"/>
                  <a:pt x="76200" y="92363"/>
                </a:cubicBezTo>
                <a:cubicBezTo>
                  <a:pt x="72241" y="92363"/>
                  <a:pt x="69056" y="89178"/>
                  <a:pt x="69056" y="85219"/>
                </a:cubicBezTo>
                <a:lnTo>
                  <a:pt x="69056" y="82808"/>
                </a:lnTo>
                <a:cubicBezTo>
                  <a:pt x="69056" y="76706"/>
                  <a:pt x="73462" y="72330"/>
                  <a:pt x="78016" y="70842"/>
                </a:cubicBezTo>
                <a:cubicBezTo>
                  <a:pt x="79921" y="70217"/>
                  <a:pt x="81945" y="69205"/>
                  <a:pt x="83433" y="67776"/>
                </a:cubicBezTo>
                <a:cubicBezTo>
                  <a:pt x="84713" y="66526"/>
                  <a:pt x="85725" y="64800"/>
                  <a:pt x="85725" y="61942"/>
                </a:cubicBezTo>
                <a:cubicBezTo>
                  <a:pt x="85725" y="56674"/>
                  <a:pt x="81469" y="52417"/>
                  <a:pt x="76200" y="52417"/>
                </a:cubicBezTo>
                <a:close/>
                <a:moveTo>
                  <a:pt x="66675" y="109537"/>
                </a:moveTo>
                <a:cubicBezTo>
                  <a:pt x="66675" y="104281"/>
                  <a:pt x="70943" y="100013"/>
                  <a:pt x="76200" y="100013"/>
                </a:cubicBezTo>
                <a:cubicBezTo>
                  <a:pt x="81457" y="100013"/>
                  <a:pt x="85725" y="104281"/>
                  <a:pt x="85725" y="109537"/>
                </a:cubicBezTo>
                <a:cubicBezTo>
                  <a:pt x="85725" y="114794"/>
                  <a:pt x="81457" y="119062"/>
                  <a:pt x="76200" y="119062"/>
                </a:cubicBezTo>
                <a:cubicBezTo>
                  <a:pt x="70943" y="119062"/>
                  <a:pt x="66675" y="114794"/>
                  <a:pt x="66675" y="109537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4" name="Text 30"/>
          <p:cNvSpPr/>
          <p:nvPr/>
        </p:nvSpPr>
        <p:spPr>
          <a:xfrm>
            <a:off x="6791325" y="6207125"/>
            <a:ext cx="4781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你犯过哪个？在聊天区输入编号 1-4</a:t>
            </a:r>
            <a:endParaRPr lang="en-US" sz="1600" dirty="0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2500490" y="2426407"/>
            <a:ext cx="7191021" cy="643045"/>
          </a:xfrm>
        </p:spPr>
        <p:txBody>
          <a:bodyPr/>
          <a:lstStyle/>
          <a:p>
            <a:r>
              <a:rPr lang="zh-CN" altLang="en-US"/>
              <a:t>PART </a:t>
            </a:r>
            <a:r>
              <a:t>SIX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1432560" y="3180080"/>
            <a:ext cx="9326880" cy="1405255"/>
          </a:xfrm>
        </p:spPr>
        <p:txBody>
          <a:bodyPr>
            <a:noAutofit/>
          </a:bodyPr>
          <a:lstStyle/>
          <a:p>
            <a:r>
              <a:rPr lang="zh-CN" altLang="en-US" sz="4800">
                <a:sym typeface="+mn-ea"/>
              </a:rPr>
              <a:t>总结行动</a:t>
            </a:r>
            <a:br>
              <a:rPr lang="en-US" altLang="zh-CN" sz="4800">
                <a:sym typeface="+mn-ea"/>
              </a:rPr>
            </a:br>
            <a:r>
              <a:rPr lang="zh-CN" altLang="en-US" sz="4800">
                <a:sym typeface="+mn-ea"/>
              </a:rPr>
              <a:t>核心要点与后续支持</a:t>
            </a:r>
            <a:endParaRPr lang="zh-CN" altLang="en-US" sz="48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15"/>
          <p:cNvSpPr/>
          <p:nvPr>
            <p:custDataLst>
              <p:tags r:id="rId1"/>
            </p:custDataLst>
          </p:nvPr>
        </p:nvSpPr>
        <p:spPr>
          <a:xfrm>
            <a:off x="400050" y="4477941"/>
            <a:ext cx="11410950" cy="1181100"/>
          </a:xfrm>
          <a:custGeom>
            <a:avLst/>
            <a:gdLst/>
            <a:ahLst/>
            <a:cxnLst/>
            <a:rect l="l" t="t" r="r" b="b"/>
            <a:pathLst>
              <a:path w="11410950" h="1181100">
                <a:moveTo>
                  <a:pt x="0" y="0"/>
                </a:moveTo>
                <a:lnTo>
                  <a:pt x="11334745" y="0"/>
                </a:lnTo>
                <a:cubicBezTo>
                  <a:pt x="11376804" y="0"/>
                  <a:pt x="11410950" y="34146"/>
                  <a:pt x="11410950" y="76205"/>
                </a:cubicBezTo>
                <a:lnTo>
                  <a:pt x="11410950" y="1104895"/>
                </a:lnTo>
                <a:cubicBezTo>
                  <a:pt x="11410950" y="1146982"/>
                  <a:pt x="11376832" y="1181100"/>
                  <a:pt x="11334745" y="1181100"/>
                </a:cubicBez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E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91" name="Shape 9"/>
          <p:cNvSpPr/>
          <p:nvPr>
            <p:custDataLst>
              <p:tags r:id="rId2"/>
            </p:custDataLst>
          </p:nvPr>
        </p:nvSpPr>
        <p:spPr>
          <a:xfrm>
            <a:off x="400050" y="3065859"/>
            <a:ext cx="11410950" cy="1181100"/>
          </a:xfrm>
          <a:custGeom>
            <a:avLst/>
            <a:gdLst/>
            <a:ahLst/>
            <a:cxnLst/>
            <a:rect l="l" t="t" r="r" b="b"/>
            <a:pathLst>
              <a:path w="11410950" h="1181100">
                <a:moveTo>
                  <a:pt x="0" y="0"/>
                </a:moveTo>
                <a:lnTo>
                  <a:pt x="11334745" y="0"/>
                </a:lnTo>
                <a:cubicBezTo>
                  <a:pt x="11376804" y="0"/>
                  <a:pt x="11410950" y="34146"/>
                  <a:pt x="11410950" y="76205"/>
                </a:cubicBezTo>
                <a:lnTo>
                  <a:pt x="11410950" y="1104895"/>
                </a:lnTo>
                <a:cubicBezTo>
                  <a:pt x="11410950" y="1146982"/>
                  <a:pt x="11376832" y="1181100"/>
                  <a:pt x="11334745" y="1181100"/>
                </a:cubicBez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A526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93" name="Shape 3"/>
          <p:cNvSpPr/>
          <p:nvPr>
            <p:custDataLst>
              <p:tags r:id="rId3"/>
            </p:custDataLst>
          </p:nvPr>
        </p:nvSpPr>
        <p:spPr>
          <a:xfrm>
            <a:off x="400050" y="1653778"/>
            <a:ext cx="11410950" cy="1181100"/>
          </a:xfrm>
          <a:custGeom>
            <a:avLst/>
            <a:gdLst/>
            <a:ahLst/>
            <a:cxnLst/>
            <a:rect l="l" t="t" r="r" b="b"/>
            <a:pathLst>
              <a:path w="11410950" h="1181100">
                <a:moveTo>
                  <a:pt x="0" y="0"/>
                </a:moveTo>
                <a:lnTo>
                  <a:pt x="11334745" y="0"/>
                </a:lnTo>
                <a:cubicBezTo>
                  <a:pt x="11376804" y="0"/>
                  <a:pt x="11410950" y="34146"/>
                  <a:pt x="11410950" y="76205"/>
                </a:cubicBezTo>
                <a:lnTo>
                  <a:pt x="11410950" y="1104895"/>
                </a:lnTo>
                <a:cubicBezTo>
                  <a:pt x="11410950" y="1146982"/>
                  <a:pt x="11376832" y="1181100"/>
                  <a:pt x="11334745" y="1181100"/>
                </a:cubicBez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E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1" name="标题 5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ea typeface="BMWGroupTN Condensed TT Medium" charset="0"/>
              </a:rPr>
              <a:t>总结：带走这三句话</a:t>
            </a:r>
            <a:endParaRPr lang="zh-CN" altLang="en-US">
              <a:ea typeface="BMWGroupTN Condensed TT Medium" charset="0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400050" y="1653778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65" name="Shape 5"/>
          <p:cNvSpPr/>
          <p:nvPr/>
        </p:nvSpPr>
        <p:spPr>
          <a:xfrm>
            <a:off x="647700" y="188237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6" name="Text 6"/>
          <p:cNvSpPr/>
          <p:nvPr/>
        </p:nvSpPr>
        <p:spPr>
          <a:xfrm>
            <a:off x="896317" y="2015728"/>
            <a:ext cx="2571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1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67" name="Text 7"/>
          <p:cNvSpPr/>
          <p:nvPr/>
        </p:nvSpPr>
        <p:spPr>
          <a:xfrm>
            <a:off x="1447800" y="1882378"/>
            <a:ext cx="102489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普通 Prompt 只能得到普通结果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68" name="Text 8"/>
          <p:cNvSpPr/>
          <p:nvPr/>
        </p:nvSpPr>
        <p:spPr>
          <a:xfrm>
            <a:off x="1447800" y="2330053"/>
            <a:ext cx="102203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角色、结构、格式、风格，缺一不可</a:t>
            </a:r>
            <a:r>
              <a:rPr lang="en-US" sz="1350" dirty="0">
                <a:solidFill>
                  <a:srgbClr val="E0E0E0">
                    <a:alpha val="8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。缺少任何一个要素，输出质量都会大打折扣。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400050" y="3065859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E0A526"/>
          </a:solidFill>
        </p:spPr>
      </p:sp>
      <p:sp>
        <p:nvSpPr>
          <p:cNvPr id="70" name="Shape 11"/>
          <p:cNvSpPr/>
          <p:nvPr/>
        </p:nvSpPr>
        <p:spPr>
          <a:xfrm>
            <a:off x="647700" y="329445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A526"/>
          </a:solidFill>
        </p:spPr>
      </p:sp>
      <p:sp>
        <p:nvSpPr>
          <p:cNvPr id="71" name="Text 12"/>
          <p:cNvSpPr/>
          <p:nvPr/>
        </p:nvSpPr>
        <p:spPr>
          <a:xfrm>
            <a:off x="872133" y="3427809"/>
            <a:ext cx="3048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D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2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1447800" y="3294459"/>
            <a:ext cx="102489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Copilot "不好用"，90% 是 Prompt 深度不够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1447800" y="3742134"/>
            <a:ext cx="102203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>
                    <a:alpha val="8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不是 AI 能力差，而是你的指令不够具体。</a:t>
            </a:r>
            <a:r>
              <a:rPr lang="en-US" sz="1350" b="1" dirty="0">
                <a:solidFill>
                  <a:srgbClr val="4A90E2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深度来自细节要求</a:t>
            </a:r>
            <a:r>
              <a:rPr lang="en-US" sz="1350" dirty="0">
                <a:solidFill>
                  <a:srgbClr val="E0E0E0">
                    <a:alpha val="8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——核心主张、数据支撑、行动建议缺一不可。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74" name="Shape 16"/>
          <p:cNvSpPr/>
          <p:nvPr/>
        </p:nvSpPr>
        <p:spPr>
          <a:xfrm>
            <a:off x="400050" y="4477941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75" name="Shape 17"/>
          <p:cNvSpPr/>
          <p:nvPr/>
        </p:nvSpPr>
        <p:spPr>
          <a:xfrm>
            <a:off x="647700" y="47065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6" name="Text 18"/>
          <p:cNvSpPr/>
          <p:nvPr/>
        </p:nvSpPr>
        <p:spPr>
          <a:xfrm>
            <a:off x="868487" y="4839891"/>
            <a:ext cx="314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3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1447800" y="4706541"/>
            <a:ext cx="102489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E0E0E0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多用多轮模板收集需求，让 AI 帮你写 Prompt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1447800" y="5154216"/>
            <a:ext cx="102203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>
                    <a:alpha val="8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使用万能 Prompt 生成器，</a:t>
            </a:r>
            <a:r>
              <a:rPr lang="en-US" sz="1350" b="1" dirty="0">
                <a:solidFill>
                  <a:srgbClr val="E0A526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事半功倍</a:t>
            </a:r>
            <a:r>
              <a:rPr lang="en-US" sz="1350" dirty="0">
                <a:solidFill>
                  <a:srgbClr val="E0E0E0">
                    <a:alpha val="8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。复杂任务先跑一遍模板，自动生成专业指令。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79" name="Shape 21"/>
          <p:cNvSpPr/>
          <p:nvPr/>
        </p:nvSpPr>
        <p:spPr>
          <a:xfrm>
            <a:off x="3024188" y="621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80" name="Text 22"/>
          <p:cNvSpPr/>
          <p:nvPr/>
        </p:nvSpPr>
        <p:spPr>
          <a:xfrm>
            <a:off x="3395663" y="61912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F7D8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角色定调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1" name="Shape 23"/>
          <p:cNvSpPr/>
          <p:nvPr/>
        </p:nvSpPr>
        <p:spPr>
          <a:xfrm>
            <a:off x="4386263" y="6172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>
              <a:alpha val="30196"/>
            </a:srgbClr>
          </a:solidFill>
        </p:spPr>
      </p:sp>
      <p:sp>
        <p:nvSpPr>
          <p:cNvPr id="82" name="Shape 24"/>
          <p:cNvSpPr/>
          <p:nvPr/>
        </p:nvSpPr>
        <p:spPr>
          <a:xfrm>
            <a:off x="4729163" y="621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83" name="Text 25"/>
          <p:cNvSpPr/>
          <p:nvPr/>
        </p:nvSpPr>
        <p:spPr>
          <a:xfrm>
            <a:off x="5100638" y="61912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F7D8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任务明确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4" name="Shape 26"/>
          <p:cNvSpPr/>
          <p:nvPr/>
        </p:nvSpPr>
        <p:spPr>
          <a:xfrm>
            <a:off x="6091238" y="6172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>
              <a:alpha val="30196"/>
            </a:srgbClr>
          </a:solidFill>
        </p:spPr>
      </p:sp>
      <p:sp>
        <p:nvSpPr>
          <p:cNvPr id="85" name="Shape 27"/>
          <p:cNvSpPr/>
          <p:nvPr/>
        </p:nvSpPr>
        <p:spPr>
          <a:xfrm>
            <a:off x="6434138" y="621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86" name="Text 28"/>
          <p:cNvSpPr/>
          <p:nvPr/>
        </p:nvSpPr>
        <p:spPr>
          <a:xfrm>
            <a:off x="6805613" y="61912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F7D8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格式规范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87" name="Shape 29"/>
          <p:cNvSpPr/>
          <p:nvPr/>
        </p:nvSpPr>
        <p:spPr>
          <a:xfrm>
            <a:off x="7796212" y="6172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F7D8C">
              <a:alpha val="30196"/>
            </a:srgbClr>
          </a:solidFill>
        </p:spPr>
      </p:sp>
      <p:sp>
        <p:nvSpPr>
          <p:cNvPr id="88" name="Shape 30"/>
          <p:cNvSpPr/>
          <p:nvPr/>
        </p:nvSpPr>
        <p:spPr>
          <a:xfrm>
            <a:off x="8139112" y="621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89" name="Text 31"/>
          <p:cNvSpPr/>
          <p:nvPr/>
        </p:nvSpPr>
        <p:spPr>
          <a:xfrm>
            <a:off x="8510588" y="61912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F7D8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风格统一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90" name="Text 2"/>
          <p:cNvSpPr/>
          <p:nvPr/>
        </p:nvSpPr>
        <p:spPr>
          <a:xfrm>
            <a:off x="747395" y="1143000"/>
            <a:ext cx="1123569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accent1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核心要点，建议截图保存</a:t>
            </a:r>
            <a:endParaRPr lang="en-US" sz="1350" dirty="0">
              <a:solidFill>
                <a:schemeClr val="accent1"/>
              </a:solidFill>
              <a:latin typeface="BMWGroupTN Condensed TT Medium" charset="0"/>
              <a:ea typeface="BMWGroupTN Condensed TT Medium" charset="0"/>
              <a:cs typeface="BMWGroupTN Condensed TT Medium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12800" y="205740"/>
            <a:ext cx="4203065" cy="720090"/>
          </a:xfrm>
        </p:spPr>
        <p:txBody>
          <a:bodyPr>
            <a:normAutofit/>
          </a:bodyPr>
          <a:lstStyle/>
          <a:p>
            <a:pPr algn="l"/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36" name="Shape 25"/>
          <p:cNvSpPr/>
          <p:nvPr/>
        </p:nvSpPr>
        <p:spPr>
          <a:xfrm>
            <a:off x="1144905" y="1278890"/>
            <a:ext cx="9700260" cy="2241550"/>
          </a:xfrm>
          <a:custGeom>
            <a:avLst/>
            <a:gdLst/>
            <a:ahLst/>
            <a:cxnLst/>
            <a:rect l="l" t="t" r="r" b="b"/>
            <a:pathLst>
              <a:path w="9018377" h="1868911">
                <a:moveTo>
                  <a:pt x="141047" y="0"/>
                </a:moveTo>
                <a:lnTo>
                  <a:pt x="8877331" y="0"/>
                </a:lnTo>
                <a:cubicBezTo>
                  <a:pt x="8955229" y="0"/>
                  <a:pt x="9018377" y="63149"/>
                  <a:pt x="9018377" y="141047"/>
                </a:cubicBezTo>
                <a:lnTo>
                  <a:pt x="9018377" y="1727864"/>
                </a:lnTo>
                <a:cubicBezTo>
                  <a:pt x="9018377" y="1805762"/>
                  <a:pt x="8955229" y="1868911"/>
                  <a:pt x="8877331" y="1868911"/>
                </a:cubicBezTo>
                <a:lnTo>
                  <a:pt x="141047" y="1868911"/>
                </a:lnTo>
                <a:cubicBezTo>
                  <a:pt x="63149" y="1868911"/>
                  <a:pt x="0" y="1805762"/>
                  <a:pt x="0" y="1727864"/>
                </a:cubicBezTo>
                <a:lnTo>
                  <a:pt x="0" y="141047"/>
                </a:lnTo>
                <a:cubicBezTo>
                  <a:pt x="0" y="63201"/>
                  <a:pt x="63201" y="0"/>
                  <a:pt x="141047" y="0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7" name="Shape 26"/>
          <p:cNvSpPr/>
          <p:nvPr/>
        </p:nvSpPr>
        <p:spPr>
          <a:xfrm>
            <a:off x="1789644" y="1620319"/>
            <a:ext cx="264469" cy="264469"/>
          </a:xfrm>
          <a:custGeom>
            <a:avLst/>
            <a:gdLst/>
            <a:ahLst/>
            <a:cxnLst/>
            <a:rect l="l" t="t" r="r" b="b"/>
            <a:pathLst>
              <a:path w="264469" h="264469">
                <a:moveTo>
                  <a:pt x="166068" y="35538"/>
                </a:moveTo>
                <a:cubicBezTo>
                  <a:pt x="169993" y="28875"/>
                  <a:pt x="177122" y="24794"/>
                  <a:pt x="184818" y="24794"/>
                </a:cubicBezTo>
                <a:lnTo>
                  <a:pt x="185954" y="24794"/>
                </a:lnTo>
                <a:cubicBezTo>
                  <a:pt x="197370" y="24794"/>
                  <a:pt x="206616" y="34040"/>
                  <a:pt x="206616" y="45456"/>
                </a:cubicBezTo>
                <a:cubicBezTo>
                  <a:pt x="206616" y="56871"/>
                  <a:pt x="197370" y="66117"/>
                  <a:pt x="185954" y="66117"/>
                </a:cubicBezTo>
                <a:lnTo>
                  <a:pt x="148092" y="66117"/>
                </a:lnTo>
                <a:lnTo>
                  <a:pt x="166068" y="35538"/>
                </a:lnTo>
                <a:close/>
                <a:moveTo>
                  <a:pt x="98401" y="35538"/>
                </a:moveTo>
                <a:lnTo>
                  <a:pt x="116376" y="66117"/>
                </a:lnTo>
                <a:lnTo>
                  <a:pt x="78514" y="66117"/>
                </a:lnTo>
                <a:cubicBezTo>
                  <a:pt x="67099" y="66117"/>
                  <a:pt x="57852" y="56871"/>
                  <a:pt x="57852" y="45456"/>
                </a:cubicBezTo>
                <a:cubicBezTo>
                  <a:pt x="57852" y="34040"/>
                  <a:pt x="67099" y="24794"/>
                  <a:pt x="78514" y="24794"/>
                </a:cubicBezTo>
                <a:lnTo>
                  <a:pt x="79650" y="24794"/>
                </a:lnTo>
                <a:cubicBezTo>
                  <a:pt x="87347" y="24794"/>
                  <a:pt x="94527" y="28875"/>
                  <a:pt x="98401" y="35538"/>
                </a:cubicBezTo>
                <a:close/>
                <a:moveTo>
                  <a:pt x="144683" y="22986"/>
                </a:moveTo>
                <a:lnTo>
                  <a:pt x="132234" y="44164"/>
                </a:lnTo>
                <a:lnTo>
                  <a:pt x="119786" y="22986"/>
                </a:lnTo>
                <a:cubicBezTo>
                  <a:pt x="111418" y="8730"/>
                  <a:pt x="96128" y="0"/>
                  <a:pt x="79650" y="0"/>
                </a:cubicBezTo>
                <a:lnTo>
                  <a:pt x="78514" y="0"/>
                </a:lnTo>
                <a:cubicBezTo>
                  <a:pt x="53410" y="0"/>
                  <a:pt x="33059" y="20352"/>
                  <a:pt x="33059" y="45456"/>
                </a:cubicBezTo>
                <a:cubicBezTo>
                  <a:pt x="33059" y="52894"/>
                  <a:pt x="34866" y="59919"/>
                  <a:pt x="38017" y="66117"/>
                </a:cubicBezTo>
                <a:lnTo>
                  <a:pt x="16529" y="66117"/>
                </a:lnTo>
                <a:cubicBezTo>
                  <a:pt x="7387" y="66117"/>
                  <a:pt x="0" y="73504"/>
                  <a:pt x="0" y="82646"/>
                </a:cubicBezTo>
                <a:lnTo>
                  <a:pt x="0" y="99176"/>
                </a:lnTo>
                <a:cubicBezTo>
                  <a:pt x="0" y="108318"/>
                  <a:pt x="7387" y="115705"/>
                  <a:pt x="16529" y="115705"/>
                </a:cubicBezTo>
                <a:lnTo>
                  <a:pt x="247939" y="115705"/>
                </a:lnTo>
                <a:cubicBezTo>
                  <a:pt x="257082" y="115705"/>
                  <a:pt x="264469" y="108318"/>
                  <a:pt x="264469" y="99176"/>
                </a:cubicBezTo>
                <a:lnTo>
                  <a:pt x="264469" y="82646"/>
                </a:lnTo>
                <a:cubicBezTo>
                  <a:pt x="264469" y="73504"/>
                  <a:pt x="257082" y="66117"/>
                  <a:pt x="247939" y="66117"/>
                </a:cubicBezTo>
                <a:lnTo>
                  <a:pt x="226451" y="66117"/>
                </a:lnTo>
                <a:cubicBezTo>
                  <a:pt x="229602" y="59919"/>
                  <a:pt x="231410" y="52894"/>
                  <a:pt x="231410" y="45456"/>
                </a:cubicBezTo>
                <a:cubicBezTo>
                  <a:pt x="231410" y="20352"/>
                  <a:pt x="211058" y="0"/>
                  <a:pt x="185954" y="0"/>
                </a:cubicBezTo>
                <a:lnTo>
                  <a:pt x="184818" y="0"/>
                </a:lnTo>
                <a:cubicBezTo>
                  <a:pt x="168340" y="0"/>
                  <a:pt x="153051" y="8730"/>
                  <a:pt x="144683" y="22934"/>
                </a:cubicBezTo>
                <a:close/>
                <a:moveTo>
                  <a:pt x="247939" y="140499"/>
                </a:moveTo>
                <a:lnTo>
                  <a:pt x="144631" y="140499"/>
                </a:lnTo>
                <a:lnTo>
                  <a:pt x="144631" y="247939"/>
                </a:lnTo>
                <a:lnTo>
                  <a:pt x="214881" y="247939"/>
                </a:lnTo>
                <a:cubicBezTo>
                  <a:pt x="233115" y="247939"/>
                  <a:pt x="247939" y="233115"/>
                  <a:pt x="247939" y="214881"/>
                </a:cubicBezTo>
                <a:lnTo>
                  <a:pt x="247939" y="140499"/>
                </a:lnTo>
                <a:close/>
                <a:moveTo>
                  <a:pt x="119837" y="140499"/>
                </a:moveTo>
                <a:lnTo>
                  <a:pt x="16529" y="140499"/>
                </a:lnTo>
                <a:lnTo>
                  <a:pt x="16529" y="214881"/>
                </a:lnTo>
                <a:cubicBezTo>
                  <a:pt x="16529" y="233115"/>
                  <a:pt x="31354" y="247939"/>
                  <a:pt x="49588" y="247939"/>
                </a:cubicBezTo>
                <a:lnTo>
                  <a:pt x="119837" y="247939"/>
                </a:lnTo>
                <a:lnTo>
                  <a:pt x="119837" y="140499"/>
                </a:lnTo>
                <a:close/>
              </a:path>
            </a:pathLst>
          </a:custGeom>
          <a:solidFill>
            <a:srgbClr val="C8A45C"/>
          </a:solidFill>
        </p:spPr>
      </p:sp>
      <p:sp>
        <p:nvSpPr>
          <p:cNvPr id="38" name="Text 27"/>
          <p:cNvSpPr/>
          <p:nvPr/>
        </p:nvSpPr>
        <p:spPr>
          <a:xfrm>
            <a:off x="2226017" y="1523347"/>
            <a:ext cx="1216555" cy="246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C8A45C"/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课后作业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2226017" y="1770184"/>
            <a:ext cx="1198924" cy="211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E8E9EA">
                    <a:alpha val="70000"/>
                  </a:srgbClr>
                </a:solidFill>
                <a:latin typeface="BMWGroupTN Condensed TT Medium" charset="0"/>
                <a:ea typeface="BMWGroupTN Condensed TT Medium" charset="0"/>
                <a:cs typeface="BMWGroupTN Condensed TT Medium" charset="0"/>
              </a:rPr>
              <a:t>极具吸引力的挑战</a:t>
            </a:r>
            <a:endParaRPr lang="en-US" sz="1600" dirty="0">
              <a:cs typeface="BMWGroupTN Condensed TT Medium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18945" y="2032000"/>
            <a:ext cx="8508365" cy="1511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实践任务：</a:t>
            </a:r>
            <a:r>
              <a:rPr lang="en-US" altLang="zh-CN" sz="1400">
                <a:cs typeface="BMWGroupTN Condensed TT Medium" charset="0"/>
              </a:rPr>
              <a:t> </a:t>
            </a:r>
            <a:r>
              <a:rPr lang="zh-CN" altLang="en-US" sz="1400">
                <a:cs typeface="BMWGroupTN Condensed TT Medium" charset="0"/>
              </a:rPr>
              <a:t>用</a:t>
            </a:r>
            <a:r>
              <a:rPr lang="en-US" altLang="zh-CN" sz="1400">
                <a:cs typeface="BMWGroupTN Condensed TT Medium" charset="0"/>
              </a:rPr>
              <a:t> Copilot </a:t>
            </a:r>
            <a:r>
              <a:rPr lang="zh-CN" altLang="en-US" sz="1400">
                <a:cs typeface="BMWGroupTN Condensed TT Medium" charset="0"/>
              </a:rPr>
              <a:t>完成一份真实工作文档（邮件</a:t>
            </a:r>
            <a:r>
              <a:rPr lang="en-US" altLang="zh-CN" sz="1400">
                <a:cs typeface="BMWGroupTN Condensed TT Medium" charset="0"/>
              </a:rPr>
              <a:t>/</a:t>
            </a:r>
            <a:r>
              <a:rPr lang="zh-CN" altLang="en-US" sz="1400">
                <a:cs typeface="BMWGroupTN Condensed TT Medium" charset="0"/>
              </a:rPr>
              <a:t>议程</a:t>
            </a:r>
            <a:r>
              <a:rPr lang="en-US" altLang="zh-CN" sz="1400">
                <a:cs typeface="BMWGroupTN Condensed TT Medium" charset="0"/>
              </a:rPr>
              <a:t>/</a:t>
            </a:r>
            <a:r>
              <a:rPr lang="zh-CN" altLang="en-US" sz="1400">
                <a:cs typeface="BMWGroupTN Condensed TT Medium" charset="0"/>
              </a:rPr>
              <a:t>须知）</a:t>
            </a:r>
            <a:endParaRPr lang="en-US" altLang="zh-CN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从零生成结构化大纲（使用角色</a:t>
            </a:r>
            <a:r>
              <a:rPr lang="en-US" altLang="zh-CN" sz="1400">
                <a:cs typeface="BMWGroupTN Condensed TT Medium" charset="0"/>
              </a:rPr>
              <a:t>+</a:t>
            </a:r>
            <a:r>
              <a:rPr lang="zh-CN" altLang="en-US" sz="1400">
                <a:cs typeface="BMWGroupTN Condensed TT Medium" charset="0"/>
              </a:rPr>
              <a:t>受众</a:t>
            </a:r>
            <a:r>
              <a:rPr lang="en-US" altLang="zh-CN" sz="1400">
                <a:cs typeface="BMWGroupTN Condensed TT Medium" charset="0"/>
              </a:rPr>
              <a:t>+</a:t>
            </a:r>
            <a:r>
              <a:rPr lang="zh-CN" altLang="en-US" sz="1400">
                <a:cs typeface="BMWGroupTN Condensed TT Medium" charset="0"/>
              </a:rPr>
              <a:t>分节要求的</a:t>
            </a:r>
            <a:r>
              <a:rPr lang="en-US" altLang="zh-CN" sz="1400">
                <a:cs typeface="BMWGroupTN Condensed TT Medium" charset="0"/>
              </a:rPr>
              <a:t> Prompt</a:t>
            </a:r>
            <a:r>
              <a:rPr lang="zh-CN" altLang="en-US" sz="1400">
                <a:cs typeface="BMWGroupTN Condensed TT Medium" charset="0"/>
              </a:rPr>
              <a:t>）</a:t>
            </a:r>
            <a:endParaRPr lang="en-US" altLang="zh-CN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改写一段口语化文字（专业风</a:t>
            </a:r>
            <a:r>
              <a:rPr lang="en-US" altLang="zh-CN" sz="1400">
                <a:cs typeface="BMWGroupTN Condensed TT Medium" charset="0"/>
              </a:rPr>
              <a:t> / </a:t>
            </a:r>
            <a:r>
              <a:rPr lang="zh-CN" altLang="en-US" sz="1400">
                <a:cs typeface="BMWGroupTN Condensed TT Medium" charset="0"/>
              </a:rPr>
              <a:t>简洁风，任选一种）</a:t>
            </a:r>
            <a:endParaRPr lang="en-US" altLang="zh-CN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跨应用联动：把</a:t>
            </a:r>
            <a:r>
              <a:rPr lang="en-US" altLang="zh-CN" sz="1400">
                <a:cs typeface="BMWGroupTN Condensed TT Medium" charset="0"/>
              </a:rPr>
              <a:t> Word </a:t>
            </a:r>
            <a:r>
              <a:rPr lang="zh-CN" altLang="en-US" sz="1400">
                <a:cs typeface="BMWGroupTN Condensed TT Medium" charset="0"/>
              </a:rPr>
              <a:t>大纲一键生成</a:t>
            </a:r>
            <a:r>
              <a:rPr lang="en-US" altLang="zh-CN" sz="1400">
                <a:cs typeface="BMWGroupTN Condensed TT Medium" charset="0"/>
              </a:rPr>
              <a:t> PPT</a:t>
            </a:r>
            <a:r>
              <a:rPr lang="zh-CN" altLang="en-US" sz="1400">
                <a:cs typeface="BMWGroupTN Condensed TT Medium" charset="0"/>
              </a:rPr>
              <a:t>（指定风格）</a:t>
            </a:r>
            <a:endParaRPr lang="en-US" altLang="zh-CN" sz="1400">
              <a:cs typeface="BMWGroupTN Condensed TT Medium" charset="0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1400">
                <a:cs typeface="BMWGroupTN Condensed TT Medium" charset="0"/>
              </a:rPr>
              <a:t>对比分析：无</a:t>
            </a:r>
            <a:r>
              <a:rPr lang="en-US" altLang="zh-CN" sz="1400">
                <a:cs typeface="BMWGroupTN Condensed TT Medium" charset="0"/>
              </a:rPr>
              <a:t> Copilot </a:t>
            </a:r>
            <a:r>
              <a:rPr lang="zh-CN" altLang="en-US" sz="1400">
                <a:cs typeface="BMWGroupTN Condensed TT Medium" charset="0"/>
              </a:rPr>
              <a:t>需多久？</a:t>
            </a:r>
            <a:r>
              <a:rPr lang="en-US" altLang="zh-CN" sz="1400">
                <a:cs typeface="BMWGroupTN Condensed TT Medium" charset="0"/>
              </a:rPr>
              <a:t>AI </a:t>
            </a:r>
            <a:r>
              <a:rPr lang="zh-CN" altLang="en-US" sz="1400">
                <a:cs typeface="BMWGroupTN Condensed TT Medium" charset="0"/>
              </a:rPr>
              <a:t>有无事实错误或品牌调性问题？</a:t>
            </a:r>
            <a:endParaRPr lang="zh-CN" altLang="en-US" sz="1400">
              <a:cs typeface="BMWGroupTN Condensed TT Medium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720" y="4104640"/>
            <a:ext cx="9815195" cy="157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BMWGroupTN Condensed TT Medium" charset="0"/>
              <a:buChar char="Ø"/>
            </a:pPr>
            <a:r>
              <a:rPr lang="zh-CN" altLang="en-US">
                <a:cs typeface="BMWGroupTN Condensed TT Medium" charset="0"/>
              </a:rPr>
              <a:t>上传使用</a:t>
            </a:r>
            <a:r>
              <a:rPr lang="en-US" altLang="zh-CN">
                <a:cs typeface="BMWGroupTN Condensed TT Medium" charset="0"/>
              </a:rPr>
              <a:t>copilot</a:t>
            </a:r>
            <a:r>
              <a:rPr lang="zh-CN" altLang="en-US">
                <a:cs typeface="BMWGroupTN Condensed TT Medium" charset="0"/>
              </a:rPr>
              <a:t>完成的真实文档（任意格式）</a:t>
            </a:r>
            <a:endParaRPr lang="zh-CN" altLang="en-US">
              <a:cs typeface="BMWGroupTN Condensed TT Medium" charset="0"/>
            </a:endParaRPr>
          </a:p>
          <a:p>
            <a:pPr marL="285750" indent="-285750">
              <a:buFont typeface="BMWGroupTN Condensed TT Medium" charset="0"/>
              <a:buChar char="Ø"/>
            </a:pPr>
            <a:endParaRPr lang="zh-CN" altLang="en-US">
              <a:cs typeface="BMWGroupTN Condensed TT Medium" charset="0"/>
            </a:endParaRPr>
          </a:p>
          <a:p>
            <a:pPr marL="285750" indent="-285750">
              <a:buFont typeface="BMWGroupTN Condensed TT Medium" charset="0"/>
              <a:buChar char="Ø"/>
            </a:pPr>
            <a:r>
              <a:rPr lang="zh-CN" altLang="en-US">
                <a:cs typeface="BMWGroupTN Condensed TT Medium" charset="0"/>
              </a:rPr>
              <a:t>上传时请描述使用</a:t>
            </a:r>
            <a:r>
              <a:rPr lang="en-US" altLang="zh-CN">
                <a:cs typeface="BMWGroupTN Condensed TT Medium" charset="0"/>
              </a:rPr>
              <a:t>copilot</a:t>
            </a:r>
            <a:r>
              <a:rPr lang="zh-CN" altLang="en-US">
                <a:cs typeface="BMWGroupTN Condensed TT Medium" charset="0"/>
              </a:rPr>
              <a:t>是否满足预期，跟你的产出预期有什么差异点，</a:t>
            </a:r>
            <a:r>
              <a:rPr lang="en-US" altLang="zh-CN">
                <a:cs typeface="BMWGroupTN Condensed TT Medium" charset="0"/>
              </a:rPr>
              <a:t>AI </a:t>
            </a:r>
            <a:r>
              <a:rPr lang="zh-CN" altLang="en-US">
                <a:cs typeface="BMWGroupTN Condensed TT Medium" charset="0"/>
              </a:rPr>
              <a:t>有无事实错误或品牌调性问题。</a:t>
            </a:r>
            <a:endParaRPr lang="zh-CN" altLang="en-US">
              <a:cs typeface="BMWGroupTN Condensed TT Medium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378075" y="2023745"/>
            <a:ext cx="7190740" cy="25761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问题答疑</a:t>
            </a:r>
            <a:br>
              <a:rPr lang="zh-CN" altLang="en-US"/>
            </a:br>
            <a:r>
              <a:rPr lang="en-US" altLang="zh-CN"/>
              <a:t>Q&amp;A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再见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2026</a:t>
            </a:r>
            <a:r>
              <a:t>年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PRESET_TEXT" val="单击此处编辑母版文本样式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2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7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3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6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296"/>
</p:tagLst>
</file>

<file path=ppt/tags/tag8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96"/>
  <p:tag name="KSO_WM_TEMPLATE_THUMBS_INDEX" val="1、9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1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f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SUBTYPE" val="b"/>
  <p:tag name="KSO_WM_UNIT_TEXT_LAYER_COUNT" val="1"/>
  <p:tag name="KSO_WM_UNIT_VALUE" val="44"/>
  <p:tag name="KSO_WM_UNIT_TYPE" val="f"/>
  <p:tag name="KSO_WM_UNIT_INDEX" val="1"/>
  <p:tag name="KSO_WM_UNIT_TEXT_TYPE" val="1"/>
  <p:tag name="KSO_WM_UNIT_NOCLEAR" val="0"/>
  <p:tag name="KSO_WM_UNIT_PRESET_TEXT" val="汇报人：WPS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202_9*a*1"/>
  <p:tag name="KSO_WM_TEMPLATE_CATEGORY" val="custom"/>
  <p:tag name="KSO_WM_TEMPLATE_INDEX" val="4049520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YPE" val="a"/>
  <p:tag name="KSO_WM_UNIT_INDEX" val="1"/>
  <p:tag name="KSO_WM_UNIT_TEXT_TYPE" val="0"/>
  <p:tag name="KSO_WM_UNIT_NOCLEAR" val="0"/>
  <p:tag name="KSO_WM_UNIT_PRESET_TEXT" val="感谢您的观看"/>
</p:tagLst>
</file>

<file path=ppt/tags/tag91.xml><?xml version="1.0" encoding="utf-8"?>
<p:tagLst xmlns:p="http://schemas.openxmlformats.org/presentationml/2006/main">
  <p:tag name="KSO_WM_SLIDE_ID" val="custom202302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96"/>
  <p:tag name="KSO_WM_SLIDE_LAYOUT" val="a_b_f"/>
  <p:tag name="KSO_WM_SLIDE_LAYOUT_CNT" val="1_1_1"/>
  <p:tag name="KSO_WM_TEMPLATE_THUMBS_INDEX" val="1、9"/>
  <p:tag name="KSO_WM_SLIDE_CONTENT_AREA" val="{&quot;left&quot;:&quot;140.25&quot;,&quot;top&quot;:&quot;121.15&quot;,&quot;width&quot;:&quot;679.5&quot;,&quot;height&quot;:&quot;208.75&quot;}"/>
</p:tagLst>
</file>

<file path=ppt/tags/tag9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4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DIAGRAM_GROUP_CODE" val="l1-1"/>
  <p:tag name="KSO_WM_UNIT_TEXT_FILL_FORE_SCHEMECOLOR_INDEX" val="5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296_4*l_h_i*1_1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296_4*l_h_a*1_1_1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1_2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296_4*l_h_i*1_2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296_4*l_h_a*1_2_1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2_2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296_4*l_h_i*1_3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296_4*l_h_a*1_3_1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3_2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02.xml><?xml version="1.0" encoding="utf-8"?>
<p:tagLst xmlns:p="http://schemas.openxmlformats.org/presentationml/2006/main">
  <p:tag name="KSO_WM_DIAGRAM_VIRTUALLY_FRAME" val="{&quot;height&quot;:352.32153513029806,&quot;left&quot;:12.385209778312582,&quot;top&quot;:143.92846486970194,&quot;width&quot;:871.6235961914062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96_4*l_h_i*1_4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296_4*l_h_a*1_4_1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4_2"/>
  <p:tag name="KSO_WM_TEMPLATE_CATEGORY" val="custom"/>
  <p:tag name="KSO_WM_TEMPLATE_INDEX" val="20230296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MAX_ITEMCNT" val="6"/>
  <p:tag name="KSO_WM_DIAGRAM_MIN_ITEMCNT" val="2"/>
  <p:tag name="KSO_WM_DIAGRAM_VIRTUALLY_FRAME" val="{&quot;height&quot;:352.32153513029806,&quot;left&quot;:12.385209778312582,&quot;top&quot;:143.92846486970194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96_4*l_h_i*1_4_1"/>
  <p:tag name="KSO_WM_TEMPLATE_CATEGORY" val="custom"/>
  <p:tag name="KSO_WM_TEMPLATE_INDEX" val="20230296"/>
  <p:tag name="KSO_WM_UNIT_LAYERLEVEL" val="1_1_1"/>
  <p:tag name="KSO_WM_TAG_VERSION" val="3.0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17519382266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96"/>
  <p:tag name="KSO_WM_UNIT_LAYERLEVEL" val="1_1_1"/>
  <p:tag name="KSO_WM_TAG_VERSION" val="3.0"/>
  <p:tag name="KSO_WM_DIAGRAM_GROUP_CODE" val="l1-1"/>
  <p:tag name="KSO_WM_UNIT_TYPE" val="l_h_a"/>
  <p:tag name="KSO_WM_UNIT_ID" val="custom20230296_4*l_h_a*1_4_1"/>
  <p:tag name="KSO_WM_DIAGRAM_VERSION" val="3"/>
  <p:tag name="KSO_WM_DIAGRAM_MAX_ITEMCNT" val="6"/>
  <p:tag name="KSO_WM_DIAGRAM_MIN_ITEMCNT" val="2"/>
  <p:tag name="KSO_WM_DIAGRAM_VIRTUALLY_FRAME" val="{&quot;height&quot;:352.317519382266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4_2"/>
  <p:tag name="KSO_WM_TEMPLATE_CATEGORY" val="custom"/>
  <p:tag name="KSO_WM_TEMPLATE_INDEX" val="20230296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MAX_ITEMCNT" val="6"/>
  <p:tag name="KSO_WM_DIAGRAM_MIN_ITEMCNT" val="2"/>
  <p:tag name="KSO_WM_DIAGRAM_VIRTUALLY_FRAME" val="{&quot;height&quot;:352.317519382266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96_4*l_h_i*1_4_1"/>
  <p:tag name="KSO_WM_TEMPLATE_CATEGORY" val="custom"/>
  <p:tag name="KSO_WM_TEMPLATE_INDEX" val="20230296"/>
  <p:tag name="KSO_WM_UNIT_LAYERLEVEL" val="1_1_1"/>
  <p:tag name="KSO_WM_TAG_VERSION" val="3.0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352.317519382266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5"/>
  <p:tag name="KSO_WM_UNIT_TEXT_FILL_TYPE" val="1"/>
  <p:tag name="KSO_WM_UNIT_USESOURCEFORMAT_APPLY" val="1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96"/>
  <p:tag name="KSO_WM_UNIT_LAYERLEVEL" val="1_1_1"/>
  <p:tag name="KSO_WM_TAG_VERSION" val="3.0"/>
  <p:tag name="KSO_WM_DIAGRAM_GROUP_CODE" val="l1-1"/>
  <p:tag name="KSO_WM_UNIT_TYPE" val="l_h_a"/>
  <p:tag name="KSO_WM_UNIT_ID" val="custom20230296_4*l_h_a*1_4_1"/>
  <p:tag name="KSO_WM_DIAGRAM_VERSION" val="3"/>
  <p:tag name="KSO_WM_DIAGRAM_MAX_ITEMCNT" val="6"/>
  <p:tag name="KSO_WM_DIAGRAM_MIN_ITEMCNT" val="2"/>
  <p:tag name="KSO_WM_DIAGRAM_VIRTUALLY_FRAME" val="{&quot;height&quot;:352.317519382266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标题"/>
  <p:tag name="KSO_WM_UNIT_TEXT_TYPE" val="1"/>
  <p:tag name="KSO_WM_UNIT_TEXT_FILL_FORE_SCHEMECOLOR_INDEX" val="5"/>
  <p:tag name="KSO_WM_UNIT_USESOURCEFORMAT_APPLY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96_4*l_h_i*1_4_2"/>
  <p:tag name="KSO_WM_TEMPLATE_CATEGORY" val="custom"/>
  <p:tag name="KSO_WM_TEMPLATE_INDEX" val="20230296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MAX_ITEMCNT" val="6"/>
  <p:tag name="KSO_WM_DIAGRAM_MIN_ITEMCNT" val="2"/>
  <p:tag name="KSO_WM_DIAGRAM_VIRTUALLY_FRAME" val="{&quot;height&quot;:352.3175193822666,&quot;left&quot;:47.83520977831258,&quot;top&quot;:146.07846486970192,&quot;width&quot;:871.6235961914062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12.xml><?xml version="1.0" encoding="utf-8"?>
<p:tagLst xmlns:p="http://schemas.openxmlformats.org/presentationml/2006/main">
  <p:tag name="KSO_WM_SLIDE_ID" val="custom20230296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96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1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15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7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19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3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5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7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29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0296],&quot;70&quot;:[3318475]}"/>
</p:tagLst>
</file>

<file path=ppt/tags/tag13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34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3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39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1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44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4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6_7*e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49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50.xml><?xml version="1.0" encoding="utf-8"?>
<p:tagLst xmlns:p="http://schemas.openxmlformats.org/presentationml/2006/main">
  <p:tag name="KSO_WM_DIAGRAM_VIRTUALLY_FRAME" val="{&quot;height&quot;:315.3750393700788,&quot;left&quot;:31.5,&quot;top&quot;:130.2187401574803,&quot;width&quot;:898.5}"/>
</p:tagLst>
</file>

<file path=ppt/tags/tag151.xml><?xml version="1.0" encoding="utf-8"?>
<p:tagLst xmlns:p="http://schemas.openxmlformats.org/presentationml/2006/main">
  <p:tag name="KSO_WM_DIAGRAM_VIRTUALLY_FRAME" val="{&quot;height&quot;:315.3750393700788,&quot;left&quot;:31.5,&quot;top&quot;:130.2187401574803,&quot;width&quot;:898.5}"/>
</p:tagLst>
</file>

<file path=ppt/tags/tag152.xml><?xml version="1.0" encoding="utf-8"?>
<p:tagLst xmlns:p="http://schemas.openxmlformats.org/presentationml/2006/main">
  <p:tag name="KSO_WM_DIAGRAM_VIRTUALLY_FRAME" val="{&quot;height&quot;:315.3750393700788,&quot;left&quot;:31.5,&quot;top&quot;:130.2187401574803,&quot;width&quot;:898.5}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54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54_5*a*1"/>
  <p:tag name="KSO_WM_TEMPLATE_CATEGORY" val="diagram"/>
  <p:tag name="KSO_WM_TEMPLATE_INDEX" val="202351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文档标题内容"/>
  <p:tag name="KSO_WM_UNIT_TEXT_FILL_FORE_SCHEMECOLOR_INDEX" val="5"/>
  <p:tag name="KSO_WM_UNIT_USESOURCEFORMAT_APPLY" val="1"/>
</p:tagLst>
</file>

<file path=ppt/tags/tag156.xml><?xml version="1.0" encoding="utf-8"?>
<p:tagLst xmlns:p="http://schemas.openxmlformats.org/presentationml/2006/main">
  <p:tag name="KSO_WM_SLIDE_ID" val="diagram2023515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4"/>
  <p:tag name="KSO_WM_SLIDE_TYPE" val="text"/>
  <p:tag name="KSO_WM_SLIDE_SUBTYPE" val="diag"/>
  <p:tag name="KSO_WM_SLIDE_SIZE" val="792.6*459.361"/>
  <p:tag name="KSO_WM_SLIDE_POSITION" val="84.6*69.7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7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158.xml><?xml version="1.0" encoding="utf-8"?>
<p:tagLst xmlns:p="http://schemas.openxmlformats.org/presentationml/2006/main">
  <p:tag name="KSO_WM_SLIDE_ID" val="custom202302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96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172.55&quot;,&quot;top&quot;:&quot;71.7&quot;,&quot;width&quot;:&quot;610.65&quot;,&quot;height&quot;:&quot;313.05&quot;}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6_9*a*1"/>
  <p:tag name="KSO_WM_TEMPLATE_CATEGORY" val="custom"/>
  <p:tag name="KSO_WM_TEMPLATE_INDEX" val="20230296"/>
  <p:tag name="KSO_WM_UNIT_LAYERLEVEL" val="1"/>
  <p:tag name="KSO_WM_TAG_VERSION" val="3.0"/>
  <p:tag name="KSO_WM_BEAUTIFY_FLAG" val="#wm#"/>
  <p:tag name="KSO_WM_UNIT_CONTENT_GROUP_TYPE" val="contentchip"/>
</p:tagLst>
</file>

<file path=ppt/tags/tag160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96_9*f*1"/>
  <p:tag name="KSO_WM_TEMPLATE_CATEGORY" val="custom"/>
  <p:tag name="KSO_WM_TEMPLATE_INDEX" val="20230296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SLIDE_ID" val="custom20230296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96"/>
  <p:tag name="KSO_WM_SLIDE_LAYOUT" val="a_f"/>
  <p:tag name="KSO_WM_SLIDE_LAYOUT_CNT" val="1_1"/>
  <p:tag name="KSO_WM_SLIDE_TYPE" val="endPage"/>
  <p:tag name="KSO_WM_SLIDE_SUBTYPE" val="pureTxt"/>
  <p:tag name="KSO_WM_SLIDE_CONTENT_AREA" val="{&quot;left&quot;:&quot;140.25&quot;,&quot;top&quot;:&quot;121.15&quot;,&quot;width&quot;:&quot;679.5&quot;,&quot;height&quot;:&quot;208.75&quot;}"/>
</p:tagLst>
</file>

<file path=ppt/theme/theme1.xml><?xml version="1.0" encoding="utf-8"?>
<a:theme xmlns:a="http://schemas.openxmlformats.org/drawingml/2006/main" name="科技风蓝色渐变职场办公">
  <a:themeElements>
    <a:clrScheme name="自定义 57">
      <a:dk1>
        <a:srgbClr val="000000"/>
      </a:dk1>
      <a:lt1>
        <a:srgbClr val="FFFFFF"/>
      </a:lt1>
      <a:dk2>
        <a:srgbClr val="043460"/>
      </a:dk2>
      <a:lt2>
        <a:srgbClr val="EFFFFF"/>
      </a:lt2>
      <a:accent1>
        <a:srgbClr val="09FFFF"/>
      </a:accent1>
      <a:accent2>
        <a:srgbClr val="1ADCFF"/>
      </a:accent2>
      <a:accent3>
        <a:srgbClr val="0F54FF"/>
      </a:accent3>
      <a:accent4>
        <a:srgbClr val="3D97FF"/>
      </a:accent4>
      <a:accent5>
        <a:srgbClr val="4F74FF"/>
      </a:accent5>
      <a:accent6>
        <a:srgbClr val="6051FF"/>
      </a:accent6>
      <a:hlink>
        <a:srgbClr val="4472C4"/>
      </a:hlink>
      <a:folHlink>
        <a:srgbClr val="BFBFBF"/>
      </a:folHlink>
    </a:clrScheme>
    <a:fontScheme name="自定义 77">
      <a:majorFont>
        <a:latin typeface="BMWGroupTN Condensed TT Medium"/>
        <a:ea typeface="BMWGroupTN Condensed TT Medium"/>
        <a:cs typeface=""/>
      </a:majorFont>
      <a:minorFont>
        <a:latin typeface="BMWGroupTN Condensed TT Medium"/>
        <a:ea typeface="BMWGroupTN Condensed TT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MWGroupTN Condensed TT Medium"/>
        <a:ea typeface=""/>
        <a:cs typeface=""/>
        <a:font script="Jpan" typeface="游ゴシック"/>
        <a:font script="Hang" typeface="맑은 고딕"/>
        <a:font script="Hans" typeface="BMWGroupTN Condensed TT Medium"/>
        <a:font script="Hant" typeface="新細明體"/>
        <a:font script="Arab" typeface="BMWGroupTN Condensed TT Medium"/>
        <a:font script="Hebr" typeface="BMWGroupTN Condensed TT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MWGroupTN Condensed TT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BMWGroupTN Condensed TT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MWGroupTN Condensed TT Medium"/>
        <a:ea typeface=""/>
        <a:cs typeface=""/>
        <a:font script="Jpan" typeface="ＭＳ Ｐゴシック"/>
        <a:font script="Hang" typeface="맑은 고딕"/>
        <a:font script="Hans" typeface="BMWGroupTN Condensed TT Medium"/>
        <a:font script="Hant" typeface="新細明體"/>
        <a:font script="Arab" typeface="BMWGroupTN Condensed TT Medium"/>
        <a:font script="Hebr" typeface="BMWGroupTN Condensed TT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MWGroupTN Condensed TT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3729</Words>
  <Application>WPS 演示</Application>
  <PresentationFormat>On-screen Show (16:9)</PresentationFormat>
  <Paragraphs>517</Paragraphs>
  <Slides>22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BMWGroupTN Condensed TT Medium</vt:lpstr>
      <vt:lpstr>MiSans</vt:lpstr>
      <vt:lpstr>MiSans</vt:lpstr>
      <vt:lpstr>微软雅黑</vt:lpstr>
      <vt:lpstr>Arial Unicode MS</vt:lpstr>
      <vt:lpstr>科技风蓝色渐变职场办公</vt:lpstr>
      <vt:lpstr>AI EASY OFFICE LEARNING CAMP</vt:lpstr>
      <vt:lpstr>目录</vt:lpstr>
      <vt:lpstr>痛点共鸣 为什么 Copilot 生成内容"没法用"？</vt:lpstr>
      <vt:lpstr>痛点共鸣：你遇到过这些情况吗？</vt:lpstr>
      <vt:lpstr>核心逻辑：Prompt 是钥匙</vt:lpstr>
      <vt:lpstr>场景一 · PPT 生成</vt:lpstr>
      <vt:lpstr>演示</vt:lpstr>
      <vt:lpstr>场景二 · Excel 分析</vt:lpstr>
      <vt:lpstr>演示</vt:lpstr>
      <vt:lpstr>场景三 &amp; 四 · Word 与邮件</vt:lpstr>
      <vt:lpstr>演示</vt:lpstr>
      <vt:lpstr>Prompt 金字塔 核心模型与万能公式</vt:lpstr>
      <vt:lpstr>Prompt 高级技巧金字塔</vt:lpstr>
      <vt:lpstr>万能生成器 多轮交互模板（附赠）</vt:lpstr>
      <vt:lpstr>附赠：万能 Prompt 生成器</vt:lpstr>
      <vt:lpstr>避坑与高阶技巧 常见陷阱与纠正方法</vt:lpstr>
      <vt:lpstr>最佳实践与常见陷阱</vt:lpstr>
      <vt:lpstr>总结行动 核心要点与后续支持</vt:lpstr>
      <vt:lpstr>总结：带走这三句话</vt:lpstr>
      <vt:lpstr>课后作业</vt:lpstr>
      <vt:lpstr>问题答疑 Q&amp;A</vt:lpstr>
      <vt:lpstr>下一课见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AI赋能高效文档处理</dc:title>
  <dc:creator>Kimi</dc:creator>
  <dc:subject>AI赋能高效文档处理</dc:subject>
  <cp:lastModifiedBy>卿</cp:lastModifiedBy>
  <cp:revision>29</cp:revision>
  <dcterms:created xsi:type="dcterms:W3CDTF">2026-04-22T02:54:00Z</dcterms:created>
  <dcterms:modified xsi:type="dcterms:W3CDTF">2026-04-22T02:56:32Z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{"Label":"AI赋能高效文档处理","ContentProducer":"001191110108MACG2KBH8F10000","ProduceID":"d45m05vahd887atuib4g","ReservedCode1":"","ContentPropagator":"001191110108MACG2KBH8F20000","PropagateID":"d45m05vahd887atuib4g","ReservedCode2":""}</vt:lpwstr>
  </property>
  <property fmtid="{D5CDD505-2E9C-101B-9397-08002B2CF9AE}" pid="3" name="ICV">
    <vt:lpwstr>515CC12E91C54C3AA95B2BA3D639C770_13</vt:lpwstr>
  </property>
  <property fmtid="{D5CDD505-2E9C-101B-9397-08002B2CF9AE}" pid="4" name="KSOProductBuildVer">
    <vt:lpwstr>2052-12.1.0.25225</vt:lpwstr>
  </property>
</Properties>
</file>