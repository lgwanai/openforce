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handoutMasterIdLst>
    <p:handoutMasterId r:id="rId30"/>
  </p:handoutMasterIdLst>
  <p:sldIdLst>
    <p:sldId id="366" r:id="rId3"/>
    <p:sldId id="299" r:id="rId4"/>
    <p:sldId id="328" r:id="rId6"/>
    <p:sldId id="344" r:id="rId7"/>
    <p:sldId id="345" r:id="rId8"/>
    <p:sldId id="329" r:id="rId9"/>
    <p:sldId id="346" r:id="rId10"/>
    <p:sldId id="289" r:id="rId11"/>
    <p:sldId id="349" r:id="rId12"/>
    <p:sldId id="347" r:id="rId13"/>
    <p:sldId id="365" r:id="rId14"/>
    <p:sldId id="360" r:id="rId15"/>
    <p:sldId id="351" r:id="rId16"/>
    <p:sldId id="354" r:id="rId17"/>
    <p:sldId id="362" r:id="rId18"/>
    <p:sldId id="301" r:id="rId19"/>
    <p:sldId id="353" r:id="rId20"/>
    <p:sldId id="348" r:id="rId21"/>
    <p:sldId id="356" r:id="rId22"/>
    <p:sldId id="355" r:id="rId23"/>
    <p:sldId id="363" r:id="rId24"/>
    <p:sldId id="335" r:id="rId25"/>
    <p:sldId id="357" r:id="rId26"/>
    <p:sldId id="367" r:id="rId27"/>
    <p:sldId id="358" r:id="rId28"/>
    <p:sldId id="359" r:id="rId29"/>
  </p:sldIdLst>
  <p:sldSz cx="12192000" cy="6858000"/>
  <p:notesSz cx="6858000" cy="12192000"/>
  <p:embeddedFontLst>
    <p:embeddedFont>
      <p:font typeface="BMWGroupTN Condensed TT" pitchFamily="2" charset="0"/>
      <p:regular r:id="rId35"/>
      <p:bold r:id="rId36"/>
    </p:embeddedFont>
    <p:embeddedFont>
      <p:font typeface="BMWGroupTN Condensed TT Light" charset="0"/>
      <p:regular r:id="rId37"/>
    </p:embeddedFont>
    <p:embeddedFont>
      <p:font typeface="BMWGroupTN Condensed TT Medium" charset="0"/>
      <p:regular r:id="rId38"/>
    </p:embeddedFont>
  </p:embeddedFontLst>
  <p:custDataLst>
    <p:tags r:id="rId3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BM" initials="A" lastIdx="3" clrIdx="0"/>
  <p:cmAuthor id="151" name="未知用户95" initials="未" lastIdx="4" clrIdx="0"/>
  <p:cmAuthor id="1" name="Li,Chen(ECR_VAS)" initials="L" lastIdx="1" clrIdx="0"/>
  <p:cmAuthor id="2" name="He,Yanan" initials="H" lastIdx="2" clrIdx="1"/>
  <p:cmAuthor id="153" name="未知用户96" initials="未" lastIdx="13" clrIdx="0"/>
  <p:cmAuthor id="3" name="Lenovo" initials="L" lastIdx="1" clrIdx="2"/>
  <p:cmAuthor id="4" name="未知用户" initials="未" lastIdx="2" clrIdx="0"/>
  <p:cmAuthor id="155" name="未知用户97" initials="未" lastIdx="2" clrIdx="0"/>
  <p:cmAuthor id="5" name="新萝卜家园" initials="新" lastIdx="0" clrIdx="0"/>
  <p:cmAuthor id="6" name="李正" initials="李" lastIdx="1" clrIdx="0"/>
  <p:cmAuthor id="157" name="未知用户98" initials="未" lastIdx="2" clrIdx="1"/>
  <p:cmAuthor id="7" name="China" initials="C" lastIdx="1" clrIdx="1"/>
  <p:cmAuthor id="158" name="Dannerbeck Anke, CB-1" initials="DAC" lastIdx="0" clrIdx="157"/>
  <p:cmAuthor id="8" name="吴铭锐" initials="吴" lastIdx="2" clrIdx="0"/>
  <p:cmAuthor id="159" name="未知用户99" initials="未" lastIdx="16" clrIdx="2"/>
  <p:cmAuthor id="9" name="张杰" initials="张" lastIdx="7" clrIdx="0"/>
  <p:cmAuthor id="160" name="Karen" initials="K" lastIdx="0" clrIdx="159"/>
  <p:cmAuthor id="10" name="孟祥超" initials="孟" lastIdx="4" clrIdx="1"/>
  <p:cmAuthor id="161" name="未知用户100" initials="未" lastIdx="0" clrIdx="0"/>
  <p:cmAuthor id="11" name="杨艳霞" initials="杨" lastIdx="34" clrIdx="1"/>
  <p:cmAuthor id="12" name="陶川" initials="陶" lastIdx="1" clrIdx="0"/>
  <p:cmAuthor id="163" name="未知用户101" initials="未" lastIdx="3" clrIdx="0"/>
  <p:cmAuthor id="13" name="user" initials="u" lastIdx="92" clrIdx="0"/>
  <p:cmAuthor id="14" name="周开雷" initials="周" lastIdx="8" clrIdx="0"/>
  <p:cmAuthor id="15" name="未定义" initials="未" lastIdx="1" clrIdx="1"/>
  <p:cmAuthor id="16" name="未知用户22" initials="未" lastIdx="34" clrIdx="0"/>
  <p:cmAuthor id="167" name="Microsoft Office 用户" initials="M" lastIdx="0" clrIdx="104"/>
  <p:cmAuthor id="17" name="未知用户4" initials="未" lastIdx="1" clrIdx="0"/>
  <p:cmAuthor id="18" name="lx" initials="l" lastIdx="2" clrIdx="0"/>
  <p:cmAuthor id="169" name="段振华" initials="段" lastIdx="1" clrIdx="0"/>
  <p:cmAuthor id="19" name="andres.x.gomez" initials="a" lastIdx="4" clrIdx="0"/>
  <p:cmAuthor id="20" name="赵兰玉" initials="赵" lastIdx="1" clrIdx="0"/>
  <p:cmAuthor id="171" name="lou cynthia" initials="l" lastIdx="1" clrIdx="0"/>
  <p:cmAuthor id="21" name="微软用户" initials="微" lastIdx="1" clrIdx="0"/>
  <p:cmAuthor id="22" name="李振宇" initials="李" lastIdx="1" clrIdx="5"/>
  <p:cmAuthor id="173" name="Author" initials="A" lastIdx="1" clrIdx="0"/>
  <p:cmAuthor id="23" name="nine" initials="n" lastIdx="1" clrIdx="0"/>
  <p:cmAuthor id="24" name="邹洋" initials="邹" lastIdx="2" clrIdx="0"/>
  <p:cmAuthor id="175" name="马红" initials="马" lastIdx="7" clrIdx="0"/>
  <p:cmAuthor id="25" name="王志刚" initials="王" lastIdx="1" clrIdx="0"/>
  <p:cmAuthor id="26" name="未知用户13" initials="未" lastIdx="1" clrIdx="0"/>
  <p:cmAuthor id="27" name="未知用户5" initials="未" lastIdx="1" clrIdx="0"/>
  <p:cmAuthor id="28" name="yangkun" initials="y" lastIdx="0" clrIdx="0"/>
  <p:cmAuthor id="29" name="王明明" initials="王" lastIdx="3" clrIdx="0"/>
  <p:cmAuthor id="30" name="Lenovo User" initials="L" lastIdx="1" clrIdx="0"/>
  <p:cmAuthor id="31" name="hys2" initials="h" lastIdx="1" clrIdx="0"/>
  <p:cmAuthor id="32" name="赵琦" initials="赵" lastIdx="4" clrIdx="1"/>
  <p:cmAuthor id="33" name="朱绍春" initials="朱" lastIdx="13" clrIdx="0"/>
  <p:cmAuthor id="34" name="番茄花园" initials="番" lastIdx="1" clrIdx="0"/>
  <p:cmAuthor id="35" name="朱悦龙" initials="朱" lastIdx="1" clrIdx="0"/>
  <p:cmAuthor id="36" name="evil" initials="e" lastIdx="0" clrIdx="0"/>
  <p:cmAuthor id="37" name="dell" initials="d" lastIdx="1" clrIdx="4"/>
  <p:cmAuthor id="38" name="吕志勇" initials="吕" lastIdx="8" clrIdx="0"/>
  <p:cmAuthor id="39" name="何已龙" initials="何" lastIdx="2" clrIdx="2"/>
  <p:cmAuthor id="40" name="叶得会" initials="叶" lastIdx="8" clrIdx="0"/>
  <p:cmAuthor id="41" name="未知用户6" initials="未" lastIdx="1" clrIdx="0"/>
  <p:cmAuthor id="42" name="未知用户8" initials="未" lastIdx="1" clrIdx="0"/>
  <p:cmAuthor id="43" name="未知用户7" initials="未" lastIdx="1" clrIdx="0"/>
  <p:cmAuthor id="44" name="未知用户9" initials="未" lastIdx="1" clrIdx="0"/>
  <p:cmAuthor id="45" name="未知用户17" initials="未" lastIdx="1" clrIdx="1"/>
  <p:cmAuthor id="46" name="未知用户18" initials="未" lastIdx="1" clrIdx="0"/>
  <p:cmAuthor id="47" name="未知用户20" initials="未" lastIdx="1" clrIdx="0"/>
  <p:cmAuthor id="48" name="未知用户19" initials="未" lastIdx="1" clrIdx="0"/>
  <p:cmAuthor id="49" name="未知用户21" initials="未" lastIdx="1" clrIdx="0"/>
  <p:cmAuthor id="50" name="未知用户14" initials="未" lastIdx="1" clrIdx="0"/>
  <p:cmAuthor id="51" name="未知用户15" initials="未" lastIdx="1" clrIdx="0"/>
  <p:cmAuthor id="52" name="未知用户16" initials="未" lastIdx="4" clrIdx="0"/>
  <p:cmAuthor id="53" name="郝崇" initials="郝" lastIdx="4" clrIdx="1"/>
  <p:cmAuthor id="54" name="吴杰" initials="吴" lastIdx="1" clrIdx="0"/>
  <p:cmAuthor id="55" name="刘丽仙" initials="刘" lastIdx="4" clrIdx="33"/>
  <p:cmAuthor id="56" name="马静" initials="马" lastIdx="0" clrIdx="0"/>
  <p:cmAuthor id="57" name="李百秋" initials="李" lastIdx="3" clrIdx="21"/>
  <p:cmAuthor id="58" name="范作霖" initials="范" lastIdx="1" clrIdx="22"/>
  <p:cmAuthor id="59" name="rq fan" initials="r" lastIdx="3" clrIdx="1"/>
  <p:cmAuthor id="210" name="李刚" initials="李" lastIdx="3" clrIdx="0"/>
  <p:cmAuthor id="60" name="dingbo" initials="d" lastIdx="1" clrIdx="0"/>
  <p:cmAuthor id="61" name="李永欣" initials="李" lastIdx="1" clrIdx="0"/>
  <p:cmAuthor id="62" name="仝德志" initials="仝" lastIdx="1" clrIdx="0"/>
  <p:cmAuthor id="63" name="丁芙蓉" initials="丁" lastIdx="4" clrIdx="1"/>
  <p:cmAuthor id="64" name="许弘扬" initials="许" lastIdx="1" clrIdx="0"/>
  <p:cmAuthor id="65" name="未知用户23" initials="未" lastIdx="1" clrIdx="1"/>
  <p:cmAuthor id="66" name="未知用户24" initials="未" lastIdx="1" clrIdx="0"/>
  <p:cmAuthor id="67" name="未知用户25" initials="未" lastIdx="1" clrIdx="0"/>
  <p:cmAuthor id="68" name="未知用户26" initials="未" lastIdx="1" clrIdx="0"/>
  <p:cmAuthor id="69" name="未知用户27" initials="未" lastIdx="1" clrIdx="0"/>
  <p:cmAuthor id="70" name="未知用户28" initials="未" lastIdx="1" clrIdx="0"/>
  <p:cmAuthor id="71" name="未知用户29" initials="未" lastIdx="1" clrIdx="0"/>
  <p:cmAuthor id="72" name="未知用户30" initials="未" lastIdx="4" clrIdx="0"/>
  <p:cmAuthor id="73" name="未知用户10" initials="未" lastIdx="7" clrIdx="0"/>
  <p:cmAuthor id="74" name="未知用户12" initials="未" lastIdx="1" clrIdx="0"/>
  <p:cmAuthor id="75" name="未知用户11" initials="未" lastIdx="23" clrIdx="0"/>
  <p:cmAuthor id="76" name="贡鑫" initials="贡" lastIdx="2" clrIdx="0"/>
  <p:cmAuthor id="77" name="administrator1" initials="a" lastIdx="16" clrIdx="2"/>
  <p:cmAuthor id="78" name="杜雪梅" initials="杜" lastIdx="1" clrIdx="0"/>
  <p:cmAuthor id="79" name="lijin" initials="l" lastIdx="33" clrIdx="0"/>
  <p:cmAuthor id="80" name="gtmc" initials="g" lastIdx="0" clrIdx="0"/>
  <p:cmAuthor id="81" name="chunsong_hu" initials="c" lastIdx="0" clrIdx="0"/>
  <p:cmAuthor id="82" name="张雁" initials="张" lastIdx="1" clrIdx="19"/>
  <p:cmAuthor id="83" name="贾清山" initials="贾" lastIdx="1" clrIdx="0"/>
  <p:cmAuthor id="84" name="陈桂枝" initials="陈" lastIdx="1" clrIdx="0"/>
  <p:cmAuthor id="85" name="王向羽" initials="王" lastIdx="1" clrIdx="0"/>
  <p:cmAuthor id="86" name="thinkpad" initials="t" lastIdx="2" clrIdx="0"/>
  <p:cmAuthor id="87" name="LEO L" initials="L" lastIdx="1" clrIdx="0"/>
  <p:cmAuthor id="88" name="马海燕" initials="马" lastIdx="1" clrIdx="18"/>
  <p:cmAuthor id="89" name="libin1204@163.com" initials="l" lastIdx="1" clrIdx="102"/>
  <p:cmAuthor id="90" name="Qingyunli" initials="Q" lastIdx="24" clrIdx="0"/>
  <p:cmAuthor id="91" name="吴军" initials="吴" lastIdx="1" clrIdx="0"/>
  <p:cmAuthor id="92" name="USER" initials="U" lastIdx="18" clrIdx="0"/>
  <p:cmAuthor id="93" name="陈尚文" initials="陈" lastIdx="1" clrIdx="1"/>
  <p:cmAuthor id="94" name="张宏伟" initials="张" lastIdx="46" clrIdx="0"/>
  <p:cmAuthor id="95" name="未知用户36" initials="未" lastIdx="2" clrIdx="0"/>
  <p:cmAuthor id="96" name="Pei" initials="P" lastIdx="0" clrIdx="1"/>
  <p:cmAuthor id="97" name="徐光宇" initials="徐" lastIdx="1" clrIdx="0"/>
  <p:cmAuthor id="98" name="mac" initials="m" lastIdx="1" clrIdx="0"/>
  <p:cmAuthor id="99" name="Liu, Leo (MBSHR cs)" initials="L" lastIdx="2" clrIdx="0"/>
  <p:cmAuthor id="100" name="刘豹" initials="刘" lastIdx="0" clrIdx="0"/>
  <p:cmAuthor id="101" name="张艳芳" initials="张" lastIdx="3" clrIdx="0"/>
  <p:cmAuthor id="102" name="刘广艳" initials="刘" lastIdx="10" clrIdx="1"/>
  <p:cmAuthor id="103" name="邹积逊" initials="邹" lastIdx="1" clrIdx="0"/>
  <p:cmAuthor id="104" name="yangyanxia" initials="y" lastIdx="1" clrIdx="0"/>
  <p:cmAuthor id="105" name="刘春辉" initials="刘" lastIdx="4" clrIdx="28"/>
  <p:cmAuthor id="106" name="Youwen Sun" initials="Y" lastIdx="3" clrIdx="1"/>
  <p:cmAuthor id="107" name="杜娇龙" initials="杜" lastIdx="2" clrIdx="1"/>
  <p:cmAuthor id="108" name="张钦" initials="张" lastIdx="4" clrIdx="4"/>
  <p:cmAuthor id="109" name="涛娜" initials="涛" lastIdx="1" clrIdx="11"/>
  <p:cmAuthor id="110" name="未知用户80" initials="未" lastIdx="1" clrIdx="0"/>
  <p:cmAuthor id="111" name="李丽华" initials="李" lastIdx="12" clrIdx="1"/>
  <p:cmAuthor id="112" name="Microsoft 帐户" initials="M" lastIdx="1" clrIdx="0"/>
  <p:cmAuthor id="113" name="王志虎" initials="王" lastIdx="1" clrIdx="24"/>
  <p:cmAuthor id="114" name="魏永生" initials="魏" lastIdx="4" clrIdx="17"/>
  <p:cmAuthor id="115" name="Zhou, Judy" initials="Z" lastIdx="9" clrIdx="0"/>
  <p:cmAuthor id="116" name=" " initials=" " lastIdx="3" clrIdx="6"/>
  <p:cmAuthor id="117" name="未知用户51" initials="未" lastIdx="4" clrIdx="0"/>
  <p:cmAuthor id="118" name="未知用户82" initials="未" lastIdx="4" clrIdx="0"/>
  <p:cmAuthor id="119" name="未知用户52" initials="未" lastIdx="13" clrIdx="0"/>
  <p:cmAuthor id="120" name="侯 林" initials="侯" lastIdx="2" clrIdx="35"/>
  <p:cmAuthor id="121" name="孙大威" initials="孙" lastIdx="21" clrIdx="4"/>
  <p:cmAuthor id="122" name="未知用户83" initials="未" lastIdx="13" clrIdx="0"/>
  <p:cmAuthor id="123" name="李明" initials="李" lastIdx="4" clrIdx="73"/>
  <p:cmAuthor id="124" name="未知用户2" initials="未" lastIdx="0" clrIdx="0"/>
  <p:cmAuthor id="125" name="徐仕超" initials="徐" lastIdx="1" clrIdx="3"/>
  <p:cmAuthor id="126" name="未知用户84" initials="未" lastIdx="2" clrIdx="0"/>
  <p:cmAuthor id="127" name="Lzy" initials="L" lastIdx="1" clrIdx="0"/>
  <p:cmAuthor id="128" name="未知用户3" initials="未" lastIdx="4" clrIdx="1"/>
  <p:cmAuthor id="129" name="未知用户62" initials="未" lastIdx="3" clrIdx="0"/>
  <p:cmAuthor id="130" name="未知用户85" initials="未" lastIdx="2" clrIdx="1"/>
  <p:cmAuthor id="131" name="未知用户63" initials="未" lastIdx="21" clrIdx="4"/>
  <p:cmAuthor id="133" name="未知用户86" initials="未" lastIdx="16" clrIdx="2"/>
  <p:cmAuthor id="135" name="未知用户87" initials="未" lastIdx="0" clrIdx="0"/>
  <p:cmAuthor id="137" name="未知用户88" initials="未" lastIdx="3" clrIdx="0"/>
  <p:cmAuthor id="138" name="宋少霞" initials="宋" lastIdx="1" clrIdx="2"/>
  <p:cmAuthor id="139" name="未知用户89" initials="未" lastIdx="21" clrIdx="4"/>
  <p:cmAuthor id="141" name="未知用户90" initials="未" lastIdx="1" clrIdx="1"/>
  <p:cmAuthor id="142" name="张惠" initials="张" lastIdx="1" clrIdx="0"/>
  <p:cmAuthor id="143" name="未知用户91" initials="未" lastIdx="1" clrIdx="0"/>
  <p:cmAuthor id="145" name="未知用户92" initials="未" lastIdx="1" clrIdx="0"/>
  <p:cmAuthor id="146" name="panhong" initials="p" lastIdx="18" clrIdx="0"/>
  <p:cmAuthor id="147" name="未知用户93" initials="未" lastIdx="1" clrIdx="0"/>
  <p:cmAuthor id="149" name="未知用户94" initials="未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F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02"/>
    <p:restoredTop sz="94610"/>
  </p:normalViewPr>
  <p:slideViewPr>
    <p:cSldViewPr snapToGrid="0" snapToObjects="1">
      <p:cViewPr varScale="1">
        <p:scale>
          <a:sx n="216" d="100"/>
          <a:sy n="216" d="100"/>
        </p:scale>
        <p:origin x="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9" Type="http://schemas.openxmlformats.org/officeDocument/2006/relationships/tags" Target="tags/tag168.xml"/><Relationship Id="rId38" Type="http://schemas.openxmlformats.org/officeDocument/2006/relationships/font" Target="fonts/font4.fntdata"/><Relationship Id="rId37" Type="http://schemas.openxmlformats.org/officeDocument/2006/relationships/font" Target="fonts/font3.fntdata"/><Relationship Id="rId36" Type="http://schemas.openxmlformats.org/officeDocument/2006/relationships/font" Target="fonts/font2.fntdata"/><Relationship Id="rId35" Type="http://schemas.openxmlformats.org/officeDocument/2006/relationships/font" Target="fonts/font1.fntdata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BMWGroupTN Condensed TT Light" charset="0"/>
                <a:ea typeface="BMWGroupTN Condensed TT Light" charset="0"/>
                <a:cs typeface="BMWGroupTN Condensed TT Light" charset="0"/>
              </a:rPr>
            </a:fld>
            <a:endParaRPr lang="zh-CN" altLang="en-US"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BMWGroupTN Condensed TT Light" charset="0"/>
                <a:ea typeface="BMWGroupTN Condensed TT Light" charset="0"/>
                <a:cs typeface="BMWGroupTN Condensed TT Light" charset="0"/>
              </a:rPr>
            </a:fld>
            <a:endParaRPr lang="zh-CN" altLang="en-US"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MWGroupTN Condensed TT Light" charset="0"/>
                <a:ea typeface="BMWGroupTN Condensed TT Light" charset="0"/>
                <a:cs typeface="BMWGroupTN Condensed TT Light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MWGroupTN Condensed TT Light" charset="0"/>
                <a:ea typeface="BMWGroupTN Condensed TT Light" charset="0"/>
                <a:cs typeface="BMWGroupTN Condensed TT Light" charset="0"/>
              </a:defRPr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MWGroupTN Condensed TT Light" charset="0"/>
                <a:ea typeface="BMWGroupTN Condensed TT Light" charset="0"/>
                <a:cs typeface="BMWGroupTN Condensed TT Light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MWGroupTN Condensed TT Light" charset="0"/>
                <a:ea typeface="BMWGroupTN Condensed TT Light" charset="0"/>
                <a:cs typeface="BMWGroupTN Condensed TT Light" charset="0"/>
              </a:defRPr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BMWGroupTN Condensed TT Light" charset="0"/>
        <a:ea typeface="BMWGroupTN Condensed TT Light" charset="0"/>
        <a:cs typeface="BMWGroupTN Condensed TT Light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BMWGroupTN Condensed TT Light" charset="0"/>
        <a:ea typeface="BMWGroupTN Condensed TT Light" charset="0"/>
        <a:cs typeface="BMWGroupTN Condensed TT Light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BMWGroupTN Condensed TT Light" charset="0"/>
        <a:ea typeface="BMWGroupTN Condensed TT Light" charset="0"/>
        <a:cs typeface="BMWGroupTN Condensed TT Light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BMWGroupTN Condensed TT Light" charset="0"/>
        <a:ea typeface="BMWGroupTN Condensed TT Light" charset="0"/>
        <a:cs typeface="BMWGroupTN Condensed TT Light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BMWGroupTN Condensed TT Light" charset="0"/>
        <a:ea typeface="BMWGroupTN Condensed TT Light" charset="0"/>
        <a:cs typeface="BMWGroupTN Condensed TT Light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image" Target="../media/image2.png"/><Relationship Id="rId5" Type="http://schemas.openxmlformats.org/officeDocument/2006/relationships/tags" Target="../tags/tag21.xml"/><Relationship Id="rId4" Type="http://schemas.openxmlformats.org/officeDocument/2006/relationships/image" Target="../media/image1.pn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image" Target="../media/image2.png"/><Relationship Id="rId5" Type="http://schemas.openxmlformats.org/officeDocument/2006/relationships/tags" Target="../tags/tag29.xml"/><Relationship Id="rId4" Type="http://schemas.openxmlformats.org/officeDocument/2006/relationships/image" Target="../media/image1.png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image" Target="../media/image2.png"/><Relationship Id="rId5" Type="http://schemas.openxmlformats.org/officeDocument/2006/relationships/tags" Target="../tags/tag69.xml"/><Relationship Id="rId4" Type="http://schemas.openxmlformats.org/officeDocument/2006/relationships/image" Target="../media/image1.png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>
            <p:custDataLst>
              <p:tags r:id="rId2"/>
            </p:custDataLst>
          </p:nvPr>
        </p:nvSpPr>
        <p:spPr>
          <a:xfrm>
            <a:off x="635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BMWGroupTN Condensed TT Light" charset="0"/>
            </a:endParaRPr>
          </a:p>
        </p:txBody>
      </p:sp>
      <p:pic>
        <p:nvPicPr>
          <p:cNvPr id="3" name="图片 2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cxnSp>
        <p:nvCxnSpPr>
          <p:cNvPr id="32" name="直接连接符 31"/>
          <p:cNvCxnSpPr/>
          <p:nvPr userDrawn="1">
            <p:custDataLst>
              <p:tags r:id="rId7"/>
            </p:custDataLst>
          </p:nvPr>
        </p:nvCxnSpPr>
        <p:spPr>
          <a:xfrm>
            <a:off x="721895" y="5955632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直接连接符 33"/>
          <p:cNvCxnSpPr/>
          <p:nvPr userDrawn="1">
            <p:custDataLst>
              <p:tags r:id="rId8"/>
            </p:custDataLst>
          </p:nvPr>
        </p:nvCxnSpPr>
        <p:spPr>
          <a:xfrm flipH="1">
            <a:off x="6902116" y="5987716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燕尾形 56"/>
          <p:cNvSpPr/>
          <p:nvPr userDrawn="1">
            <p:custDataLst>
              <p:tags r:id="rId9"/>
            </p:custDataLst>
          </p:nvPr>
        </p:nvSpPr>
        <p:spPr>
          <a:xfrm>
            <a:off x="1123823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8" name="燕尾形 57"/>
          <p:cNvSpPr/>
          <p:nvPr userDrawn="1">
            <p:custDataLst>
              <p:tags r:id="rId10"/>
            </p:custDataLst>
          </p:nvPr>
        </p:nvSpPr>
        <p:spPr>
          <a:xfrm>
            <a:off x="1139190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11"/>
            </p:custDataLst>
          </p:nvPr>
        </p:nvSpPr>
        <p:spPr>
          <a:xfrm>
            <a:off x="5291323" y="5744812"/>
            <a:ext cx="1609354" cy="421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ea"/>
                <a:ea typeface="+mn-ea"/>
                <a:cs typeface="BMWGroupTN Condensed TT Light" charset="0"/>
              </a:defRPr>
            </a:lvl1pPr>
          </a:lstStyle>
          <a:p>
            <a:pPr lvl="0" algn="ctr"/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type="body" idx="2"/>
            <p:custDataLst>
              <p:tags r:id="rId12"/>
            </p:custDataLst>
          </p:nvPr>
        </p:nvSpPr>
        <p:spPr>
          <a:xfrm>
            <a:off x="1929130" y="3429000"/>
            <a:ext cx="8334375" cy="432995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800" b="0" i="0" u="none" strike="noStrike" kern="1200" cap="none" spc="0" normalizeH="0" baseline="0" noProof="1" dirty="0">
                <a:solidFill>
                  <a:srgbClr val="FFFFFF"/>
                </a:solidFill>
                <a:latin typeface="+mn-ea"/>
                <a:ea typeface="+mn-ea"/>
                <a:cs typeface="BMWGroupTN Condensed TT Light" charset="0"/>
              </a:defRPr>
            </a:lvl1pPr>
          </a:lstStyle>
          <a:p>
            <a:pPr lvl="0" algn="ctr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3"/>
            </p:custDataLst>
          </p:nvPr>
        </p:nvSpPr>
        <p:spPr>
          <a:xfrm>
            <a:off x="1929130" y="1586230"/>
            <a:ext cx="8334375" cy="16764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zh-CN" sz="6600" b="0" i="1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BMWGroupTN Condensed TT Light" charset="0"/>
              </a:defRPr>
            </a:lvl1pPr>
          </a:lstStyle>
          <a:p>
            <a:pPr lvl="0" algn="ctr">
              <a:lnSpc>
                <a:spcPct val="100000"/>
              </a:lnSpc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BMWGroupTN Condensed TT Light" charset="0"/>
            </a:endParaRPr>
          </a:p>
        </p:txBody>
      </p:sp>
      <p:pic>
        <p:nvPicPr>
          <p:cNvPr id="2" name="图片 1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cxnSp>
        <p:nvCxnSpPr>
          <p:cNvPr id="47" name="直接连接符 46"/>
          <p:cNvCxnSpPr/>
          <p:nvPr userDrawn="1">
            <p:custDataLst>
              <p:tags r:id="rId7"/>
            </p:custDataLst>
          </p:nvPr>
        </p:nvCxnSpPr>
        <p:spPr>
          <a:xfrm>
            <a:off x="2482182" y="1122981"/>
            <a:ext cx="9613231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854243" y="699376"/>
            <a:ext cx="2656708" cy="8316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5400" b="0" i="0" u="none" strike="noStrike" kern="1200" cap="none" spc="30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BMWGroupTN Condensed TT Light" charset="0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BMWGroupTN Condensed TT Light" charset="0"/>
            </a:endParaRPr>
          </a:p>
        </p:txBody>
      </p:sp>
      <p:pic>
        <p:nvPicPr>
          <p:cNvPr id="2" name="图片 1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sp>
        <p:nvSpPr>
          <p:cNvPr id="57" name="燕尾形 56"/>
          <p:cNvSpPr/>
          <p:nvPr userDrawn="1">
            <p:custDataLst>
              <p:tags r:id="rId7"/>
            </p:custDataLst>
          </p:nvPr>
        </p:nvSpPr>
        <p:spPr>
          <a:xfrm>
            <a:off x="1123823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8" name="燕尾形 57"/>
          <p:cNvSpPr/>
          <p:nvPr userDrawn="1">
            <p:custDataLst>
              <p:tags r:id="rId8"/>
            </p:custDataLst>
          </p:nvPr>
        </p:nvSpPr>
        <p:spPr>
          <a:xfrm>
            <a:off x="1139190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9"/>
            </p:custDataLst>
          </p:nvPr>
        </p:nvSpPr>
        <p:spPr>
          <a:xfrm>
            <a:off x="2500489" y="2426407"/>
            <a:ext cx="7191021" cy="6430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2800" b="1" i="1" u="none" strike="noStrike" kern="1200" cap="none" spc="30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atin typeface="+mn-ea"/>
                <a:ea typeface="+mn-ea"/>
                <a:cs typeface="BMWGroupTN Condensed TT Light" charset="0"/>
              </a:defRPr>
            </a:lvl1pPr>
          </a:lstStyle>
          <a:p>
            <a:pPr lvl="0" algn="ctr"/>
            <a:r>
              <a:rPr>
                <a:sym typeface="+mn-ea"/>
              </a:rPr>
              <a:t>编辑节编号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2500630" y="3180080"/>
            <a:ext cx="7190740" cy="14052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5400" b="0" i="1" u="none" strike="noStrike" kern="1200" cap="none" spc="30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BMWGroupTN Condensed TT Light" charset="0"/>
              </a:defRPr>
            </a:lvl1pPr>
          </a:lstStyle>
          <a:p>
            <a:pPr lvl="0" algn="ctr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3" name="内容占位符 1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839788" y="360000"/>
            <a:ext cx="10515600" cy="864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BMWGroupTN Condensed TT Light" charset="0"/>
            </a:endParaRPr>
          </a:p>
        </p:txBody>
      </p:sp>
      <p:pic>
        <p:nvPicPr>
          <p:cNvPr id="2" name="图片 1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cxnSp>
        <p:nvCxnSpPr>
          <p:cNvPr id="32" name="直接连接符 31"/>
          <p:cNvCxnSpPr/>
          <p:nvPr userDrawn="1">
            <p:custDataLst>
              <p:tags r:id="rId7"/>
            </p:custDataLst>
          </p:nvPr>
        </p:nvCxnSpPr>
        <p:spPr>
          <a:xfrm>
            <a:off x="721895" y="5955632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直接连接符 33"/>
          <p:cNvCxnSpPr/>
          <p:nvPr userDrawn="1">
            <p:custDataLst>
              <p:tags r:id="rId8"/>
            </p:custDataLst>
          </p:nvPr>
        </p:nvCxnSpPr>
        <p:spPr>
          <a:xfrm flipH="1">
            <a:off x="6902116" y="5987716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燕尾形 56"/>
          <p:cNvSpPr/>
          <p:nvPr userDrawn="1">
            <p:custDataLst>
              <p:tags r:id="rId9"/>
            </p:custDataLst>
          </p:nvPr>
        </p:nvSpPr>
        <p:spPr>
          <a:xfrm>
            <a:off x="1123823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8" name="燕尾形 57"/>
          <p:cNvSpPr/>
          <p:nvPr userDrawn="1">
            <p:custDataLst>
              <p:tags r:id="rId10"/>
            </p:custDataLst>
          </p:nvPr>
        </p:nvSpPr>
        <p:spPr>
          <a:xfrm>
            <a:off x="1139190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11"/>
            </p:custDataLst>
          </p:nvPr>
        </p:nvSpPr>
        <p:spPr>
          <a:xfrm>
            <a:off x="2233930" y="1696085"/>
            <a:ext cx="7724140" cy="23431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600" b="0" i="1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BMWGroupTN Condensed TT Light" charset="0"/>
              </a:defRPr>
            </a:lvl1pPr>
          </a:lstStyle>
          <a:p>
            <a:pPr lvl="0" algn="ctr">
              <a:lnSpc>
                <a:spcPct val="100000"/>
              </a:lnSpc>
            </a:pPr>
            <a:r>
              <a:rPr dirty="0" err="1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12"/>
            </p:custDataLst>
          </p:nvPr>
        </p:nvSpPr>
        <p:spPr>
          <a:xfrm>
            <a:off x="5291323" y="5744812"/>
            <a:ext cx="1609354" cy="421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ea"/>
                <a:ea typeface="+mn-ea"/>
                <a:cs typeface="BMWGroupTN Condensed TT Light" charset="0"/>
              </a:defRPr>
            </a:lvl1pPr>
          </a:lstStyle>
          <a:p>
            <a:pPr lvl="0" algn="ctr"/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87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86.xml"/><Relationship Id="rId18" Type="http://schemas.openxmlformats.org/officeDocument/2006/relationships/tags" Target="../tags/tag85.xml"/><Relationship Id="rId17" Type="http://schemas.openxmlformats.org/officeDocument/2006/relationships/tags" Target="../tags/tag84.xml"/><Relationship Id="rId16" Type="http://schemas.openxmlformats.org/officeDocument/2006/relationships/tags" Target="../tags/tag83.xml"/><Relationship Id="rId15" Type="http://schemas.openxmlformats.org/officeDocument/2006/relationships/tags" Target="../tags/tag82.xml"/><Relationship Id="rId14" Type="http://schemas.openxmlformats.org/officeDocument/2006/relationships/tags" Target="../tags/tag81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12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cxnSp>
        <p:nvCxnSpPr>
          <p:cNvPr id="7" name="直接连接符 6"/>
          <p:cNvCxnSpPr/>
          <p:nvPr userDrawn="1">
            <p:custDataLst>
              <p:tags r:id="rId13"/>
            </p:custDataLst>
          </p:nvPr>
        </p:nvCxnSpPr>
        <p:spPr>
          <a:xfrm flipV="1">
            <a:off x="583974" y="0"/>
            <a:ext cx="0" cy="644044"/>
          </a:xfrm>
          <a:prstGeom prst="line">
            <a:avLst/>
          </a:prstGeom>
          <a:noFill/>
          <a:ln w="184150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直接连接符 8"/>
          <p:cNvCxnSpPr/>
          <p:nvPr userDrawn="1">
            <p:custDataLst>
              <p:tags r:id="rId14"/>
            </p:custDataLst>
          </p:nvPr>
        </p:nvCxnSpPr>
        <p:spPr>
          <a:xfrm flipV="1">
            <a:off x="405554" y="0"/>
            <a:ext cx="0" cy="805603"/>
          </a:xfrm>
          <a:prstGeom prst="line">
            <a:avLst/>
          </a:prstGeom>
          <a:noFill/>
          <a:ln w="184150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BMWGroupTN Condensed TT Light" charset="0"/>
                <a:ea typeface="BMWGroupTN Condensed TT Light" charset="0"/>
                <a:cs typeface="BMWGroupTN Condensed TT Light" charset="0"/>
              </a:defRPr>
            </a:lvl1pPr>
          </a:lstStyle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BMWGroupTN Condensed TT Light" charset="0"/>
                <a:ea typeface="BMWGroupTN Condensed TT Light" charset="0"/>
                <a:cs typeface="BMWGroupTN Condensed TT Light" charset="0"/>
              </a:defRPr>
            </a:lvl1pPr>
          </a:lstStyle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BMWGroupTN Condensed TT Light" charset="0"/>
                <a:ea typeface="BMWGroupTN Condensed TT Light" charset="0"/>
                <a:cs typeface="BMWGroupTN Condensed TT Light" charset="0"/>
              </a:defRPr>
            </a:lvl1pPr>
          </a:lstStyle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2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bg1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atin typeface="BMWGroupTN Condensed TT Light" charset="0"/>
          <a:ea typeface="BMWGroupTN Condensed TT Light" charset="0"/>
          <a:cs typeface="BMWGroupTN Condensed TT Light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zh-CN" altLang="en-US" sz="1800" b="0" i="0" u="none" strike="noStrike" kern="1200" cap="none" spc="150" normalizeH="0" baseline="0" dirty="0">
          <a:ln>
            <a:noFill/>
            <a:prstDash val="sysDot"/>
          </a:ln>
          <a:solidFill>
            <a:srgbClr val="FFFFFF"/>
          </a:solidFill>
          <a:uFillTx/>
          <a:latin typeface="BMWGroupTN Condensed TT Light" charset="0"/>
          <a:ea typeface="BMWGroupTN Condensed TT Light" charset="0"/>
          <a:cs typeface="BMWGroupTN Condensed TT Light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>
          <a:solidFill>
            <a:srgbClr val="FFFFFF"/>
          </a:solidFill>
          <a:uFillTx/>
          <a:latin typeface="BMWGroupTN Condensed TT Light" charset="0"/>
          <a:ea typeface="BMWGroupTN Condensed TT Light" charset="0"/>
          <a:cs typeface="BMWGroupTN Condensed TT Light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>
          <a:solidFill>
            <a:srgbClr val="FFFFFF"/>
          </a:solidFill>
          <a:uFillTx/>
          <a:latin typeface="BMWGroupTN Condensed TT Light" charset="0"/>
          <a:ea typeface="BMWGroupTN Condensed TT Light" charset="0"/>
          <a:cs typeface="BMWGroupTN Condensed TT Light" charset="0"/>
          <a:sym typeface="BMWGroupTN Condensed TT Light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dirty="0">
          <a:solidFill>
            <a:srgbClr val="FFFFFF"/>
          </a:solidFill>
          <a:uFillTx/>
          <a:latin typeface="BMWGroupTN Condensed TT Light" charset="0"/>
          <a:ea typeface="BMWGroupTN Condensed TT Light" charset="0"/>
          <a:cs typeface="BMWGroupTN Condensed TT Light" charset="0"/>
          <a:sym typeface="BMWGroupTN Condensed TT Light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dirty="0">
          <a:solidFill>
            <a:srgbClr val="FFFFFF"/>
          </a:solidFill>
          <a:uFillTx/>
          <a:latin typeface="BMWGroupTN Condensed TT Light" charset="0"/>
          <a:ea typeface="BMWGroupTN Condensed TT Light" charset="0"/>
          <a:cs typeface="BMWGroupTN Condensed TT Light" charset="0"/>
          <a:sym typeface="BMWGroupTN Condensed TT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5" Type="http://schemas.openxmlformats.org/officeDocument/2006/relationships/notesSlide" Target="../notesSlides/notesSlide1.xml"/><Relationship Id="rId24" Type="http://schemas.openxmlformats.org/officeDocument/2006/relationships/slideLayout" Target="../slideLayouts/slideLayout2.xml"/><Relationship Id="rId23" Type="http://schemas.openxmlformats.org/officeDocument/2006/relationships/tags" Target="../tags/tag114.xml"/><Relationship Id="rId22" Type="http://schemas.openxmlformats.org/officeDocument/2006/relationships/tags" Target="../tags/tag113.xml"/><Relationship Id="rId21" Type="http://schemas.openxmlformats.org/officeDocument/2006/relationships/tags" Target="../tags/tag112.xml"/><Relationship Id="rId20" Type="http://schemas.openxmlformats.org/officeDocument/2006/relationships/tags" Target="../tags/tag111.xml"/><Relationship Id="rId2" Type="http://schemas.openxmlformats.org/officeDocument/2006/relationships/tags" Target="../tags/tag93.xml"/><Relationship Id="rId19" Type="http://schemas.openxmlformats.org/officeDocument/2006/relationships/tags" Target="../tags/tag110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tags" Target="../tags/tag9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6.xml"/><Relationship Id="rId2" Type="http://schemas.openxmlformats.org/officeDocument/2006/relationships/image" Target="../media/image3.png"/><Relationship Id="rId1" Type="http://schemas.openxmlformats.org/officeDocument/2006/relationships/tags" Target="../tags/tag115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6.xml"/><Relationship Id="rId2" Type="http://schemas.openxmlformats.org/officeDocument/2006/relationships/image" Target="../media/image4.png"/><Relationship Id="rId1" Type="http://schemas.openxmlformats.org/officeDocument/2006/relationships/tags" Target="../tags/tag13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8.xml"/><Relationship Id="rId1" Type="http://schemas.openxmlformats.org/officeDocument/2006/relationships/tags" Target="../tags/tag157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64.xml"/><Relationship Id="rId1" Type="http://schemas.openxmlformats.org/officeDocument/2006/relationships/tags" Target="../tags/tag163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tags" Target="../tags/tag1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1928813" y="0"/>
            <a:ext cx="8334375" cy="842645"/>
          </a:xfrm>
        </p:spPr>
        <p:txBody>
          <a:bodyPr>
            <a:noAutofit/>
          </a:bodyPr>
          <a:lstStyle/>
          <a:p>
            <a:r>
              <a:rPr lang="en-US" altLang="zh-CN" sz="3600" b="1"/>
              <a:t>AI EASY OFFICE LEARNING CAMP</a:t>
            </a:r>
            <a:endParaRPr lang="en-US" altLang="zh-CN" sz="3600" b="1"/>
          </a:p>
        </p:txBody>
      </p:sp>
      <p:sp>
        <p:nvSpPr>
          <p:cNvPr id="6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310188" y="5735320"/>
            <a:ext cx="1571625" cy="41338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BMWGroupTN Condensed TT" pitchFamily="2" charset="0"/>
                <a:ea typeface="BMWGroupTN Condensed TT" pitchFamily="2" charset="0"/>
                <a:cs typeface="BMWGroupTN Condensed TT" pitchFamily="2" charset="0"/>
                <a:sym typeface="+mn-ea"/>
              </a:rPr>
              <a:t>第四课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BMWGroupTN Condensed TT" pitchFamily="2" charset="0"/>
              <a:ea typeface="BMWGroupTN Condensed TT" pitchFamily="2" charset="0"/>
              <a:cs typeface="BMWGroupTN Condensed TT" pitchFamily="2" charset="0"/>
              <a:sym typeface="+mn-ea"/>
            </a:endParaRPr>
          </a:p>
        </p:txBody>
      </p:sp>
      <p:sp>
        <p:nvSpPr>
          <p:cNvPr id="8" name="标题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16878" y="1449070"/>
            <a:ext cx="11358245" cy="176466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7200" b="1" i="0" u="none" strike="noStrike" kern="1200" cap="none" spc="0" normalizeH="0" baseline="0" noProof="1">
                <a:solidFill>
                  <a:srgbClr val="FFFFFF"/>
                </a:solidFill>
                <a:effectLst>
                  <a:outerShdw blurRad="127000" dist="63500" dir="2700000" algn="tl" rotWithShape="0">
                    <a:schemeClr val="tx2">
                      <a:alpha val="20000"/>
                    </a:scheme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4000">
                <a:cs typeface="BMWGroupTN Condensed TT" pitchFamily="2" charset="0"/>
                <a:sym typeface="+mn-ea"/>
              </a:rPr>
              <a:t>【</a:t>
            </a:r>
            <a:r>
              <a:rPr lang="en-US" altLang="zh-CN" sz="4000">
                <a:cs typeface="BMWGroupTN Condensed TT" pitchFamily="2" charset="0"/>
                <a:sym typeface="+mn-ea"/>
              </a:rPr>
              <a:t>GAIA</a:t>
            </a:r>
            <a:r>
              <a:rPr lang="zh-CN" altLang="en-US" sz="4000">
                <a:cs typeface="BMWGroupTN Condensed TT" pitchFamily="2" charset="0"/>
                <a:sym typeface="+mn-ea"/>
              </a:rPr>
              <a:t>知识库】</a:t>
            </a:r>
            <a:endParaRPr lang="zh-CN" altLang="en-US" sz="4000">
              <a:cs typeface="BMWGroupTN Condensed TT" pitchFamily="2" charset="0"/>
              <a:sym typeface="+mn-ea"/>
            </a:endParaRPr>
          </a:p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4000">
                <a:cs typeface="BMWGroupTN Condensed TT" pitchFamily="2" charset="0"/>
                <a:sym typeface="+mn-ea"/>
              </a:rPr>
              <a:t>沉淀</a:t>
            </a:r>
            <a:r>
              <a:rPr lang="en-US" altLang="zh-CN" sz="4000">
                <a:cs typeface="BMWGroupTN Condensed TT" pitchFamily="2" charset="0"/>
                <a:sym typeface="+mn-ea"/>
              </a:rPr>
              <a:t>“</a:t>
            </a:r>
            <a:r>
              <a:rPr lang="zh-CN" altLang="en-US" sz="4000">
                <a:cs typeface="BMWGroupTN Condensed TT" pitchFamily="2" charset="0"/>
                <a:sym typeface="+mn-ea"/>
              </a:rPr>
              <a:t>老师傅</a:t>
            </a:r>
            <a:r>
              <a:rPr lang="en-US" altLang="zh-CN" sz="4000">
                <a:cs typeface="BMWGroupTN Condensed TT" pitchFamily="2" charset="0"/>
                <a:sym typeface="+mn-ea"/>
              </a:rPr>
              <a:t>”</a:t>
            </a:r>
            <a:r>
              <a:rPr lang="zh-CN" altLang="en-US" sz="4000">
                <a:cs typeface="BMWGroupTN Condensed TT" pitchFamily="2" charset="0"/>
                <a:sym typeface="+mn-ea"/>
              </a:rPr>
              <a:t>经验，构建部门专属智能问答机器人</a:t>
            </a:r>
            <a:endParaRPr lang="zh-CN" altLang="en-US" sz="4000">
              <a:cs typeface="BMWGroupTN Condensed TT" pitchFamily="2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3564255"/>
            <a:ext cx="1219073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BMWGroupTN Condensed TT Light" charset="0"/>
                <a:cs typeface="BMWGroupTN Condensed TT Light" charset="0"/>
              </a:rPr>
              <a:t>【</a:t>
            </a:r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BMWGroupTN Condensed TT Light" charset="0"/>
                <a:cs typeface="BMWGroupTN Condensed TT Light" charset="0"/>
                <a:sym typeface="+mn-ea"/>
              </a:rPr>
              <a:t>GAIA Knowledge Base</a:t>
            </a: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BMWGroupTN Condensed TT Light" charset="0"/>
                <a:cs typeface="BMWGroupTN Condensed TT Light" charset="0"/>
                <a:sym typeface="+mn-ea"/>
              </a:rPr>
              <a:t>】</a:t>
            </a:r>
            <a:endParaRPr lang="zh-CN" alt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BMWGroupTN Condensed TT Light" charset="0"/>
              <a:cs typeface="BMWGroupTN Condensed TT Light" charset="0"/>
              <a:sym typeface="+mn-ea"/>
            </a:endParaRPr>
          </a:p>
          <a:p>
            <a:pPr algn="ctr"/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BMWGroupTN Condensed TT Light" charset="0"/>
              </a:rPr>
              <a:t>Accumulate "Master Craftsman" Experience to Build a Department-Specific Intelligent Q&amp;A Bot</a:t>
            </a:r>
            <a:endParaRPr lang="en-US" altLang="zh-CN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BMWGroupTN Condensed TT Light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en-US"/>
              <a:t>AI</a:t>
            </a:r>
            <a:r>
              <a:rPr lang="zh-CN" altLang="en-US"/>
              <a:t>如何改变我们的日常工作？</a:t>
            </a:r>
            <a:endParaRPr lang="zh-CN" altLang="en-US"/>
          </a:p>
        </p:txBody>
      </p:sp>
      <p:sp>
        <p:nvSpPr>
          <p:cNvPr id="40" name="任意多边形 39"/>
          <p:cNvSpPr/>
          <p:nvPr>
            <p:custDataLst>
              <p:tags r:id="rId2"/>
            </p:custDataLst>
          </p:nvPr>
        </p:nvSpPr>
        <p:spPr>
          <a:xfrm rot="5400000" flipH="1">
            <a:off x="6383338" y="1157049"/>
            <a:ext cx="4683125" cy="5562600"/>
          </a:xfrm>
          <a:custGeom>
            <a:avLst/>
            <a:gdLst>
              <a:gd name="adj1" fmla="val 4467"/>
              <a:gd name="adj2" fmla="val 0"/>
              <a:gd name="a1" fmla="pin 0 adj1 50000"/>
              <a:gd name="a2" fmla="pin 0 adj2 50000"/>
              <a:gd name="tx1" fmla="*/ ss a1 100000"/>
              <a:gd name="tx2" fmla="+- r 0 tx1"/>
              <a:gd name="bx1" fmla="*/ ss a2 100000"/>
              <a:gd name="bx2" fmla="+- r 0 bx1"/>
              <a:gd name="by1" fmla="+- b 0 bx1"/>
              <a:gd name="d" fmla="+- tx1 0 bx1"/>
              <a:gd name="tdx" fmla="*/ tx1 29289 100000"/>
              <a:gd name="bdx" fmla="*/ bx1 29289 100000"/>
              <a:gd name="il" fmla="?: d tdx bdx"/>
              <a:gd name="ir" fmla="+- r 0 il"/>
              <a:gd name="ib" fmla="+- b 0 bdx"/>
            </a:gdLst>
            <a:ahLst/>
            <a:cxnLst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3">
                <a:pos x="hc" y="t"/>
              </a:cxn>
            </a:cxnLst>
            <a:rect l="l" t="t" r="r" b="b"/>
            <a:pathLst>
              <a:path w="7375" h="8760">
                <a:moveTo>
                  <a:pt x="329" y="0"/>
                </a:moveTo>
                <a:lnTo>
                  <a:pt x="7046" y="0"/>
                </a:lnTo>
                <a:cubicBezTo>
                  <a:pt x="7228" y="0"/>
                  <a:pt x="7375" y="147"/>
                  <a:pt x="7375" y="329"/>
                </a:cubicBezTo>
                <a:lnTo>
                  <a:pt x="7375" y="8264"/>
                </a:lnTo>
                <a:lnTo>
                  <a:pt x="456" y="8264"/>
                </a:lnTo>
                <a:lnTo>
                  <a:pt x="456" y="8760"/>
                </a:lnTo>
                <a:lnTo>
                  <a:pt x="0" y="8760"/>
                </a:lnTo>
                <a:lnTo>
                  <a:pt x="0" y="329"/>
                </a:lnTo>
                <a:cubicBezTo>
                  <a:pt x="0" y="147"/>
                  <a:pt x="147" y="0"/>
                  <a:pt x="329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10000"/>
            </a:schemeClr>
          </a:solidFill>
          <a:ln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575945" tIns="0" rIns="107950" numCol="1" spcCol="0" rtlCol="0" fromWordArt="0" anchor="ctr" anchorCtr="0" forceAA="0" compatLnSpc="1">
            <a:noAutofit/>
          </a:bodyPr>
          <a:lstStyle/>
          <a:p>
            <a:pPr lvl="0" algn="l">
              <a:lnSpc>
                <a:spcPct val="130000"/>
              </a:lnSpc>
              <a:spcAft>
                <a:spcPts val="0"/>
              </a:spcAft>
              <a:buClrTx/>
              <a:buSzTx/>
              <a:buFontTx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BMWGroupTN Condensed TT Light" charset="0"/>
                <a:sym typeface="+mn-ea"/>
              </a:rPr>
              <a:t>   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cs typeface="BMWGroupTN Condensed TT Light" charset="0"/>
              <a:sym typeface="+mn-ea"/>
            </a:endParaRPr>
          </a:p>
        </p:txBody>
      </p:sp>
      <p:sp>
        <p:nvSpPr>
          <p:cNvPr id="41" name="任意多边形 40"/>
          <p:cNvSpPr/>
          <p:nvPr>
            <p:custDataLst>
              <p:tags r:id="rId3"/>
            </p:custDataLst>
          </p:nvPr>
        </p:nvSpPr>
        <p:spPr>
          <a:xfrm rot="16200000">
            <a:off x="1160463" y="885269"/>
            <a:ext cx="4648835" cy="5562600"/>
          </a:xfrm>
          <a:custGeom>
            <a:avLst/>
            <a:gdLst>
              <a:gd name="connsiteX0" fmla="*/ 0 w 7321"/>
              <a:gd name="connsiteY0" fmla="*/ 8760 h 8760"/>
              <a:gd name="connsiteX1" fmla="*/ 0 w 7321"/>
              <a:gd name="connsiteY1" fmla="*/ 329 h 8760"/>
              <a:gd name="connsiteX2" fmla="*/ 326 w 7321"/>
              <a:gd name="connsiteY2" fmla="*/ 0 h 8760"/>
              <a:gd name="connsiteX3" fmla="*/ 6980 w 7321"/>
              <a:gd name="connsiteY3" fmla="*/ 0 h 8760"/>
              <a:gd name="connsiteX4" fmla="*/ 7306 w 7321"/>
              <a:gd name="connsiteY4" fmla="*/ 329 h 8760"/>
              <a:gd name="connsiteX5" fmla="*/ 7321 w 7321"/>
              <a:gd name="connsiteY5" fmla="*/ 8745 h 8760"/>
              <a:gd name="connsiteX6" fmla="*/ 6916 w 7321"/>
              <a:gd name="connsiteY6" fmla="*/ 8747 h 8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21" h="8760">
                <a:moveTo>
                  <a:pt x="0" y="8760"/>
                </a:moveTo>
                <a:lnTo>
                  <a:pt x="0" y="329"/>
                </a:lnTo>
                <a:cubicBezTo>
                  <a:pt x="0" y="147"/>
                  <a:pt x="146" y="0"/>
                  <a:pt x="326" y="0"/>
                </a:cubicBezTo>
                <a:lnTo>
                  <a:pt x="6980" y="0"/>
                </a:lnTo>
                <a:cubicBezTo>
                  <a:pt x="7160" y="0"/>
                  <a:pt x="7306" y="147"/>
                  <a:pt x="7306" y="329"/>
                </a:cubicBezTo>
                <a:lnTo>
                  <a:pt x="7321" y="8745"/>
                </a:lnTo>
                <a:cubicBezTo>
                  <a:pt x="7186" y="8745"/>
                  <a:pt x="7055" y="8750"/>
                  <a:pt x="6916" y="8747"/>
                </a:cubicBezTo>
              </a:path>
            </a:pathLst>
          </a:custGeom>
          <a:solidFill>
            <a:schemeClr val="accent1">
              <a:lumMod val="40000"/>
              <a:lumOff val="60000"/>
              <a:alpha val="10000"/>
            </a:schemeClr>
          </a:solidFill>
          <a:ln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575945" tIns="0" rIns="107950" numCol="1" spcCol="0" rtlCol="0" fromWordArt="0" anchor="ctr" anchorCtr="0" forceAA="0" compatLnSpc="1">
            <a:noAutofit/>
          </a:bodyPr>
          <a:lstStyle/>
          <a:p>
            <a:pPr lvl="0" algn="l">
              <a:lnSpc>
                <a:spcPct val="130000"/>
              </a:lnSpc>
              <a:spcAft>
                <a:spcPts val="0"/>
              </a:spcAft>
              <a:buClrTx/>
              <a:buSzTx/>
              <a:buFontTx/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cs typeface="BMWGroupTN Condensed TT Light" charset="0"/>
              <a:sym typeface="+mn-ea"/>
            </a:endParaRPr>
          </a:p>
        </p:txBody>
      </p:sp>
      <p:sp>
        <p:nvSpPr>
          <p:cNvPr id="4" name="任意多边形 21"/>
          <p:cNvSpPr/>
          <p:nvPr>
            <p:custDataLst>
              <p:tags r:id="rId4"/>
            </p:custDataLst>
          </p:nvPr>
        </p:nvSpPr>
        <p:spPr>
          <a:xfrm>
            <a:off x="5943918" y="1596469"/>
            <a:ext cx="503555" cy="4683147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" h="7410">
                <a:moveTo>
                  <a:pt x="494" y="0"/>
                </a:moveTo>
                <a:lnTo>
                  <a:pt x="793" y="0"/>
                </a:lnTo>
                <a:lnTo>
                  <a:pt x="793" y="7410"/>
                </a:lnTo>
                <a:lnTo>
                  <a:pt x="0" y="7410"/>
                </a:lnTo>
                <a:lnTo>
                  <a:pt x="0" y="6949"/>
                </a:lnTo>
                <a:lnTo>
                  <a:pt x="494" y="6949"/>
                </a:lnTo>
                <a:lnTo>
                  <a:pt x="494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32000"/>
                </a:schemeClr>
              </a:gs>
              <a:gs pos="83000">
                <a:schemeClr val="accent1">
                  <a:lumMod val="5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BMWGroupTN Condensed TT Light" charset="0"/>
            </a:endParaRPr>
          </a:p>
        </p:txBody>
      </p:sp>
      <p:sp>
        <p:nvSpPr>
          <p:cNvPr id="5" name="直角三角形 19"/>
          <p:cNvSpPr/>
          <p:nvPr>
            <p:custDataLst>
              <p:tags r:id="rId5"/>
            </p:custDataLst>
          </p:nvPr>
        </p:nvSpPr>
        <p:spPr>
          <a:xfrm flipV="1">
            <a:off x="5946458" y="5988764"/>
            <a:ext cx="323215" cy="290830"/>
          </a:xfrm>
          <a:prstGeom prst="rtTriangle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BMWGroupTN Condensed TT Light" charset="0"/>
              <a:sym typeface="+mn-ea"/>
            </a:endParaRPr>
          </a:p>
        </p:txBody>
      </p:sp>
      <p:sp>
        <p:nvSpPr>
          <p:cNvPr id="6" name="文本框 16"/>
          <p:cNvSpPr txBox="1"/>
          <p:nvPr>
            <p:custDataLst>
              <p:tags r:id="rId6"/>
            </p:custDataLst>
          </p:nvPr>
        </p:nvSpPr>
        <p:spPr>
          <a:xfrm>
            <a:off x="1047750" y="3013710"/>
            <a:ext cx="627380" cy="662305"/>
          </a:xfrm>
          <a:prstGeom prst="rect">
            <a:avLst/>
          </a:prstGeom>
          <a:noFill/>
        </p:spPr>
        <p:txBody>
          <a:bodyPr wrap="none" lIns="0" tIns="36195" rIns="0" bIns="0" rtlCol="0" anchor="ctr" anchorCtr="0">
            <a:noAutofit/>
          </a:bodyPr>
          <a:lstStyle/>
          <a:p>
            <a:pPr algn="ctr" fontAlgn="ctr"/>
            <a:r>
              <a:rPr lang="en-US" altLang="zh-CN" sz="2000" b="1" dirty="0">
                <a:gradFill>
                  <a:gsLst>
                    <a:gs pos="0">
                      <a:schemeClr val="accent1">
                        <a:alpha val="50000"/>
                      </a:schemeClr>
                    </a:gs>
                    <a:gs pos="94000">
                      <a:schemeClr val="accent1">
                        <a:alpha val="50000"/>
                      </a:schemeClr>
                    </a:gs>
                  </a:gsLst>
                  <a:lin ang="5400000" scaled="0"/>
                </a:gradFill>
                <a:latin typeface="+mj-lt"/>
                <a:ea typeface="+mj-lt"/>
                <a:cs typeface="BMWGroupTN Condensed TT Light" charset="0"/>
                <a:sym typeface="+mn-ea"/>
              </a:rPr>
              <a:t>01</a:t>
            </a:r>
            <a:endParaRPr lang="en-US" altLang="zh-CN" sz="2000" b="1" dirty="0">
              <a:gradFill>
                <a:gsLst>
                  <a:gs pos="0">
                    <a:schemeClr val="accent1">
                      <a:alpha val="50000"/>
                    </a:schemeClr>
                  </a:gs>
                  <a:gs pos="94000">
                    <a:schemeClr val="accent1">
                      <a:alpha val="50000"/>
                    </a:schemeClr>
                  </a:gs>
                </a:gsLst>
                <a:lin ang="5400000" scaled="0"/>
              </a:gradFill>
              <a:latin typeface="+mj-lt"/>
              <a:ea typeface="+mj-lt"/>
              <a:cs typeface="BMWGroupTN Condensed TT Light" charset="0"/>
              <a:sym typeface="+mn-ea"/>
            </a:endParaRPr>
          </a:p>
        </p:txBody>
      </p:sp>
      <p:sp>
        <p:nvSpPr>
          <p:cNvPr id="44" name="文本框 43"/>
          <p:cNvSpPr txBox="1"/>
          <p:nvPr>
            <p:custDataLst>
              <p:tags r:id="rId7"/>
            </p:custDataLst>
          </p:nvPr>
        </p:nvSpPr>
        <p:spPr>
          <a:xfrm>
            <a:off x="1764348" y="3675459"/>
            <a:ext cx="3989705" cy="661670"/>
          </a:xfrm>
          <a:prstGeom prst="rect">
            <a:avLst/>
          </a:prstGeom>
          <a:noFill/>
        </p:spPr>
        <p:txBody>
          <a:bodyPr wrap="square" lIns="0" tIns="0" rIns="0" bIns="36195" rtlCol="0" anchor="ctr" anchorCtr="0">
            <a:noAutofit/>
          </a:bodyPr>
          <a:lstStyle/>
          <a:p>
            <a:pPr indent="0" algn="l" fontAlgn="ctr">
              <a:lnSpc>
                <a:spcPct val="140000"/>
              </a:lnSpc>
              <a:spcAft>
                <a:spcPts val="0"/>
              </a:spcAft>
            </a:pPr>
            <a:r>
              <a:rPr lang="zh-CN" altLang="en-US" sz="16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cs typeface="BMWGroupTN Condensed TT Light" charset="0"/>
                <a:sym typeface="+mn-ea"/>
              </a:rPr>
              <a:t>掌握知识库构建与切片的核心逻辑</a:t>
            </a:r>
            <a:endParaRPr lang="zh-CN" altLang="en-US" sz="1600" kern="1300" dirty="0">
              <a:solidFill>
                <a:schemeClr val="tx1">
                  <a:lumMod val="85000"/>
                  <a:lumOff val="15000"/>
                </a:schemeClr>
              </a:solidFill>
              <a:uFillTx/>
              <a:cs typeface="BMWGroupTN Condensed TT Light" charset="0"/>
              <a:sym typeface="+mn-ea"/>
            </a:endParaRPr>
          </a:p>
        </p:txBody>
      </p:sp>
      <p:sp>
        <p:nvSpPr>
          <p:cNvPr id="45" name="文本框 44"/>
          <p:cNvSpPr txBox="1"/>
          <p:nvPr>
            <p:custDataLst>
              <p:tags r:id="rId8"/>
            </p:custDataLst>
          </p:nvPr>
        </p:nvSpPr>
        <p:spPr>
          <a:xfrm>
            <a:off x="1764348" y="4337129"/>
            <a:ext cx="3989705" cy="661670"/>
          </a:xfrm>
          <a:prstGeom prst="rect">
            <a:avLst/>
          </a:prstGeom>
          <a:noFill/>
        </p:spPr>
        <p:txBody>
          <a:bodyPr wrap="square" lIns="0" tIns="0" rIns="0" bIns="36195" rtlCol="0" anchor="ctr" anchorCtr="0">
            <a:noAutofit/>
          </a:bodyPr>
          <a:lstStyle/>
          <a:p>
            <a:pPr indent="0" algn="l" fontAlgn="ctr">
              <a:lnSpc>
                <a:spcPct val="140000"/>
              </a:lnSpc>
              <a:spcAft>
                <a:spcPts val="0"/>
              </a:spcAft>
            </a:pPr>
            <a:r>
              <a:rPr lang="zh-CN" altLang="en-US" sz="16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cs typeface="BMWGroupTN Condensed TT Light" charset="0"/>
                <a:sym typeface="+mn-ea"/>
              </a:rPr>
              <a:t>识别传统</a:t>
            </a:r>
            <a:r>
              <a:rPr lang="en-US" altLang="zh-CN" sz="16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cs typeface="BMWGroupTN Condensed TT Light" charset="0"/>
                <a:sym typeface="+mn-ea"/>
              </a:rPr>
              <a:t>RAG</a:t>
            </a:r>
            <a:r>
              <a:rPr lang="zh-CN" altLang="en-US" sz="16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cs typeface="BMWGroupTN Condensed TT Light" charset="0"/>
                <a:sym typeface="+mn-ea"/>
              </a:rPr>
              <a:t>的局限与进阶优化方向</a:t>
            </a:r>
            <a:endParaRPr lang="zh-CN" altLang="en-US" sz="1600" kern="1300" dirty="0">
              <a:solidFill>
                <a:schemeClr val="tx1">
                  <a:lumMod val="85000"/>
                  <a:lumOff val="15000"/>
                </a:schemeClr>
              </a:solidFill>
              <a:uFillTx/>
              <a:cs typeface="BMWGroupTN Condensed TT Light" charset="0"/>
              <a:sym typeface="+mn-ea"/>
            </a:endParaRPr>
          </a:p>
        </p:txBody>
      </p:sp>
      <p:sp>
        <p:nvSpPr>
          <p:cNvPr id="46" name="文本框 45"/>
          <p:cNvSpPr txBox="1"/>
          <p:nvPr>
            <p:custDataLst>
              <p:tags r:id="rId9"/>
            </p:custDataLst>
          </p:nvPr>
        </p:nvSpPr>
        <p:spPr>
          <a:xfrm>
            <a:off x="1763713" y="3032839"/>
            <a:ext cx="3989705" cy="661670"/>
          </a:xfrm>
          <a:prstGeom prst="rect">
            <a:avLst/>
          </a:prstGeom>
          <a:noFill/>
        </p:spPr>
        <p:txBody>
          <a:bodyPr wrap="square" lIns="0" tIns="0" rIns="0" bIns="36195" rtlCol="0" anchor="ctr" anchorCtr="0">
            <a:noAutofit/>
          </a:bodyPr>
          <a:lstStyle/>
          <a:p>
            <a:pPr indent="0" algn="l" fontAlgn="ctr">
              <a:lnSpc>
                <a:spcPct val="140000"/>
              </a:lnSpc>
              <a:spcAft>
                <a:spcPts val="0"/>
              </a:spcAft>
            </a:pPr>
            <a:r>
              <a:rPr lang="zh-CN" altLang="en-US" sz="16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cs typeface="BMWGroupTN Condensed TT Light" charset="0"/>
                <a:sym typeface="+mn-ea"/>
              </a:rPr>
              <a:t>理解</a:t>
            </a:r>
            <a:r>
              <a:rPr lang="en-US" altLang="zh-CN" sz="16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cs typeface="BMWGroupTN Condensed TT Light" charset="0"/>
                <a:sym typeface="+mn-ea"/>
              </a:rPr>
              <a:t>RAG</a:t>
            </a:r>
            <a:r>
              <a:rPr lang="zh-CN" altLang="en-US" sz="16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cs typeface="BMWGroupTN Condensed TT Light" charset="0"/>
                <a:sym typeface="+mn-ea"/>
              </a:rPr>
              <a:t>如何让</a:t>
            </a:r>
            <a:r>
              <a:rPr lang="en-US" altLang="zh-CN" sz="16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cs typeface="BMWGroupTN Condensed TT Light" charset="0"/>
                <a:sym typeface="+mn-ea"/>
              </a:rPr>
              <a:t>AI“</a:t>
            </a:r>
            <a:r>
              <a:rPr lang="zh-CN" altLang="en-US" sz="16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cs typeface="BMWGroupTN Condensed TT Light" charset="0"/>
                <a:sym typeface="+mn-ea"/>
              </a:rPr>
              <a:t>开卷考试</a:t>
            </a:r>
            <a:r>
              <a:rPr lang="en-US" altLang="zh-CN" sz="16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cs typeface="BMWGroupTN Condensed TT Light" charset="0"/>
                <a:sym typeface="+mn-ea"/>
              </a:rPr>
              <a:t>”</a:t>
            </a:r>
            <a:endParaRPr lang="en-US" altLang="zh-CN" sz="1600" kern="1300" dirty="0">
              <a:solidFill>
                <a:schemeClr val="tx1">
                  <a:lumMod val="85000"/>
                  <a:lumOff val="15000"/>
                </a:schemeClr>
              </a:solidFill>
              <a:uFillTx/>
              <a:cs typeface="BMWGroupTN Condensed TT Light" charset="0"/>
              <a:sym typeface="+mn-ea"/>
            </a:endParaRPr>
          </a:p>
        </p:txBody>
      </p:sp>
      <p:sp>
        <p:nvSpPr>
          <p:cNvPr id="50" name="文本框 49"/>
          <p:cNvSpPr txBox="1"/>
          <p:nvPr>
            <p:custDataLst>
              <p:tags r:id="rId10"/>
            </p:custDataLst>
          </p:nvPr>
        </p:nvSpPr>
        <p:spPr>
          <a:xfrm>
            <a:off x="1047433" y="3676094"/>
            <a:ext cx="627380" cy="662305"/>
          </a:xfrm>
          <a:prstGeom prst="rect">
            <a:avLst/>
          </a:prstGeom>
          <a:noFill/>
        </p:spPr>
        <p:txBody>
          <a:bodyPr wrap="none" lIns="0" tIns="36195" rIns="0" bIns="0" rtlCol="0" anchor="ctr" anchorCtr="0">
            <a:noAutofit/>
          </a:bodyPr>
          <a:lstStyle/>
          <a:p>
            <a:pPr algn="ctr" fontAlgn="ctr"/>
            <a:r>
              <a:rPr lang="en-US" altLang="zh-CN" sz="2000" b="1" dirty="0">
                <a:gradFill>
                  <a:gsLst>
                    <a:gs pos="0">
                      <a:schemeClr val="accent2">
                        <a:alpha val="50000"/>
                      </a:schemeClr>
                    </a:gs>
                    <a:gs pos="94000">
                      <a:schemeClr val="accent2">
                        <a:alpha val="50000"/>
                      </a:schemeClr>
                    </a:gs>
                  </a:gsLst>
                  <a:lin ang="5400000" scaled="0"/>
                </a:gradFill>
                <a:latin typeface="+mj-lt"/>
                <a:ea typeface="+mj-lt"/>
                <a:cs typeface="BMWGroupTN Condensed TT Light" charset="0"/>
                <a:sym typeface="+mn-ea"/>
              </a:rPr>
              <a:t>02</a:t>
            </a:r>
            <a:endParaRPr lang="en-US" altLang="zh-CN" sz="2000" b="1" dirty="0">
              <a:gradFill>
                <a:gsLst>
                  <a:gs pos="0">
                    <a:schemeClr val="accent2">
                      <a:alpha val="50000"/>
                    </a:schemeClr>
                  </a:gs>
                  <a:gs pos="94000">
                    <a:schemeClr val="accent2">
                      <a:alpha val="50000"/>
                    </a:schemeClr>
                  </a:gs>
                </a:gsLst>
                <a:lin ang="5400000" scaled="0"/>
              </a:gradFill>
              <a:latin typeface="+mj-lt"/>
              <a:ea typeface="+mj-lt"/>
              <a:cs typeface="BMWGroupTN Condensed TT Light" charset="0"/>
              <a:sym typeface="+mn-ea"/>
            </a:endParaRPr>
          </a:p>
        </p:txBody>
      </p:sp>
      <p:sp>
        <p:nvSpPr>
          <p:cNvPr id="52" name="文本框 51"/>
          <p:cNvSpPr txBox="1"/>
          <p:nvPr>
            <p:custDataLst>
              <p:tags r:id="rId11"/>
            </p:custDataLst>
          </p:nvPr>
        </p:nvSpPr>
        <p:spPr>
          <a:xfrm>
            <a:off x="1047433" y="4338399"/>
            <a:ext cx="627380" cy="662305"/>
          </a:xfrm>
          <a:prstGeom prst="rect">
            <a:avLst/>
          </a:prstGeom>
          <a:noFill/>
        </p:spPr>
        <p:txBody>
          <a:bodyPr wrap="none" lIns="0" tIns="36195" rIns="0" bIns="0" rtlCol="0" anchor="ctr" anchorCtr="0">
            <a:noAutofit/>
          </a:bodyPr>
          <a:lstStyle/>
          <a:p>
            <a:pPr algn="ctr" fontAlgn="ctr"/>
            <a:r>
              <a:rPr lang="en-US" altLang="zh-CN" sz="2000" b="1" dirty="0">
                <a:gradFill>
                  <a:gsLst>
                    <a:gs pos="0">
                      <a:schemeClr val="accent3">
                        <a:alpha val="50000"/>
                      </a:schemeClr>
                    </a:gs>
                    <a:gs pos="94000">
                      <a:schemeClr val="accent3">
                        <a:alpha val="50000"/>
                      </a:schemeClr>
                    </a:gs>
                  </a:gsLst>
                  <a:lin ang="5400000" scaled="0"/>
                </a:gradFill>
                <a:latin typeface="+mj-lt"/>
                <a:ea typeface="+mj-lt"/>
                <a:cs typeface="BMWGroupTN Condensed TT Light" charset="0"/>
                <a:sym typeface="+mn-ea"/>
              </a:rPr>
              <a:t>03</a:t>
            </a:r>
            <a:endParaRPr lang="en-US" altLang="zh-CN" sz="2000" b="1" dirty="0">
              <a:gradFill>
                <a:gsLst>
                  <a:gs pos="0">
                    <a:schemeClr val="accent3">
                      <a:alpha val="50000"/>
                    </a:schemeClr>
                  </a:gs>
                  <a:gs pos="94000">
                    <a:schemeClr val="accent3">
                      <a:alpha val="50000"/>
                    </a:schemeClr>
                  </a:gs>
                </a:gsLst>
                <a:lin ang="5400000" scaled="0"/>
              </a:gradFill>
              <a:latin typeface="+mj-lt"/>
              <a:ea typeface="+mj-lt"/>
              <a:cs typeface="BMWGroupTN Condensed TT Light" charset="0"/>
              <a:sym typeface="+mn-ea"/>
            </a:endParaRPr>
          </a:p>
        </p:txBody>
      </p:sp>
      <p:sp>
        <p:nvSpPr>
          <p:cNvPr id="58" name="文本框 57"/>
          <p:cNvSpPr txBox="1"/>
          <p:nvPr>
            <p:custDataLst>
              <p:tags r:id="rId12"/>
            </p:custDataLst>
          </p:nvPr>
        </p:nvSpPr>
        <p:spPr>
          <a:xfrm>
            <a:off x="6637973" y="2787729"/>
            <a:ext cx="627380" cy="662305"/>
          </a:xfrm>
          <a:prstGeom prst="rect">
            <a:avLst/>
          </a:prstGeom>
          <a:noFill/>
        </p:spPr>
        <p:txBody>
          <a:bodyPr wrap="none" lIns="0" tIns="36195" rIns="0" bIns="0" rtlCol="0" anchor="ctr" anchorCtr="0">
            <a:noAutofit/>
          </a:bodyPr>
          <a:lstStyle/>
          <a:p>
            <a:pPr algn="ctr" fontAlgn="ctr"/>
            <a:r>
              <a:rPr lang="en-US" altLang="zh-CN" sz="2000" b="1" dirty="0">
                <a:gradFill>
                  <a:gsLst>
                    <a:gs pos="0">
                      <a:schemeClr val="accent1">
                        <a:alpha val="50000"/>
                      </a:schemeClr>
                    </a:gs>
                    <a:gs pos="94000">
                      <a:schemeClr val="accent1">
                        <a:alpha val="50000"/>
                      </a:schemeClr>
                    </a:gs>
                  </a:gsLst>
                  <a:lin ang="5400000" scaled="0"/>
                </a:gradFill>
                <a:latin typeface="+mj-lt"/>
                <a:ea typeface="+mj-lt"/>
                <a:cs typeface="BMWGroupTN Condensed TT Light" charset="0"/>
                <a:sym typeface="+mn-ea"/>
              </a:rPr>
              <a:t>01</a:t>
            </a:r>
            <a:endParaRPr lang="en-US" altLang="zh-CN" sz="2000" b="1" dirty="0">
              <a:gradFill>
                <a:gsLst>
                  <a:gs pos="0">
                    <a:schemeClr val="accent1">
                      <a:alpha val="50000"/>
                    </a:schemeClr>
                  </a:gs>
                  <a:gs pos="94000">
                    <a:schemeClr val="accent1">
                      <a:alpha val="50000"/>
                    </a:schemeClr>
                  </a:gs>
                </a:gsLst>
                <a:lin ang="5400000" scaled="0"/>
              </a:gradFill>
              <a:latin typeface="+mj-lt"/>
              <a:ea typeface="+mj-lt"/>
              <a:cs typeface="BMWGroupTN Condensed TT Light" charset="0"/>
              <a:sym typeface="+mn-ea"/>
            </a:endParaRPr>
          </a:p>
        </p:txBody>
      </p:sp>
      <p:sp>
        <p:nvSpPr>
          <p:cNvPr id="59" name="文本框 58"/>
          <p:cNvSpPr txBox="1"/>
          <p:nvPr>
            <p:custDataLst>
              <p:tags r:id="rId13"/>
            </p:custDataLst>
          </p:nvPr>
        </p:nvSpPr>
        <p:spPr>
          <a:xfrm>
            <a:off x="7354888" y="2788364"/>
            <a:ext cx="3989705" cy="661670"/>
          </a:xfrm>
          <a:prstGeom prst="rect">
            <a:avLst/>
          </a:prstGeom>
          <a:noFill/>
        </p:spPr>
        <p:txBody>
          <a:bodyPr wrap="square" lIns="0" tIns="0" rIns="0" bIns="36195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cs typeface="BMWGroupTN Condensed TT Light" charset="0"/>
                <a:sym typeface="+mn-ea"/>
              </a:rPr>
              <a:t>生产：设备故障诊断、工艺参数查询</a:t>
            </a:r>
            <a:endParaRPr lang="zh-CN" altLang="en-US" sz="1600" kern="1300" dirty="0">
              <a:solidFill>
                <a:schemeClr val="tx1">
                  <a:lumMod val="85000"/>
                  <a:lumOff val="15000"/>
                </a:schemeClr>
              </a:solidFill>
              <a:uFillTx/>
              <a:cs typeface="BMWGroupTN Condensed TT Light" charset="0"/>
              <a:sym typeface="+mn-ea"/>
            </a:endParaRPr>
          </a:p>
        </p:txBody>
      </p:sp>
      <p:sp>
        <p:nvSpPr>
          <p:cNvPr id="60" name="文本框 59"/>
          <p:cNvSpPr txBox="1"/>
          <p:nvPr>
            <p:custDataLst>
              <p:tags r:id="rId14"/>
            </p:custDataLst>
          </p:nvPr>
        </p:nvSpPr>
        <p:spPr>
          <a:xfrm>
            <a:off x="7354888" y="3359864"/>
            <a:ext cx="3989705" cy="661670"/>
          </a:xfrm>
          <a:prstGeom prst="rect">
            <a:avLst/>
          </a:prstGeom>
          <a:noFill/>
        </p:spPr>
        <p:txBody>
          <a:bodyPr wrap="square" lIns="0" tIns="0" rIns="0" bIns="36195" rtlCol="0" anchor="ctr" anchorCtr="0">
            <a:noAutofit/>
          </a:bodyPr>
          <a:lstStyle/>
          <a:p>
            <a:pPr indent="0" algn="l" fontAlgn="ctr">
              <a:lnSpc>
                <a:spcPct val="140000"/>
              </a:lnSpc>
              <a:spcAft>
                <a:spcPts val="0"/>
              </a:spcAft>
            </a:pPr>
            <a:r>
              <a:rPr lang="zh-CN" altLang="en-US" sz="16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cs typeface="BMWGroupTN Condensed TT Light" charset="0"/>
                <a:sym typeface="+mn-ea"/>
              </a:rPr>
              <a:t>销售：产品竞品对比、返利政策速查</a:t>
            </a:r>
            <a:endParaRPr lang="zh-CN" altLang="en-US" sz="1600" kern="1300" dirty="0">
              <a:solidFill>
                <a:schemeClr val="tx1">
                  <a:lumMod val="85000"/>
                  <a:lumOff val="15000"/>
                </a:schemeClr>
              </a:solidFill>
              <a:uFillTx/>
              <a:cs typeface="BMWGroupTN Condensed TT Light" charset="0"/>
              <a:sym typeface="+mn-ea"/>
            </a:endParaRPr>
          </a:p>
        </p:txBody>
      </p:sp>
      <p:sp>
        <p:nvSpPr>
          <p:cNvPr id="65" name="文本框 64"/>
          <p:cNvSpPr txBox="1"/>
          <p:nvPr>
            <p:custDataLst>
              <p:tags r:id="rId15"/>
            </p:custDataLst>
          </p:nvPr>
        </p:nvSpPr>
        <p:spPr>
          <a:xfrm>
            <a:off x="6637973" y="3360499"/>
            <a:ext cx="627380" cy="662305"/>
          </a:xfrm>
          <a:prstGeom prst="rect">
            <a:avLst/>
          </a:prstGeom>
          <a:noFill/>
        </p:spPr>
        <p:txBody>
          <a:bodyPr wrap="none" lIns="0" tIns="36195" rIns="0" bIns="0" rtlCol="0" anchor="ctr" anchorCtr="0">
            <a:noAutofit/>
          </a:bodyPr>
          <a:lstStyle/>
          <a:p>
            <a:pPr algn="ctr" fontAlgn="ctr"/>
            <a:r>
              <a:rPr lang="en-US" altLang="zh-CN" sz="2000" b="1" dirty="0">
                <a:gradFill>
                  <a:gsLst>
                    <a:gs pos="0">
                      <a:schemeClr val="accent2">
                        <a:alpha val="50000"/>
                      </a:schemeClr>
                    </a:gs>
                    <a:gs pos="94000">
                      <a:schemeClr val="accent2">
                        <a:alpha val="50000"/>
                      </a:schemeClr>
                    </a:gs>
                  </a:gsLst>
                  <a:lin ang="5400000" scaled="0"/>
                </a:gradFill>
                <a:latin typeface="+mj-lt"/>
                <a:ea typeface="+mj-lt"/>
                <a:cs typeface="BMWGroupTN Condensed TT Light" charset="0"/>
                <a:sym typeface="+mn-ea"/>
              </a:rPr>
              <a:t>02</a:t>
            </a:r>
            <a:endParaRPr lang="en-US" altLang="zh-CN" sz="2000" b="1" dirty="0">
              <a:gradFill>
                <a:gsLst>
                  <a:gs pos="0">
                    <a:schemeClr val="accent2">
                      <a:alpha val="50000"/>
                    </a:schemeClr>
                  </a:gs>
                  <a:gs pos="94000">
                    <a:schemeClr val="accent2">
                      <a:alpha val="50000"/>
                    </a:schemeClr>
                  </a:gs>
                </a:gsLst>
                <a:lin ang="5400000" scaled="0"/>
              </a:gradFill>
              <a:latin typeface="+mj-lt"/>
              <a:ea typeface="+mj-lt"/>
              <a:cs typeface="BMWGroupTN Condensed TT Light" charset="0"/>
              <a:sym typeface="+mn-ea"/>
            </a:endParaRPr>
          </a:p>
        </p:txBody>
      </p:sp>
      <p:sp>
        <p:nvSpPr>
          <p:cNvPr id="61" name="文本框 60"/>
          <p:cNvSpPr txBox="1"/>
          <p:nvPr>
            <p:custDataLst>
              <p:tags r:id="rId16"/>
            </p:custDataLst>
          </p:nvPr>
        </p:nvSpPr>
        <p:spPr>
          <a:xfrm>
            <a:off x="7354888" y="3914854"/>
            <a:ext cx="3989705" cy="661670"/>
          </a:xfrm>
          <a:prstGeom prst="rect">
            <a:avLst/>
          </a:prstGeom>
          <a:noFill/>
        </p:spPr>
        <p:txBody>
          <a:bodyPr wrap="square" lIns="0" tIns="0" rIns="0" bIns="36195" rtlCol="0" anchor="ctr" anchorCtr="0">
            <a:noAutofit/>
          </a:bodyPr>
          <a:lstStyle/>
          <a:p>
            <a:pPr indent="0" algn="l" fontAlgn="ctr">
              <a:lnSpc>
                <a:spcPct val="140000"/>
              </a:lnSpc>
              <a:spcAft>
                <a:spcPts val="0"/>
              </a:spcAft>
            </a:pPr>
            <a:r>
              <a:rPr lang="zh-CN" altLang="en-US" sz="1600" kern="1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cs typeface="BMWGroupTN Condensed TT Light" charset="0"/>
                <a:sym typeface="+mn-ea"/>
              </a:rPr>
              <a:t>法务：合同合规审核、条款智能匹配</a:t>
            </a:r>
            <a:endParaRPr lang="zh-CN" altLang="en-US" sz="1600" kern="1300" dirty="0">
              <a:solidFill>
                <a:schemeClr val="tx1">
                  <a:lumMod val="85000"/>
                  <a:lumOff val="15000"/>
                </a:schemeClr>
              </a:solidFill>
              <a:uFillTx/>
              <a:cs typeface="BMWGroupTN Condensed TT Light" charset="0"/>
              <a:sym typeface="+mn-ea"/>
            </a:endParaRPr>
          </a:p>
        </p:txBody>
      </p:sp>
      <p:sp>
        <p:nvSpPr>
          <p:cNvPr id="66" name="文本框 65"/>
          <p:cNvSpPr txBox="1"/>
          <p:nvPr>
            <p:custDataLst>
              <p:tags r:id="rId17"/>
            </p:custDataLst>
          </p:nvPr>
        </p:nvSpPr>
        <p:spPr>
          <a:xfrm>
            <a:off x="6637973" y="3916124"/>
            <a:ext cx="627380" cy="662305"/>
          </a:xfrm>
          <a:prstGeom prst="rect">
            <a:avLst/>
          </a:prstGeom>
          <a:noFill/>
        </p:spPr>
        <p:txBody>
          <a:bodyPr wrap="none" lIns="0" tIns="36195" rIns="0" bIns="0" rtlCol="0" anchor="ctr" anchorCtr="0">
            <a:noAutofit/>
          </a:bodyPr>
          <a:lstStyle/>
          <a:p>
            <a:pPr algn="ctr" fontAlgn="ctr"/>
            <a:r>
              <a:rPr lang="en-US" altLang="zh-CN" sz="2000" b="1" dirty="0">
                <a:gradFill>
                  <a:gsLst>
                    <a:gs pos="0">
                      <a:schemeClr val="accent3">
                        <a:alpha val="50000"/>
                      </a:schemeClr>
                    </a:gs>
                    <a:gs pos="94000">
                      <a:schemeClr val="accent3">
                        <a:alpha val="50000"/>
                      </a:schemeClr>
                    </a:gs>
                  </a:gsLst>
                  <a:lin ang="5400000" scaled="0"/>
                </a:gradFill>
                <a:latin typeface="+mj-lt"/>
                <a:ea typeface="+mj-lt"/>
                <a:cs typeface="BMWGroupTN Condensed TT Light" charset="0"/>
                <a:sym typeface="+mn-ea"/>
              </a:rPr>
              <a:t>03</a:t>
            </a:r>
            <a:endParaRPr lang="en-US" altLang="zh-CN" sz="2000" b="1" dirty="0">
              <a:gradFill>
                <a:gsLst>
                  <a:gs pos="0">
                    <a:schemeClr val="accent3">
                      <a:alpha val="50000"/>
                    </a:schemeClr>
                  </a:gs>
                  <a:gs pos="94000">
                    <a:schemeClr val="accent3">
                      <a:alpha val="50000"/>
                    </a:schemeClr>
                  </a:gs>
                </a:gsLst>
                <a:lin ang="5400000" scaled="0"/>
              </a:gradFill>
              <a:latin typeface="+mj-lt"/>
              <a:ea typeface="+mj-lt"/>
              <a:cs typeface="BMWGroupTN Condensed TT Light" charset="0"/>
              <a:sym typeface="+mn-ea"/>
            </a:endParaRPr>
          </a:p>
        </p:txBody>
      </p:sp>
      <p:sp>
        <p:nvSpPr>
          <p:cNvPr id="8" name="文本占位符 1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1241425" y="1960880"/>
            <a:ext cx="1818005" cy="484505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r>
              <a:rPr lang="zh-CN" altLang="en-US" sz="2400">
                <a:solidFill>
                  <a:srgbClr val="000000"/>
                </a:solidFill>
                <a:latin typeface="BMWGroupTN Condensed TT Light" charset="0"/>
                <a:ea typeface="BMWGroupTN Condensed TT Light" charset="0"/>
              </a:rPr>
              <a:t>课程目标</a:t>
            </a:r>
            <a:endParaRPr lang="zh-CN" altLang="en-US" sz="2400">
              <a:solidFill>
                <a:srgbClr val="000000"/>
              </a:solidFill>
              <a:latin typeface="BMWGroupTN Condensed TT Light" charset="0"/>
              <a:ea typeface="BMWGroupTN Condensed TT Light" charset="0"/>
            </a:endParaRPr>
          </a:p>
        </p:txBody>
      </p:sp>
      <p:cxnSp>
        <p:nvCxnSpPr>
          <p:cNvPr id="32" name="直接连接符 31"/>
          <p:cNvCxnSpPr/>
          <p:nvPr userDrawn="1">
            <p:custDataLst>
              <p:tags r:id="rId19"/>
            </p:custDataLst>
          </p:nvPr>
        </p:nvCxnSpPr>
        <p:spPr>
          <a:xfrm flipH="1">
            <a:off x="1081940" y="3642962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直接连接符 9"/>
          <p:cNvCxnSpPr/>
          <p:nvPr userDrawn="1">
            <p:custDataLst>
              <p:tags r:id="rId20"/>
            </p:custDataLst>
          </p:nvPr>
        </p:nvCxnSpPr>
        <p:spPr>
          <a:xfrm flipH="1">
            <a:off x="1081940" y="4285582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直接连接符 10"/>
          <p:cNvCxnSpPr/>
          <p:nvPr userDrawn="1">
            <p:custDataLst>
              <p:tags r:id="rId21"/>
            </p:custDataLst>
          </p:nvPr>
        </p:nvCxnSpPr>
        <p:spPr>
          <a:xfrm flipH="1">
            <a:off x="1081940" y="4928202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文本占位符 1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6673215" y="1923415"/>
            <a:ext cx="2133600" cy="484505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今日案例预览</a:t>
            </a:r>
            <a:endParaRPr lang="en-US" altLang="en-US" sz="2400" dirty="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  <a:sym typeface="+mn-ea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en-US">
                <a:sym typeface="+mn-ea"/>
              </a:rPr>
              <a:t>从车间到办公室的"集体尴尬"</a:t>
            </a:r>
            <a:endParaRPr lang="en-US" altLang="en-US">
              <a:sym typeface="+mn-ea"/>
            </a:endParaRPr>
          </a:p>
        </p:txBody>
      </p:sp>
      <p:pic>
        <p:nvPicPr>
          <p:cNvPr id="2" name="图片 1" descr="工厂车间小李查资料遇困"/>
          <p:cNvPicPr>
            <a:picLocks noChangeAspect="1"/>
          </p:cNvPicPr>
          <p:nvPr/>
        </p:nvPicPr>
        <p:blipFill>
          <a:blip r:embed="rId2"/>
          <a:srcRect l="1768" r="4712" b="9380"/>
          <a:stretch>
            <a:fillRect/>
          </a:stretch>
        </p:blipFill>
        <p:spPr>
          <a:xfrm>
            <a:off x="695960" y="1858010"/>
            <a:ext cx="5302250" cy="28886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95960" y="1109663"/>
            <a:ext cx="6096000" cy="35941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altLang="zh-CN" dirty="0"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没有企业大脑的AI = 纸上谈兵</a:t>
            </a:r>
            <a:endParaRPr lang="en-US" altLang="zh-CN" dirty="0">
              <a:latin typeface="BMWGroupTN Condensed TT Light" charset="0"/>
              <a:ea typeface="BMWGroupTN Condensed TT Light" charset="0"/>
              <a:cs typeface="BMWGroupTN Condensed TT Light" charset="0"/>
              <a:sym typeface="+mn-ea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6347745" y="1115329"/>
            <a:ext cx="5673839" cy="2313440"/>
          </a:xfrm>
          <a:custGeom>
            <a:avLst/>
            <a:gdLst/>
            <a:ahLst/>
            <a:cxnLst/>
            <a:rect l="l" t="t" r="r" b="b"/>
            <a:pathLst>
              <a:path w="5673839" h="2313440">
                <a:moveTo>
                  <a:pt x="33773" y="0"/>
                </a:moveTo>
                <a:lnTo>
                  <a:pt x="5572511" y="0"/>
                </a:lnTo>
                <a:cubicBezTo>
                  <a:pt x="5628473" y="0"/>
                  <a:pt x="5673839" y="45366"/>
                  <a:pt x="5673839" y="101329"/>
                </a:cubicBezTo>
                <a:lnTo>
                  <a:pt x="5673839" y="2212112"/>
                </a:lnTo>
                <a:cubicBezTo>
                  <a:pt x="5673839" y="2268074"/>
                  <a:pt x="5628473" y="2313440"/>
                  <a:pt x="5572511" y="2313440"/>
                </a:cubicBezTo>
                <a:lnTo>
                  <a:pt x="33773" y="2313440"/>
                </a:lnTo>
                <a:cubicBezTo>
                  <a:pt x="15121" y="2313440"/>
                  <a:pt x="0" y="2298320"/>
                  <a:pt x="0" y="2279668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4"/>
          <p:cNvSpPr/>
          <p:nvPr/>
        </p:nvSpPr>
        <p:spPr>
          <a:xfrm>
            <a:off x="6347745" y="1115329"/>
            <a:ext cx="33773" cy="2313440"/>
          </a:xfrm>
          <a:custGeom>
            <a:avLst/>
            <a:gdLst/>
            <a:ahLst/>
            <a:cxnLst/>
            <a:rect l="l" t="t" r="r" b="b"/>
            <a:pathLst>
              <a:path w="33773" h="2313440">
                <a:moveTo>
                  <a:pt x="33773" y="0"/>
                </a:moveTo>
                <a:lnTo>
                  <a:pt x="33773" y="0"/>
                </a:lnTo>
                <a:lnTo>
                  <a:pt x="33773" y="2313440"/>
                </a:lnTo>
                <a:lnTo>
                  <a:pt x="33773" y="2313440"/>
                </a:lnTo>
                <a:cubicBezTo>
                  <a:pt x="15121" y="2313440"/>
                  <a:pt x="0" y="2298320"/>
                  <a:pt x="0" y="2279668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1A535C"/>
          </a:solidFill>
        </p:spPr>
      </p:sp>
      <p:sp>
        <p:nvSpPr>
          <p:cNvPr id="13" name="Shape 5"/>
          <p:cNvSpPr/>
          <p:nvPr/>
        </p:nvSpPr>
        <p:spPr>
          <a:xfrm>
            <a:off x="6499723" y="1250421"/>
            <a:ext cx="405274" cy="405274"/>
          </a:xfrm>
          <a:custGeom>
            <a:avLst/>
            <a:gdLst/>
            <a:ahLst/>
            <a:cxnLst/>
            <a:rect l="l" t="t" r="r" b="b"/>
            <a:pathLst>
              <a:path w="405274" h="405274">
                <a:moveTo>
                  <a:pt x="202637" y="0"/>
                </a:moveTo>
                <a:lnTo>
                  <a:pt x="202637" y="0"/>
                </a:lnTo>
                <a:cubicBezTo>
                  <a:pt x="314476" y="0"/>
                  <a:pt x="405274" y="90799"/>
                  <a:pt x="405274" y="202637"/>
                </a:cubicBezTo>
                <a:lnTo>
                  <a:pt x="405274" y="202637"/>
                </a:lnTo>
                <a:cubicBezTo>
                  <a:pt x="405274" y="314476"/>
                  <a:pt x="314476" y="405274"/>
                  <a:pt x="202637" y="405274"/>
                </a:cubicBezTo>
                <a:lnTo>
                  <a:pt x="202637" y="405274"/>
                </a:lnTo>
                <a:cubicBezTo>
                  <a:pt x="90799" y="405274"/>
                  <a:pt x="0" y="314476"/>
                  <a:pt x="0" y="202637"/>
                </a:cubicBezTo>
                <a:lnTo>
                  <a:pt x="0" y="202637"/>
                </a:lnTo>
                <a:cubicBezTo>
                  <a:pt x="0" y="90799"/>
                  <a:pt x="90799" y="0"/>
                  <a:pt x="202637" y="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14" name="Shape 6"/>
          <p:cNvSpPr/>
          <p:nvPr/>
        </p:nvSpPr>
        <p:spPr>
          <a:xfrm>
            <a:off x="6617928" y="1368626"/>
            <a:ext cx="168864" cy="168864"/>
          </a:xfrm>
          <a:custGeom>
            <a:avLst/>
            <a:gdLst/>
            <a:ahLst/>
            <a:cxnLst/>
            <a:rect l="l" t="t" r="r" b="b"/>
            <a:pathLst>
              <a:path w="168864" h="168864">
                <a:moveTo>
                  <a:pt x="10554" y="10554"/>
                </a:moveTo>
                <a:cubicBezTo>
                  <a:pt x="4716" y="10554"/>
                  <a:pt x="0" y="15270"/>
                  <a:pt x="0" y="21108"/>
                </a:cubicBezTo>
                <a:lnTo>
                  <a:pt x="0" y="142479"/>
                </a:lnTo>
                <a:cubicBezTo>
                  <a:pt x="0" y="151219"/>
                  <a:pt x="7091" y="158310"/>
                  <a:pt x="15831" y="158310"/>
                </a:cubicBezTo>
                <a:lnTo>
                  <a:pt x="153033" y="158310"/>
                </a:lnTo>
                <a:cubicBezTo>
                  <a:pt x="161773" y="158310"/>
                  <a:pt x="168864" y="151219"/>
                  <a:pt x="168864" y="142479"/>
                </a:cubicBezTo>
                <a:lnTo>
                  <a:pt x="168864" y="50198"/>
                </a:lnTo>
                <a:cubicBezTo>
                  <a:pt x="168864" y="44195"/>
                  <a:pt x="162466" y="40402"/>
                  <a:pt x="157189" y="43238"/>
                </a:cubicBezTo>
                <a:lnTo>
                  <a:pt x="105540" y="71042"/>
                </a:lnTo>
                <a:lnTo>
                  <a:pt x="105540" y="50198"/>
                </a:lnTo>
                <a:cubicBezTo>
                  <a:pt x="105540" y="44195"/>
                  <a:pt x="99142" y="40402"/>
                  <a:pt x="93865" y="43238"/>
                </a:cubicBezTo>
                <a:lnTo>
                  <a:pt x="42216" y="71042"/>
                </a:lnTo>
                <a:lnTo>
                  <a:pt x="42216" y="21108"/>
                </a:lnTo>
                <a:cubicBezTo>
                  <a:pt x="42216" y="15270"/>
                  <a:pt x="37500" y="10554"/>
                  <a:pt x="31662" y="10554"/>
                </a:cubicBezTo>
                <a:lnTo>
                  <a:pt x="10554" y="10554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Text 7"/>
          <p:cNvSpPr/>
          <p:nvPr/>
        </p:nvSpPr>
        <p:spPr>
          <a:xfrm>
            <a:off x="7006316" y="1250421"/>
            <a:ext cx="2330327" cy="236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场景一：生产基地工程师 小李</a:t>
            </a:r>
            <a:endParaRPr lang="en-US" sz="133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006316" y="1486831"/>
            <a:ext cx="2304997" cy="168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KUKA机器人报错处理</a:t>
            </a:r>
            <a:endParaRPr lang="en-US" sz="93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6499723" y="1757013"/>
            <a:ext cx="5386770" cy="1030072"/>
          </a:xfrm>
          <a:custGeom>
            <a:avLst/>
            <a:gdLst/>
            <a:ahLst/>
            <a:cxnLst/>
            <a:rect l="l" t="t" r="r" b="b"/>
            <a:pathLst>
              <a:path w="5386770" h="1030072">
                <a:moveTo>
                  <a:pt x="67542" y="0"/>
                </a:moveTo>
                <a:lnTo>
                  <a:pt x="5319228" y="0"/>
                </a:lnTo>
                <a:cubicBezTo>
                  <a:pt x="5356531" y="0"/>
                  <a:pt x="5386770" y="30240"/>
                  <a:pt x="5386770" y="67542"/>
                </a:cubicBezTo>
                <a:lnTo>
                  <a:pt x="5386770" y="962530"/>
                </a:lnTo>
                <a:cubicBezTo>
                  <a:pt x="5386770" y="999833"/>
                  <a:pt x="5356531" y="1030072"/>
                  <a:pt x="5319228" y="1030072"/>
                </a:cubicBezTo>
                <a:lnTo>
                  <a:pt x="67542" y="1030072"/>
                </a:lnTo>
                <a:cubicBezTo>
                  <a:pt x="30264" y="1030072"/>
                  <a:pt x="0" y="999808"/>
                  <a:pt x="0" y="962530"/>
                </a:cubicBezTo>
                <a:lnTo>
                  <a:pt x="0" y="67542"/>
                </a:lnTo>
                <a:cubicBezTo>
                  <a:pt x="0" y="30264"/>
                  <a:pt x="30264" y="0"/>
                  <a:pt x="67542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18" name="Text 10"/>
          <p:cNvSpPr/>
          <p:nvPr/>
        </p:nvSpPr>
        <p:spPr>
          <a:xfrm>
            <a:off x="6601041" y="1858332"/>
            <a:ext cx="5251679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1A53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困境：</a:t>
            </a:r>
            <a:r>
              <a:rPr lang="en-US" sz="1065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问通用AI"宝马KUKA扭矩异常怎么调？" → AI回答："请检查伺服电机电缆。"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605263" y="2132736"/>
            <a:ext cx="5175690" cy="312399"/>
          </a:xfrm>
          <a:custGeom>
            <a:avLst/>
            <a:gdLst/>
            <a:ahLst/>
            <a:cxnLst/>
            <a:rect l="l" t="t" r="r" b="b"/>
            <a:pathLst>
              <a:path w="5175690" h="312399">
                <a:moveTo>
                  <a:pt x="67547" y="0"/>
                </a:moveTo>
                <a:lnTo>
                  <a:pt x="5108143" y="0"/>
                </a:lnTo>
                <a:cubicBezTo>
                  <a:pt x="5145448" y="0"/>
                  <a:pt x="5175690" y="30242"/>
                  <a:pt x="5175690" y="67547"/>
                </a:cubicBezTo>
                <a:lnTo>
                  <a:pt x="5175690" y="244852"/>
                </a:lnTo>
                <a:cubicBezTo>
                  <a:pt x="5175690" y="282157"/>
                  <a:pt x="5145448" y="312399"/>
                  <a:pt x="5108143" y="312399"/>
                </a:cubicBezTo>
                <a:lnTo>
                  <a:pt x="67547" y="312399"/>
                </a:lnTo>
                <a:cubicBezTo>
                  <a:pt x="30267" y="312399"/>
                  <a:pt x="0" y="282132"/>
                  <a:pt x="0" y="244852"/>
                </a:cubicBezTo>
                <a:lnTo>
                  <a:pt x="0" y="67547"/>
                </a:lnTo>
                <a:cubicBezTo>
                  <a:pt x="0" y="30267"/>
                  <a:pt x="30267" y="0"/>
                  <a:pt x="67547" y="0"/>
                </a:cubicBezTo>
                <a:close/>
              </a:path>
            </a:pathLst>
          </a:custGeom>
          <a:solidFill>
            <a:srgbClr val="FEF2F2"/>
          </a:solidFill>
          <a:ln w="12700">
            <a:solidFill>
              <a:srgbClr val="FFC9C9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6693917" y="2229833"/>
            <a:ext cx="118205" cy="118205"/>
          </a:xfrm>
          <a:custGeom>
            <a:avLst/>
            <a:gdLst/>
            <a:ahLst/>
            <a:cxnLst/>
            <a:rect l="l" t="t" r="r" b="b"/>
            <a:pathLst>
              <a:path w="118205" h="118205">
                <a:moveTo>
                  <a:pt x="59102" y="0"/>
                </a:moveTo>
                <a:cubicBezTo>
                  <a:pt x="62496" y="0"/>
                  <a:pt x="65613" y="1870"/>
                  <a:pt x="67229" y="4848"/>
                </a:cubicBezTo>
                <a:lnTo>
                  <a:pt x="117097" y="97196"/>
                </a:lnTo>
                <a:cubicBezTo>
                  <a:pt x="118644" y="100059"/>
                  <a:pt x="118574" y="103522"/>
                  <a:pt x="116912" y="106315"/>
                </a:cubicBezTo>
                <a:cubicBezTo>
                  <a:pt x="115250" y="109109"/>
                  <a:pt x="112225" y="110817"/>
                  <a:pt x="108970" y="110817"/>
                </a:cubicBezTo>
                <a:lnTo>
                  <a:pt x="9235" y="110817"/>
                </a:lnTo>
                <a:cubicBezTo>
                  <a:pt x="5980" y="110817"/>
                  <a:pt x="2978" y="109109"/>
                  <a:pt x="1293" y="106315"/>
                </a:cubicBezTo>
                <a:cubicBezTo>
                  <a:pt x="-392" y="103522"/>
                  <a:pt x="-439" y="100059"/>
                  <a:pt x="1108" y="97196"/>
                </a:cubicBezTo>
                <a:lnTo>
                  <a:pt x="50976" y="4848"/>
                </a:lnTo>
                <a:cubicBezTo>
                  <a:pt x="52592" y="1870"/>
                  <a:pt x="55709" y="0"/>
                  <a:pt x="59102" y="0"/>
                </a:cubicBezTo>
                <a:close/>
                <a:moveTo>
                  <a:pt x="59102" y="38786"/>
                </a:moveTo>
                <a:cubicBezTo>
                  <a:pt x="56032" y="38786"/>
                  <a:pt x="53562" y="41256"/>
                  <a:pt x="53562" y="44327"/>
                </a:cubicBezTo>
                <a:lnTo>
                  <a:pt x="53562" y="70184"/>
                </a:lnTo>
                <a:cubicBezTo>
                  <a:pt x="53562" y="73255"/>
                  <a:pt x="56032" y="75725"/>
                  <a:pt x="59102" y="75725"/>
                </a:cubicBezTo>
                <a:cubicBezTo>
                  <a:pt x="62173" y="75725"/>
                  <a:pt x="64643" y="73255"/>
                  <a:pt x="64643" y="70184"/>
                </a:cubicBezTo>
                <a:lnTo>
                  <a:pt x="64643" y="44327"/>
                </a:lnTo>
                <a:cubicBezTo>
                  <a:pt x="64643" y="41256"/>
                  <a:pt x="62173" y="38786"/>
                  <a:pt x="59102" y="38786"/>
                </a:cubicBezTo>
                <a:close/>
                <a:moveTo>
                  <a:pt x="65267" y="88654"/>
                </a:moveTo>
                <a:cubicBezTo>
                  <a:pt x="65407" y="86366"/>
                  <a:pt x="64266" y="84189"/>
                  <a:pt x="62304" y="83002"/>
                </a:cubicBezTo>
                <a:cubicBezTo>
                  <a:pt x="60343" y="81816"/>
                  <a:pt x="57885" y="81816"/>
                  <a:pt x="55924" y="83002"/>
                </a:cubicBezTo>
                <a:cubicBezTo>
                  <a:pt x="53962" y="84189"/>
                  <a:pt x="52821" y="86366"/>
                  <a:pt x="52961" y="88654"/>
                </a:cubicBezTo>
                <a:cubicBezTo>
                  <a:pt x="52821" y="90942"/>
                  <a:pt x="53962" y="93119"/>
                  <a:pt x="55924" y="94305"/>
                </a:cubicBezTo>
                <a:cubicBezTo>
                  <a:pt x="57885" y="95492"/>
                  <a:pt x="60343" y="95492"/>
                  <a:pt x="62304" y="94305"/>
                </a:cubicBezTo>
                <a:cubicBezTo>
                  <a:pt x="64266" y="93119"/>
                  <a:pt x="65407" y="90942"/>
                  <a:pt x="65267" y="88654"/>
                </a:cubicBezTo>
                <a:close/>
              </a:path>
            </a:pathLst>
          </a:custGeom>
          <a:solidFill>
            <a:srgbClr val="C10007"/>
          </a:solidFill>
        </p:spPr>
      </p:sp>
      <p:sp>
        <p:nvSpPr>
          <p:cNvPr id="21" name="Text 13"/>
          <p:cNvSpPr/>
          <p:nvPr/>
        </p:nvSpPr>
        <p:spPr>
          <a:xfrm>
            <a:off x="6873914" y="2204504"/>
            <a:ext cx="4894374" cy="168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C1000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但它不知道宝马内部的 </a:t>
            </a:r>
            <a:r>
              <a:rPr lang="en-US" sz="930" b="1" dirty="0">
                <a:solidFill>
                  <a:srgbClr val="C1000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扭矩监控阈值标准文档(MTCS-044)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6601041" y="2516903"/>
            <a:ext cx="5243235" cy="168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去公司内网SharePoint搜"扭矩异常"，弹出2,347个结果...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6499723" y="2888404"/>
            <a:ext cx="5386770" cy="405274"/>
          </a:xfrm>
          <a:custGeom>
            <a:avLst/>
            <a:gdLst/>
            <a:ahLst/>
            <a:cxnLst/>
            <a:rect l="l" t="t" r="r" b="b"/>
            <a:pathLst>
              <a:path w="5386770" h="405274">
                <a:moveTo>
                  <a:pt x="67547" y="0"/>
                </a:moveTo>
                <a:lnTo>
                  <a:pt x="5319223" y="0"/>
                </a:lnTo>
                <a:cubicBezTo>
                  <a:pt x="5356528" y="0"/>
                  <a:pt x="5386770" y="30242"/>
                  <a:pt x="5386770" y="67547"/>
                </a:cubicBezTo>
                <a:lnTo>
                  <a:pt x="5386770" y="337727"/>
                </a:lnTo>
                <a:cubicBezTo>
                  <a:pt x="5386770" y="375032"/>
                  <a:pt x="5356528" y="405274"/>
                  <a:pt x="5319223" y="405274"/>
                </a:cubicBezTo>
                <a:lnTo>
                  <a:pt x="67547" y="405274"/>
                </a:lnTo>
                <a:cubicBezTo>
                  <a:pt x="30242" y="405274"/>
                  <a:pt x="0" y="375032"/>
                  <a:pt x="0" y="337727"/>
                </a:cubicBezTo>
                <a:lnTo>
                  <a:pt x="0" y="67547"/>
                </a:lnTo>
                <a:cubicBezTo>
                  <a:pt x="0" y="30267"/>
                  <a:pt x="30267" y="0"/>
                  <a:pt x="67547" y="0"/>
                </a:cubicBezTo>
                <a:close/>
              </a:path>
            </a:pathLst>
          </a:custGeom>
          <a:solidFill>
            <a:srgbClr val="1A535C"/>
          </a:solidFill>
        </p:spPr>
      </p:sp>
      <p:sp>
        <p:nvSpPr>
          <p:cNvPr id="24" name="Shape 16"/>
          <p:cNvSpPr/>
          <p:nvPr/>
        </p:nvSpPr>
        <p:spPr>
          <a:xfrm>
            <a:off x="6617928" y="3023495"/>
            <a:ext cx="135091" cy="135091"/>
          </a:xfrm>
          <a:custGeom>
            <a:avLst/>
            <a:gdLst/>
            <a:ahLst/>
            <a:cxnLst/>
            <a:rect l="l" t="t" r="r" b="b"/>
            <a:pathLst>
              <a:path w="135091" h="135091">
                <a:moveTo>
                  <a:pt x="67546" y="135091"/>
                </a:moveTo>
                <a:cubicBezTo>
                  <a:pt x="104825" y="135091"/>
                  <a:pt x="135091" y="104825"/>
                  <a:pt x="135091" y="67546"/>
                </a:cubicBezTo>
                <a:cubicBezTo>
                  <a:pt x="135091" y="30266"/>
                  <a:pt x="104825" y="0"/>
                  <a:pt x="67546" y="0"/>
                </a:cubicBezTo>
                <a:cubicBezTo>
                  <a:pt x="30266" y="0"/>
                  <a:pt x="0" y="30266"/>
                  <a:pt x="0" y="67546"/>
                </a:cubicBezTo>
                <a:cubicBezTo>
                  <a:pt x="0" y="104825"/>
                  <a:pt x="30266" y="135091"/>
                  <a:pt x="67546" y="135091"/>
                </a:cubicBezTo>
                <a:close/>
                <a:moveTo>
                  <a:pt x="44063" y="44063"/>
                </a:moveTo>
                <a:cubicBezTo>
                  <a:pt x="46543" y="41583"/>
                  <a:pt x="50554" y="41583"/>
                  <a:pt x="53008" y="44063"/>
                </a:cubicBezTo>
                <a:lnTo>
                  <a:pt x="67519" y="58575"/>
                </a:lnTo>
                <a:lnTo>
                  <a:pt x="82031" y="44063"/>
                </a:lnTo>
                <a:cubicBezTo>
                  <a:pt x="84511" y="41583"/>
                  <a:pt x="88522" y="41583"/>
                  <a:pt x="90976" y="44063"/>
                </a:cubicBezTo>
                <a:cubicBezTo>
                  <a:pt x="93429" y="46543"/>
                  <a:pt x="93456" y="50554"/>
                  <a:pt x="90976" y="53008"/>
                </a:cubicBezTo>
                <a:lnTo>
                  <a:pt x="76464" y="67519"/>
                </a:lnTo>
                <a:lnTo>
                  <a:pt x="90976" y="82031"/>
                </a:lnTo>
                <a:cubicBezTo>
                  <a:pt x="93456" y="84511"/>
                  <a:pt x="93456" y="88522"/>
                  <a:pt x="90976" y="90976"/>
                </a:cubicBezTo>
                <a:cubicBezTo>
                  <a:pt x="88495" y="93429"/>
                  <a:pt x="84485" y="93456"/>
                  <a:pt x="82031" y="90976"/>
                </a:cubicBezTo>
                <a:lnTo>
                  <a:pt x="67519" y="76464"/>
                </a:lnTo>
                <a:lnTo>
                  <a:pt x="53008" y="90976"/>
                </a:lnTo>
                <a:cubicBezTo>
                  <a:pt x="50527" y="93456"/>
                  <a:pt x="46517" y="93456"/>
                  <a:pt x="44063" y="90976"/>
                </a:cubicBezTo>
                <a:cubicBezTo>
                  <a:pt x="41609" y="88495"/>
                  <a:pt x="41583" y="84485"/>
                  <a:pt x="44063" y="82031"/>
                </a:cubicBezTo>
                <a:lnTo>
                  <a:pt x="58575" y="67519"/>
                </a:lnTo>
                <a:lnTo>
                  <a:pt x="44063" y="53008"/>
                </a:lnTo>
                <a:cubicBezTo>
                  <a:pt x="41583" y="50527"/>
                  <a:pt x="41583" y="46517"/>
                  <a:pt x="44063" y="44063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25" name="Text 17"/>
          <p:cNvSpPr/>
          <p:nvPr/>
        </p:nvSpPr>
        <p:spPr>
          <a:xfrm>
            <a:off x="6814811" y="2989722"/>
            <a:ext cx="5037909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痛点：没有企业大脑的AI = 纸上谈兵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6339108" y="3716924"/>
            <a:ext cx="5673839" cy="2313440"/>
          </a:xfrm>
          <a:custGeom>
            <a:avLst/>
            <a:gdLst/>
            <a:ahLst/>
            <a:cxnLst/>
            <a:rect l="l" t="t" r="r" b="b"/>
            <a:pathLst>
              <a:path w="5673839" h="2313440">
                <a:moveTo>
                  <a:pt x="33773" y="0"/>
                </a:moveTo>
                <a:lnTo>
                  <a:pt x="5572511" y="0"/>
                </a:lnTo>
                <a:cubicBezTo>
                  <a:pt x="5628473" y="0"/>
                  <a:pt x="5673839" y="45366"/>
                  <a:pt x="5673839" y="101329"/>
                </a:cubicBezTo>
                <a:lnTo>
                  <a:pt x="5673839" y="2212112"/>
                </a:lnTo>
                <a:cubicBezTo>
                  <a:pt x="5673839" y="2268074"/>
                  <a:pt x="5628473" y="2313440"/>
                  <a:pt x="5572511" y="2313440"/>
                </a:cubicBezTo>
                <a:lnTo>
                  <a:pt x="33773" y="2313440"/>
                </a:lnTo>
                <a:cubicBezTo>
                  <a:pt x="15121" y="2313440"/>
                  <a:pt x="0" y="2298320"/>
                  <a:pt x="0" y="2279668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339108" y="3716924"/>
            <a:ext cx="33773" cy="2313440"/>
          </a:xfrm>
          <a:custGeom>
            <a:avLst/>
            <a:gdLst/>
            <a:ahLst/>
            <a:cxnLst/>
            <a:rect l="l" t="t" r="r" b="b"/>
            <a:pathLst>
              <a:path w="33773" h="2313440">
                <a:moveTo>
                  <a:pt x="33773" y="0"/>
                </a:moveTo>
                <a:lnTo>
                  <a:pt x="33773" y="0"/>
                </a:lnTo>
                <a:lnTo>
                  <a:pt x="33773" y="2313440"/>
                </a:lnTo>
                <a:lnTo>
                  <a:pt x="33773" y="2313440"/>
                </a:lnTo>
                <a:cubicBezTo>
                  <a:pt x="15121" y="2313440"/>
                  <a:pt x="0" y="2298320"/>
                  <a:pt x="0" y="2279668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28" name="Shape 20"/>
          <p:cNvSpPr/>
          <p:nvPr/>
        </p:nvSpPr>
        <p:spPr>
          <a:xfrm>
            <a:off x="6491086" y="3852016"/>
            <a:ext cx="405274" cy="405274"/>
          </a:xfrm>
          <a:custGeom>
            <a:avLst/>
            <a:gdLst/>
            <a:ahLst/>
            <a:cxnLst/>
            <a:rect l="l" t="t" r="r" b="b"/>
            <a:pathLst>
              <a:path w="405274" h="405274">
                <a:moveTo>
                  <a:pt x="202637" y="0"/>
                </a:moveTo>
                <a:lnTo>
                  <a:pt x="202637" y="0"/>
                </a:lnTo>
                <a:cubicBezTo>
                  <a:pt x="314476" y="0"/>
                  <a:pt x="405274" y="90799"/>
                  <a:pt x="405274" y="202637"/>
                </a:cubicBezTo>
                <a:lnTo>
                  <a:pt x="405274" y="202637"/>
                </a:lnTo>
                <a:cubicBezTo>
                  <a:pt x="405274" y="314476"/>
                  <a:pt x="314476" y="405274"/>
                  <a:pt x="202637" y="405274"/>
                </a:cubicBezTo>
                <a:lnTo>
                  <a:pt x="202637" y="405274"/>
                </a:lnTo>
                <a:cubicBezTo>
                  <a:pt x="90799" y="405274"/>
                  <a:pt x="0" y="314476"/>
                  <a:pt x="0" y="202637"/>
                </a:cubicBezTo>
                <a:lnTo>
                  <a:pt x="0" y="202637"/>
                </a:lnTo>
                <a:cubicBezTo>
                  <a:pt x="0" y="90799"/>
                  <a:pt x="90799" y="0"/>
                  <a:pt x="202637" y="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29" name="Shape 21"/>
          <p:cNvSpPr/>
          <p:nvPr/>
        </p:nvSpPr>
        <p:spPr>
          <a:xfrm>
            <a:off x="6609291" y="3970221"/>
            <a:ext cx="168864" cy="168864"/>
          </a:xfrm>
          <a:custGeom>
            <a:avLst/>
            <a:gdLst/>
            <a:ahLst/>
            <a:cxnLst/>
            <a:rect l="l" t="t" r="r" b="b"/>
            <a:pathLst>
              <a:path w="168864" h="168864">
                <a:moveTo>
                  <a:pt x="44591" y="38720"/>
                </a:moveTo>
                <a:lnTo>
                  <a:pt x="35983" y="63324"/>
                </a:lnTo>
                <a:lnTo>
                  <a:pt x="132882" y="63324"/>
                </a:lnTo>
                <a:lnTo>
                  <a:pt x="124274" y="38720"/>
                </a:lnTo>
                <a:cubicBezTo>
                  <a:pt x="122789" y="34498"/>
                  <a:pt x="118799" y="31662"/>
                  <a:pt x="114313" y="31662"/>
                </a:cubicBezTo>
                <a:lnTo>
                  <a:pt x="54551" y="31662"/>
                </a:lnTo>
                <a:cubicBezTo>
                  <a:pt x="50066" y="31662"/>
                  <a:pt x="46075" y="34498"/>
                  <a:pt x="44591" y="38720"/>
                </a:cubicBezTo>
                <a:close/>
                <a:moveTo>
                  <a:pt x="13061" y="64907"/>
                </a:moveTo>
                <a:lnTo>
                  <a:pt x="24670" y="31761"/>
                </a:lnTo>
                <a:cubicBezTo>
                  <a:pt x="29122" y="19063"/>
                  <a:pt x="41095" y="10554"/>
                  <a:pt x="54551" y="10554"/>
                </a:cubicBezTo>
                <a:lnTo>
                  <a:pt x="114313" y="10554"/>
                </a:lnTo>
                <a:cubicBezTo>
                  <a:pt x="127770" y="10554"/>
                  <a:pt x="139742" y="19063"/>
                  <a:pt x="144194" y="31761"/>
                </a:cubicBezTo>
                <a:lnTo>
                  <a:pt x="155804" y="64907"/>
                </a:lnTo>
                <a:cubicBezTo>
                  <a:pt x="163455" y="68073"/>
                  <a:pt x="168864" y="75626"/>
                  <a:pt x="168864" y="84432"/>
                </a:cubicBezTo>
                <a:lnTo>
                  <a:pt x="168864" y="147756"/>
                </a:lnTo>
                <a:cubicBezTo>
                  <a:pt x="168864" y="153594"/>
                  <a:pt x="164148" y="158310"/>
                  <a:pt x="158310" y="158310"/>
                </a:cubicBezTo>
                <a:lnTo>
                  <a:pt x="147756" y="158310"/>
                </a:lnTo>
                <a:cubicBezTo>
                  <a:pt x="141919" y="158310"/>
                  <a:pt x="137202" y="153594"/>
                  <a:pt x="137202" y="147756"/>
                </a:cubicBezTo>
                <a:lnTo>
                  <a:pt x="137202" y="137202"/>
                </a:lnTo>
                <a:lnTo>
                  <a:pt x="31662" y="137202"/>
                </a:lnTo>
                <a:lnTo>
                  <a:pt x="31662" y="147756"/>
                </a:lnTo>
                <a:cubicBezTo>
                  <a:pt x="31662" y="153594"/>
                  <a:pt x="26946" y="158310"/>
                  <a:pt x="21108" y="158310"/>
                </a:cubicBezTo>
                <a:lnTo>
                  <a:pt x="10554" y="158310"/>
                </a:lnTo>
                <a:cubicBezTo>
                  <a:pt x="4716" y="158310"/>
                  <a:pt x="0" y="153594"/>
                  <a:pt x="0" y="147756"/>
                </a:cubicBezTo>
                <a:lnTo>
                  <a:pt x="0" y="84432"/>
                </a:lnTo>
                <a:cubicBezTo>
                  <a:pt x="0" y="75626"/>
                  <a:pt x="5409" y="68073"/>
                  <a:pt x="13061" y="64907"/>
                </a:cubicBezTo>
                <a:close/>
                <a:moveTo>
                  <a:pt x="42216" y="100263"/>
                </a:moveTo>
                <a:cubicBezTo>
                  <a:pt x="42216" y="94438"/>
                  <a:pt x="37487" y="89709"/>
                  <a:pt x="31662" y="89709"/>
                </a:cubicBezTo>
                <a:cubicBezTo>
                  <a:pt x="25837" y="89709"/>
                  <a:pt x="21108" y="94438"/>
                  <a:pt x="21108" y="100263"/>
                </a:cubicBezTo>
                <a:cubicBezTo>
                  <a:pt x="21108" y="106088"/>
                  <a:pt x="25837" y="110817"/>
                  <a:pt x="31662" y="110817"/>
                </a:cubicBezTo>
                <a:cubicBezTo>
                  <a:pt x="37487" y="110817"/>
                  <a:pt x="42216" y="106088"/>
                  <a:pt x="42216" y="100263"/>
                </a:cubicBezTo>
                <a:close/>
                <a:moveTo>
                  <a:pt x="137202" y="110817"/>
                </a:moveTo>
                <a:cubicBezTo>
                  <a:pt x="143027" y="110817"/>
                  <a:pt x="147756" y="106088"/>
                  <a:pt x="147756" y="100263"/>
                </a:cubicBezTo>
                <a:cubicBezTo>
                  <a:pt x="147756" y="94438"/>
                  <a:pt x="143027" y="89709"/>
                  <a:pt x="137202" y="89709"/>
                </a:cubicBezTo>
                <a:cubicBezTo>
                  <a:pt x="131377" y="89709"/>
                  <a:pt x="126648" y="94438"/>
                  <a:pt x="126648" y="100263"/>
                </a:cubicBezTo>
                <a:cubicBezTo>
                  <a:pt x="126648" y="106088"/>
                  <a:pt x="131377" y="110817"/>
                  <a:pt x="137202" y="11081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0" name="Text 22"/>
          <p:cNvSpPr/>
          <p:nvPr/>
        </p:nvSpPr>
        <p:spPr>
          <a:xfrm>
            <a:off x="6997679" y="3852016"/>
            <a:ext cx="2195235" cy="236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场景二：4S店销售顾问 小张</a:t>
            </a:r>
            <a:endParaRPr lang="en-US" sz="133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6997679" y="4088426"/>
            <a:ext cx="2169906" cy="168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竞品对比话术查询</a:t>
            </a:r>
            <a:endParaRPr lang="en-US" sz="93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6491086" y="4358608"/>
            <a:ext cx="5386770" cy="1030072"/>
          </a:xfrm>
          <a:custGeom>
            <a:avLst/>
            <a:gdLst/>
            <a:ahLst/>
            <a:cxnLst/>
            <a:rect l="l" t="t" r="r" b="b"/>
            <a:pathLst>
              <a:path w="5386770" h="1030072">
                <a:moveTo>
                  <a:pt x="67542" y="0"/>
                </a:moveTo>
                <a:lnTo>
                  <a:pt x="5319228" y="0"/>
                </a:lnTo>
                <a:cubicBezTo>
                  <a:pt x="5356531" y="0"/>
                  <a:pt x="5386770" y="30240"/>
                  <a:pt x="5386770" y="67542"/>
                </a:cubicBezTo>
                <a:lnTo>
                  <a:pt x="5386770" y="962530"/>
                </a:lnTo>
                <a:cubicBezTo>
                  <a:pt x="5386770" y="999833"/>
                  <a:pt x="5356531" y="1030072"/>
                  <a:pt x="5319228" y="1030072"/>
                </a:cubicBezTo>
                <a:lnTo>
                  <a:pt x="67542" y="1030072"/>
                </a:lnTo>
                <a:cubicBezTo>
                  <a:pt x="30264" y="1030072"/>
                  <a:pt x="0" y="999808"/>
                  <a:pt x="0" y="962530"/>
                </a:cubicBezTo>
                <a:lnTo>
                  <a:pt x="0" y="67542"/>
                </a:lnTo>
                <a:cubicBezTo>
                  <a:pt x="0" y="30264"/>
                  <a:pt x="30264" y="0"/>
                  <a:pt x="67542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33" name="Text 25"/>
          <p:cNvSpPr/>
          <p:nvPr/>
        </p:nvSpPr>
        <p:spPr>
          <a:xfrm>
            <a:off x="6592405" y="4459927"/>
            <a:ext cx="5251679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1A53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困境：</a:t>
            </a:r>
            <a:r>
              <a:rPr lang="en-US" sz="1065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客户问："全新X5的空气悬架和奔驰GLE相比技术优势在哪？"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6596626" y="4734331"/>
            <a:ext cx="5175690" cy="312399"/>
          </a:xfrm>
          <a:custGeom>
            <a:avLst/>
            <a:gdLst/>
            <a:ahLst/>
            <a:cxnLst/>
            <a:rect l="l" t="t" r="r" b="b"/>
            <a:pathLst>
              <a:path w="5175690" h="312399">
                <a:moveTo>
                  <a:pt x="67547" y="0"/>
                </a:moveTo>
                <a:lnTo>
                  <a:pt x="5108143" y="0"/>
                </a:lnTo>
                <a:cubicBezTo>
                  <a:pt x="5145448" y="0"/>
                  <a:pt x="5175690" y="30242"/>
                  <a:pt x="5175690" y="67547"/>
                </a:cubicBezTo>
                <a:lnTo>
                  <a:pt x="5175690" y="244852"/>
                </a:lnTo>
                <a:cubicBezTo>
                  <a:pt x="5175690" y="282157"/>
                  <a:pt x="5145448" y="312399"/>
                  <a:pt x="5108143" y="312399"/>
                </a:cubicBezTo>
                <a:lnTo>
                  <a:pt x="67547" y="312399"/>
                </a:lnTo>
                <a:cubicBezTo>
                  <a:pt x="30267" y="312399"/>
                  <a:pt x="0" y="282132"/>
                  <a:pt x="0" y="244852"/>
                </a:cubicBezTo>
                <a:lnTo>
                  <a:pt x="0" y="67547"/>
                </a:lnTo>
                <a:cubicBezTo>
                  <a:pt x="0" y="30267"/>
                  <a:pt x="30267" y="0"/>
                  <a:pt x="67547" y="0"/>
                </a:cubicBezTo>
                <a:close/>
              </a:path>
            </a:pathLst>
          </a:custGeom>
          <a:solidFill>
            <a:srgbClr val="FEF2F2"/>
          </a:solidFill>
          <a:ln w="12700">
            <a:solidFill>
              <a:srgbClr val="FFC9C9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685280" y="4831428"/>
            <a:ext cx="118205" cy="118205"/>
          </a:xfrm>
          <a:custGeom>
            <a:avLst/>
            <a:gdLst/>
            <a:ahLst/>
            <a:cxnLst/>
            <a:rect l="l" t="t" r="r" b="b"/>
            <a:pathLst>
              <a:path w="118205" h="118205">
                <a:moveTo>
                  <a:pt x="59102" y="0"/>
                </a:moveTo>
                <a:cubicBezTo>
                  <a:pt x="62496" y="0"/>
                  <a:pt x="65613" y="1870"/>
                  <a:pt x="67229" y="4848"/>
                </a:cubicBezTo>
                <a:lnTo>
                  <a:pt x="117097" y="97196"/>
                </a:lnTo>
                <a:cubicBezTo>
                  <a:pt x="118644" y="100059"/>
                  <a:pt x="118574" y="103522"/>
                  <a:pt x="116912" y="106315"/>
                </a:cubicBezTo>
                <a:cubicBezTo>
                  <a:pt x="115250" y="109109"/>
                  <a:pt x="112225" y="110817"/>
                  <a:pt x="108970" y="110817"/>
                </a:cubicBezTo>
                <a:lnTo>
                  <a:pt x="9235" y="110817"/>
                </a:lnTo>
                <a:cubicBezTo>
                  <a:pt x="5980" y="110817"/>
                  <a:pt x="2978" y="109109"/>
                  <a:pt x="1293" y="106315"/>
                </a:cubicBezTo>
                <a:cubicBezTo>
                  <a:pt x="-392" y="103522"/>
                  <a:pt x="-439" y="100059"/>
                  <a:pt x="1108" y="97196"/>
                </a:cubicBezTo>
                <a:lnTo>
                  <a:pt x="50976" y="4848"/>
                </a:lnTo>
                <a:cubicBezTo>
                  <a:pt x="52592" y="1870"/>
                  <a:pt x="55709" y="0"/>
                  <a:pt x="59102" y="0"/>
                </a:cubicBezTo>
                <a:close/>
                <a:moveTo>
                  <a:pt x="59102" y="38786"/>
                </a:moveTo>
                <a:cubicBezTo>
                  <a:pt x="56032" y="38786"/>
                  <a:pt x="53562" y="41256"/>
                  <a:pt x="53562" y="44327"/>
                </a:cubicBezTo>
                <a:lnTo>
                  <a:pt x="53562" y="70184"/>
                </a:lnTo>
                <a:cubicBezTo>
                  <a:pt x="53562" y="73255"/>
                  <a:pt x="56032" y="75725"/>
                  <a:pt x="59102" y="75725"/>
                </a:cubicBezTo>
                <a:cubicBezTo>
                  <a:pt x="62173" y="75725"/>
                  <a:pt x="64643" y="73255"/>
                  <a:pt x="64643" y="70184"/>
                </a:cubicBezTo>
                <a:lnTo>
                  <a:pt x="64643" y="44327"/>
                </a:lnTo>
                <a:cubicBezTo>
                  <a:pt x="64643" y="41256"/>
                  <a:pt x="62173" y="38786"/>
                  <a:pt x="59102" y="38786"/>
                </a:cubicBezTo>
                <a:close/>
                <a:moveTo>
                  <a:pt x="65267" y="88654"/>
                </a:moveTo>
                <a:cubicBezTo>
                  <a:pt x="65407" y="86366"/>
                  <a:pt x="64266" y="84189"/>
                  <a:pt x="62304" y="83002"/>
                </a:cubicBezTo>
                <a:cubicBezTo>
                  <a:pt x="60343" y="81816"/>
                  <a:pt x="57885" y="81816"/>
                  <a:pt x="55924" y="83002"/>
                </a:cubicBezTo>
                <a:cubicBezTo>
                  <a:pt x="53962" y="84189"/>
                  <a:pt x="52821" y="86366"/>
                  <a:pt x="52961" y="88654"/>
                </a:cubicBezTo>
                <a:cubicBezTo>
                  <a:pt x="52821" y="90942"/>
                  <a:pt x="53962" y="93119"/>
                  <a:pt x="55924" y="94305"/>
                </a:cubicBezTo>
                <a:cubicBezTo>
                  <a:pt x="57885" y="95492"/>
                  <a:pt x="60343" y="95492"/>
                  <a:pt x="62304" y="94305"/>
                </a:cubicBezTo>
                <a:cubicBezTo>
                  <a:pt x="64266" y="93119"/>
                  <a:pt x="65407" y="90942"/>
                  <a:pt x="65267" y="88654"/>
                </a:cubicBezTo>
                <a:close/>
              </a:path>
            </a:pathLst>
          </a:custGeom>
          <a:solidFill>
            <a:srgbClr val="C10007"/>
          </a:solidFill>
        </p:spPr>
      </p:sp>
      <p:sp>
        <p:nvSpPr>
          <p:cNvPr id="36" name="Text 28"/>
          <p:cNvSpPr/>
          <p:nvPr/>
        </p:nvSpPr>
        <p:spPr>
          <a:xfrm>
            <a:off x="6865277" y="4806099"/>
            <a:ext cx="4894374" cy="168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C1000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通用AI只能提供汽车媒体的泛泛对比文章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6592405" y="5118498"/>
            <a:ext cx="5243235" cy="168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缺乏宝马官方培训材料中的竞品拆解对比数据和话术要点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6491086" y="5489999"/>
            <a:ext cx="5386770" cy="405274"/>
          </a:xfrm>
          <a:custGeom>
            <a:avLst/>
            <a:gdLst/>
            <a:ahLst/>
            <a:cxnLst/>
            <a:rect l="l" t="t" r="r" b="b"/>
            <a:pathLst>
              <a:path w="5386770" h="405274">
                <a:moveTo>
                  <a:pt x="67547" y="0"/>
                </a:moveTo>
                <a:lnTo>
                  <a:pt x="5319223" y="0"/>
                </a:lnTo>
                <a:cubicBezTo>
                  <a:pt x="5356528" y="0"/>
                  <a:pt x="5386770" y="30242"/>
                  <a:pt x="5386770" y="67547"/>
                </a:cubicBezTo>
                <a:lnTo>
                  <a:pt x="5386770" y="337727"/>
                </a:lnTo>
                <a:cubicBezTo>
                  <a:pt x="5386770" y="375032"/>
                  <a:pt x="5356528" y="405274"/>
                  <a:pt x="5319223" y="405274"/>
                </a:cubicBezTo>
                <a:lnTo>
                  <a:pt x="67547" y="405274"/>
                </a:lnTo>
                <a:cubicBezTo>
                  <a:pt x="30242" y="405274"/>
                  <a:pt x="0" y="375032"/>
                  <a:pt x="0" y="337727"/>
                </a:cubicBezTo>
                <a:lnTo>
                  <a:pt x="0" y="67547"/>
                </a:lnTo>
                <a:cubicBezTo>
                  <a:pt x="0" y="30267"/>
                  <a:pt x="30267" y="0"/>
                  <a:pt x="67547" y="0"/>
                </a:cubicBezTo>
                <a:close/>
              </a:path>
            </a:pathLst>
          </a:custGeom>
          <a:solidFill>
            <a:srgbClr val="1A535C"/>
          </a:solidFill>
        </p:spPr>
      </p:sp>
      <p:sp>
        <p:nvSpPr>
          <p:cNvPr id="39" name="Shape 31"/>
          <p:cNvSpPr/>
          <p:nvPr/>
        </p:nvSpPr>
        <p:spPr>
          <a:xfrm>
            <a:off x="6609291" y="5625090"/>
            <a:ext cx="135091" cy="135091"/>
          </a:xfrm>
          <a:custGeom>
            <a:avLst/>
            <a:gdLst/>
            <a:ahLst/>
            <a:cxnLst/>
            <a:rect l="l" t="t" r="r" b="b"/>
            <a:pathLst>
              <a:path w="135091" h="135091">
                <a:moveTo>
                  <a:pt x="67546" y="135091"/>
                </a:moveTo>
                <a:cubicBezTo>
                  <a:pt x="104825" y="135091"/>
                  <a:pt x="135091" y="104825"/>
                  <a:pt x="135091" y="67546"/>
                </a:cubicBezTo>
                <a:cubicBezTo>
                  <a:pt x="135091" y="30266"/>
                  <a:pt x="104825" y="0"/>
                  <a:pt x="67546" y="0"/>
                </a:cubicBezTo>
                <a:cubicBezTo>
                  <a:pt x="30266" y="0"/>
                  <a:pt x="0" y="30266"/>
                  <a:pt x="0" y="67546"/>
                </a:cubicBezTo>
                <a:cubicBezTo>
                  <a:pt x="0" y="104825"/>
                  <a:pt x="30266" y="135091"/>
                  <a:pt x="67546" y="135091"/>
                </a:cubicBezTo>
                <a:close/>
                <a:moveTo>
                  <a:pt x="44063" y="44063"/>
                </a:moveTo>
                <a:cubicBezTo>
                  <a:pt x="46543" y="41583"/>
                  <a:pt x="50554" y="41583"/>
                  <a:pt x="53008" y="44063"/>
                </a:cubicBezTo>
                <a:lnTo>
                  <a:pt x="67519" y="58575"/>
                </a:lnTo>
                <a:lnTo>
                  <a:pt x="82031" y="44063"/>
                </a:lnTo>
                <a:cubicBezTo>
                  <a:pt x="84511" y="41583"/>
                  <a:pt x="88522" y="41583"/>
                  <a:pt x="90976" y="44063"/>
                </a:cubicBezTo>
                <a:cubicBezTo>
                  <a:pt x="93429" y="46543"/>
                  <a:pt x="93456" y="50554"/>
                  <a:pt x="90976" y="53008"/>
                </a:cubicBezTo>
                <a:lnTo>
                  <a:pt x="76464" y="67519"/>
                </a:lnTo>
                <a:lnTo>
                  <a:pt x="90976" y="82031"/>
                </a:lnTo>
                <a:cubicBezTo>
                  <a:pt x="93456" y="84511"/>
                  <a:pt x="93456" y="88522"/>
                  <a:pt x="90976" y="90976"/>
                </a:cubicBezTo>
                <a:cubicBezTo>
                  <a:pt x="88495" y="93429"/>
                  <a:pt x="84485" y="93456"/>
                  <a:pt x="82031" y="90976"/>
                </a:cubicBezTo>
                <a:lnTo>
                  <a:pt x="67519" y="76464"/>
                </a:lnTo>
                <a:lnTo>
                  <a:pt x="53008" y="90976"/>
                </a:lnTo>
                <a:cubicBezTo>
                  <a:pt x="50527" y="93456"/>
                  <a:pt x="46517" y="93456"/>
                  <a:pt x="44063" y="90976"/>
                </a:cubicBezTo>
                <a:cubicBezTo>
                  <a:pt x="41609" y="88495"/>
                  <a:pt x="41583" y="84485"/>
                  <a:pt x="44063" y="82031"/>
                </a:cubicBezTo>
                <a:lnTo>
                  <a:pt x="58575" y="67519"/>
                </a:lnTo>
                <a:lnTo>
                  <a:pt x="44063" y="53008"/>
                </a:lnTo>
                <a:cubicBezTo>
                  <a:pt x="41583" y="50527"/>
                  <a:pt x="41583" y="46517"/>
                  <a:pt x="44063" y="4406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0" name="Text 32"/>
          <p:cNvSpPr/>
          <p:nvPr/>
        </p:nvSpPr>
        <p:spPr>
          <a:xfrm>
            <a:off x="6806175" y="5591317"/>
            <a:ext cx="5037909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痛点：销售瞬间需要的"精确弹药"，藏在一千页培训手册里</a:t>
            </a:r>
            <a:endParaRPr lang="en-US" sz="1600" dirty="0">
              <a:cs typeface="BMWGroupTN Condensed TT Light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7146290" cy="720090"/>
          </a:xfrm>
        </p:spPr>
        <p:txBody>
          <a:bodyPr>
            <a:normAutofit/>
          </a:bodyPr>
          <a:lstStyle/>
          <a:p>
            <a:r>
              <a:rPr lang="zh-CN" altLang="en-US"/>
              <a:t>人机交互</a:t>
            </a:r>
            <a:r>
              <a:rPr lang="zh-CN" altLang="en-US"/>
              <a:t>四象限：知识</a:t>
            </a:r>
            <a:r>
              <a:rPr lang="zh-CN" altLang="en-US"/>
              <a:t>迁移</a:t>
            </a:r>
            <a:endParaRPr lang="zh-CN" altLang="en-US"/>
          </a:p>
        </p:txBody>
      </p:sp>
      <p:sp>
        <p:nvSpPr>
          <p:cNvPr id="7" name="Text 1"/>
          <p:cNvSpPr/>
          <p:nvPr/>
        </p:nvSpPr>
        <p:spPr>
          <a:xfrm>
            <a:off x="695960" y="1120140"/>
            <a:ext cx="5181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人知道，</a:t>
            </a:r>
            <a:r>
              <a:rPr lang="en-US" altLang="zh-CN" sz="18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</a:t>
            </a:r>
            <a:r>
              <a:rPr lang="zh-CN" altLang="en-US" sz="18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也知道，才能成为人的工作伙伴。</a:t>
            </a:r>
            <a:endParaRPr lang="zh-CN" altLang="en-US" sz="18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2675890" y="4575810"/>
            <a:ext cx="7232015" cy="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6291898" y="2584450"/>
            <a:ext cx="0" cy="398272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6104255" y="2157095"/>
            <a:ext cx="643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  <a:cs typeface="BMWGroupTN Condensed TT Light" charset="0"/>
              </a:rPr>
              <a:t>人</a:t>
            </a:r>
            <a:endParaRPr lang="zh-CN" altLang="en-US" b="1">
              <a:solidFill>
                <a:schemeClr val="tx1"/>
              </a:solidFill>
              <a:cs typeface="BMWGroupTN Condensed TT Light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519545" y="4723130"/>
            <a:ext cx="2987675" cy="18389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l">
              <a:lnSpc>
                <a:spcPct val="150000"/>
              </a:lnSpc>
            </a:pPr>
            <a:r>
              <a:rPr lang="zh-CN" altLang="en-US" b="1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人不知道，</a:t>
            </a:r>
            <a:r>
              <a:rPr lang="en-US" altLang="zh-CN" b="1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</a:t>
            </a:r>
            <a:r>
              <a:rPr lang="zh-CN" altLang="en-US" b="1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知道</a:t>
            </a:r>
            <a:endParaRPr lang="zh-CN" altLang="en-US" b="1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这是我们的</a:t>
            </a: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“</a:t>
            </a: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知识盲区</a:t>
            </a: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”</a:t>
            </a: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，</a:t>
            </a: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</a:t>
            </a: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担任</a:t>
            </a: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“</a:t>
            </a: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随身专家</a:t>
            </a: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”</a:t>
            </a:r>
            <a:endParaRPr lang="en-US" altLang="zh-CN" sz="100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  <a:p>
            <a:pPr algn="l">
              <a:lnSpc>
                <a:spcPct val="150000"/>
              </a:lnSpc>
            </a:pPr>
            <a:endParaRPr lang="zh-CN" altLang="en-US" sz="100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交互模式：</a:t>
            </a:r>
            <a:endParaRPr lang="zh-CN" altLang="en-US" sz="100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通过聊天模式，进行结构化的知识传递。</a:t>
            </a:r>
            <a:endParaRPr lang="zh-CN" altLang="en-US" sz="100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527165" y="2529205"/>
            <a:ext cx="2947670" cy="1839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l">
              <a:lnSpc>
                <a:spcPct val="150000"/>
              </a:lnSpc>
            </a:pPr>
            <a:r>
              <a:rPr lang="zh-CN" altLang="en-US" b="1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人知道，</a:t>
            </a:r>
            <a:r>
              <a:rPr lang="en-US" altLang="zh-CN" b="1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</a:t>
            </a:r>
            <a:r>
              <a:rPr lang="zh-CN" altLang="en-US" b="1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也知道</a:t>
            </a:r>
            <a:endParaRPr lang="zh-CN" altLang="en-US" b="1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这是</a:t>
            </a: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“</a:t>
            </a: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效率提升区</a:t>
            </a: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”</a:t>
            </a: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，</a:t>
            </a: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</a:t>
            </a: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担任</a:t>
            </a: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“</a:t>
            </a: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智能副手</a:t>
            </a: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”</a:t>
            </a:r>
            <a:endParaRPr lang="en-US" altLang="zh-CN" sz="100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  <a:p>
            <a:pPr algn="l">
              <a:lnSpc>
                <a:spcPct val="150000"/>
              </a:lnSpc>
            </a:pPr>
            <a:endParaRPr lang="zh-CN" altLang="en-US" sz="100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交互模式：</a:t>
            </a:r>
            <a:endParaRPr lang="zh-CN" altLang="en-US" sz="100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</a:t>
            </a: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可以通过智能体的模式，自动化处理这些任务。</a:t>
            </a:r>
            <a:endParaRPr lang="zh-CN" altLang="en-US" sz="100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107055" y="4723130"/>
            <a:ext cx="2947670" cy="18637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l">
              <a:lnSpc>
                <a:spcPct val="150000"/>
              </a:lnSpc>
            </a:pPr>
            <a:r>
              <a:rPr lang="zh-CN" altLang="en-US" b="1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人不知道，</a:t>
            </a:r>
            <a:r>
              <a:rPr lang="en-US" altLang="zh-CN" b="1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</a:t>
            </a:r>
            <a:r>
              <a:rPr lang="zh-CN" altLang="en-US" b="1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也不知道</a:t>
            </a:r>
            <a:endParaRPr lang="zh-CN" altLang="en-US" b="1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这是最激动人心的</a:t>
            </a: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“</a:t>
            </a: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创新探索区</a:t>
            </a: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”</a:t>
            </a: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，我们与</a:t>
            </a: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</a:t>
            </a: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是</a:t>
            </a: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“</a:t>
            </a: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共创伙伴</a:t>
            </a: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”</a:t>
            </a:r>
            <a:endParaRPr lang="en-US" altLang="zh-CN" sz="100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  <a:p>
            <a:pPr algn="l">
              <a:lnSpc>
                <a:spcPct val="150000"/>
              </a:lnSpc>
            </a:pPr>
            <a:endParaRPr lang="zh-CN" altLang="en-US" sz="100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交互模式：</a:t>
            </a:r>
            <a:endParaRPr lang="zh-CN" altLang="en-US" sz="100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目标是通过多轮对话，互相激发，实现真正的</a:t>
            </a: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“</a:t>
            </a: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人机共创</a:t>
            </a: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”</a:t>
            </a: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。</a:t>
            </a:r>
            <a:endParaRPr lang="zh-CN" altLang="en-US" sz="100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106420" y="2529205"/>
            <a:ext cx="2947670" cy="18637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l">
              <a:lnSpc>
                <a:spcPct val="150000"/>
              </a:lnSpc>
            </a:pPr>
            <a:r>
              <a:rPr lang="zh-CN" altLang="en-US" b="1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人知道，</a:t>
            </a:r>
            <a:r>
              <a:rPr lang="en-US" altLang="zh-CN" b="1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</a:t>
            </a:r>
            <a:r>
              <a:rPr lang="zh-CN" altLang="en-US" b="1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不知道</a:t>
            </a:r>
            <a:endParaRPr lang="zh-CN" altLang="en-US" b="1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这是</a:t>
            </a: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“</a:t>
            </a: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核心优势区</a:t>
            </a: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”</a:t>
            </a: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，</a:t>
            </a: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</a:t>
            </a: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担任</a:t>
            </a: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“</a:t>
            </a: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专属学徒</a:t>
            </a: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”</a:t>
            </a:r>
            <a:endParaRPr lang="en-US" altLang="zh-CN" sz="100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  <a:p>
            <a:pPr algn="l">
              <a:lnSpc>
                <a:spcPct val="150000"/>
              </a:lnSpc>
            </a:pPr>
            <a:endParaRPr lang="zh-CN" altLang="en-US" sz="100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交互模式：</a:t>
            </a:r>
            <a:endParaRPr lang="zh-CN" altLang="en-US" sz="100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需要通过</a:t>
            </a: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RAG</a:t>
            </a: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知识库等技术给</a:t>
            </a: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AI“</a:t>
            </a: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喂资料</a:t>
            </a:r>
            <a:r>
              <a:rPr lang="en-US" altLang="zh-CN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”</a:t>
            </a:r>
            <a:r>
              <a:rPr lang="zh-CN" altLang="en-US" sz="100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，实现知识迁移与任务执行</a:t>
            </a:r>
            <a:endParaRPr lang="zh-CN" altLang="en-US" sz="100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067925" y="4368800"/>
            <a:ext cx="643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tx1"/>
                </a:solidFill>
                <a:cs typeface="BMWGroupTN Condensed TT Light" charset="0"/>
              </a:rPr>
              <a:t>AI</a:t>
            </a:r>
            <a:endParaRPr lang="en-US" altLang="zh-CN" b="1">
              <a:solidFill>
                <a:schemeClr val="tx1"/>
              </a:solidFill>
              <a:cs typeface="BMWGroupTN Condensed TT Light" charset="0"/>
            </a:endParaRPr>
          </a:p>
        </p:txBody>
      </p:sp>
      <p:sp>
        <p:nvSpPr>
          <p:cNvPr id="30" name="环形箭头 29"/>
          <p:cNvSpPr/>
          <p:nvPr/>
        </p:nvSpPr>
        <p:spPr>
          <a:xfrm>
            <a:off x="5839460" y="1861185"/>
            <a:ext cx="1003935" cy="859790"/>
          </a:xfrm>
          <a:prstGeom prst="circularArrow">
            <a:avLst/>
          </a:pr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  <a:cs typeface="BMWGroupTN Condensed TT Light" charset="0"/>
            </a:endParaRPr>
          </a:p>
        </p:txBody>
      </p:sp>
      <p:sp>
        <p:nvSpPr>
          <p:cNvPr id="31" name="Text 1"/>
          <p:cNvSpPr/>
          <p:nvPr/>
        </p:nvSpPr>
        <p:spPr>
          <a:xfrm>
            <a:off x="5609590" y="1482725"/>
            <a:ext cx="1463675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知识迁移</a:t>
            </a:r>
            <a:endParaRPr lang="zh-CN" altLang="en-US" sz="1800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7146290" cy="720090"/>
          </a:xfrm>
        </p:spPr>
        <p:txBody>
          <a:bodyPr vert="horz" wrap="square" lIns="0" tIns="0" rIns="0" bIns="0" rtlCol="0" anchor="b">
            <a:normAutofit fontScale="90000"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记忆漏斗：为何AI记不住我们的"宝马全书"？</a:t>
            </a:r>
            <a:endParaRPr lang="zh-CN" altLang="en-US">
              <a:sym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7870" y="1194435"/>
            <a:ext cx="9250045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altLang="zh-CN" dirty="0"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知识库是宝库，但AI的"脑子"是漏斗</a:t>
            </a:r>
            <a:endParaRPr lang="en-US" altLang="zh-CN" dirty="0">
              <a:latin typeface="BMWGroupTN Condensed TT Light" charset="0"/>
              <a:ea typeface="BMWGroupTN Condensed TT Light" charset="0"/>
              <a:cs typeface="BMWGroupTN Condensed TT Light" charset="0"/>
              <a:sym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81000" y="1752600"/>
            <a:ext cx="4191000" cy="4610100"/>
          </a:xfrm>
          <a:custGeom>
            <a:avLst/>
            <a:gdLst/>
            <a:ahLst/>
            <a:cxnLst/>
            <a:rect l="l" t="t" r="r" b="b"/>
            <a:pathLst>
              <a:path w="4191000" h="4610100">
                <a:moveTo>
                  <a:pt x="152385" y="0"/>
                </a:moveTo>
                <a:lnTo>
                  <a:pt x="4038615" y="0"/>
                </a:lnTo>
                <a:cubicBezTo>
                  <a:pt x="4122775" y="0"/>
                  <a:pt x="4191000" y="68225"/>
                  <a:pt x="4191000" y="152385"/>
                </a:cubicBezTo>
                <a:lnTo>
                  <a:pt x="4191000" y="4457715"/>
                </a:lnTo>
                <a:cubicBezTo>
                  <a:pt x="4191000" y="4541875"/>
                  <a:pt x="4122775" y="4610100"/>
                  <a:pt x="4038615" y="4610100"/>
                </a:cubicBezTo>
                <a:lnTo>
                  <a:pt x="152385" y="4610100"/>
                </a:lnTo>
                <a:cubicBezTo>
                  <a:pt x="68225" y="4610100"/>
                  <a:pt x="0" y="4541875"/>
                  <a:pt x="0" y="4457715"/>
                </a:cubicBezTo>
                <a:lnTo>
                  <a:pt x="0" y="152385"/>
                </a:lnTo>
                <a:cubicBezTo>
                  <a:pt x="0" y="68281"/>
                  <a:pt x="68281" y="0"/>
                  <a:pt x="152385" y="0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6" name="Shape 4"/>
          <p:cNvSpPr/>
          <p:nvPr/>
        </p:nvSpPr>
        <p:spPr>
          <a:xfrm>
            <a:off x="571500" y="1943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2" name="Shape 5"/>
          <p:cNvSpPr/>
          <p:nvPr/>
        </p:nvSpPr>
        <p:spPr>
          <a:xfrm>
            <a:off x="738188" y="20955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219200" y="1962150"/>
            <a:ext cx="1943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宝马数据资产冰山</a:t>
            </a:r>
            <a:endParaRPr lang="en-US" sz="180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19200" y="2266950"/>
            <a:ext cx="1895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多年积累的内部文档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0550" y="2628900"/>
            <a:ext cx="1828800" cy="914400"/>
          </a:xfrm>
          <a:custGeom>
            <a:avLst/>
            <a:gdLst/>
            <a:ahLst/>
            <a:cxnLst/>
            <a:rect l="l" t="t" r="r" b="b"/>
            <a:pathLst>
              <a:path w="1828800" h="914400">
                <a:moveTo>
                  <a:pt x="38100" y="0"/>
                </a:moveTo>
                <a:lnTo>
                  <a:pt x="1752603" y="0"/>
                </a:lnTo>
                <a:cubicBezTo>
                  <a:pt x="1794685" y="0"/>
                  <a:pt x="1828800" y="34115"/>
                  <a:pt x="1828800" y="76197"/>
                </a:cubicBezTo>
                <a:lnTo>
                  <a:pt x="1828800" y="838203"/>
                </a:lnTo>
                <a:cubicBezTo>
                  <a:pt x="1828800" y="880285"/>
                  <a:pt x="1794685" y="914400"/>
                  <a:pt x="1752603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11" name="Shape 9"/>
          <p:cNvSpPr/>
          <p:nvPr/>
        </p:nvSpPr>
        <p:spPr>
          <a:xfrm>
            <a:off x="590550" y="26289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535C"/>
          </a:solidFill>
        </p:spPr>
      </p:sp>
      <p:sp>
        <p:nvSpPr>
          <p:cNvPr id="12" name="Shape 10"/>
          <p:cNvSpPr/>
          <p:nvPr/>
        </p:nvSpPr>
        <p:spPr>
          <a:xfrm>
            <a:off x="752475" y="2781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14300" y="152400"/>
                </a:moveTo>
                <a:lnTo>
                  <a:pt x="28575" y="152400"/>
                </a:lnTo>
                <a:cubicBezTo>
                  <a:pt x="12799" y="152400"/>
                  <a:pt x="0" y="139601"/>
                  <a:pt x="0" y="123825"/>
                </a:cubicBezTo>
                <a:lnTo>
                  <a:pt x="0" y="28575"/>
                </a:lnTo>
                <a:cubicBezTo>
                  <a:pt x="0" y="12799"/>
                  <a:pt x="12799" y="0"/>
                  <a:pt x="28575" y="0"/>
                </a:cubicBezTo>
                <a:lnTo>
                  <a:pt x="119062" y="0"/>
                </a:lnTo>
                <a:cubicBezTo>
                  <a:pt x="126950" y="0"/>
                  <a:pt x="133350" y="6400"/>
                  <a:pt x="133350" y="14288"/>
                </a:cubicBezTo>
                <a:lnTo>
                  <a:pt x="133350" y="100013"/>
                </a:lnTo>
                <a:cubicBezTo>
                  <a:pt x="133350" y="106234"/>
                  <a:pt x="129361" y="111532"/>
                  <a:pt x="123825" y="113496"/>
                </a:cubicBezTo>
                <a:lnTo>
                  <a:pt x="123825" y="133350"/>
                </a:lnTo>
                <a:cubicBezTo>
                  <a:pt x="129094" y="133350"/>
                  <a:pt x="133350" y="137606"/>
                  <a:pt x="133350" y="142875"/>
                </a:cubicBezTo>
                <a:cubicBezTo>
                  <a:pt x="133350" y="148144"/>
                  <a:pt x="129094" y="152400"/>
                  <a:pt x="123825" y="152400"/>
                </a:cubicBezTo>
                <a:lnTo>
                  <a:pt x="114300" y="152400"/>
                </a:lnTo>
                <a:close/>
                <a:moveTo>
                  <a:pt x="28575" y="114300"/>
                </a:moveTo>
                <a:cubicBezTo>
                  <a:pt x="23306" y="114300"/>
                  <a:pt x="19050" y="118556"/>
                  <a:pt x="19050" y="123825"/>
                </a:cubicBezTo>
                <a:cubicBezTo>
                  <a:pt x="19050" y="129094"/>
                  <a:pt x="23306" y="133350"/>
                  <a:pt x="28575" y="133350"/>
                </a:cubicBezTo>
                <a:lnTo>
                  <a:pt x="104775" y="133350"/>
                </a:lnTo>
                <a:lnTo>
                  <a:pt x="104775" y="114300"/>
                </a:lnTo>
                <a:lnTo>
                  <a:pt x="28575" y="114300"/>
                </a:lnTo>
                <a:close/>
                <a:moveTo>
                  <a:pt x="38100" y="45244"/>
                </a:moveTo>
                <a:cubicBezTo>
                  <a:pt x="38100" y="49203"/>
                  <a:pt x="41285" y="52388"/>
                  <a:pt x="45244" y="52388"/>
                </a:cubicBezTo>
                <a:lnTo>
                  <a:pt x="97631" y="52388"/>
                </a:lnTo>
                <a:cubicBezTo>
                  <a:pt x="101590" y="52388"/>
                  <a:pt x="104775" y="49203"/>
                  <a:pt x="104775" y="45244"/>
                </a:cubicBezTo>
                <a:cubicBezTo>
                  <a:pt x="104775" y="41285"/>
                  <a:pt x="101590" y="38100"/>
                  <a:pt x="97631" y="38100"/>
                </a:cubicBezTo>
                <a:lnTo>
                  <a:pt x="45244" y="38100"/>
                </a:lnTo>
                <a:cubicBezTo>
                  <a:pt x="41285" y="38100"/>
                  <a:pt x="38100" y="41285"/>
                  <a:pt x="38100" y="45244"/>
                </a:cubicBezTo>
                <a:close/>
                <a:moveTo>
                  <a:pt x="45244" y="66675"/>
                </a:moveTo>
                <a:cubicBezTo>
                  <a:pt x="41285" y="66675"/>
                  <a:pt x="38100" y="69860"/>
                  <a:pt x="38100" y="73819"/>
                </a:cubicBezTo>
                <a:cubicBezTo>
                  <a:pt x="38100" y="77778"/>
                  <a:pt x="41285" y="80962"/>
                  <a:pt x="45244" y="80962"/>
                </a:cubicBezTo>
                <a:lnTo>
                  <a:pt x="97631" y="80962"/>
                </a:lnTo>
                <a:cubicBezTo>
                  <a:pt x="101590" y="80962"/>
                  <a:pt x="104775" y="77778"/>
                  <a:pt x="104775" y="73819"/>
                </a:cubicBezTo>
                <a:cubicBezTo>
                  <a:pt x="104775" y="69860"/>
                  <a:pt x="101590" y="66675"/>
                  <a:pt x="97631" y="66675"/>
                </a:cubicBezTo>
                <a:lnTo>
                  <a:pt x="45244" y="66675"/>
                </a:lnTo>
                <a:close/>
              </a:path>
            </a:pathLst>
          </a:custGeom>
          <a:solidFill>
            <a:srgbClr val="1A535C"/>
          </a:solidFill>
        </p:spPr>
      </p:sp>
      <p:sp>
        <p:nvSpPr>
          <p:cNvPr id="13" name="Text 11"/>
          <p:cNvSpPr/>
          <p:nvPr/>
        </p:nvSpPr>
        <p:spPr>
          <a:xfrm>
            <a:off x="990600" y="27432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产品技术</a:t>
            </a:r>
            <a:endParaRPr lang="en-US" sz="120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23900" y="3048000"/>
            <a:ext cx="16478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产品手册、技术参数、研发规范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552700" y="2628900"/>
            <a:ext cx="1828800" cy="914400"/>
          </a:xfrm>
          <a:custGeom>
            <a:avLst/>
            <a:gdLst/>
            <a:ahLst/>
            <a:cxnLst/>
            <a:rect l="l" t="t" r="r" b="b"/>
            <a:pathLst>
              <a:path w="1828800" h="914400">
                <a:moveTo>
                  <a:pt x="38100" y="0"/>
                </a:moveTo>
                <a:lnTo>
                  <a:pt x="1752603" y="0"/>
                </a:lnTo>
                <a:cubicBezTo>
                  <a:pt x="1794685" y="0"/>
                  <a:pt x="1828800" y="34115"/>
                  <a:pt x="1828800" y="76197"/>
                </a:cubicBezTo>
                <a:lnTo>
                  <a:pt x="1828800" y="838203"/>
                </a:lnTo>
                <a:cubicBezTo>
                  <a:pt x="1828800" y="880285"/>
                  <a:pt x="1794685" y="914400"/>
                  <a:pt x="1752603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3" name="Shape 14"/>
          <p:cNvSpPr/>
          <p:nvPr/>
        </p:nvSpPr>
        <p:spPr>
          <a:xfrm>
            <a:off x="2552700" y="26289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21" name="Shape 15"/>
          <p:cNvSpPr/>
          <p:nvPr/>
        </p:nvSpPr>
        <p:spPr>
          <a:xfrm>
            <a:off x="2695575" y="27813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0040" y="25360"/>
                </a:moveTo>
                <a:lnTo>
                  <a:pt x="45333" y="63937"/>
                </a:lnTo>
                <a:cubicBezTo>
                  <a:pt x="43964" y="65455"/>
                  <a:pt x="44023" y="67806"/>
                  <a:pt x="45482" y="69265"/>
                </a:cubicBezTo>
                <a:cubicBezTo>
                  <a:pt x="54560" y="78343"/>
                  <a:pt x="69294" y="78343"/>
                  <a:pt x="78373" y="69265"/>
                </a:cubicBezTo>
                <a:lnTo>
                  <a:pt x="87838" y="59799"/>
                </a:lnTo>
                <a:cubicBezTo>
                  <a:pt x="89089" y="58549"/>
                  <a:pt x="90666" y="57864"/>
                  <a:pt x="92273" y="57745"/>
                </a:cubicBezTo>
                <a:cubicBezTo>
                  <a:pt x="94298" y="57567"/>
                  <a:pt x="96381" y="58251"/>
                  <a:pt x="97929" y="59799"/>
                </a:cubicBezTo>
                <a:lnTo>
                  <a:pt x="150495" y="111919"/>
                </a:lnTo>
                <a:lnTo>
                  <a:pt x="171450" y="95250"/>
                </a:lnTo>
                <a:lnTo>
                  <a:pt x="171450" y="9525"/>
                </a:lnTo>
                <a:lnTo>
                  <a:pt x="138113" y="28575"/>
                </a:lnTo>
                <a:lnTo>
                  <a:pt x="131028" y="23842"/>
                </a:lnTo>
                <a:cubicBezTo>
                  <a:pt x="126325" y="20717"/>
                  <a:pt x="120819" y="19050"/>
                  <a:pt x="115163" y="19050"/>
                </a:cubicBezTo>
                <a:lnTo>
                  <a:pt x="94208" y="19050"/>
                </a:lnTo>
                <a:cubicBezTo>
                  <a:pt x="93881" y="19050"/>
                  <a:pt x="93524" y="19050"/>
                  <a:pt x="93196" y="19080"/>
                </a:cubicBezTo>
                <a:cubicBezTo>
                  <a:pt x="88166" y="19348"/>
                  <a:pt x="83433" y="21610"/>
                  <a:pt x="80040" y="25360"/>
                </a:cubicBezTo>
                <a:close/>
                <a:moveTo>
                  <a:pt x="34707" y="54382"/>
                </a:moveTo>
                <a:lnTo>
                  <a:pt x="66496" y="19050"/>
                </a:lnTo>
                <a:lnTo>
                  <a:pt x="54709" y="19050"/>
                </a:lnTo>
                <a:cubicBezTo>
                  <a:pt x="47119" y="19050"/>
                  <a:pt x="39856" y="22056"/>
                  <a:pt x="34498" y="27414"/>
                </a:cubicBezTo>
                <a:lnTo>
                  <a:pt x="33338" y="28575"/>
                </a:lnTo>
                <a:lnTo>
                  <a:pt x="0" y="9525"/>
                </a:lnTo>
                <a:lnTo>
                  <a:pt x="0" y="95250"/>
                </a:lnTo>
                <a:lnTo>
                  <a:pt x="46553" y="134035"/>
                </a:lnTo>
                <a:cubicBezTo>
                  <a:pt x="53400" y="139750"/>
                  <a:pt x="62032" y="142875"/>
                  <a:pt x="70931" y="142875"/>
                </a:cubicBezTo>
                <a:lnTo>
                  <a:pt x="75605" y="142875"/>
                </a:lnTo>
                <a:lnTo>
                  <a:pt x="73521" y="140791"/>
                </a:lnTo>
                <a:cubicBezTo>
                  <a:pt x="70723" y="137993"/>
                  <a:pt x="70723" y="133469"/>
                  <a:pt x="73521" y="130701"/>
                </a:cubicBezTo>
                <a:cubicBezTo>
                  <a:pt x="76319" y="127933"/>
                  <a:pt x="80843" y="127903"/>
                  <a:pt x="83612" y="130701"/>
                </a:cubicBezTo>
                <a:lnTo>
                  <a:pt x="95816" y="142905"/>
                </a:lnTo>
                <a:lnTo>
                  <a:pt x="98494" y="142905"/>
                </a:lnTo>
                <a:cubicBezTo>
                  <a:pt x="104180" y="142905"/>
                  <a:pt x="109746" y="141625"/>
                  <a:pt x="114806" y="139244"/>
                </a:cubicBezTo>
                <a:lnTo>
                  <a:pt x="106859" y="131266"/>
                </a:lnTo>
                <a:cubicBezTo>
                  <a:pt x="104061" y="128468"/>
                  <a:pt x="104061" y="123944"/>
                  <a:pt x="106859" y="121176"/>
                </a:cubicBezTo>
                <a:cubicBezTo>
                  <a:pt x="109657" y="118408"/>
                  <a:pt x="114181" y="118378"/>
                  <a:pt x="116949" y="121176"/>
                </a:cubicBezTo>
                <a:lnTo>
                  <a:pt x="126474" y="130701"/>
                </a:lnTo>
                <a:lnTo>
                  <a:pt x="131683" y="125492"/>
                </a:lnTo>
                <a:cubicBezTo>
                  <a:pt x="134332" y="122843"/>
                  <a:pt x="135106" y="119003"/>
                  <a:pt x="133945" y="115639"/>
                </a:cubicBezTo>
                <a:lnTo>
                  <a:pt x="92899" y="74920"/>
                </a:lnTo>
                <a:lnTo>
                  <a:pt x="88463" y="79355"/>
                </a:lnTo>
                <a:cubicBezTo>
                  <a:pt x="73789" y="94030"/>
                  <a:pt x="50036" y="94030"/>
                  <a:pt x="35362" y="79355"/>
                </a:cubicBezTo>
                <a:cubicBezTo>
                  <a:pt x="28515" y="72509"/>
                  <a:pt x="28248" y="61526"/>
                  <a:pt x="34707" y="54352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22" name="Text 16"/>
          <p:cNvSpPr/>
          <p:nvPr/>
        </p:nvSpPr>
        <p:spPr>
          <a:xfrm>
            <a:off x="2952750" y="2743200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经销商运营</a:t>
            </a:r>
            <a:endParaRPr lang="en-US" sz="120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2686050" y="3048000"/>
            <a:ext cx="16478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运营手册、销售话术、返利政策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590550" y="3657600"/>
            <a:ext cx="1828800" cy="914400"/>
          </a:xfrm>
          <a:custGeom>
            <a:avLst/>
            <a:gdLst/>
            <a:ahLst/>
            <a:cxnLst/>
            <a:rect l="l" t="t" r="r" b="b"/>
            <a:pathLst>
              <a:path w="1828800" h="914400">
                <a:moveTo>
                  <a:pt x="38100" y="0"/>
                </a:moveTo>
                <a:lnTo>
                  <a:pt x="1752603" y="0"/>
                </a:lnTo>
                <a:cubicBezTo>
                  <a:pt x="1794685" y="0"/>
                  <a:pt x="1828800" y="34115"/>
                  <a:pt x="1828800" y="76197"/>
                </a:cubicBezTo>
                <a:lnTo>
                  <a:pt x="1828800" y="838203"/>
                </a:lnTo>
                <a:cubicBezTo>
                  <a:pt x="1828800" y="880285"/>
                  <a:pt x="1794685" y="914400"/>
                  <a:pt x="1752603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25" name="Shape 19"/>
          <p:cNvSpPr/>
          <p:nvPr/>
        </p:nvSpPr>
        <p:spPr>
          <a:xfrm>
            <a:off x="590550" y="36576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A83"/>
          </a:solidFill>
        </p:spPr>
      </p:sp>
      <p:sp>
        <p:nvSpPr>
          <p:cNvPr id="26" name="Shape 20"/>
          <p:cNvSpPr/>
          <p:nvPr/>
        </p:nvSpPr>
        <p:spPr>
          <a:xfrm>
            <a:off x="762000" y="38100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28575" y="19050"/>
                </a:moveTo>
                <a:lnTo>
                  <a:pt x="85725" y="19050"/>
                </a:lnTo>
                <a:cubicBezTo>
                  <a:pt x="90994" y="19050"/>
                  <a:pt x="95250" y="23306"/>
                  <a:pt x="95250" y="28575"/>
                </a:cubicBezTo>
                <a:lnTo>
                  <a:pt x="95250" y="38100"/>
                </a:lnTo>
                <a:cubicBezTo>
                  <a:pt x="95250" y="43369"/>
                  <a:pt x="90994" y="47625"/>
                  <a:pt x="85725" y="47625"/>
                </a:cubicBezTo>
                <a:lnTo>
                  <a:pt x="28575" y="47625"/>
                </a:lnTo>
                <a:cubicBezTo>
                  <a:pt x="23306" y="47625"/>
                  <a:pt x="19050" y="43369"/>
                  <a:pt x="19050" y="38100"/>
                </a:cubicBezTo>
                <a:lnTo>
                  <a:pt x="19050" y="28575"/>
                </a:lnTo>
                <a:cubicBezTo>
                  <a:pt x="19050" y="23306"/>
                  <a:pt x="23306" y="19050"/>
                  <a:pt x="28575" y="19050"/>
                </a:cubicBezTo>
                <a:close/>
                <a:moveTo>
                  <a:pt x="33338" y="69056"/>
                </a:moveTo>
                <a:cubicBezTo>
                  <a:pt x="33338" y="72999"/>
                  <a:pt x="30136" y="76200"/>
                  <a:pt x="26194" y="76200"/>
                </a:cubicBezTo>
                <a:cubicBezTo>
                  <a:pt x="22251" y="76200"/>
                  <a:pt x="19050" y="72999"/>
                  <a:pt x="19050" y="69056"/>
                </a:cubicBezTo>
                <a:cubicBezTo>
                  <a:pt x="19050" y="65114"/>
                  <a:pt x="22251" y="61912"/>
                  <a:pt x="26194" y="61912"/>
                </a:cubicBezTo>
                <a:cubicBezTo>
                  <a:pt x="30136" y="61912"/>
                  <a:pt x="33338" y="65114"/>
                  <a:pt x="33338" y="69056"/>
                </a:cubicBezTo>
                <a:close/>
                <a:moveTo>
                  <a:pt x="57150" y="76200"/>
                </a:moveTo>
                <a:cubicBezTo>
                  <a:pt x="53207" y="76200"/>
                  <a:pt x="50006" y="72999"/>
                  <a:pt x="50006" y="69056"/>
                </a:cubicBezTo>
                <a:cubicBezTo>
                  <a:pt x="50006" y="65114"/>
                  <a:pt x="53207" y="61912"/>
                  <a:pt x="57150" y="61912"/>
                </a:cubicBezTo>
                <a:cubicBezTo>
                  <a:pt x="61093" y="61912"/>
                  <a:pt x="64294" y="65114"/>
                  <a:pt x="64294" y="69056"/>
                </a:cubicBezTo>
                <a:cubicBezTo>
                  <a:pt x="64294" y="72999"/>
                  <a:pt x="61093" y="76200"/>
                  <a:pt x="57150" y="76200"/>
                </a:cubicBezTo>
                <a:close/>
                <a:moveTo>
                  <a:pt x="95250" y="69056"/>
                </a:moveTo>
                <a:cubicBezTo>
                  <a:pt x="95250" y="72999"/>
                  <a:pt x="92049" y="76200"/>
                  <a:pt x="88106" y="76200"/>
                </a:cubicBezTo>
                <a:cubicBezTo>
                  <a:pt x="84164" y="76200"/>
                  <a:pt x="80962" y="72999"/>
                  <a:pt x="80962" y="69056"/>
                </a:cubicBezTo>
                <a:cubicBezTo>
                  <a:pt x="80962" y="65114"/>
                  <a:pt x="84164" y="61912"/>
                  <a:pt x="88106" y="61912"/>
                </a:cubicBezTo>
                <a:cubicBezTo>
                  <a:pt x="92049" y="61912"/>
                  <a:pt x="95250" y="65114"/>
                  <a:pt x="95250" y="69056"/>
                </a:cubicBezTo>
                <a:close/>
                <a:moveTo>
                  <a:pt x="26194" y="104775"/>
                </a:moveTo>
                <a:cubicBezTo>
                  <a:pt x="22251" y="104775"/>
                  <a:pt x="19050" y="101574"/>
                  <a:pt x="19050" y="97631"/>
                </a:cubicBezTo>
                <a:cubicBezTo>
                  <a:pt x="19050" y="93689"/>
                  <a:pt x="22251" y="90488"/>
                  <a:pt x="26194" y="90488"/>
                </a:cubicBezTo>
                <a:cubicBezTo>
                  <a:pt x="30136" y="90488"/>
                  <a:pt x="33338" y="93689"/>
                  <a:pt x="33338" y="97631"/>
                </a:cubicBezTo>
                <a:cubicBezTo>
                  <a:pt x="33338" y="101574"/>
                  <a:pt x="30136" y="104775"/>
                  <a:pt x="26194" y="104775"/>
                </a:cubicBezTo>
                <a:close/>
                <a:moveTo>
                  <a:pt x="64294" y="97631"/>
                </a:moveTo>
                <a:cubicBezTo>
                  <a:pt x="64294" y="101574"/>
                  <a:pt x="61093" y="104775"/>
                  <a:pt x="57150" y="104775"/>
                </a:cubicBezTo>
                <a:cubicBezTo>
                  <a:pt x="53207" y="104775"/>
                  <a:pt x="50006" y="101574"/>
                  <a:pt x="50006" y="97631"/>
                </a:cubicBezTo>
                <a:cubicBezTo>
                  <a:pt x="50006" y="93689"/>
                  <a:pt x="53207" y="90488"/>
                  <a:pt x="57150" y="90488"/>
                </a:cubicBezTo>
                <a:cubicBezTo>
                  <a:pt x="61093" y="90488"/>
                  <a:pt x="64294" y="93689"/>
                  <a:pt x="64294" y="97631"/>
                </a:cubicBezTo>
                <a:close/>
                <a:moveTo>
                  <a:pt x="88106" y="104775"/>
                </a:moveTo>
                <a:cubicBezTo>
                  <a:pt x="84164" y="104775"/>
                  <a:pt x="80962" y="101574"/>
                  <a:pt x="80962" y="97631"/>
                </a:cubicBezTo>
                <a:cubicBezTo>
                  <a:pt x="80962" y="93689"/>
                  <a:pt x="84164" y="90488"/>
                  <a:pt x="88106" y="90488"/>
                </a:cubicBezTo>
                <a:cubicBezTo>
                  <a:pt x="92049" y="90488"/>
                  <a:pt x="95250" y="93689"/>
                  <a:pt x="95250" y="97631"/>
                </a:cubicBezTo>
                <a:cubicBezTo>
                  <a:pt x="95250" y="101574"/>
                  <a:pt x="92049" y="104775"/>
                  <a:pt x="88106" y="104775"/>
                </a:cubicBezTo>
                <a:close/>
                <a:moveTo>
                  <a:pt x="19050" y="126206"/>
                </a:moveTo>
                <a:cubicBezTo>
                  <a:pt x="19050" y="122247"/>
                  <a:pt x="22235" y="119062"/>
                  <a:pt x="26194" y="119062"/>
                </a:cubicBezTo>
                <a:lnTo>
                  <a:pt x="59531" y="119062"/>
                </a:lnTo>
                <a:cubicBezTo>
                  <a:pt x="63490" y="119062"/>
                  <a:pt x="66675" y="122247"/>
                  <a:pt x="66675" y="126206"/>
                </a:cubicBezTo>
                <a:cubicBezTo>
                  <a:pt x="66675" y="130165"/>
                  <a:pt x="63490" y="133350"/>
                  <a:pt x="59531" y="133350"/>
                </a:cubicBezTo>
                <a:lnTo>
                  <a:pt x="26194" y="133350"/>
                </a:lnTo>
                <a:cubicBezTo>
                  <a:pt x="22235" y="133350"/>
                  <a:pt x="19050" y="130165"/>
                  <a:pt x="19050" y="126206"/>
                </a:cubicBezTo>
                <a:close/>
                <a:moveTo>
                  <a:pt x="88106" y="119062"/>
                </a:moveTo>
                <a:cubicBezTo>
                  <a:pt x="92065" y="119062"/>
                  <a:pt x="95250" y="122247"/>
                  <a:pt x="95250" y="126206"/>
                </a:cubicBezTo>
                <a:cubicBezTo>
                  <a:pt x="95250" y="130165"/>
                  <a:pt x="92065" y="133350"/>
                  <a:pt x="88106" y="133350"/>
                </a:cubicBezTo>
                <a:cubicBezTo>
                  <a:pt x="84147" y="133350"/>
                  <a:pt x="80962" y="130165"/>
                  <a:pt x="80962" y="126206"/>
                </a:cubicBezTo>
                <a:cubicBezTo>
                  <a:pt x="80962" y="122247"/>
                  <a:pt x="84147" y="119062"/>
                  <a:pt x="88106" y="119062"/>
                </a:cubicBezTo>
                <a:close/>
              </a:path>
            </a:pathLst>
          </a:custGeom>
          <a:solidFill>
            <a:srgbClr val="6B7A83"/>
          </a:solidFill>
        </p:spPr>
      </p:sp>
      <p:sp>
        <p:nvSpPr>
          <p:cNvPr id="27" name="Text 21"/>
          <p:cNvSpPr/>
          <p:nvPr/>
        </p:nvSpPr>
        <p:spPr>
          <a:xfrm>
            <a:off x="990600" y="37719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财务制度</a:t>
            </a:r>
            <a:endParaRPr lang="en-US" sz="120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723900" y="4076700"/>
            <a:ext cx="16478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返款细则、预算指引、审批流程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2552700" y="3657600"/>
            <a:ext cx="1828800" cy="914400"/>
          </a:xfrm>
          <a:custGeom>
            <a:avLst/>
            <a:gdLst/>
            <a:ahLst/>
            <a:cxnLst/>
            <a:rect l="l" t="t" r="r" b="b"/>
            <a:pathLst>
              <a:path w="1828800" h="914400">
                <a:moveTo>
                  <a:pt x="38100" y="0"/>
                </a:moveTo>
                <a:lnTo>
                  <a:pt x="1752603" y="0"/>
                </a:lnTo>
                <a:cubicBezTo>
                  <a:pt x="1794685" y="0"/>
                  <a:pt x="1828800" y="34115"/>
                  <a:pt x="1828800" y="76197"/>
                </a:cubicBezTo>
                <a:lnTo>
                  <a:pt x="1828800" y="838203"/>
                </a:lnTo>
                <a:cubicBezTo>
                  <a:pt x="1828800" y="880285"/>
                  <a:pt x="1794685" y="914400"/>
                  <a:pt x="1752603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30" name="Shape 24"/>
          <p:cNvSpPr/>
          <p:nvPr/>
        </p:nvSpPr>
        <p:spPr>
          <a:xfrm>
            <a:off x="2552700" y="36576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535C"/>
          </a:solidFill>
        </p:spPr>
      </p:sp>
      <p:sp>
        <p:nvSpPr>
          <p:cNvPr id="32" name="Shape 25"/>
          <p:cNvSpPr/>
          <p:nvPr/>
        </p:nvSpPr>
        <p:spPr>
          <a:xfrm>
            <a:off x="2695575" y="38100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50483" y="45660"/>
                </a:moveTo>
                <a:lnTo>
                  <a:pt x="44916" y="40094"/>
                </a:lnTo>
                <a:cubicBezTo>
                  <a:pt x="41196" y="36374"/>
                  <a:pt x="41196" y="30331"/>
                  <a:pt x="44916" y="26610"/>
                </a:cubicBezTo>
                <a:lnTo>
                  <a:pt x="79058" y="-7560"/>
                </a:lnTo>
                <a:cubicBezTo>
                  <a:pt x="82778" y="-11281"/>
                  <a:pt x="88821" y="-11281"/>
                  <a:pt x="92541" y="-7560"/>
                </a:cubicBezTo>
                <a:lnTo>
                  <a:pt x="98108" y="-1965"/>
                </a:lnTo>
                <a:cubicBezTo>
                  <a:pt x="101828" y="1756"/>
                  <a:pt x="101828" y="7799"/>
                  <a:pt x="98108" y="11519"/>
                </a:cubicBezTo>
                <a:lnTo>
                  <a:pt x="63966" y="45660"/>
                </a:lnTo>
                <a:cubicBezTo>
                  <a:pt x="60246" y="49381"/>
                  <a:pt x="54203" y="49381"/>
                  <a:pt x="50483" y="45660"/>
                </a:cubicBezTo>
                <a:close/>
                <a:moveTo>
                  <a:pt x="82153" y="63014"/>
                </a:moveTo>
                <a:lnTo>
                  <a:pt x="72807" y="53667"/>
                </a:lnTo>
                <a:lnTo>
                  <a:pt x="106144" y="20330"/>
                </a:lnTo>
                <a:lnTo>
                  <a:pt x="141684" y="55870"/>
                </a:lnTo>
                <a:lnTo>
                  <a:pt x="108347" y="89208"/>
                </a:lnTo>
                <a:lnTo>
                  <a:pt x="99000" y="79861"/>
                </a:lnTo>
                <a:lnTo>
                  <a:pt x="29944" y="148917"/>
                </a:lnTo>
                <a:cubicBezTo>
                  <a:pt x="25301" y="153561"/>
                  <a:pt x="17770" y="153561"/>
                  <a:pt x="13097" y="148917"/>
                </a:cubicBezTo>
                <a:cubicBezTo>
                  <a:pt x="8424" y="144274"/>
                  <a:pt x="8453" y="136743"/>
                  <a:pt x="13097" y="132070"/>
                </a:cubicBezTo>
                <a:lnTo>
                  <a:pt x="82153" y="63014"/>
                </a:lnTo>
                <a:close/>
                <a:moveTo>
                  <a:pt x="116354" y="111502"/>
                </a:moveTo>
                <a:cubicBezTo>
                  <a:pt x="112633" y="107781"/>
                  <a:pt x="112633" y="101739"/>
                  <a:pt x="116354" y="98018"/>
                </a:cubicBezTo>
                <a:lnTo>
                  <a:pt x="150495" y="63877"/>
                </a:lnTo>
                <a:cubicBezTo>
                  <a:pt x="154216" y="60156"/>
                  <a:pt x="160258" y="60156"/>
                  <a:pt x="163979" y="63877"/>
                </a:cubicBezTo>
                <a:lnTo>
                  <a:pt x="169545" y="69443"/>
                </a:lnTo>
                <a:cubicBezTo>
                  <a:pt x="173266" y="73164"/>
                  <a:pt x="173266" y="79206"/>
                  <a:pt x="169545" y="82927"/>
                </a:cubicBezTo>
                <a:lnTo>
                  <a:pt x="135404" y="117098"/>
                </a:lnTo>
                <a:cubicBezTo>
                  <a:pt x="131683" y="120819"/>
                  <a:pt x="125641" y="120819"/>
                  <a:pt x="121920" y="117098"/>
                </a:cubicBezTo>
                <a:lnTo>
                  <a:pt x="116354" y="111532"/>
                </a:lnTo>
                <a:close/>
              </a:path>
            </a:pathLst>
          </a:custGeom>
          <a:solidFill>
            <a:srgbClr val="1A535C"/>
          </a:solidFill>
        </p:spPr>
      </p:sp>
      <p:sp>
        <p:nvSpPr>
          <p:cNvPr id="40" name="Text 26"/>
          <p:cNvSpPr/>
          <p:nvPr/>
        </p:nvSpPr>
        <p:spPr>
          <a:xfrm>
            <a:off x="2952750" y="37719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法务合规</a:t>
            </a:r>
            <a:endParaRPr lang="en-US" sz="120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1" name="Text 27"/>
          <p:cNvSpPr/>
          <p:nvPr/>
        </p:nvSpPr>
        <p:spPr>
          <a:xfrm>
            <a:off x="2686050" y="4076700"/>
            <a:ext cx="16478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合规指南、合同模板、案例库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2" name="Shape 28"/>
          <p:cNvSpPr/>
          <p:nvPr/>
        </p:nvSpPr>
        <p:spPr>
          <a:xfrm>
            <a:off x="590550" y="4686300"/>
            <a:ext cx="1828800" cy="914400"/>
          </a:xfrm>
          <a:custGeom>
            <a:avLst/>
            <a:gdLst/>
            <a:ahLst/>
            <a:cxnLst/>
            <a:rect l="l" t="t" r="r" b="b"/>
            <a:pathLst>
              <a:path w="1828800" h="914400">
                <a:moveTo>
                  <a:pt x="38100" y="0"/>
                </a:moveTo>
                <a:lnTo>
                  <a:pt x="1752603" y="0"/>
                </a:lnTo>
                <a:cubicBezTo>
                  <a:pt x="1794685" y="0"/>
                  <a:pt x="1828800" y="34115"/>
                  <a:pt x="1828800" y="76197"/>
                </a:cubicBezTo>
                <a:lnTo>
                  <a:pt x="1828800" y="838203"/>
                </a:lnTo>
                <a:cubicBezTo>
                  <a:pt x="1828800" y="880285"/>
                  <a:pt x="1794685" y="914400"/>
                  <a:pt x="1752603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44" name="Shape 29"/>
          <p:cNvSpPr/>
          <p:nvPr/>
        </p:nvSpPr>
        <p:spPr>
          <a:xfrm>
            <a:off x="590550" y="46863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45" name="Shape 30"/>
          <p:cNvSpPr/>
          <p:nvPr/>
        </p:nvSpPr>
        <p:spPr>
          <a:xfrm>
            <a:off x="723900" y="48387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46" name="Text 31"/>
          <p:cNvSpPr/>
          <p:nvPr/>
        </p:nvSpPr>
        <p:spPr>
          <a:xfrm>
            <a:off x="990600" y="48006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SOP流程</a:t>
            </a:r>
            <a:endParaRPr lang="en-US" sz="120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0" name="Text 32"/>
          <p:cNvSpPr/>
          <p:nvPr/>
        </p:nvSpPr>
        <p:spPr>
          <a:xfrm>
            <a:off x="723900" y="5105400"/>
            <a:ext cx="1647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标准作业程序、操作指南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52" name="Shape 33"/>
          <p:cNvSpPr/>
          <p:nvPr/>
        </p:nvSpPr>
        <p:spPr>
          <a:xfrm>
            <a:off x="2552700" y="4686300"/>
            <a:ext cx="1828800" cy="914400"/>
          </a:xfrm>
          <a:custGeom>
            <a:avLst/>
            <a:gdLst/>
            <a:ahLst/>
            <a:cxnLst/>
            <a:rect l="l" t="t" r="r" b="b"/>
            <a:pathLst>
              <a:path w="1828800" h="914400">
                <a:moveTo>
                  <a:pt x="38100" y="0"/>
                </a:moveTo>
                <a:lnTo>
                  <a:pt x="1752603" y="0"/>
                </a:lnTo>
                <a:cubicBezTo>
                  <a:pt x="1794685" y="0"/>
                  <a:pt x="1828800" y="34115"/>
                  <a:pt x="1828800" y="76197"/>
                </a:cubicBezTo>
                <a:lnTo>
                  <a:pt x="1828800" y="838203"/>
                </a:lnTo>
                <a:cubicBezTo>
                  <a:pt x="1828800" y="880285"/>
                  <a:pt x="1794685" y="914400"/>
                  <a:pt x="1752603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53" name="Shape 34"/>
          <p:cNvSpPr/>
          <p:nvPr/>
        </p:nvSpPr>
        <p:spPr>
          <a:xfrm>
            <a:off x="2552700" y="46863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A83"/>
          </a:solidFill>
        </p:spPr>
      </p:sp>
      <p:sp>
        <p:nvSpPr>
          <p:cNvPr id="54" name="Shape 35"/>
          <p:cNvSpPr/>
          <p:nvPr/>
        </p:nvSpPr>
        <p:spPr>
          <a:xfrm>
            <a:off x="2695575" y="48387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6B7A83"/>
          </a:solidFill>
        </p:spPr>
      </p:sp>
      <p:sp>
        <p:nvSpPr>
          <p:cNvPr id="55" name="Text 36"/>
          <p:cNvSpPr/>
          <p:nvPr/>
        </p:nvSpPr>
        <p:spPr>
          <a:xfrm>
            <a:off x="2952750" y="48006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培训材料</a:t>
            </a:r>
            <a:endParaRPr lang="en-US" sz="120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6" name="Text 37"/>
          <p:cNvSpPr/>
          <p:nvPr/>
        </p:nvSpPr>
        <p:spPr>
          <a:xfrm>
            <a:off x="2686050" y="5105400"/>
            <a:ext cx="16478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产品培训、技能提升、认证资料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57" name="Shape 38"/>
          <p:cNvSpPr/>
          <p:nvPr/>
        </p:nvSpPr>
        <p:spPr>
          <a:xfrm>
            <a:off x="571500" y="5715000"/>
            <a:ext cx="3810000" cy="457200"/>
          </a:xfrm>
          <a:custGeom>
            <a:avLst/>
            <a:gdLst/>
            <a:ahLst/>
            <a:cxnLst/>
            <a:rect l="l" t="t" r="r" b="b"/>
            <a:pathLst>
              <a:path w="3810000" h="457200">
                <a:moveTo>
                  <a:pt x="76202" y="0"/>
                </a:moveTo>
                <a:lnTo>
                  <a:pt x="3733798" y="0"/>
                </a:lnTo>
                <a:cubicBezTo>
                  <a:pt x="3775883" y="0"/>
                  <a:pt x="3810000" y="34117"/>
                  <a:pt x="3810000" y="76202"/>
                </a:cubicBezTo>
                <a:lnTo>
                  <a:pt x="3810000" y="380998"/>
                </a:lnTo>
                <a:cubicBezTo>
                  <a:pt x="3810000" y="423083"/>
                  <a:pt x="3775883" y="457200"/>
                  <a:pt x="37337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A535C"/>
              </a:gs>
              <a:gs pos="100000">
                <a:srgbClr val="4ECDC4"/>
              </a:gs>
            </a:gsLst>
            <a:lin ang="0" scaled="1"/>
          </a:gradFill>
        </p:spPr>
      </p:sp>
      <p:sp>
        <p:nvSpPr>
          <p:cNvPr id="58" name="Shape 39"/>
          <p:cNvSpPr/>
          <p:nvPr/>
        </p:nvSpPr>
        <p:spPr>
          <a:xfrm>
            <a:off x="70485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59" name="Text 40"/>
          <p:cNvSpPr/>
          <p:nvPr/>
        </p:nvSpPr>
        <p:spPr>
          <a:xfrm>
            <a:off x="933450" y="5829300"/>
            <a:ext cx="3409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数据体量：数万份文档，数十亿字符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1" name="Shape 42"/>
          <p:cNvSpPr/>
          <p:nvPr/>
        </p:nvSpPr>
        <p:spPr>
          <a:xfrm>
            <a:off x="7620000" y="1752600"/>
            <a:ext cx="4191000" cy="4610100"/>
          </a:xfrm>
          <a:custGeom>
            <a:avLst/>
            <a:gdLst/>
            <a:ahLst/>
            <a:cxnLst/>
            <a:rect l="l" t="t" r="r" b="b"/>
            <a:pathLst>
              <a:path w="4191000" h="4610100">
                <a:moveTo>
                  <a:pt x="152385" y="0"/>
                </a:moveTo>
                <a:lnTo>
                  <a:pt x="4038615" y="0"/>
                </a:lnTo>
                <a:cubicBezTo>
                  <a:pt x="4122775" y="0"/>
                  <a:pt x="4191000" y="68225"/>
                  <a:pt x="4191000" y="152385"/>
                </a:cubicBezTo>
                <a:lnTo>
                  <a:pt x="4191000" y="4457715"/>
                </a:lnTo>
                <a:cubicBezTo>
                  <a:pt x="4191000" y="4541875"/>
                  <a:pt x="4122775" y="4610100"/>
                  <a:pt x="4038615" y="4610100"/>
                </a:cubicBezTo>
                <a:lnTo>
                  <a:pt x="152385" y="4610100"/>
                </a:lnTo>
                <a:cubicBezTo>
                  <a:pt x="68225" y="4610100"/>
                  <a:pt x="0" y="4541875"/>
                  <a:pt x="0" y="4457715"/>
                </a:cubicBezTo>
                <a:lnTo>
                  <a:pt x="0" y="152385"/>
                </a:lnTo>
                <a:cubicBezTo>
                  <a:pt x="0" y="68281"/>
                  <a:pt x="68281" y="0"/>
                  <a:pt x="15238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2" name="Shape 43"/>
          <p:cNvSpPr/>
          <p:nvPr/>
        </p:nvSpPr>
        <p:spPr>
          <a:xfrm>
            <a:off x="7810500" y="1943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63" name="Shape 44"/>
          <p:cNvSpPr/>
          <p:nvPr/>
        </p:nvSpPr>
        <p:spPr>
          <a:xfrm>
            <a:off x="7962900" y="2095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5" name="Text 45"/>
          <p:cNvSpPr/>
          <p:nvPr/>
        </p:nvSpPr>
        <p:spPr>
          <a:xfrm>
            <a:off x="8458200" y="1962150"/>
            <a:ext cx="12668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AI工作记忆</a:t>
            </a:r>
            <a:endParaRPr lang="en-US" sz="180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6" name="Text 46"/>
          <p:cNvSpPr/>
          <p:nvPr/>
        </p:nvSpPr>
        <p:spPr>
          <a:xfrm>
            <a:off x="8458200" y="2266950"/>
            <a:ext cx="1219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大模型的"短期记忆"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7" name="Shape 47"/>
          <p:cNvSpPr/>
          <p:nvPr/>
        </p:nvSpPr>
        <p:spPr>
          <a:xfrm>
            <a:off x="7810500" y="2638425"/>
            <a:ext cx="3810000" cy="1219200"/>
          </a:xfrm>
          <a:custGeom>
            <a:avLst/>
            <a:gdLst/>
            <a:ahLst/>
            <a:cxnLst/>
            <a:rect l="l" t="t" r="r" b="b"/>
            <a:pathLst>
              <a:path w="3810000" h="1219200">
                <a:moveTo>
                  <a:pt x="76200" y="0"/>
                </a:moveTo>
                <a:lnTo>
                  <a:pt x="3733800" y="0"/>
                </a:lnTo>
                <a:cubicBezTo>
                  <a:pt x="3775856" y="0"/>
                  <a:pt x="3810000" y="34144"/>
                  <a:pt x="3810000" y="76200"/>
                </a:cubicBezTo>
                <a:lnTo>
                  <a:pt x="3810000" y="1143000"/>
                </a:lnTo>
                <a:cubicBezTo>
                  <a:pt x="3810000" y="1185056"/>
                  <a:pt x="3775856" y="1219200"/>
                  <a:pt x="373380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68" name="Text 48"/>
          <p:cNvSpPr/>
          <p:nvPr/>
        </p:nvSpPr>
        <p:spPr>
          <a:xfrm>
            <a:off x="7962900" y="282892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记忆容量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0" name="Text 49"/>
          <p:cNvSpPr/>
          <p:nvPr/>
        </p:nvSpPr>
        <p:spPr>
          <a:xfrm>
            <a:off x="10361414" y="2790825"/>
            <a:ext cx="1219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128k-200k</a:t>
            </a:r>
            <a:endParaRPr lang="en-US" sz="180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1" name="Text 50"/>
          <p:cNvSpPr/>
          <p:nvPr/>
        </p:nvSpPr>
        <p:spPr>
          <a:xfrm>
            <a:off x="7962900" y="3171825"/>
            <a:ext cx="3571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tokens（约等于一本中篇小说的厚度）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2" name="Shape 51"/>
          <p:cNvSpPr/>
          <p:nvPr/>
        </p:nvSpPr>
        <p:spPr>
          <a:xfrm>
            <a:off x="7962900" y="3438525"/>
            <a:ext cx="3505200" cy="76200"/>
          </a:xfrm>
          <a:custGeom>
            <a:avLst/>
            <a:gdLst/>
            <a:ahLst/>
            <a:cxnLst/>
            <a:rect l="l" t="t" r="r" b="b"/>
            <a:pathLst>
              <a:path w="3505200" h="76200">
                <a:moveTo>
                  <a:pt x="38100" y="0"/>
                </a:moveTo>
                <a:lnTo>
                  <a:pt x="3467100" y="0"/>
                </a:lnTo>
                <a:cubicBezTo>
                  <a:pt x="3488128" y="0"/>
                  <a:pt x="3505200" y="17072"/>
                  <a:pt x="3505200" y="38100"/>
                </a:cubicBezTo>
                <a:lnTo>
                  <a:pt x="3505200" y="38100"/>
                </a:lnTo>
                <a:cubicBezTo>
                  <a:pt x="3505200" y="59128"/>
                  <a:pt x="3488128" y="76200"/>
                  <a:pt x="3467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E7EB"/>
          </a:solidFill>
        </p:spPr>
      </p:sp>
      <p:sp>
        <p:nvSpPr>
          <p:cNvPr id="73" name="Shape 52"/>
          <p:cNvSpPr/>
          <p:nvPr/>
        </p:nvSpPr>
        <p:spPr>
          <a:xfrm>
            <a:off x="7962900" y="3438525"/>
            <a:ext cx="523875" cy="76200"/>
          </a:xfrm>
          <a:custGeom>
            <a:avLst/>
            <a:gdLst/>
            <a:ahLst/>
            <a:cxnLst/>
            <a:rect l="l" t="t" r="r" b="b"/>
            <a:pathLst>
              <a:path w="523875" h="76200">
                <a:moveTo>
                  <a:pt x="38100" y="0"/>
                </a:moveTo>
                <a:lnTo>
                  <a:pt x="485775" y="0"/>
                </a:lnTo>
                <a:cubicBezTo>
                  <a:pt x="506803" y="0"/>
                  <a:pt x="523875" y="17072"/>
                  <a:pt x="523875" y="38100"/>
                </a:cubicBezTo>
                <a:lnTo>
                  <a:pt x="523875" y="38100"/>
                </a:lnTo>
                <a:cubicBezTo>
                  <a:pt x="523875" y="59128"/>
                  <a:pt x="506803" y="76200"/>
                  <a:pt x="4857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74" name="Text 53"/>
          <p:cNvSpPr/>
          <p:nvPr/>
        </p:nvSpPr>
        <p:spPr>
          <a:xfrm>
            <a:off x="7962900" y="3552825"/>
            <a:ext cx="35623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仅占宝马知识库的极小比例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5" name="Shape 54"/>
          <p:cNvSpPr/>
          <p:nvPr/>
        </p:nvSpPr>
        <p:spPr>
          <a:xfrm>
            <a:off x="7815263" y="4014788"/>
            <a:ext cx="3800475" cy="1000125"/>
          </a:xfrm>
          <a:custGeom>
            <a:avLst/>
            <a:gdLst/>
            <a:ahLst/>
            <a:cxnLst/>
            <a:rect l="l" t="t" r="r" b="b"/>
            <a:pathLst>
              <a:path w="3800475" h="1000125">
                <a:moveTo>
                  <a:pt x="76200" y="0"/>
                </a:moveTo>
                <a:lnTo>
                  <a:pt x="3724275" y="0"/>
                </a:lnTo>
                <a:cubicBezTo>
                  <a:pt x="3766359" y="0"/>
                  <a:pt x="3800475" y="34116"/>
                  <a:pt x="3800475" y="76200"/>
                </a:cubicBezTo>
                <a:lnTo>
                  <a:pt x="3800475" y="923925"/>
                </a:lnTo>
                <a:cubicBezTo>
                  <a:pt x="3800475" y="966009"/>
                  <a:pt x="3766359" y="1000125"/>
                  <a:pt x="372427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EF2F2"/>
          </a:solidFill>
          <a:ln w="12700">
            <a:solidFill>
              <a:srgbClr val="FFC9C9"/>
            </a:solidFill>
            <a:prstDash val="solid"/>
          </a:ln>
        </p:spPr>
      </p:sp>
      <p:sp>
        <p:nvSpPr>
          <p:cNvPr id="76" name="Shape 55"/>
          <p:cNvSpPr/>
          <p:nvPr/>
        </p:nvSpPr>
        <p:spPr>
          <a:xfrm>
            <a:off x="7991475" y="4210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C10007"/>
          </a:solidFill>
        </p:spPr>
      </p:sp>
      <p:sp>
        <p:nvSpPr>
          <p:cNvPr id="77" name="Text 56"/>
          <p:cNvSpPr/>
          <p:nvPr/>
        </p:nvSpPr>
        <p:spPr>
          <a:xfrm>
            <a:off x="8220075" y="4171950"/>
            <a:ext cx="3314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1000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核心矛盾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8" name="Text 57"/>
          <p:cNvSpPr/>
          <p:nvPr/>
        </p:nvSpPr>
        <p:spPr>
          <a:xfrm>
            <a:off x="7972425" y="4476750"/>
            <a:ext cx="35528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每一条返款政策、每一个技术参数都是宝藏，但AI无法把它们全部装进"工作记忆"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9" name="Shape 58"/>
          <p:cNvSpPr/>
          <p:nvPr/>
        </p:nvSpPr>
        <p:spPr>
          <a:xfrm>
            <a:off x="7810500" y="5172075"/>
            <a:ext cx="3810000" cy="990600"/>
          </a:xfrm>
          <a:custGeom>
            <a:avLst/>
            <a:gdLst/>
            <a:ahLst/>
            <a:cxnLst/>
            <a:rect l="l" t="t" r="r" b="b"/>
            <a:pathLst>
              <a:path w="3810000" h="990600">
                <a:moveTo>
                  <a:pt x="76197" y="0"/>
                </a:moveTo>
                <a:lnTo>
                  <a:pt x="3733803" y="0"/>
                </a:lnTo>
                <a:cubicBezTo>
                  <a:pt x="3775885" y="0"/>
                  <a:pt x="3810000" y="34115"/>
                  <a:pt x="3810000" y="76197"/>
                </a:cubicBezTo>
                <a:lnTo>
                  <a:pt x="3810000" y="914403"/>
                </a:lnTo>
                <a:cubicBezTo>
                  <a:pt x="3810000" y="956485"/>
                  <a:pt x="3775885" y="990600"/>
                  <a:pt x="37338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535C"/>
          </a:solidFill>
        </p:spPr>
      </p:sp>
      <p:sp>
        <p:nvSpPr>
          <p:cNvPr id="80" name="Shape 59"/>
          <p:cNvSpPr/>
          <p:nvPr/>
        </p:nvSpPr>
        <p:spPr>
          <a:xfrm>
            <a:off x="8001000" y="53625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81" name="Text 60"/>
          <p:cNvSpPr/>
          <p:nvPr/>
        </p:nvSpPr>
        <p:spPr>
          <a:xfrm>
            <a:off x="8210550" y="5324475"/>
            <a:ext cx="3333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解决方向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82" name="Text 61"/>
          <p:cNvSpPr/>
          <p:nvPr/>
        </p:nvSpPr>
        <p:spPr>
          <a:xfrm>
            <a:off x="7962900" y="5629275"/>
            <a:ext cx="35718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知识库的本质，不是让AI记住所有内容，而是为AI建立一本高精度的"语义索引"，需要时按图索骥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84" name="Shape 63"/>
          <p:cNvSpPr/>
          <p:nvPr/>
        </p:nvSpPr>
        <p:spPr>
          <a:xfrm>
            <a:off x="5924550" y="24765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1431" y="42863"/>
                </a:moveTo>
                <a:cubicBezTo>
                  <a:pt x="12792" y="42863"/>
                  <a:pt x="4956" y="48086"/>
                  <a:pt x="1607" y="56123"/>
                </a:cubicBezTo>
                <a:cubicBezTo>
                  <a:pt x="-1741" y="64160"/>
                  <a:pt x="134" y="73335"/>
                  <a:pt x="6295" y="79430"/>
                </a:cubicBezTo>
                <a:lnTo>
                  <a:pt x="128588" y="201789"/>
                </a:lnTo>
                <a:lnTo>
                  <a:pt x="128588" y="278606"/>
                </a:lnTo>
                <a:cubicBezTo>
                  <a:pt x="128588" y="284299"/>
                  <a:pt x="130865" y="289724"/>
                  <a:pt x="134883" y="293742"/>
                </a:cubicBezTo>
                <a:lnTo>
                  <a:pt x="177745" y="336605"/>
                </a:lnTo>
                <a:cubicBezTo>
                  <a:pt x="183907" y="342766"/>
                  <a:pt x="193082" y="344574"/>
                  <a:pt x="201119" y="341226"/>
                </a:cubicBezTo>
                <a:cubicBezTo>
                  <a:pt x="209156" y="337877"/>
                  <a:pt x="214313" y="330108"/>
                  <a:pt x="214313" y="321469"/>
                </a:cubicBezTo>
                <a:lnTo>
                  <a:pt x="214313" y="201789"/>
                </a:lnTo>
                <a:lnTo>
                  <a:pt x="336605" y="79497"/>
                </a:lnTo>
                <a:cubicBezTo>
                  <a:pt x="342766" y="73335"/>
                  <a:pt x="344574" y="64160"/>
                  <a:pt x="341226" y="56123"/>
                </a:cubicBezTo>
                <a:cubicBezTo>
                  <a:pt x="337877" y="48086"/>
                  <a:pt x="330108" y="42863"/>
                  <a:pt x="321469" y="42863"/>
                </a:cubicBezTo>
                <a:lnTo>
                  <a:pt x="21431" y="42863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5" name="Text 64"/>
          <p:cNvSpPr/>
          <p:nvPr/>
        </p:nvSpPr>
        <p:spPr>
          <a:xfrm>
            <a:off x="5667375" y="289560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记忆漏斗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86" name="Shape 65"/>
          <p:cNvSpPr/>
          <p:nvPr/>
        </p:nvSpPr>
        <p:spPr>
          <a:xfrm>
            <a:off x="5505450" y="4586605"/>
            <a:ext cx="1181100" cy="1181100"/>
          </a:xfrm>
          <a:custGeom>
            <a:avLst/>
            <a:gdLst/>
            <a:ahLst/>
            <a:cxnLst/>
            <a:rect l="l" t="t" r="r" b="b"/>
            <a:pathLst>
              <a:path w="1181100" h="1181100">
                <a:moveTo>
                  <a:pt x="590550" y="0"/>
                </a:moveTo>
                <a:lnTo>
                  <a:pt x="590550" y="0"/>
                </a:lnTo>
                <a:cubicBezTo>
                  <a:pt x="916483" y="0"/>
                  <a:pt x="1181100" y="264617"/>
                  <a:pt x="1181100" y="590550"/>
                </a:cubicBezTo>
                <a:lnTo>
                  <a:pt x="1181100" y="590550"/>
                </a:lnTo>
                <a:cubicBezTo>
                  <a:pt x="1181100" y="916483"/>
                  <a:pt x="916483" y="1181100"/>
                  <a:pt x="590550" y="1181100"/>
                </a:cubicBezTo>
                <a:lnTo>
                  <a:pt x="590550" y="1181100"/>
                </a:lnTo>
                <a:cubicBezTo>
                  <a:pt x="264617" y="1181100"/>
                  <a:pt x="0" y="916483"/>
                  <a:pt x="0" y="590550"/>
                </a:cubicBezTo>
                <a:lnTo>
                  <a:pt x="0" y="590550"/>
                </a:lnTo>
                <a:cubicBezTo>
                  <a:pt x="0" y="264617"/>
                  <a:pt x="264617" y="0"/>
                  <a:pt x="590550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chemeClr val="accent1"/>
            </a:solidFill>
            <a:prstDash val="solid"/>
          </a:ln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87" name="Shape 66"/>
          <p:cNvSpPr/>
          <p:nvPr/>
        </p:nvSpPr>
        <p:spPr>
          <a:xfrm>
            <a:off x="5973217" y="4867593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267891"/>
                </a:moveTo>
                <a:cubicBezTo>
                  <a:pt x="16018" y="267891"/>
                  <a:pt x="0" y="251873"/>
                  <a:pt x="0" y="232172"/>
                </a:cubicBezTo>
                <a:lnTo>
                  <a:pt x="0" y="53578"/>
                </a:lnTo>
                <a:cubicBezTo>
                  <a:pt x="0" y="33877"/>
                  <a:pt x="16018" y="17859"/>
                  <a:pt x="35719" y="17859"/>
                </a:cubicBezTo>
                <a:lnTo>
                  <a:pt x="214313" y="17859"/>
                </a:lnTo>
                <a:cubicBezTo>
                  <a:pt x="234014" y="17859"/>
                  <a:pt x="250031" y="33877"/>
                  <a:pt x="250031" y="53578"/>
                </a:cubicBezTo>
                <a:lnTo>
                  <a:pt x="250031" y="172734"/>
                </a:lnTo>
                <a:cubicBezTo>
                  <a:pt x="250031" y="182221"/>
                  <a:pt x="246292" y="191319"/>
                  <a:pt x="239595" y="198016"/>
                </a:cubicBezTo>
                <a:lnTo>
                  <a:pt x="180101" y="257454"/>
                </a:lnTo>
                <a:cubicBezTo>
                  <a:pt x="173403" y="264151"/>
                  <a:pt x="164306" y="267891"/>
                  <a:pt x="154818" y="267891"/>
                </a:cubicBezTo>
                <a:lnTo>
                  <a:pt x="35719" y="267891"/>
                </a:lnTo>
                <a:close/>
                <a:moveTo>
                  <a:pt x="217382" y="169664"/>
                </a:moveTo>
                <a:lnTo>
                  <a:pt x="165199" y="169664"/>
                </a:lnTo>
                <a:cubicBezTo>
                  <a:pt x="157776" y="169664"/>
                  <a:pt x="151805" y="175636"/>
                  <a:pt x="151805" y="183059"/>
                </a:cubicBezTo>
                <a:lnTo>
                  <a:pt x="151805" y="235241"/>
                </a:lnTo>
                <a:lnTo>
                  <a:pt x="217382" y="169664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88" name="Text 67"/>
          <p:cNvSpPr/>
          <p:nvPr/>
        </p:nvSpPr>
        <p:spPr>
          <a:xfrm>
            <a:off x="5678835" y="5191443"/>
            <a:ext cx="8382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AI工作记忆</a:t>
            </a:r>
            <a:endParaRPr lang="en-US" sz="90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9" name="Text 68"/>
          <p:cNvSpPr/>
          <p:nvPr/>
        </p:nvSpPr>
        <p:spPr>
          <a:xfrm>
            <a:off x="5683597" y="5343843"/>
            <a:ext cx="828675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75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128k-200k tokens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90" name="右箭头 89"/>
          <p:cNvSpPr/>
          <p:nvPr/>
        </p:nvSpPr>
        <p:spPr>
          <a:xfrm>
            <a:off x="5505450" y="3552825"/>
            <a:ext cx="1430655" cy="657225"/>
          </a:xfrm>
          <a:prstGeom prst="rightArrow">
            <a:avLst/>
          </a:prstGeom>
          <a:solidFill>
            <a:schemeClr val="bg1"/>
          </a:solidFill>
          <a:ln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7146290" cy="720090"/>
          </a:xfrm>
        </p:spPr>
        <p:txBody>
          <a:bodyPr vert="horz" wrap="square" lIns="0" tIns="0" rIns="0" bIns="0" rtlCol="0" anchor="b">
            <a:normAutofit fontScale="90000"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知识库：为宝马知识资产打造的"语义GPS"</a:t>
            </a:r>
            <a:endParaRPr lang="zh-CN" altLang="en-US">
              <a:sym typeface="+mn-ea"/>
            </a:endParaRPr>
          </a:p>
        </p:txBody>
      </p:sp>
      <p:sp>
        <p:nvSpPr>
          <p:cNvPr id="16" name="Text 2"/>
          <p:cNvSpPr/>
          <p:nvPr/>
        </p:nvSpPr>
        <p:spPr>
          <a:xfrm>
            <a:off x="695960" y="1080135"/>
            <a:ext cx="11287125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altLang="zh-CN" dirty="0"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将非结构化文档转化为AI能理解的数学表示</a:t>
            </a:r>
            <a:endParaRPr lang="en-US" altLang="zh-CN" dirty="0">
              <a:latin typeface="BMWGroupTN Condensed TT Light" charset="0"/>
              <a:ea typeface="BMWGroupTN Condensed TT Light" charset="0"/>
              <a:cs typeface="BMWGroupTN Condensed TT Light" charset="0"/>
              <a:sym typeface="+mn-ea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533400" y="191389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1D5DC"/>
          </a:solidFill>
        </p:spPr>
      </p:sp>
      <p:sp>
        <p:nvSpPr>
          <p:cNvPr id="20" name="Shape 6"/>
          <p:cNvSpPr/>
          <p:nvPr/>
        </p:nvSpPr>
        <p:spPr>
          <a:xfrm>
            <a:off x="666750" y="204724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66688"/>
                </a:move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53578"/>
                </a:lnTo>
                <a:cubicBezTo>
                  <a:pt x="190500" y="40444"/>
                  <a:pt x="179822" y="29766"/>
                  <a:pt x="166688" y="29766"/>
                </a:cubicBezTo>
                <a:lnTo>
                  <a:pt x="111137" y="29766"/>
                </a:lnTo>
                <a:cubicBezTo>
                  <a:pt x="108570" y="29766"/>
                  <a:pt x="106040" y="28947"/>
                  <a:pt x="103994" y="27384"/>
                </a:cubicBezTo>
                <a:lnTo>
                  <a:pt x="89706" y="16669"/>
                </a:lnTo>
                <a:cubicBezTo>
                  <a:pt x="85576" y="13581"/>
                  <a:pt x="80553" y="11906"/>
                  <a:pt x="75419" y="11906"/>
                </a:cubicBezTo>
                <a:lnTo>
                  <a:pt x="23812" y="11906"/>
                </a:lnTo>
                <a:cubicBezTo>
                  <a:pt x="10678" y="11906"/>
                  <a:pt x="0" y="22585"/>
                  <a:pt x="0" y="35719"/>
                </a:cubicBez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Text 7"/>
          <p:cNvSpPr/>
          <p:nvPr/>
        </p:nvSpPr>
        <p:spPr>
          <a:xfrm>
            <a:off x="1104900" y="1913890"/>
            <a:ext cx="1276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知识库 ≠ 网盘</a:t>
            </a:r>
            <a:endParaRPr lang="en-US" sz="1500" b="1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2" name="Text 8"/>
          <p:cNvSpPr/>
          <p:nvPr/>
        </p:nvSpPr>
        <p:spPr>
          <a:xfrm>
            <a:off x="1104900" y="2180590"/>
            <a:ext cx="1247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不仅仅是存储文件</a:t>
            </a:r>
            <a:endParaRPr lang="en-US" sz="105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3" name="Shape 9"/>
          <p:cNvSpPr/>
          <p:nvPr/>
        </p:nvSpPr>
        <p:spPr>
          <a:xfrm>
            <a:off x="533400" y="2485390"/>
            <a:ext cx="3400425" cy="609600"/>
          </a:xfrm>
          <a:custGeom>
            <a:avLst/>
            <a:gdLst/>
            <a:ahLst/>
            <a:cxnLst/>
            <a:rect l="l" t="t" r="r" b="b"/>
            <a:pathLst>
              <a:path w="3400425" h="609600">
                <a:moveTo>
                  <a:pt x="76200" y="0"/>
                </a:moveTo>
                <a:lnTo>
                  <a:pt x="3324225" y="0"/>
                </a:lnTo>
                <a:cubicBezTo>
                  <a:pt x="3366281" y="0"/>
                  <a:pt x="3400425" y="34144"/>
                  <a:pt x="3400425" y="76200"/>
                </a:cubicBezTo>
                <a:lnTo>
                  <a:pt x="3400425" y="533400"/>
                </a:lnTo>
                <a:cubicBezTo>
                  <a:pt x="3400425" y="575456"/>
                  <a:pt x="3366281" y="609600"/>
                  <a:pt x="33242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Text 10"/>
          <p:cNvSpPr/>
          <p:nvPr/>
        </p:nvSpPr>
        <p:spPr>
          <a:xfrm>
            <a:off x="647700" y="259969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>
                    <a:lumMod val="85000"/>
                  </a:scheme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传统网盘只能按文件名、文件夹结构查找，无法理解文档内容</a:t>
            </a:r>
            <a:endParaRPr lang="en-US" sz="1050" dirty="0">
              <a:solidFill>
                <a:schemeClr val="tx1">
                  <a:lumMod val="85000"/>
                </a:schemeClr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3" name="Shape 13"/>
          <p:cNvSpPr/>
          <p:nvPr/>
        </p:nvSpPr>
        <p:spPr>
          <a:xfrm>
            <a:off x="4394150" y="191389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1D5DC"/>
          </a:solidFill>
        </p:spPr>
      </p:sp>
      <p:sp>
        <p:nvSpPr>
          <p:cNvPr id="34" name="Shape 14"/>
          <p:cNvSpPr/>
          <p:nvPr/>
        </p:nvSpPr>
        <p:spPr>
          <a:xfrm>
            <a:off x="4539407" y="204724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59531"/>
                </a:moveTo>
                <a:lnTo>
                  <a:pt x="95250" y="95250"/>
                </a:lnTo>
                <a:lnTo>
                  <a:pt x="142875" y="95250"/>
                </a:lnTo>
                <a:lnTo>
                  <a:pt x="142875" y="59531"/>
                </a:lnTo>
                <a:lnTo>
                  <a:pt x="95250" y="59531"/>
                </a:lnTo>
                <a:close/>
                <a:moveTo>
                  <a:pt x="71438" y="59531"/>
                </a:moveTo>
                <a:lnTo>
                  <a:pt x="23812" y="59531"/>
                </a:lnTo>
                <a:lnTo>
                  <a:pt x="23812" y="95250"/>
                </a:lnTo>
                <a:lnTo>
                  <a:pt x="71438" y="95250"/>
                </a:lnTo>
                <a:lnTo>
                  <a:pt x="71438" y="59531"/>
                </a:lnTo>
                <a:close/>
                <a:moveTo>
                  <a:pt x="0" y="119063"/>
                </a:move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19063"/>
                </a:lnTo>
                <a:close/>
                <a:moveTo>
                  <a:pt x="142875" y="119063"/>
                </a:moveTo>
                <a:lnTo>
                  <a:pt x="95250" y="119063"/>
                </a:lnTo>
                <a:lnTo>
                  <a:pt x="95250" y="154781"/>
                </a:lnTo>
                <a:lnTo>
                  <a:pt x="142875" y="154781"/>
                </a:lnTo>
                <a:lnTo>
                  <a:pt x="142875" y="119063"/>
                </a:lnTo>
                <a:close/>
                <a:moveTo>
                  <a:pt x="71438" y="154781"/>
                </a:moveTo>
                <a:lnTo>
                  <a:pt x="71438" y="119063"/>
                </a:lnTo>
                <a:lnTo>
                  <a:pt x="23812" y="119063"/>
                </a:lnTo>
                <a:lnTo>
                  <a:pt x="23812" y="154781"/>
                </a:lnTo>
                <a:lnTo>
                  <a:pt x="71438" y="154781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5" name="Text 15"/>
          <p:cNvSpPr/>
          <p:nvPr/>
        </p:nvSpPr>
        <p:spPr>
          <a:xfrm>
            <a:off x="4965650" y="1913890"/>
            <a:ext cx="1562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知识库 ≠ 数据库</a:t>
            </a:r>
            <a:endParaRPr lang="en-US" sz="1500" b="1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4965650" y="2180590"/>
            <a:ext cx="1533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不仅仅是存储结构化字段</a:t>
            </a:r>
            <a:endParaRPr lang="en-US" sz="105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7" name="Shape 17"/>
          <p:cNvSpPr/>
          <p:nvPr/>
        </p:nvSpPr>
        <p:spPr>
          <a:xfrm>
            <a:off x="4394150" y="2485390"/>
            <a:ext cx="3400425" cy="609600"/>
          </a:xfrm>
          <a:custGeom>
            <a:avLst/>
            <a:gdLst/>
            <a:ahLst/>
            <a:cxnLst/>
            <a:rect l="l" t="t" r="r" b="b"/>
            <a:pathLst>
              <a:path w="3400425" h="609600">
                <a:moveTo>
                  <a:pt x="76200" y="0"/>
                </a:moveTo>
                <a:lnTo>
                  <a:pt x="3324225" y="0"/>
                </a:lnTo>
                <a:cubicBezTo>
                  <a:pt x="3366281" y="0"/>
                  <a:pt x="3400425" y="34144"/>
                  <a:pt x="3400425" y="76200"/>
                </a:cubicBezTo>
                <a:lnTo>
                  <a:pt x="3400425" y="533400"/>
                </a:lnTo>
                <a:cubicBezTo>
                  <a:pt x="3400425" y="575456"/>
                  <a:pt x="3366281" y="609600"/>
                  <a:pt x="33242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Text 18"/>
          <p:cNvSpPr/>
          <p:nvPr/>
        </p:nvSpPr>
        <p:spPr>
          <a:xfrm>
            <a:off x="4508450" y="259969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>
                    <a:lumMod val="85000"/>
                  </a:scheme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传统数据库适合存储表格数据，无法处理PDF、Word等非结构化文档</a:t>
            </a:r>
            <a:endParaRPr lang="en-US" sz="1050" dirty="0">
              <a:solidFill>
                <a:schemeClr val="tx1">
                  <a:lumMod val="85000"/>
                </a:schemeClr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1" name="Shape 21"/>
          <p:cNvSpPr/>
          <p:nvPr/>
        </p:nvSpPr>
        <p:spPr>
          <a:xfrm>
            <a:off x="8255050" y="191389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42" name="Shape 22"/>
          <p:cNvSpPr/>
          <p:nvPr/>
        </p:nvSpPr>
        <p:spPr>
          <a:xfrm>
            <a:off x="8376493" y="204724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1A535C"/>
          </a:solidFill>
        </p:spPr>
      </p:sp>
      <p:sp>
        <p:nvSpPr>
          <p:cNvPr id="43" name="Text 23"/>
          <p:cNvSpPr/>
          <p:nvPr/>
        </p:nvSpPr>
        <p:spPr>
          <a:xfrm>
            <a:off x="8826550" y="1913890"/>
            <a:ext cx="1847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知识库 = 语义理解层</a:t>
            </a:r>
            <a:endParaRPr lang="en-US" sz="150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4" name="Text 24"/>
          <p:cNvSpPr/>
          <p:nvPr/>
        </p:nvSpPr>
        <p:spPr>
          <a:xfrm>
            <a:off x="8826550" y="2180590"/>
            <a:ext cx="1819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将文档转化为向量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5" name="Shape 25"/>
          <p:cNvSpPr/>
          <p:nvPr/>
        </p:nvSpPr>
        <p:spPr>
          <a:xfrm>
            <a:off x="8255000" y="2485390"/>
            <a:ext cx="3400425" cy="610235"/>
          </a:xfrm>
          <a:custGeom>
            <a:avLst/>
            <a:gdLst/>
            <a:ahLst/>
            <a:cxnLst/>
            <a:rect l="l" t="t" r="r" b="b"/>
            <a:pathLst>
              <a:path w="3400425" h="419100">
                <a:moveTo>
                  <a:pt x="76201" y="0"/>
                </a:moveTo>
                <a:lnTo>
                  <a:pt x="3324224" y="0"/>
                </a:lnTo>
                <a:cubicBezTo>
                  <a:pt x="3366309" y="0"/>
                  <a:pt x="3400425" y="34116"/>
                  <a:pt x="3400425" y="76201"/>
                </a:cubicBezTo>
                <a:lnTo>
                  <a:pt x="3400425" y="342899"/>
                </a:lnTo>
                <a:cubicBezTo>
                  <a:pt x="3400425" y="384984"/>
                  <a:pt x="3366309" y="419100"/>
                  <a:pt x="33242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chemeClr val="accent2">
              <a:alpha val="39000"/>
            </a:schemeClr>
          </a:solidFill>
        </p:spPr>
      </p:sp>
      <p:sp>
        <p:nvSpPr>
          <p:cNvPr id="46" name="Text 26"/>
          <p:cNvSpPr/>
          <p:nvPr/>
        </p:nvSpPr>
        <p:spPr>
          <a:xfrm>
            <a:off x="8369350" y="2599690"/>
            <a:ext cx="3238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实现"问意思"而非"匹配关键词"，AI真正理解文档内容</a:t>
            </a:r>
            <a:endParaRPr lang="en-US" sz="105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8" name="Shape 28"/>
          <p:cNvSpPr/>
          <p:nvPr/>
        </p:nvSpPr>
        <p:spPr>
          <a:xfrm>
            <a:off x="561975" y="359029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49" name="Text 29"/>
          <p:cNvSpPr/>
          <p:nvPr/>
        </p:nvSpPr>
        <p:spPr>
          <a:xfrm>
            <a:off x="819150" y="3552190"/>
            <a:ext cx="109537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知识库主流分类</a:t>
            </a:r>
            <a:endParaRPr lang="en-US" sz="180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0" name="Shape 30"/>
          <p:cNvSpPr/>
          <p:nvPr/>
        </p:nvSpPr>
        <p:spPr>
          <a:xfrm>
            <a:off x="533400" y="3971290"/>
            <a:ext cx="3609975" cy="2019300"/>
          </a:xfrm>
          <a:custGeom>
            <a:avLst/>
            <a:gdLst/>
            <a:ahLst/>
            <a:cxnLst/>
            <a:rect l="l" t="t" r="r" b="b"/>
            <a:pathLst>
              <a:path w="3609975" h="2019300">
                <a:moveTo>
                  <a:pt x="114292" y="0"/>
                </a:moveTo>
                <a:lnTo>
                  <a:pt x="3495683" y="0"/>
                </a:lnTo>
                <a:cubicBezTo>
                  <a:pt x="3558805" y="0"/>
                  <a:pt x="3609975" y="51170"/>
                  <a:pt x="3609975" y="114292"/>
                </a:cubicBezTo>
                <a:lnTo>
                  <a:pt x="3609975" y="1905008"/>
                </a:lnTo>
                <a:cubicBezTo>
                  <a:pt x="3609975" y="1968130"/>
                  <a:pt x="3558805" y="2019300"/>
                  <a:pt x="3495683" y="2019300"/>
                </a:cubicBezTo>
                <a:lnTo>
                  <a:pt x="114292" y="2019300"/>
                </a:lnTo>
                <a:cubicBezTo>
                  <a:pt x="51170" y="2019300"/>
                  <a:pt x="0" y="1968130"/>
                  <a:pt x="0" y="1905008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61" name="Shape 31"/>
          <p:cNvSpPr/>
          <p:nvPr/>
        </p:nvSpPr>
        <p:spPr>
          <a:xfrm>
            <a:off x="647700" y="40855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A535C"/>
          </a:solidFill>
        </p:spPr>
      </p:sp>
      <p:sp>
        <p:nvSpPr>
          <p:cNvPr id="62" name="Shape 32"/>
          <p:cNvSpPr/>
          <p:nvPr/>
        </p:nvSpPr>
        <p:spPr>
          <a:xfrm>
            <a:off x="762000" y="419989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3" name="Text 33"/>
          <p:cNvSpPr/>
          <p:nvPr/>
        </p:nvSpPr>
        <p:spPr>
          <a:xfrm>
            <a:off x="1104900" y="4142740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53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按知识形式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4" name="Shape 34"/>
          <p:cNvSpPr/>
          <p:nvPr/>
        </p:nvSpPr>
        <p:spPr>
          <a:xfrm>
            <a:off x="666750" y="4580890"/>
            <a:ext cx="3362325" cy="609600"/>
          </a:xfrm>
          <a:custGeom>
            <a:avLst/>
            <a:gdLst/>
            <a:ahLst/>
            <a:cxnLst/>
            <a:rect l="l" t="t" r="r" b="b"/>
            <a:pathLst>
              <a:path w="3362325" h="609600">
                <a:moveTo>
                  <a:pt x="38100" y="0"/>
                </a:moveTo>
                <a:lnTo>
                  <a:pt x="3286125" y="0"/>
                </a:lnTo>
                <a:cubicBezTo>
                  <a:pt x="3328181" y="0"/>
                  <a:pt x="3362325" y="34144"/>
                  <a:pt x="3362325" y="76200"/>
                </a:cubicBezTo>
                <a:lnTo>
                  <a:pt x="3362325" y="533400"/>
                </a:lnTo>
                <a:cubicBezTo>
                  <a:pt x="3362325" y="575456"/>
                  <a:pt x="3328181" y="609600"/>
                  <a:pt x="32861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5" name="Shape 35"/>
          <p:cNvSpPr/>
          <p:nvPr/>
        </p:nvSpPr>
        <p:spPr>
          <a:xfrm>
            <a:off x="666750" y="458089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535C"/>
          </a:solidFill>
        </p:spPr>
      </p:sp>
      <p:sp>
        <p:nvSpPr>
          <p:cNvPr id="66" name="Text 36"/>
          <p:cNvSpPr/>
          <p:nvPr/>
        </p:nvSpPr>
        <p:spPr>
          <a:xfrm>
            <a:off x="800100" y="4695190"/>
            <a:ext cx="3181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53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非结构化知识库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7" name="Text 37"/>
          <p:cNvSpPr/>
          <p:nvPr/>
        </p:nvSpPr>
        <p:spPr>
          <a:xfrm>
            <a:off x="800100" y="4923790"/>
            <a:ext cx="3171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产品培训PPT、技术通告PDF、法务合规Word、会议纪要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8" name="Shape 38"/>
          <p:cNvSpPr/>
          <p:nvPr/>
        </p:nvSpPr>
        <p:spPr>
          <a:xfrm>
            <a:off x="666750" y="5266690"/>
            <a:ext cx="3362325" cy="609600"/>
          </a:xfrm>
          <a:custGeom>
            <a:avLst/>
            <a:gdLst/>
            <a:ahLst/>
            <a:cxnLst/>
            <a:rect l="l" t="t" r="r" b="b"/>
            <a:pathLst>
              <a:path w="3362325" h="609600">
                <a:moveTo>
                  <a:pt x="38100" y="0"/>
                </a:moveTo>
                <a:lnTo>
                  <a:pt x="3286125" y="0"/>
                </a:lnTo>
                <a:cubicBezTo>
                  <a:pt x="3328181" y="0"/>
                  <a:pt x="3362325" y="34144"/>
                  <a:pt x="3362325" y="76200"/>
                </a:cubicBezTo>
                <a:lnTo>
                  <a:pt x="3362325" y="533400"/>
                </a:lnTo>
                <a:cubicBezTo>
                  <a:pt x="3362325" y="575456"/>
                  <a:pt x="3328181" y="609600"/>
                  <a:pt x="32861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9" name="Shape 39"/>
          <p:cNvSpPr/>
          <p:nvPr/>
        </p:nvSpPr>
        <p:spPr>
          <a:xfrm>
            <a:off x="666750" y="526669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70" name="Text 40"/>
          <p:cNvSpPr/>
          <p:nvPr/>
        </p:nvSpPr>
        <p:spPr>
          <a:xfrm>
            <a:off x="800100" y="5380990"/>
            <a:ext cx="3181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53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结构化知识库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1" name="Text 41"/>
          <p:cNvSpPr/>
          <p:nvPr/>
        </p:nvSpPr>
        <p:spPr>
          <a:xfrm>
            <a:off x="800100" y="5609590"/>
            <a:ext cx="3171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返利政策参数表、经销商评级标准、合规条款清单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2" name="Shape 42"/>
          <p:cNvSpPr/>
          <p:nvPr/>
        </p:nvSpPr>
        <p:spPr>
          <a:xfrm>
            <a:off x="4292501" y="3971290"/>
            <a:ext cx="3609975" cy="2019300"/>
          </a:xfrm>
          <a:custGeom>
            <a:avLst/>
            <a:gdLst/>
            <a:ahLst/>
            <a:cxnLst/>
            <a:rect l="l" t="t" r="r" b="b"/>
            <a:pathLst>
              <a:path w="3609975" h="2019300">
                <a:moveTo>
                  <a:pt x="114292" y="0"/>
                </a:moveTo>
                <a:lnTo>
                  <a:pt x="3495683" y="0"/>
                </a:lnTo>
                <a:cubicBezTo>
                  <a:pt x="3558805" y="0"/>
                  <a:pt x="3609975" y="51170"/>
                  <a:pt x="3609975" y="114292"/>
                </a:cubicBezTo>
                <a:lnTo>
                  <a:pt x="3609975" y="1905008"/>
                </a:lnTo>
                <a:cubicBezTo>
                  <a:pt x="3609975" y="1968130"/>
                  <a:pt x="3558805" y="2019300"/>
                  <a:pt x="3495683" y="2019300"/>
                </a:cubicBezTo>
                <a:lnTo>
                  <a:pt x="114292" y="2019300"/>
                </a:lnTo>
                <a:cubicBezTo>
                  <a:pt x="51170" y="2019300"/>
                  <a:pt x="0" y="1968130"/>
                  <a:pt x="0" y="1905008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73" name="Shape 43"/>
          <p:cNvSpPr/>
          <p:nvPr/>
        </p:nvSpPr>
        <p:spPr>
          <a:xfrm>
            <a:off x="4406801" y="40855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74" name="Shape 44"/>
          <p:cNvSpPr/>
          <p:nvPr/>
        </p:nvSpPr>
        <p:spPr>
          <a:xfrm>
            <a:off x="4521101" y="419989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905" y="57150"/>
                </a:moveTo>
                <a:lnTo>
                  <a:pt x="145256" y="57150"/>
                </a:lnTo>
                <a:cubicBezTo>
                  <a:pt x="149215" y="57150"/>
                  <a:pt x="152400" y="53965"/>
                  <a:pt x="152400" y="50006"/>
                </a:cubicBezTo>
                <a:lnTo>
                  <a:pt x="152400" y="7144"/>
                </a:lnTo>
                <a:cubicBezTo>
                  <a:pt x="152400" y="4256"/>
                  <a:pt x="150674" y="1637"/>
                  <a:pt x="147995" y="536"/>
                </a:cubicBezTo>
                <a:cubicBezTo>
                  <a:pt x="145316" y="-566"/>
                  <a:pt x="142250" y="60"/>
                  <a:pt x="140196" y="2084"/>
                </a:cubicBezTo>
                <a:lnTo>
                  <a:pt x="124807" y="17502"/>
                </a:lnTo>
                <a:cubicBezTo>
                  <a:pt x="111621" y="6578"/>
                  <a:pt x="9465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ubicBezTo>
                  <a:pt x="23574" y="40332"/>
                  <a:pt x="47417" y="19050"/>
                  <a:pt x="76200" y="19050"/>
                </a:cubicBezTo>
                <a:cubicBezTo>
                  <a:pt x="89416" y="19050"/>
                  <a:pt x="101560" y="23515"/>
                  <a:pt x="111234" y="31046"/>
                </a:cubicBezTo>
                <a:lnTo>
                  <a:pt x="97334" y="44946"/>
                </a:lnTo>
                <a:cubicBezTo>
                  <a:pt x="95280" y="47000"/>
                  <a:pt x="94684" y="50066"/>
                  <a:pt x="95786" y="52745"/>
                </a:cubicBezTo>
                <a:cubicBezTo>
                  <a:pt x="96887" y="55424"/>
                  <a:pt x="99506" y="57150"/>
                  <a:pt x="102394" y="57150"/>
                </a:cubicBezTo>
                <a:lnTo>
                  <a:pt x="142905" y="57150"/>
                </a:lnTo>
                <a:close/>
                <a:moveTo>
                  <a:pt x="151656" y="87064"/>
                </a:moveTo>
                <a:cubicBezTo>
                  <a:pt x="152400" y="81855"/>
                  <a:pt x="148769" y="77033"/>
                  <a:pt x="143589" y="76289"/>
                </a:cubicBezTo>
                <a:cubicBezTo>
                  <a:pt x="138410" y="75545"/>
                  <a:pt x="133558" y="79177"/>
                  <a:pt x="132814" y="84356"/>
                </a:cubicBezTo>
                <a:cubicBezTo>
                  <a:pt x="128855" y="112038"/>
                  <a:pt x="105013" y="133320"/>
                  <a:pt x="76230" y="133320"/>
                </a:cubicBezTo>
                <a:cubicBezTo>
                  <a:pt x="63014" y="133320"/>
                  <a:pt x="50869" y="128855"/>
                  <a:pt x="41196" y="121325"/>
                </a:cubicBezTo>
                <a:lnTo>
                  <a:pt x="55066" y="107454"/>
                </a:lnTo>
                <a:cubicBezTo>
                  <a:pt x="57120" y="105400"/>
                  <a:pt x="57716" y="102334"/>
                  <a:pt x="56614" y="99655"/>
                </a:cubicBezTo>
                <a:cubicBezTo>
                  <a:pt x="55513" y="96976"/>
                  <a:pt x="52894" y="95250"/>
                  <a:pt x="50006" y="95250"/>
                </a:cubicBezTo>
                <a:lnTo>
                  <a:pt x="7144" y="95250"/>
                </a:lnTo>
                <a:cubicBezTo>
                  <a:pt x="3185" y="95250"/>
                  <a:pt x="0" y="98435"/>
                  <a:pt x="0" y="102394"/>
                </a:cubicBezTo>
                <a:lnTo>
                  <a:pt x="0" y="145256"/>
                </a:lnTo>
                <a:cubicBezTo>
                  <a:pt x="0" y="148144"/>
                  <a:pt x="1726" y="150763"/>
                  <a:pt x="4405" y="151864"/>
                </a:cubicBezTo>
                <a:cubicBezTo>
                  <a:pt x="7084" y="152966"/>
                  <a:pt x="10150" y="152340"/>
                  <a:pt x="12204" y="150316"/>
                </a:cubicBezTo>
                <a:lnTo>
                  <a:pt x="27622" y="134898"/>
                </a:lnTo>
                <a:cubicBezTo>
                  <a:pt x="40779" y="145822"/>
                  <a:pt x="5774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5" name="Text 45"/>
          <p:cNvSpPr/>
          <p:nvPr/>
        </p:nvSpPr>
        <p:spPr>
          <a:xfrm>
            <a:off x="4864001" y="4142740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53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按更新频率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6" name="Shape 46"/>
          <p:cNvSpPr/>
          <p:nvPr/>
        </p:nvSpPr>
        <p:spPr>
          <a:xfrm>
            <a:off x="4425851" y="4580890"/>
            <a:ext cx="3362325" cy="609600"/>
          </a:xfrm>
          <a:custGeom>
            <a:avLst/>
            <a:gdLst/>
            <a:ahLst/>
            <a:cxnLst/>
            <a:rect l="l" t="t" r="r" b="b"/>
            <a:pathLst>
              <a:path w="3362325" h="609600">
                <a:moveTo>
                  <a:pt x="38100" y="0"/>
                </a:moveTo>
                <a:lnTo>
                  <a:pt x="3286125" y="0"/>
                </a:lnTo>
                <a:cubicBezTo>
                  <a:pt x="3328181" y="0"/>
                  <a:pt x="3362325" y="34144"/>
                  <a:pt x="3362325" y="76200"/>
                </a:cubicBezTo>
                <a:lnTo>
                  <a:pt x="3362325" y="533400"/>
                </a:lnTo>
                <a:cubicBezTo>
                  <a:pt x="3362325" y="575456"/>
                  <a:pt x="3328181" y="609600"/>
                  <a:pt x="32861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7" name="Shape 47"/>
          <p:cNvSpPr/>
          <p:nvPr/>
        </p:nvSpPr>
        <p:spPr>
          <a:xfrm>
            <a:off x="4425851" y="458089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A83"/>
          </a:solidFill>
        </p:spPr>
      </p:sp>
      <p:sp>
        <p:nvSpPr>
          <p:cNvPr id="78" name="Text 48"/>
          <p:cNvSpPr/>
          <p:nvPr/>
        </p:nvSpPr>
        <p:spPr>
          <a:xfrm>
            <a:off x="4559201" y="4695190"/>
            <a:ext cx="3181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53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静态知识库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9" name="Text 49"/>
          <p:cNvSpPr/>
          <p:nvPr/>
        </p:nvSpPr>
        <p:spPr>
          <a:xfrm>
            <a:off x="4559201" y="4923790"/>
            <a:ext cx="3171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已发布车型的官方产品手册、集团数据隐私标准文档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80" name="Shape 50"/>
          <p:cNvSpPr/>
          <p:nvPr/>
        </p:nvSpPr>
        <p:spPr>
          <a:xfrm>
            <a:off x="4425851" y="5266690"/>
            <a:ext cx="3362325" cy="609600"/>
          </a:xfrm>
          <a:custGeom>
            <a:avLst/>
            <a:gdLst/>
            <a:ahLst/>
            <a:cxnLst/>
            <a:rect l="l" t="t" r="r" b="b"/>
            <a:pathLst>
              <a:path w="3362325" h="609600">
                <a:moveTo>
                  <a:pt x="38100" y="0"/>
                </a:moveTo>
                <a:lnTo>
                  <a:pt x="3286125" y="0"/>
                </a:lnTo>
                <a:cubicBezTo>
                  <a:pt x="3328181" y="0"/>
                  <a:pt x="3362325" y="34144"/>
                  <a:pt x="3362325" y="76200"/>
                </a:cubicBezTo>
                <a:lnTo>
                  <a:pt x="3362325" y="533400"/>
                </a:lnTo>
                <a:cubicBezTo>
                  <a:pt x="3362325" y="575456"/>
                  <a:pt x="3328181" y="609600"/>
                  <a:pt x="32861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1" name="Shape 51"/>
          <p:cNvSpPr/>
          <p:nvPr/>
        </p:nvSpPr>
        <p:spPr>
          <a:xfrm>
            <a:off x="4425851" y="526669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535C"/>
          </a:solidFill>
        </p:spPr>
      </p:sp>
      <p:sp>
        <p:nvSpPr>
          <p:cNvPr id="82" name="Text 52"/>
          <p:cNvSpPr/>
          <p:nvPr/>
        </p:nvSpPr>
        <p:spPr>
          <a:xfrm>
            <a:off x="4559201" y="5380990"/>
            <a:ext cx="3181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53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动态知识库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83" name="Text 53"/>
          <p:cNvSpPr/>
          <p:nvPr/>
        </p:nvSpPr>
        <p:spPr>
          <a:xfrm>
            <a:off x="4559201" y="5609590"/>
            <a:ext cx="3171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月度返款政策调整通告、最新法规解读、周度销售战报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84" name="Shape 54"/>
          <p:cNvSpPr/>
          <p:nvPr/>
        </p:nvSpPr>
        <p:spPr>
          <a:xfrm>
            <a:off x="8051750" y="3971290"/>
            <a:ext cx="3609975" cy="2019300"/>
          </a:xfrm>
          <a:custGeom>
            <a:avLst/>
            <a:gdLst/>
            <a:ahLst/>
            <a:cxnLst/>
            <a:rect l="l" t="t" r="r" b="b"/>
            <a:pathLst>
              <a:path w="3609975" h="2019300">
                <a:moveTo>
                  <a:pt x="114292" y="0"/>
                </a:moveTo>
                <a:lnTo>
                  <a:pt x="3495683" y="0"/>
                </a:lnTo>
                <a:cubicBezTo>
                  <a:pt x="3558805" y="0"/>
                  <a:pt x="3609975" y="51170"/>
                  <a:pt x="3609975" y="114292"/>
                </a:cubicBezTo>
                <a:lnTo>
                  <a:pt x="3609975" y="1905008"/>
                </a:lnTo>
                <a:cubicBezTo>
                  <a:pt x="3609975" y="1968130"/>
                  <a:pt x="3558805" y="2019300"/>
                  <a:pt x="3495683" y="2019300"/>
                </a:cubicBezTo>
                <a:lnTo>
                  <a:pt x="114292" y="2019300"/>
                </a:lnTo>
                <a:cubicBezTo>
                  <a:pt x="51170" y="2019300"/>
                  <a:pt x="0" y="1968130"/>
                  <a:pt x="0" y="1905008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85" name="Shape 55"/>
          <p:cNvSpPr/>
          <p:nvPr/>
        </p:nvSpPr>
        <p:spPr>
          <a:xfrm>
            <a:off x="8166050" y="40855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6B7A83"/>
          </a:solidFill>
        </p:spPr>
      </p:sp>
      <p:sp>
        <p:nvSpPr>
          <p:cNvPr id="86" name="Shape 56"/>
          <p:cNvSpPr/>
          <p:nvPr/>
        </p:nvSpPr>
        <p:spPr>
          <a:xfrm>
            <a:off x="8299400" y="419989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7" name="Text 57"/>
          <p:cNvSpPr/>
          <p:nvPr/>
        </p:nvSpPr>
        <p:spPr>
          <a:xfrm>
            <a:off x="8623250" y="4142740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53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按部门专属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88" name="Shape 58"/>
          <p:cNvSpPr/>
          <p:nvPr/>
        </p:nvSpPr>
        <p:spPr>
          <a:xfrm>
            <a:off x="8185100" y="4580890"/>
            <a:ext cx="3362325" cy="609600"/>
          </a:xfrm>
          <a:custGeom>
            <a:avLst/>
            <a:gdLst/>
            <a:ahLst/>
            <a:cxnLst/>
            <a:rect l="l" t="t" r="r" b="b"/>
            <a:pathLst>
              <a:path w="3362325" h="609600">
                <a:moveTo>
                  <a:pt x="38100" y="0"/>
                </a:moveTo>
                <a:lnTo>
                  <a:pt x="3286125" y="0"/>
                </a:lnTo>
                <a:cubicBezTo>
                  <a:pt x="3328181" y="0"/>
                  <a:pt x="3362325" y="34144"/>
                  <a:pt x="3362325" y="76200"/>
                </a:cubicBezTo>
                <a:lnTo>
                  <a:pt x="3362325" y="533400"/>
                </a:lnTo>
                <a:cubicBezTo>
                  <a:pt x="3362325" y="575456"/>
                  <a:pt x="3328181" y="609600"/>
                  <a:pt x="32861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9" name="Shape 59"/>
          <p:cNvSpPr/>
          <p:nvPr/>
        </p:nvSpPr>
        <p:spPr>
          <a:xfrm>
            <a:off x="8185100" y="458089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90" name="Text 60"/>
          <p:cNvSpPr/>
          <p:nvPr/>
        </p:nvSpPr>
        <p:spPr>
          <a:xfrm>
            <a:off x="8318450" y="4695190"/>
            <a:ext cx="3181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53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跨部门共享库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91" name="Text 61"/>
          <p:cNvSpPr/>
          <p:nvPr/>
        </p:nvSpPr>
        <p:spPr>
          <a:xfrm>
            <a:off x="8318450" y="4923790"/>
            <a:ext cx="3171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公司级别的品牌规范、合规红线文档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92" name="Shape 62"/>
          <p:cNvSpPr/>
          <p:nvPr/>
        </p:nvSpPr>
        <p:spPr>
          <a:xfrm>
            <a:off x="8185100" y="5266690"/>
            <a:ext cx="3362325" cy="609600"/>
          </a:xfrm>
          <a:custGeom>
            <a:avLst/>
            <a:gdLst/>
            <a:ahLst/>
            <a:cxnLst/>
            <a:rect l="l" t="t" r="r" b="b"/>
            <a:pathLst>
              <a:path w="3362325" h="609600">
                <a:moveTo>
                  <a:pt x="38100" y="0"/>
                </a:moveTo>
                <a:lnTo>
                  <a:pt x="3286125" y="0"/>
                </a:lnTo>
                <a:cubicBezTo>
                  <a:pt x="3328181" y="0"/>
                  <a:pt x="3362325" y="34144"/>
                  <a:pt x="3362325" y="76200"/>
                </a:cubicBezTo>
                <a:lnTo>
                  <a:pt x="3362325" y="533400"/>
                </a:lnTo>
                <a:cubicBezTo>
                  <a:pt x="3362325" y="575456"/>
                  <a:pt x="3328181" y="609600"/>
                  <a:pt x="32861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93" name="Shape 63"/>
          <p:cNvSpPr/>
          <p:nvPr/>
        </p:nvSpPr>
        <p:spPr>
          <a:xfrm>
            <a:off x="8185100" y="526669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535C"/>
          </a:solidFill>
        </p:spPr>
      </p:sp>
      <p:sp>
        <p:nvSpPr>
          <p:cNvPr id="94" name="Text 64"/>
          <p:cNvSpPr/>
          <p:nvPr/>
        </p:nvSpPr>
        <p:spPr>
          <a:xfrm>
            <a:off x="8318450" y="5380990"/>
            <a:ext cx="3181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53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部门专属库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95" name="Text 65"/>
          <p:cNvSpPr/>
          <p:nvPr/>
        </p:nvSpPr>
        <p:spPr>
          <a:xfrm>
            <a:off x="8318450" y="5609590"/>
            <a:ext cx="3171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销售话术库、财务政策库、法务案例库、研发规范库</a:t>
            </a:r>
            <a:endParaRPr lang="en-US" sz="1600" dirty="0"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7146290" cy="72009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RAG：让AI"带着宝马的资料来见你"</a:t>
            </a:r>
            <a:endParaRPr lang="zh-CN" altLang="en-US">
              <a:sym typeface="+mn-ea"/>
            </a:endParaRPr>
          </a:p>
        </p:txBody>
      </p:sp>
      <p:sp>
        <p:nvSpPr>
          <p:cNvPr id="16" name="Text 2"/>
          <p:cNvSpPr/>
          <p:nvPr/>
        </p:nvSpPr>
        <p:spPr>
          <a:xfrm>
            <a:off x="695960" y="992505"/>
            <a:ext cx="11250295" cy="22225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不靠AI的记忆，靠AI现场查阅宝马专属知识库</a:t>
            </a:r>
            <a:endParaRPr lang="en-US" altLang="zh-CN" sz="18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492125" y="14446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99A1AF"/>
          </a:solidFill>
        </p:spPr>
      </p:sp>
      <p:sp>
        <p:nvSpPr>
          <p:cNvPr id="19" name="Shape 5"/>
          <p:cNvSpPr/>
          <p:nvPr/>
        </p:nvSpPr>
        <p:spPr>
          <a:xfrm>
            <a:off x="631031" y="15716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0" name="Text 6"/>
          <p:cNvSpPr/>
          <p:nvPr/>
        </p:nvSpPr>
        <p:spPr>
          <a:xfrm>
            <a:off x="1031875" y="1460500"/>
            <a:ext cx="178593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chemeClr val="tx1">
                    <a:lumMod val="85000"/>
                  </a:scheme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传统AI（纯大模型）</a:t>
            </a:r>
            <a:endParaRPr lang="en-US" sz="1500" b="1" dirty="0">
              <a:solidFill>
                <a:schemeClr val="tx1">
                  <a:lumMod val="85000"/>
                </a:schemeClr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1" name="Text 7"/>
          <p:cNvSpPr/>
          <p:nvPr/>
        </p:nvSpPr>
        <p:spPr>
          <a:xfrm>
            <a:off x="1031875" y="1714500"/>
            <a:ext cx="17462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闭卷考试模式</a:t>
            </a:r>
            <a:endParaRPr lang="en-US" sz="875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492125" y="2016125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9"/>
          <p:cNvSpPr/>
          <p:nvPr/>
        </p:nvSpPr>
        <p:spPr>
          <a:xfrm>
            <a:off x="595630" y="2234565"/>
            <a:ext cx="166370" cy="16637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63500" y="43656"/>
                </a:moveTo>
                <a:cubicBezTo>
                  <a:pt x="59110" y="43656"/>
                  <a:pt x="55563" y="47203"/>
                  <a:pt x="55563" y="51594"/>
                </a:cubicBezTo>
                <a:cubicBezTo>
                  <a:pt x="55563" y="54893"/>
                  <a:pt x="52908" y="57547"/>
                  <a:pt x="49609" y="57547"/>
                </a:cubicBezTo>
                <a:cubicBezTo>
                  <a:pt x="46310" y="57547"/>
                  <a:pt x="43656" y="54893"/>
                  <a:pt x="43656" y="51594"/>
                </a:cubicBezTo>
                <a:cubicBezTo>
                  <a:pt x="43656" y="40630"/>
                  <a:pt x="52536" y="31750"/>
                  <a:pt x="63500" y="31750"/>
                </a:cubicBezTo>
                <a:cubicBezTo>
                  <a:pt x="74464" y="31750"/>
                  <a:pt x="83344" y="40630"/>
                  <a:pt x="83344" y="51594"/>
                </a:cubicBezTo>
                <a:cubicBezTo>
                  <a:pt x="83344" y="63302"/>
                  <a:pt x="74414" y="68263"/>
                  <a:pt x="69453" y="70073"/>
                </a:cubicBezTo>
                <a:lnTo>
                  <a:pt x="69453" y="71016"/>
                </a:lnTo>
                <a:cubicBezTo>
                  <a:pt x="69453" y="74315"/>
                  <a:pt x="66799" y="76969"/>
                  <a:pt x="63500" y="76969"/>
                </a:cubicBezTo>
                <a:cubicBezTo>
                  <a:pt x="60201" y="76969"/>
                  <a:pt x="57547" y="74315"/>
                  <a:pt x="57547" y="71016"/>
                </a:cubicBezTo>
                <a:lnTo>
                  <a:pt x="57547" y="69007"/>
                </a:lnTo>
                <a:cubicBezTo>
                  <a:pt x="57547" y="63922"/>
                  <a:pt x="61218" y="60275"/>
                  <a:pt x="65013" y="59035"/>
                </a:cubicBezTo>
                <a:cubicBezTo>
                  <a:pt x="66601" y="58514"/>
                  <a:pt x="68287" y="57671"/>
                  <a:pt x="69528" y="56480"/>
                </a:cubicBezTo>
                <a:cubicBezTo>
                  <a:pt x="70594" y="55438"/>
                  <a:pt x="71438" y="54000"/>
                  <a:pt x="71438" y="51619"/>
                </a:cubicBezTo>
                <a:cubicBezTo>
                  <a:pt x="71438" y="47228"/>
                  <a:pt x="67890" y="43681"/>
                  <a:pt x="63500" y="43681"/>
                </a:cubicBezTo>
                <a:close/>
                <a:moveTo>
                  <a:pt x="55563" y="91281"/>
                </a:moveTo>
                <a:cubicBezTo>
                  <a:pt x="55563" y="86900"/>
                  <a:pt x="59119" y="83344"/>
                  <a:pt x="63500" y="83344"/>
                </a:cubicBezTo>
                <a:cubicBezTo>
                  <a:pt x="67881" y="83344"/>
                  <a:pt x="71438" y="86900"/>
                  <a:pt x="71438" y="91281"/>
                </a:cubicBezTo>
                <a:cubicBezTo>
                  <a:pt x="71438" y="95662"/>
                  <a:pt x="67881" y="99219"/>
                  <a:pt x="63500" y="99219"/>
                </a:cubicBezTo>
                <a:cubicBezTo>
                  <a:pt x="59119" y="99219"/>
                  <a:pt x="55563" y="95662"/>
                  <a:pt x="55563" y="91281"/>
                </a:cubicBezTo>
                <a:close/>
              </a:path>
            </a:pathLst>
          </a:custGeom>
          <a:solidFill>
            <a:srgbClr val="99A1AF"/>
          </a:solidFill>
        </p:spPr>
      </p:sp>
      <p:sp>
        <p:nvSpPr>
          <p:cNvPr id="30" name="Text 10"/>
          <p:cNvSpPr/>
          <p:nvPr/>
        </p:nvSpPr>
        <p:spPr>
          <a:xfrm>
            <a:off x="817880" y="2210435"/>
            <a:ext cx="66738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lumMod val="85000"/>
                  </a:scheme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提问</a:t>
            </a:r>
            <a:endParaRPr lang="en-US" sz="1400" b="1" dirty="0">
              <a:solidFill>
                <a:schemeClr val="tx1">
                  <a:lumMod val="85000"/>
                </a:schemeClr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1403350" y="2095183"/>
            <a:ext cx="4415155" cy="4451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"宝马X5的空气悬架有什么技术优势？"</a:t>
            </a:r>
            <a:endParaRPr lang="en-US" sz="16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2" name="Shape 12"/>
          <p:cNvSpPr/>
          <p:nvPr/>
        </p:nvSpPr>
        <p:spPr>
          <a:xfrm>
            <a:off x="3103563" y="27146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99A1AF"/>
          </a:solidFill>
        </p:spPr>
      </p:sp>
      <p:sp>
        <p:nvSpPr>
          <p:cNvPr id="33" name="Shape 13"/>
          <p:cNvSpPr/>
          <p:nvPr/>
        </p:nvSpPr>
        <p:spPr>
          <a:xfrm>
            <a:off x="492125" y="3000375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14"/>
          <p:cNvSpPr/>
          <p:nvPr/>
        </p:nvSpPr>
        <p:spPr>
          <a:xfrm>
            <a:off x="603250" y="3218815"/>
            <a:ext cx="166370" cy="16637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29766" y="13891"/>
                </a:moveTo>
                <a:cubicBezTo>
                  <a:pt x="29766" y="6226"/>
                  <a:pt x="35992" y="0"/>
                  <a:pt x="43656" y="0"/>
                </a:cubicBezTo>
                <a:lnTo>
                  <a:pt x="49609" y="0"/>
                </a:lnTo>
                <a:cubicBezTo>
                  <a:pt x="54000" y="0"/>
                  <a:pt x="57547" y="3547"/>
                  <a:pt x="57547" y="7938"/>
                </a:cubicBezTo>
                <a:lnTo>
                  <a:pt x="57547" y="119063"/>
                </a:lnTo>
                <a:cubicBezTo>
                  <a:pt x="57547" y="123453"/>
                  <a:pt x="54000" y="127000"/>
                  <a:pt x="49609" y="127000"/>
                </a:cubicBezTo>
                <a:lnTo>
                  <a:pt x="41672" y="127000"/>
                </a:lnTo>
                <a:cubicBezTo>
                  <a:pt x="34280" y="127000"/>
                  <a:pt x="28054" y="121940"/>
                  <a:pt x="26293" y="115094"/>
                </a:cubicBezTo>
                <a:cubicBezTo>
                  <a:pt x="26119" y="115094"/>
                  <a:pt x="25971" y="115094"/>
                  <a:pt x="25797" y="115094"/>
                </a:cubicBezTo>
                <a:cubicBezTo>
                  <a:pt x="14833" y="115094"/>
                  <a:pt x="5953" y="106214"/>
                  <a:pt x="5953" y="95250"/>
                </a:cubicBezTo>
                <a:cubicBezTo>
                  <a:pt x="5953" y="90785"/>
                  <a:pt x="7441" y="86668"/>
                  <a:pt x="9922" y="83344"/>
                </a:cubicBezTo>
                <a:cubicBezTo>
                  <a:pt x="5110" y="79722"/>
                  <a:pt x="1984" y="73968"/>
                  <a:pt x="1984" y="67469"/>
                </a:cubicBezTo>
                <a:cubicBezTo>
                  <a:pt x="1984" y="59804"/>
                  <a:pt x="6350" y="53132"/>
                  <a:pt x="12700" y="49833"/>
                </a:cubicBezTo>
                <a:cubicBezTo>
                  <a:pt x="10939" y="46856"/>
                  <a:pt x="9922" y="43383"/>
                  <a:pt x="9922" y="39688"/>
                </a:cubicBezTo>
                <a:cubicBezTo>
                  <a:pt x="9922" y="28724"/>
                  <a:pt x="18802" y="19844"/>
                  <a:pt x="29766" y="19844"/>
                </a:cubicBezTo>
                <a:lnTo>
                  <a:pt x="29766" y="13891"/>
                </a:lnTo>
                <a:close/>
                <a:moveTo>
                  <a:pt x="97234" y="13891"/>
                </a:moveTo>
                <a:lnTo>
                  <a:pt x="97234" y="19844"/>
                </a:lnTo>
                <a:cubicBezTo>
                  <a:pt x="108198" y="19844"/>
                  <a:pt x="117078" y="28724"/>
                  <a:pt x="117078" y="39688"/>
                </a:cubicBezTo>
                <a:cubicBezTo>
                  <a:pt x="117078" y="43408"/>
                  <a:pt x="116061" y="46881"/>
                  <a:pt x="114300" y="49833"/>
                </a:cubicBezTo>
                <a:cubicBezTo>
                  <a:pt x="120675" y="53132"/>
                  <a:pt x="125016" y="59779"/>
                  <a:pt x="125016" y="67469"/>
                </a:cubicBezTo>
                <a:cubicBezTo>
                  <a:pt x="125016" y="73968"/>
                  <a:pt x="121890" y="79722"/>
                  <a:pt x="117078" y="83344"/>
                </a:cubicBezTo>
                <a:cubicBezTo>
                  <a:pt x="119559" y="86668"/>
                  <a:pt x="121047" y="90785"/>
                  <a:pt x="121047" y="95250"/>
                </a:cubicBezTo>
                <a:cubicBezTo>
                  <a:pt x="121047" y="106214"/>
                  <a:pt x="112167" y="115094"/>
                  <a:pt x="101203" y="115094"/>
                </a:cubicBezTo>
                <a:cubicBezTo>
                  <a:pt x="101029" y="115094"/>
                  <a:pt x="100881" y="115094"/>
                  <a:pt x="100707" y="115094"/>
                </a:cubicBezTo>
                <a:cubicBezTo>
                  <a:pt x="98946" y="121940"/>
                  <a:pt x="92720" y="127000"/>
                  <a:pt x="85328" y="127000"/>
                </a:cubicBezTo>
                <a:lnTo>
                  <a:pt x="77391" y="127000"/>
                </a:lnTo>
                <a:cubicBezTo>
                  <a:pt x="73000" y="127000"/>
                  <a:pt x="69453" y="123453"/>
                  <a:pt x="69453" y="119063"/>
                </a:cubicBezTo>
                <a:lnTo>
                  <a:pt x="69453" y="7938"/>
                </a:lnTo>
                <a:cubicBezTo>
                  <a:pt x="69453" y="3547"/>
                  <a:pt x="73000" y="0"/>
                  <a:pt x="77391" y="0"/>
                </a:cubicBezTo>
                <a:lnTo>
                  <a:pt x="83344" y="0"/>
                </a:lnTo>
                <a:cubicBezTo>
                  <a:pt x="91008" y="0"/>
                  <a:pt x="97234" y="6226"/>
                  <a:pt x="97234" y="13891"/>
                </a:cubicBezTo>
                <a:close/>
              </a:path>
            </a:pathLst>
          </a:custGeom>
          <a:solidFill>
            <a:srgbClr val="99A1AF"/>
          </a:solidFill>
        </p:spPr>
      </p:sp>
      <p:sp>
        <p:nvSpPr>
          <p:cNvPr id="35" name="Text 15"/>
          <p:cNvSpPr/>
          <p:nvPr/>
        </p:nvSpPr>
        <p:spPr>
          <a:xfrm>
            <a:off x="809625" y="3206750"/>
            <a:ext cx="12287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sz="1400" b="1" dirty="0">
                <a:solidFill>
                  <a:schemeClr val="tx1">
                    <a:lumMod val="85000"/>
                  </a:scheme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AI思考</a:t>
            </a:r>
            <a:endParaRPr lang="en-US" sz="1400" b="1" dirty="0">
              <a:solidFill>
                <a:schemeClr val="tx1">
                  <a:lumMod val="85000"/>
                </a:schemeClr>
              </a:solidFill>
              <a:latin typeface="BMWGroupTN Condensed TT Light" charset="0"/>
              <a:ea typeface="BMWGroupTN Condensed TT Light" charset="0"/>
              <a:cs typeface="BMWGroupTN Condensed TT Light" charset="0"/>
              <a:sym typeface="+mn-ea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1514475" y="3079433"/>
            <a:ext cx="4304030" cy="44513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en-US" sz="1600" dirty="0"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凭训练数据中的通用知识作答</a:t>
            </a:r>
            <a:endParaRPr lang="en-US" sz="1600" dirty="0">
              <a:latin typeface="BMWGroupTN Condensed TT Light" charset="0"/>
              <a:ea typeface="BMWGroupTN Condensed TT Light" charset="0"/>
              <a:cs typeface="BMWGroupTN Condensed TT Light" charset="0"/>
              <a:sym typeface="+mn-ea"/>
            </a:endParaRPr>
          </a:p>
        </p:txBody>
      </p:sp>
      <p:sp>
        <p:nvSpPr>
          <p:cNvPr id="37" name="Shape 17"/>
          <p:cNvSpPr/>
          <p:nvPr/>
        </p:nvSpPr>
        <p:spPr>
          <a:xfrm>
            <a:off x="3103563" y="36988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99A1AF"/>
          </a:solidFill>
        </p:spPr>
      </p:sp>
      <p:sp>
        <p:nvSpPr>
          <p:cNvPr id="38" name="Shape 18"/>
          <p:cNvSpPr/>
          <p:nvPr/>
        </p:nvSpPr>
        <p:spPr>
          <a:xfrm>
            <a:off x="496094" y="3988594"/>
            <a:ext cx="5357813" cy="611188"/>
          </a:xfrm>
          <a:custGeom>
            <a:avLst/>
            <a:gdLst/>
            <a:ahLst/>
            <a:cxnLst/>
            <a:rect l="l" t="t" r="r" b="b"/>
            <a:pathLst>
              <a:path w="5357813" h="611188">
                <a:moveTo>
                  <a:pt x="63502" y="0"/>
                </a:moveTo>
                <a:lnTo>
                  <a:pt x="5294310" y="0"/>
                </a:lnTo>
                <a:cubicBezTo>
                  <a:pt x="5329382" y="0"/>
                  <a:pt x="5357812" y="28431"/>
                  <a:pt x="5357812" y="63502"/>
                </a:cubicBezTo>
                <a:lnTo>
                  <a:pt x="5357813" y="547685"/>
                </a:lnTo>
                <a:cubicBezTo>
                  <a:pt x="5357812" y="582757"/>
                  <a:pt x="5329382" y="611187"/>
                  <a:pt x="5294310" y="611188"/>
                </a:cubicBezTo>
                <a:lnTo>
                  <a:pt x="63502" y="611188"/>
                </a:lnTo>
                <a:cubicBezTo>
                  <a:pt x="28431" y="611188"/>
                  <a:pt x="0" y="582757"/>
                  <a:pt x="0" y="547685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EF2F2"/>
          </a:solidFill>
          <a:ln w="12700">
            <a:solidFill>
              <a:srgbClr val="FFC9C9"/>
            </a:solidFill>
            <a:prstDash val="solid"/>
          </a:ln>
        </p:spPr>
      </p:sp>
      <p:sp>
        <p:nvSpPr>
          <p:cNvPr id="39" name="Shape 19"/>
          <p:cNvSpPr/>
          <p:nvPr/>
        </p:nvSpPr>
        <p:spPr>
          <a:xfrm>
            <a:off x="611505" y="4211003"/>
            <a:ext cx="166370" cy="16637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424" y="41424"/>
                </a:moveTo>
                <a:cubicBezTo>
                  <a:pt x="43755" y="39092"/>
                  <a:pt x="47526" y="39092"/>
                  <a:pt x="49833" y="41424"/>
                </a:cubicBezTo>
                <a:lnTo>
                  <a:pt x="63475" y="55066"/>
                </a:lnTo>
                <a:lnTo>
                  <a:pt x="77118" y="41424"/>
                </a:lnTo>
                <a:cubicBezTo>
                  <a:pt x="79449" y="39092"/>
                  <a:pt x="83220" y="39092"/>
                  <a:pt x="85527" y="41424"/>
                </a:cubicBezTo>
                <a:cubicBezTo>
                  <a:pt x="87833" y="43755"/>
                  <a:pt x="87858" y="47526"/>
                  <a:pt x="85527" y="49833"/>
                </a:cubicBezTo>
                <a:lnTo>
                  <a:pt x="71884" y="63475"/>
                </a:lnTo>
                <a:lnTo>
                  <a:pt x="85527" y="77118"/>
                </a:lnTo>
                <a:cubicBezTo>
                  <a:pt x="87858" y="79449"/>
                  <a:pt x="87858" y="83220"/>
                  <a:pt x="85527" y="85527"/>
                </a:cubicBezTo>
                <a:cubicBezTo>
                  <a:pt x="83195" y="87833"/>
                  <a:pt x="79425" y="87858"/>
                  <a:pt x="77118" y="85527"/>
                </a:cubicBezTo>
                <a:lnTo>
                  <a:pt x="63475" y="71884"/>
                </a:lnTo>
                <a:lnTo>
                  <a:pt x="49833" y="85527"/>
                </a:lnTo>
                <a:cubicBezTo>
                  <a:pt x="47501" y="87858"/>
                  <a:pt x="43731" y="87858"/>
                  <a:pt x="41424" y="85527"/>
                </a:cubicBezTo>
                <a:cubicBezTo>
                  <a:pt x="39117" y="83195"/>
                  <a:pt x="39092" y="79425"/>
                  <a:pt x="41424" y="77118"/>
                </a:cubicBezTo>
                <a:lnTo>
                  <a:pt x="55066" y="63475"/>
                </a:lnTo>
                <a:lnTo>
                  <a:pt x="41424" y="49833"/>
                </a:lnTo>
                <a:cubicBezTo>
                  <a:pt x="39092" y="47501"/>
                  <a:pt x="39092" y="43731"/>
                  <a:pt x="41424" y="41424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40" name="Text 20"/>
          <p:cNvSpPr/>
          <p:nvPr/>
        </p:nvSpPr>
        <p:spPr>
          <a:xfrm>
            <a:off x="817563" y="4198938"/>
            <a:ext cx="317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7000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回答</a:t>
            </a:r>
            <a:endParaRPr lang="en-US" sz="1200" b="1" dirty="0">
              <a:solidFill>
                <a:srgbClr val="E7000B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1" name="Text 21"/>
          <p:cNvSpPr/>
          <p:nvPr/>
        </p:nvSpPr>
        <p:spPr>
          <a:xfrm>
            <a:off x="1503680" y="4050348"/>
            <a:ext cx="4303395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提供汽车媒体的泛泛</a:t>
            </a:r>
            <a:r>
              <a:rPr lang="zh-CN" altLang="en-US" sz="1200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内容，</a:t>
            </a:r>
            <a:r>
              <a:rPr lang="en-US" sz="1200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缺乏宝马官方话术和竞品拆解数据</a:t>
            </a:r>
            <a:endParaRPr lang="en-US" sz="1200" dirty="0">
              <a:solidFill>
                <a:srgbClr val="1E293B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3" name="Shape 23"/>
          <p:cNvSpPr/>
          <p:nvPr/>
        </p:nvSpPr>
        <p:spPr>
          <a:xfrm>
            <a:off x="841375" y="5064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48617" y="34727"/>
                </a:moveTo>
                <a:cubicBezTo>
                  <a:pt x="48617" y="30893"/>
                  <a:pt x="51729" y="27781"/>
                  <a:pt x="55563" y="27781"/>
                </a:cubicBezTo>
                <a:cubicBezTo>
                  <a:pt x="59396" y="27781"/>
                  <a:pt x="62508" y="30893"/>
                  <a:pt x="62508" y="34727"/>
                </a:cubicBezTo>
                <a:cubicBezTo>
                  <a:pt x="62508" y="38560"/>
                  <a:pt x="59396" y="41672"/>
                  <a:pt x="55563" y="41672"/>
                </a:cubicBezTo>
                <a:cubicBezTo>
                  <a:pt x="51729" y="41672"/>
                  <a:pt x="48617" y="38560"/>
                  <a:pt x="48617" y="34727"/>
                </a:cubicBezTo>
                <a:close/>
                <a:moveTo>
                  <a:pt x="46881" y="48617"/>
                </a:moveTo>
                <a:lnTo>
                  <a:pt x="57299" y="48617"/>
                </a:lnTo>
                <a:cubicBezTo>
                  <a:pt x="60185" y="48617"/>
                  <a:pt x="62508" y="50940"/>
                  <a:pt x="62508" y="53826"/>
                </a:cubicBezTo>
                <a:lnTo>
                  <a:pt x="62508" y="72926"/>
                </a:lnTo>
                <a:lnTo>
                  <a:pt x="64244" y="72926"/>
                </a:lnTo>
                <a:cubicBezTo>
                  <a:pt x="67131" y="72926"/>
                  <a:pt x="69453" y="75248"/>
                  <a:pt x="69453" y="78135"/>
                </a:cubicBezTo>
                <a:cubicBezTo>
                  <a:pt x="69453" y="81021"/>
                  <a:pt x="67131" y="83344"/>
                  <a:pt x="64244" y="83344"/>
                </a:cubicBezTo>
                <a:lnTo>
                  <a:pt x="46881" y="83344"/>
                </a:lnTo>
                <a:cubicBezTo>
                  <a:pt x="43994" y="83344"/>
                  <a:pt x="41672" y="81021"/>
                  <a:pt x="41672" y="78135"/>
                </a:cubicBezTo>
                <a:cubicBezTo>
                  <a:pt x="41672" y="75248"/>
                  <a:pt x="43994" y="72926"/>
                  <a:pt x="46881" y="72926"/>
                </a:cubicBezTo>
                <a:lnTo>
                  <a:pt x="52090" y="72926"/>
                </a:lnTo>
                <a:lnTo>
                  <a:pt x="52090" y="59035"/>
                </a:lnTo>
                <a:lnTo>
                  <a:pt x="46881" y="59035"/>
                </a:lnTo>
                <a:cubicBezTo>
                  <a:pt x="43994" y="59035"/>
                  <a:pt x="41672" y="56713"/>
                  <a:pt x="41672" y="53826"/>
                </a:cubicBezTo>
                <a:cubicBezTo>
                  <a:pt x="41672" y="50940"/>
                  <a:pt x="43994" y="48617"/>
                  <a:pt x="46881" y="48617"/>
                </a:cubicBezTo>
                <a:close/>
              </a:path>
            </a:pathLst>
          </a:custGeom>
          <a:solidFill>
            <a:srgbClr val="FF0000"/>
          </a:solidFill>
        </p:spPr>
      </p:sp>
      <p:sp>
        <p:nvSpPr>
          <p:cNvPr id="44" name="Text 24"/>
          <p:cNvSpPr/>
          <p:nvPr/>
        </p:nvSpPr>
        <p:spPr>
          <a:xfrm>
            <a:off x="695801" y="5095875"/>
            <a:ext cx="50482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000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训练数据里没有宝马内部的返利政策、产品技术细节、合规文档</a:t>
            </a:r>
            <a:endParaRPr lang="en-US" sz="1200" dirty="0">
              <a:solidFill>
                <a:srgbClr val="FF0000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5" name="Shape 25"/>
          <p:cNvSpPr/>
          <p:nvPr/>
        </p:nvSpPr>
        <p:spPr>
          <a:xfrm>
            <a:off x="6167438" y="1277938"/>
            <a:ext cx="5699125" cy="4460875"/>
          </a:xfrm>
          <a:custGeom>
            <a:avLst/>
            <a:gdLst/>
            <a:ahLst/>
            <a:cxnLst/>
            <a:rect l="l" t="t" r="r" b="b"/>
            <a:pathLst>
              <a:path w="5699125" h="4460875">
                <a:moveTo>
                  <a:pt x="127001" y="0"/>
                </a:moveTo>
                <a:lnTo>
                  <a:pt x="5572124" y="0"/>
                </a:lnTo>
                <a:cubicBezTo>
                  <a:pt x="5642265" y="0"/>
                  <a:pt x="5699125" y="56860"/>
                  <a:pt x="5699125" y="127001"/>
                </a:cubicBezTo>
                <a:lnTo>
                  <a:pt x="5699125" y="4333874"/>
                </a:lnTo>
                <a:cubicBezTo>
                  <a:pt x="5699125" y="4404015"/>
                  <a:pt x="5642265" y="4460875"/>
                  <a:pt x="5572124" y="4460875"/>
                </a:cubicBezTo>
                <a:lnTo>
                  <a:pt x="127001" y="4460875"/>
                </a:lnTo>
                <a:cubicBezTo>
                  <a:pt x="56860" y="4460875"/>
                  <a:pt x="0" y="4404015"/>
                  <a:pt x="0" y="4333874"/>
                </a:cubicBezTo>
                <a:lnTo>
                  <a:pt x="0" y="127001"/>
                </a:lnTo>
                <a:cubicBezTo>
                  <a:pt x="0" y="56860"/>
                  <a:pt x="56860" y="0"/>
                  <a:pt x="127001" y="0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6" name="Shape 26"/>
          <p:cNvSpPr/>
          <p:nvPr/>
        </p:nvSpPr>
        <p:spPr>
          <a:xfrm>
            <a:off x="6334125" y="14446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47" name="Shape 27"/>
          <p:cNvSpPr/>
          <p:nvPr/>
        </p:nvSpPr>
        <p:spPr>
          <a:xfrm>
            <a:off x="6461125" y="1571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4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6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6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4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solidFill>
            <a:srgbClr val="1A535C"/>
          </a:solidFill>
        </p:spPr>
      </p:sp>
      <p:sp>
        <p:nvSpPr>
          <p:cNvPr id="48" name="Text 28"/>
          <p:cNvSpPr/>
          <p:nvPr/>
        </p:nvSpPr>
        <p:spPr>
          <a:xfrm>
            <a:off x="6873875" y="1460500"/>
            <a:ext cx="86518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RAG模式</a:t>
            </a:r>
            <a:endParaRPr lang="en-US" sz="150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9" name="Text 29"/>
          <p:cNvSpPr/>
          <p:nvPr/>
        </p:nvSpPr>
        <p:spPr>
          <a:xfrm>
            <a:off x="6873875" y="1714500"/>
            <a:ext cx="8255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开卷考试模式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1" name="Shape 31"/>
          <p:cNvSpPr/>
          <p:nvPr/>
        </p:nvSpPr>
        <p:spPr>
          <a:xfrm>
            <a:off x="6445250" y="220630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63500" y="43656"/>
                </a:moveTo>
                <a:cubicBezTo>
                  <a:pt x="59110" y="43656"/>
                  <a:pt x="55563" y="47203"/>
                  <a:pt x="55563" y="51594"/>
                </a:cubicBezTo>
                <a:cubicBezTo>
                  <a:pt x="55563" y="54893"/>
                  <a:pt x="52908" y="57547"/>
                  <a:pt x="49609" y="57547"/>
                </a:cubicBezTo>
                <a:cubicBezTo>
                  <a:pt x="46310" y="57547"/>
                  <a:pt x="43656" y="54893"/>
                  <a:pt x="43656" y="51594"/>
                </a:cubicBezTo>
                <a:cubicBezTo>
                  <a:pt x="43656" y="40630"/>
                  <a:pt x="52536" y="31750"/>
                  <a:pt x="63500" y="31750"/>
                </a:cubicBezTo>
                <a:cubicBezTo>
                  <a:pt x="74464" y="31750"/>
                  <a:pt x="83344" y="40630"/>
                  <a:pt x="83344" y="51594"/>
                </a:cubicBezTo>
                <a:cubicBezTo>
                  <a:pt x="83344" y="63302"/>
                  <a:pt x="74414" y="68263"/>
                  <a:pt x="69453" y="70073"/>
                </a:cubicBezTo>
                <a:lnTo>
                  <a:pt x="69453" y="71016"/>
                </a:lnTo>
                <a:cubicBezTo>
                  <a:pt x="69453" y="74315"/>
                  <a:pt x="66799" y="76969"/>
                  <a:pt x="63500" y="76969"/>
                </a:cubicBezTo>
                <a:cubicBezTo>
                  <a:pt x="60201" y="76969"/>
                  <a:pt x="57547" y="74315"/>
                  <a:pt x="57547" y="71016"/>
                </a:cubicBezTo>
                <a:lnTo>
                  <a:pt x="57547" y="69007"/>
                </a:lnTo>
                <a:cubicBezTo>
                  <a:pt x="57547" y="63922"/>
                  <a:pt x="61218" y="60275"/>
                  <a:pt x="65013" y="59035"/>
                </a:cubicBezTo>
                <a:cubicBezTo>
                  <a:pt x="66601" y="58514"/>
                  <a:pt x="68287" y="57671"/>
                  <a:pt x="69528" y="56480"/>
                </a:cubicBezTo>
                <a:cubicBezTo>
                  <a:pt x="70594" y="55438"/>
                  <a:pt x="71438" y="54000"/>
                  <a:pt x="71438" y="51619"/>
                </a:cubicBezTo>
                <a:cubicBezTo>
                  <a:pt x="71438" y="47228"/>
                  <a:pt x="67890" y="43681"/>
                  <a:pt x="63500" y="43681"/>
                </a:cubicBezTo>
                <a:close/>
                <a:moveTo>
                  <a:pt x="55563" y="91281"/>
                </a:moveTo>
                <a:cubicBezTo>
                  <a:pt x="55563" y="86900"/>
                  <a:pt x="59119" y="83344"/>
                  <a:pt x="63500" y="83344"/>
                </a:cubicBezTo>
                <a:cubicBezTo>
                  <a:pt x="67881" y="83344"/>
                  <a:pt x="71438" y="86900"/>
                  <a:pt x="71438" y="91281"/>
                </a:cubicBezTo>
                <a:cubicBezTo>
                  <a:pt x="71438" y="95662"/>
                  <a:pt x="67881" y="99219"/>
                  <a:pt x="63500" y="99219"/>
                </a:cubicBezTo>
                <a:cubicBezTo>
                  <a:pt x="59119" y="99219"/>
                  <a:pt x="55563" y="95662"/>
                  <a:pt x="55563" y="9128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2" name="Text 32"/>
          <p:cNvSpPr/>
          <p:nvPr/>
        </p:nvSpPr>
        <p:spPr>
          <a:xfrm>
            <a:off x="6778625" y="2206308"/>
            <a:ext cx="317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提问</a:t>
            </a:r>
            <a:endParaRPr lang="en-US" sz="1200" b="1" dirty="0">
              <a:solidFill>
                <a:srgbClr val="FFFFFF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3" name="Text 33"/>
          <p:cNvSpPr/>
          <p:nvPr/>
        </p:nvSpPr>
        <p:spPr>
          <a:xfrm>
            <a:off x="8251825" y="2096135"/>
            <a:ext cx="3408680" cy="427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"宝马X5的空气悬架有什么技术优势？"</a:t>
            </a:r>
            <a:endParaRPr lang="en-US" sz="1200" dirty="0">
              <a:solidFill>
                <a:srgbClr val="FFFFFF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6" name="Shape 36"/>
          <p:cNvSpPr/>
          <p:nvPr/>
        </p:nvSpPr>
        <p:spPr>
          <a:xfrm>
            <a:off x="6401435" y="315880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67" name="Text 37"/>
          <p:cNvSpPr/>
          <p:nvPr/>
        </p:nvSpPr>
        <p:spPr>
          <a:xfrm>
            <a:off x="6373654" y="3158808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R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8" name="Text 38"/>
          <p:cNvSpPr/>
          <p:nvPr/>
        </p:nvSpPr>
        <p:spPr>
          <a:xfrm>
            <a:off x="6746875" y="3127693"/>
            <a:ext cx="1000760" cy="2851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Retrieval 检索</a:t>
            </a:r>
            <a:endParaRPr lang="en-US" sz="1200" b="1" dirty="0">
              <a:solidFill>
                <a:srgbClr val="FFFFFF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9" name="Text 39"/>
          <p:cNvSpPr/>
          <p:nvPr/>
        </p:nvSpPr>
        <p:spPr>
          <a:xfrm>
            <a:off x="8261350" y="3032125"/>
            <a:ext cx="3399155" cy="476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接到问题 → 去知识库里找最相关的资料片段</a:t>
            </a:r>
            <a:endParaRPr lang="en-US" sz="1200" dirty="0">
              <a:solidFill>
                <a:srgbClr val="FFFFFF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2" name="Shape 42"/>
          <p:cNvSpPr/>
          <p:nvPr/>
        </p:nvSpPr>
        <p:spPr>
          <a:xfrm>
            <a:off x="6410325" y="4064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73" name="Text 43"/>
          <p:cNvSpPr/>
          <p:nvPr/>
        </p:nvSpPr>
        <p:spPr>
          <a:xfrm>
            <a:off x="6382544" y="4064000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4" name="Text 44"/>
          <p:cNvSpPr/>
          <p:nvPr/>
        </p:nvSpPr>
        <p:spPr>
          <a:xfrm>
            <a:off x="6746875" y="4095750"/>
            <a:ext cx="1031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Augmented 增强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5" name="Text 45"/>
          <p:cNvSpPr/>
          <p:nvPr/>
        </p:nvSpPr>
        <p:spPr>
          <a:xfrm>
            <a:off x="8269605" y="3889375"/>
            <a:ext cx="3390900" cy="603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把找到的资料和原问题拼在一起</a:t>
            </a:r>
            <a:endParaRPr lang="en-US" sz="1200" dirty="0">
              <a:solidFill>
                <a:srgbClr val="FFFFFF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8" name="Shape 48"/>
          <p:cNvSpPr/>
          <p:nvPr/>
        </p:nvSpPr>
        <p:spPr>
          <a:xfrm>
            <a:off x="6410325" y="505777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79" name="Text 49"/>
          <p:cNvSpPr/>
          <p:nvPr/>
        </p:nvSpPr>
        <p:spPr>
          <a:xfrm>
            <a:off x="6382544" y="5067300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G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80" name="Text 50"/>
          <p:cNvSpPr/>
          <p:nvPr/>
        </p:nvSpPr>
        <p:spPr>
          <a:xfrm>
            <a:off x="6746875" y="5032375"/>
            <a:ext cx="122872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Generation 生成</a:t>
            </a:r>
            <a:endParaRPr lang="en-US" sz="1200" b="1" dirty="0">
              <a:solidFill>
                <a:srgbClr val="FFFFFF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1" name="Text 51"/>
          <p:cNvSpPr/>
          <p:nvPr/>
        </p:nvSpPr>
        <p:spPr>
          <a:xfrm>
            <a:off x="8222615" y="4968240"/>
            <a:ext cx="3437890" cy="508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基于资料组织语言生成答案</a:t>
            </a:r>
            <a:endParaRPr lang="en-US" sz="1200" dirty="0">
              <a:solidFill>
                <a:srgbClr val="FFFFFF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2" name="Shape 52"/>
          <p:cNvSpPr/>
          <p:nvPr/>
        </p:nvSpPr>
        <p:spPr>
          <a:xfrm>
            <a:off x="317500" y="5873750"/>
            <a:ext cx="11557000" cy="698500"/>
          </a:xfrm>
          <a:custGeom>
            <a:avLst/>
            <a:gdLst/>
            <a:ahLst/>
            <a:cxnLst/>
            <a:rect l="l" t="t" r="r" b="b"/>
            <a:pathLst>
              <a:path w="11557000" h="698500">
                <a:moveTo>
                  <a:pt x="95247" y="0"/>
                </a:moveTo>
                <a:lnTo>
                  <a:pt x="11461753" y="0"/>
                </a:lnTo>
                <a:cubicBezTo>
                  <a:pt x="11514356" y="0"/>
                  <a:pt x="11557000" y="42644"/>
                  <a:pt x="11557000" y="95247"/>
                </a:cubicBezTo>
                <a:lnTo>
                  <a:pt x="11557000" y="603253"/>
                </a:lnTo>
                <a:cubicBezTo>
                  <a:pt x="11557000" y="655856"/>
                  <a:pt x="11514356" y="698500"/>
                  <a:pt x="11461753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gradFill flip="none" rotWithShape="1">
            <a:gsLst>
              <a:gs pos="0">
                <a:srgbClr val="1A535C">
                  <a:alpha val="62000"/>
                </a:srgbClr>
              </a:gs>
              <a:gs pos="100000">
                <a:srgbClr val="4ECDC4">
                  <a:alpha val="0"/>
                </a:srgbClr>
              </a:gs>
            </a:gsLst>
            <a:lin ang="0" scaled="1"/>
          </a:gradFill>
        </p:spPr>
      </p:sp>
      <p:sp>
        <p:nvSpPr>
          <p:cNvPr id="83" name="Shape 53"/>
          <p:cNvSpPr/>
          <p:nvPr/>
        </p:nvSpPr>
        <p:spPr>
          <a:xfrm>
            <a:off x="515938" y="60801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4" name="Text 54"/>
          <p:cNvSpPr/>
          <p:nvPr/>
        </p:nvSpPr>
        <p:spPr>
          <a:xfrm>
            <a:off x="928688" y="6000750"/>
            <a:ext cx="5405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一句话总结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85" name="Text 55"/>
          <p:cNvSpPr/>
          <p:nvPr/>
        </p:nvSpPr>
        <p:spPr>
          <a:xfrm>
            <a:off x="929005" y="6254750"/>
            <a:ext cx="788416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RAG不靠AI的记忆，靠AI</a:t>
            </a:r>
            <a:r>
              <a:rPr lang="en-US" sz="14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现场查阅</a:t>
            </a:r>
            <a:r>
              <a:rPr lang="en-US" sz="1400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宝马专属的知识库。它不是"更聪明的AI"，而是</a:t>
            </a:r>
            <a:r>
              <a:rPr lang="en-US" sz="14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"带图书馆的AI"</a:t>
            </a:r>
            <a:endParaRPr lang="en-US" sz="1400" b="1" dirty="0">
              <a:solidFill>
                <a:srgbClr val="FFFFFF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6" name="下箭头 85"/>
          <p:cNvSpPr/>
          <p:nvPr/>
        </p:nvSpPr>
        <p:spPr>
          <a:xfrm>
            <a:off x="9203055" y="4538345"/>
            <a:ext cx="666115" cy="285750"/>
          </a:xfrm>
          <a:prstGeom prst="downArrow">
            <a:avLst/>
          </a:prstGeom>
          <a:noFill/>
          <a:ln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BMWGroupTN Condensed TT Light" charset="0"/>
            </a:endParaRPr>
          </a:p>
        </p:txBody>
      </p:sp>
      <p:sp>
        <p:nvSpPr>
          <p:cNvPr id="87" name="下箭头 86"/>
          <p:cNvSpPr/>
          <p:nvPr/>
        </p:nvSpPr>
        <p:spPr>
          <a:xfrm>
            <a:off x="9203055" y="2714625"/>
            <a:ext cx="666115" cy="285750"/>
          </a:xfrm>
          <a:prstGeom prst="downArrow">
            <a:avLst/>
          </a:prstGeom>
          <a:noFill/>
          <a:ln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BMWGroupTN Condensed TT Light" charset="0"/>
            </a:endParaRPr>
          </a:p>
        </p:txBody>
      </p:sp>
      <p:sp>
        <p:nvSpPr>
          <p:cNvPr id="88" name="下箭头 87"/>
          <p:cNvSpPr/>
          <p:nvPr/>
        </p:nvSpPr>
        <p:spPr>
          <a:xfrm>
            <a:off x="9203055" y="3626485"/>
            <a:ext cx="666115" cy="285750"/>
          </a:xfrm>
          <a:prstGeom prst="downArrow">
            <a:avLst/>
          </a:prstGeom>
          <a:noFill/>
          <a:ln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PART ONE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2494280" y="3180080"/>
            <a:ext cx="7190740" cy="1405255"/>
          </a:xfrm>
        </p:spPr>
        <p:txBody>
          <a:bodyPr>
            <a:normAutofit/>
          </a:bodyPr>
          <a:lstStyle/>
          <a:p>
            <a:r>
              <a:rPr lang="en-US" altLang="zh-CN"/>
              <a:t>RAG</a:t>
            </a:r>
            <a:r>
              <a:rPr lang="zh-CN" altLang="en-US"/>
              <a:t>效果</a:t>
            </a:r>
            <a:r>
              <a:rPr lang="zh-CN" altLang="en-US"/>
              <a:t>演示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8514715" cy="72009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从提问到回答：后台</a:t>
            </a:r>
            <a:r>
              <a:rPr lang="zh-CN" altLang="en-US">
                <a:sym typeface="+mn-ea"/>
              </a:rPr>
              <a:t>数据</a:t>
            </a:r>
            <a:r>
              <a:rPr lang="zh-CN" altLang="en-US">
                <a:sym typeface="+mn-ea"/>
              </a:rPr>
              <a:t>"物流"奇迹</a:t>
            </a:r>
            <a:endParaRPr lang="zh-CN" altLang="en-US">
              <a:sym typeface="+mn-ea"/>
            </a:endParaRPr>
          </a:p>
        </p:txBody>
      </p:sp>
      <p:sp>
        <p:nvSpPr>
          <p:cNvPr id="16" name="Text 2"/>
          <p:cNvSpPr/>
          <p:nvPr/>
        </p:nvSpPr>
        <p:spPr>
          <a:xfrm>
            <a:off x="695960" y="1104900"/>
            <a:ext cx="11200765" cy="381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altLang="zh-CN" dirty="0"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揭秘RAG系统的完整工作流程</a:t>
            </a:r>
            <a:endParaRPr lang="en-US" altLang="zh-CN" dirty="0">
              <a:latin typeface="BMWGroupTN Condensed TT Light" charset="0"/>
              <a:ea typeface="BMWGroupTN Condensed TT Light" charset="0"/>
              <a:cs typeface="BMWGroupTN Condensed TT Light" charset="0"/>
              <a:sym typeface="+mn-ea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973038" y="18954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Text 5"/>
          <p:cNvSpPr/>
          <p:nvPr/>
        </p:nvSpPr>
        <p:spPr>
          <a:xfrm>
            <a:off x="1232892" y="2047875"/>
            <a:ext cx="2000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0" name="Text 6"/>
          <p:cNvSpPr/>
          <p:nvPr/>
        </p:nvSpPr>
        <p:spPr>
          <a:xfrm>
            <a:off x="892076" y="262890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用户输入</a:t>
            </a:r>
            <a:endParaRPr lang="en-US" sz="135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533400" y="3124835"/>
            <a:ext cx="1597660" cy="723900"/>
          </a:xfrm>
          <a:custGeom>
            <a:avLst/>
            <a:gdLst/>
            <a:ahLst/>
            <a:cxnLst/>
            <a:rect l="l" t="t" r="r" b="b"/>
            <a:pathLst>
              <a:path w="1485900" h="723900">
                <a:moveTo>
                  <a:pt x="76198" y="0"/>
                </a:moveTo>
                <a:lnTo>
                  <a:pt x="1409702" y="0"/>
                </a:lnTo>
                <a:cubicBezTo>
                  <a:pt x="1451757" y="0"/>
                  <a:pt x="1485900" y="34143"/>
                  <a:pt x="1485900" y="76198"/>
                </a:cubicBezTo>
                <a:lnTo>
                  <a:pt x="1485900" y="647702"/>
                </a:lnTo>
                <a:cubicBezTo>
                  <a:pt x="1485900" y="689757"/>
                  <a:pt x="1451757" y="723900"/>
                  <a:pt x="14097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Text 8"/>
          <p:cNvSpPr/>
          <p:nvPr/>
        </p:nvSpPr>
        <p:spPr>
          <a:xfrm>
            <a:off x="576580" y="3201035"/>
            <a:ext cx="150495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自然语言提问</a:t>
            </a:r>
            <a:endParaRPr lang="en-US" sz="2000" dirty="0">
              <a:solidFill>
                <a:schemeClr val="tx1"/>
              </a:solidFill>
              <a:cs typeface="BMWGroupTN Condensed TT Light" charset="0"/>
            </a:endParaRPr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"X5空气悬架对比GLE优势"</a:t>
            </a:r>
            <a:endParaRPr lang="en-US" sz="12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3" name="Shape 9"/>
          <p:cNvSpPr/>
          <p:nvPr/>
        </p:nvSpPr>
        <p:spPr>
          <a:xfrm>
            <a:off x="2127200" y="26241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30" name="Shape 10"/>
          <p:cNvSpPr/>
          <p:nvPr/>
        </p:nvSpPr>
        <p:spPr>
          <a:xfrm>
            <a:off x="2900363" y="18954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Text 11"/>
          <p:cNvSpPr/>
          <p:nvPr/>
        </p:nvSpPr>
        <p:spPr>
          <a:xfrm>
            <a:off x="3140869" y="2047875"/>
            <a:ext cx="2476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2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2819400" y="262890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嵌入模型</a:t>
            </a:r>
            <a:endParaRPr lang="en-US" sz="135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3" name="Shape 13"/>
          <p:cNvSpPr/>
          <p:nvPr/>
        </p:nvSpPr>
        <p:spPr>
          <a:xfrm>
            <a:off x="2460625" y="3220085"/>
            <a:ext cx="1597660" cy="533400"/>
          </a:xfrm>
          <a:custGeom>
            <a:avLst/>
            <a:gdLst/>
            <a:ahLst/>
            <a:cxnLst/>
            <a:rect l="l" t="t" r="r" b="b"/>
            <a:pathLst>
              <a:path w="1485900" h="533400">
                <a:moveTo>
                  <a:pt x="76202" y="0"/>
                </a:moveTo>
                <a:lnTo>
                  <a:pt x="1409698" y="0"/>
                </a:lnTo>
                <a:cubicBezTo>
                  <a:pt x="1451783" y="0"/>
                  <a:pt x="1485900" y="34117"/>
                  <a:pt x="1485900" y="76202"/>
                </a:cubicBezTo>
                <a:lnTo>
                  <a:pt x="1485900" y="457198"/>
                </a:lnTo>
                <a:cubicBezTo>
                  <a:pt x="1485900" y="499255"/>
                  <a:pt x="1451755" y="533400"/>
                  <a:pt x="1409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Text 14"/>
          <p:cNvSpPr/>
          <p:nvPr/>
        </p:nvSpPr>
        <p:spPr>
          <a:xfrm>
            <a:off x="2503170" y="3296285"/>
            <a:ext cx="15049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把文字变向量</a:t>
            </a:r>
            <a:endParaRPr lang="en-US" sz="2000" dirty="0">
              <a:solidFill>
                <a:schemeClr val="tx1"/>
              </a:solidFill>
              <a:cs typeface="BMWGroupTN Condensed TT Light" charset="0"/>
            </a:endParaRPr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768维数学向量</a:t>
            </a:r>
            <a:endParaRPr lang="en-US" sz="12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5" name="Shape 15"/>
          <p:cNvSpPr/>
          <p:nvPr/>
        </p:nvSpPr>
        <p:spPr>
          <a:xfrm>
            <a:off x="4054525" y="26241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36" name="Shape 16"/>
          <p:cNvSpPr/>
          <p:nvPr/>
        </p:nvSpPr>
        <p:spPr>
          <a:xfrm>
            <a:off x="4827538" y="18954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Text 17"/>
          <p:cNvSpPr/>
          <p:nvPr/>
        </p:nvSpPr>
        <p:spPr>
          <a:xfrm>
            <a:off x="5065068" y="2047875"/>
            <a:ext cx="2476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3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8" name="Text 18"/>
          <p:cNvSpPr/>
          <p:nvPr/>
        </p:nvSpPr>
        <p:spPr>
          <a:xfrm>
            <a:off x="4746575" y="262890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向量检索</a:t>
            </a:r>
            <a:endParaRPr lang="en-US" sz="135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9" name="Shape 19"/>
          <p:cNvSpPr/>
          <p:nvPr/>
        </p:nvSpPr>
        <p:spPr>
          <a:xfrm>
            <a:off x="4387850" y="3220085"/>
            <a:ext cx="1597660" cy="533400"/>
          </a:xfrm>
          <a:custGeom>
            <a:avLst/>
            <a:gdLst/>
            <a:ahLst/>
            <a:cxnLst/>
            <a:rect l="l" t="t" r="r" b="b"/>
            <a:pathLst>
              <a:path w="1485900" h="533400">
                <a:moveTo>
                  <a:pt x="76202" y="0"/>
                </a:moveTo>
                <a:lnTo>
                  <a:pt x="1409698" y="0"/>
                </a:lnTo>
                <a:cubicBezTo>
                  <a:pt x="1451783" y="0"/>
                  <a:pt x="1485900" y="34117"/>
                  <a:pt x="1485900" y="76202"/>
                </a:cubicBezTo>
                <a:lnTo>
                  <a:pt x="1485900" y="457198"/>
                </a:lnTo>
                <a:cubicBezTo>
                  <a:pt x="1485900" y="499255"/>
                  <a:pt x="1451755" y="533400"/>
                  <a:pt x="1409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Text 20"/>
          <p:cNvSpPr/>
          <p:nvPr/>
        </p:nvSpPr>
        <p:spPr>
          <a:xfrm>
            <a:off x="4431030" y="3296285"/>
            <a:ext cx="15049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数学上的"找邻居"</a:t>
            </a:r>
            <a:endParaRPr lang="en-US" sz="14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找距离最近的向量</a:t>
            </a:r>
            <a:endParaRPr lang="en-US" sz="12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1" name="Shape 21"/>
          <p:cNvSpPr/>
          <p:nvPr/>
        </p:nvSpPr>
        <p:spPr>
          <a:xfrm>
            <a:off x="5981700" y="26241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42" name="Shape 22"/>
          <p:cNvSpPr/>
          <p:nvPr/>
        </p:nvSpPr>
        <p:spPr>
          <a:xfrm>
            <a:off x="6754862" y="18954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3" name="Text 23"/>
          <p:cNvSpPr/>
          <p:nvPr/>
        </p:nvSpPr>
        <p:spPr>
          <a:xfrm>
            <a:off x="6992541" y="2047875"/>
            <a:ext cx="2476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4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4" name="Text 24"/>
          <p:cNvSpPr/>
          <p:nvPr/>
        </p:nvSpPr>
        <p:spPr>
          <a:xfrm>
            <a:off x="6673900" y="262890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召回片段</a:t>
            </a:r>
            <a:endParaRPr lang="en-US" sz="135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5" name="Shape 25"/>
          <p:cNvSpPr/>
          <p:nvPr/>
        </p:nvSpPr>
        <p:spPr>
          <a:xfrm>
            <a:off x="6315075" y="3220085"/>
            <a:ext cx="1597660" cy="533400"/>
          </a:xfrm>
          <a:custGeom>
            <a:avLst/>
            <a:gdLst/>
            <a:ahLst/>
            <a:cxnLst/>
            <a:rect l="l" t="t" r="r" b="b"/>
            <a:pathLst>
              <a:path w="1485900" h="533400">
                <a:moveTo>
                  <a:pt x="76202" y="0"/>
                </a:moveTo>
                <a:lnTo>
                  <a:pt x="1409698" y="0"/>
                </a:lnTo>
                <a:cubicBezTo>
                  <a:pt x="1451783" y="0"/>
                  <a:pt x="1485900" y="34117"/>
                  <a:pt x="1485900" y="76202"/>
                </a:cubicBezTo>
                <a:lnTo>
                  <a:pt x="1485900" y="457198"/>
                </a:lnTo>
                <a:cubicBezTo>
                  <a:pt x="1485900" y="499255"/>
                  <a:pt x="1451755" y="533400"/>
                  <a:pt x="1409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Text 26"/>
          <p:cNvSpPr/>
          <p:nvPr/>
        </p:nvSpPr>
        <p:spPr>
          <a:xfrm>
            <a:off x="6358255" y="3296285"/>
            <a:ext cx="15049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把资料拣出来</a:t>
            </a:r>
            <a:endParaRPr lang="en-US" sz="2000" dirty="0">
              <a:solidFill>
                <a:schemeClr val="tx1"/>
              </a:solidFill>
              <a:cs typeface="BMWGroupTN Condensed TT Light" charset="0"/>
            </a:endParaRPr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Top K文档切片</a:t>
            </a:r>
            <a:endParaRPr lang="en-US" sz="12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7" name="Shape 27"/>
          <p:cNvSpPr/>
          <p:nvPr/>
        </p:nvSpPr>
        <p:spPr>
          <a:xfrm>
            <a:off x="7909024" y="26241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48" name="Shape 28"/>
          <p:cNvSpPr/>
          <p:nvPr/>
        </p:nvSpPr>
        <p:spPr>
          <a:xfrm>
            <a:off x="8682038" y="18954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9" name="Text 29"/>
          <p:cNvSpPr/>
          <p:nvPr/>
        </p:nvSpPr>
        <p:spPr>
          <a:xfrm>
            <a:off x="8918525" y="2047875"/>
            <a:ext cx="2476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5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50" name="Text 30"/>
          <p:cNvSpPr/>
          <p:nvPr/>
        </p:nvSpPr>
        <p:spPr>
          <a:xfrm>
            <a:off x="8601819" y="262890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LLM推理</a:t>
            </a:r>
            <a:endParaRPr lang="en-US" sz="135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1" name="Shape 31"/>
          <p:cNvSpPr/>
          <p:nvPr/>
        </p:nvSpPr>
        <p:spPr>
          <a:xfrm>
            <a:off x="8242300" y="3220085"/>
            <a:ext cx="1597660" cy="533400"/>
          </a:xfrm>
          <a:custGeom>
            <a:avLst/>
            <a:gdLst/>
            <a:ahLst/>
            <a:cxnLst/>
            <a:rect l="l" t="t" r="r" b="b"/>
            <a:pathLst>
              <a:path w="1485900" h="533400">
                <a:moveTo>
                  <a:pt x="76202" y="0"/>
                </a:moveTo>
                <a:lnTo>
                  <a:pt x="1409698" y="0"/>
                </a:lnTo>
                <a:cubicBezTo>
                  <a:pt x="1451783" y="0"/>
                  <a:pt x="1485900" y="34117"/>
                  <a:pt x="1485900" y="76202"/>
                </a:cubicBezTo>
                <a:lnTo>
                  <a:pt x="1485900" y="457198"/>
                </a:lnTo>
                <a:cubicBezTo>
                  <a:pt x="1485900" y="499255"/>
                  <a:pt x="1451755" y="533400"/>
                  <a:pt x="1409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2" name="Text 32"/>
          <p:cNvSpPr/>
          <p:nvPr/>
        </p:nvSpPr>
        <p:spPr>
          <a:xfrm>
            <a:off x="8285480" y="3296285"/>
            <a:ext cx="15049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读资料+写报告</a:t>
            </a:r>
            <a:endParaRPr lang="en-US" sz="2000" dirty="0">
              <a:solidFill>
                <a:schemeClr val="tx1"/>
              </a:solidFill>
              <a:cs typeface="BMWGroupTN Condensed TT Light" charset="0"/>
            </a:endParaRPr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上下文输入模型</a:t>
            </a:r>
            <a:endParaRPr lang="en-US" sz="12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3" name="Shape 33"/>
          <p:cNvSpPr/>
          <p:nvPr/>
        </p:nvSpPr>
        <p:spPr>
          <a:xfrm>
            <a:off x="9836200" y="26241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64" name="Shape 34"/>
          <p:cNvSpPr/>
          <p:nvPr/>
        </p:nvSpPr>
        <p:spPr>
          <a:xfrm>
            <a:off x="10609213" y="18954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5" name="Text 35"/>
          <p:cNvSpPr/>
          <p:nvPr/>
        </p:nvSpPr>
        <p:spPr>
          <a:xfrm>
            <a:off x="10845254" y="2047875"/>
            <a:ext cx="2476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6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6" name="Text 36"/>
          <p:cNvSpPr/>
          <p:nvPr/>
        </p:nvSpPr>
        <p:spPr>
          <a:xfrm>
            <a:off x="10528250" y="262890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最终输出</a:t>
            </a:r>
            <a:endParaRPr lang="en-US" sz="135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7" name="Shape 37"/>
          <p:cNvSpPr/>
          <p:nvPr/>
        </p:nvSpPr>
        <p:spPr>
          <a:xfrm>
            <a:off x="10169525" y="3220085"/>
            <a:ext cx="1597660" cy="533400"/>
          </a:xfrm>
          <a:custGeom>
            <a:avLst/>
            <a:gdLst/>
            <a:ahLst/>
            <a:cxnLst/>
            <a:rect l="l" t="t" r="r" b="b"/>
            <a:pathLst>
              <a:path w="1485900" h="533400">
                <a:moveTo>
                  <a:pt x="76202" y="0"/>
                </a:moveTo>
                <a:lnTo>
                  <a:pt x="1409698" y="0"/>
                </a:lnTo>
                <a:cubicBezTo>
                  <a:pt x="1451783" y="0"/>
                  <a:pt x="1485900" y="34117"/>
                  <a:pt x="1485900" y="76202"/>
                </a:cubicBezTo>
                <a:lnTo>
                  <a:pt x="1485900" y="457198"/>
                </a:lnTo>
                <a:cubicBezTo>
                  <a:pt x="1485900" y="499255"/>
                  <a:pt x="1451755" y="533400"/>
                  <a:pt x="1409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8" name="Text 38"/>
          <p:cNvSpPr/>
          <p:nvPr/>
        </p:nvSpPr>
        <p:spPr>
          <a:xfrm>
            <a:off x="10212705" y="3296285"/>
            <a:ext cx="15049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规范化回答</a:t>
            </a:r>
            <a:endParaRPr lang="en-US" sz="2000" dirty="0">
              <a:solidFill>
                <a:schemeClr val="tx1"/>
              </a:solidFill>
              <a:cs typeface="BMWGroupTN Condensed TT Light" charset="0"/>
            </a:endParaRPr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可追溯来源</a:t>
            </a:r>
            <a:endParaRPr lang="en-US" sz="12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9" name="Shape 39"/>
          <p:cNvSpPr/>
          <p:nvPr/>
        </p:nvSpPr>
        <p:spPr>
          <a:xfrm>
            <a:off x="400050" y="4200525"/>
            <a:ext cx="3686175" cy="1028700"/>
          </a:xfrm>
          <a:custGeom>
            <a:avLst/>
            <a:gdLst/>
            <a:ahLst/>
            <a:cxnLst/>
            <a:rect l="l" t="t" r="r" b="b"/>
            <a:pathLst>
              <a:path w="3686175" h="1028700">
                <a:moveTo>
                  <a:pt x="38100" y="0"/>
                </a:moveTo>
                <a:lnTo>
                  <a:pt x="3571876" y="0"/>
                </a:lnTo>
                <a:cubicBezTo>
                  <a:pt x="3635002" y="0"/>
                  <a:pt x="3686175" y="51173"/>
                  <a:pt x="3686175" y="114299"/>
                </a:cubicBezTo>
                <a:lnTo>
                  <a:pt x="3686175" y="914401"/>
                </a:lnTo>
                <a:cubicBezTo>
                  <a:pt x="3686175" y="977527"/>
                  <a:pt x="3635002" y="1028700"/>
                  <a:pt x="3571876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0" name="Shape 40"/>
          <p:cNvSpPr/>
          <p:nvPr/>
        </p:nvSpPr>
        <p:spPr>
          <a:xfrm>
            <a:off x="400050" y="4200525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71" name="Shape 41"/>
          <p:cNvSpPr/>
          <p:nvPr/>
        </p:nvSpPr>
        <p:spPr>
          <a:xfrm>
            <a:off x="595313" y="43910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72" name="Text 42"/>
          <p:cNvSpPr/>
          <p:nvPr/>
        </p:nvSpPr>
        <p:spPr>
          <a:xfrm>
            <a:off x="885825" y="435292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响应速度</a:t>
            </a:r>
            <a:endParaRPr lang="en-US" sz="135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3" name="Text 43"/>
          <p:cNvSpPr/>
          <p:nvPr/>
        </p:nvSpPr>
        <p:spPr>
          <a:xfrm>
            <a:off x="571500" y="4695825"/>
            <a:ext cx="3429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000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整个流程在</a:t>
            </a:r>
            <a:r>
              <a:rPr lang="en-US" sz="1050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</a:t>
            </a:r>
            <a:r>
              <a:rPr lang="en-US" sz="1050" b="1" dirty="0">
                <a:solidFill>
                  <a:srgbClr val="4ECDC4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毫秒级</a:t>
            </a:r>
            <a:r>
              <a:rPr lang="en-US" sz="1050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完成</a:t>
            </a:r>
            <a:endParaRPr lang="en-US" sz="1050" dirty="0">
              <a:solidFill>
                <a:srgbClr val="FF0000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4" name="Text 44"/>
          <p:cNvSpPr/>
          <p:nvPr/>
        </p:nvSpPr>
        <p:spPr>
          <a:xfrm>
            <a:off x="571500" y="4924425"/>
            <a:ext cx="34194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用户体验几乎无感知延迟</a:t>
            </a:r>
            <a:endParaRPr lang="en-US" sz="9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5" name="Shape 45"/>
          <p:cNvSpPr/>
          <p:nvPr/>
        </p:nvSpPr>
        <p:spPr>
          <a:xfrm>
            <a:off x="4260800" y="4200525"/>
            <a:ext cx="3686175" cy="1028700"/>
          </a:xfrm>
          <a:custGeom>
            <a:avLst/>
            <a:gdLst/>
            <a:ahLst/>
            <a:cxnLst/>
            <a:rect l="l" t="t" r="r" b="b"/>
            <a:pathLst>
              <a:path w="3686175" h="1028700">
                <a:moveTo>
                  <a:pt x="38100" y="0"/>
                </a:moveTo>
                <a:lnTo>
                  <a:pt x="3571876" y="0"/>
                </a:lnTo>
                <a:cubicBezTo>
                  <a:pt x="3635002" y="0"/>
                  <a:pt x="3686175" y="51173"/>
                  <a:pt x="3686175" y="114299"/>
                </a:cubicBezTo>
                <a:lnTo>
                  <a:pt x="3686175" y="914401"/>
                </a:lnTo>
                <a:cubicBezTo>
                  <a:pt x="3686175" y="977527"/>
                  <a:pt x="3635002" y="1028700"/>
                  <a:pt x="3571876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6" name="Shape 46"/>
          <p:cNvSpPr/>
          <p:nvPr/>
        </p:nvSpPr>
        <p:spPr>
          <a:xfrm>
            <a:off x="4260800" y="4200525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77" name="Shape 47"/>
          <p:cNvSpPr/>
          <p:nvPr/>
        </p:nvSpPr>
        <p:spPr>
          <a:xfrm>
            <a:off x="4456063" y="43910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78" name="Text 48"/>
          <p:cNvSpPr/>
          <p:nvPr/>
        </p:nvSpPr>
        <p:spPr>
          <a:xfrm>
            <a:off x="4746575" y="435292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精准匹配</a:t>
            </a:r>
            <a:endParaRPr lang="en-US" sz="135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9" name="Text 49"/>
          <p:cNvSpPr/>
          <p:nvPr/>
        </p:nvSpPr>
        <p:spPr>
          <a:xfrm>
            <a:off x="4432250" y="4695825"/>
            <a:ext cx="3429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000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基于 </a:t>
            </a:r>
            <a:r>
              <a:rPr lang="en-US" sz="1050" b="1" dirty="0">
                <a:solidFill>
                  <a:srgbClr val="4ECDC4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语义相似度</a:t>
            </a:r>
            <a:r>
              <a:rPr lang="en-US" sz="1050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而非关键词</a:t>
            </a:r>
            <a:endParaRPr lang="en-US" sz="1050" dirty="0">
              <a:solidFill>
                <a:srgbClr val="FF0000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0" name="Text 50"/>
          <p:cNvSpPr/>
          <p:nvPr/>
        </p:nvSpPr>
        <p:spPr>
          <a:xfrm>
            <a:off x="4432250" y="4924425"/>
            <a:ext cx="34194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理解用户真实意图</a:t>
            </a:r>
            <a:endParaRPr lang="en-US" sz="9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1" name="Shape 51"/>
          <p:cNvSpPr/>
          <p:nvPr/>
        </p:nvSpPr>
        <p:spPr>
          <a:xfrm>
            <a:off x="8121551" y="4200525"/>
            <a:ext cx="3686175" cy="1028700"/>
          </a:xfrm>
          <a:custGeom>
            <a:avLst/>
            <a:gdLst/>
            <a:ahLst/>
            <a:cxnLst/>
            <a:rect l="l" t="t" r="r" b="b"/>
            <a:pathLst>
              <a:path w="3686175" h="1028700">
                <a:moveTo>
                  <a:pt x="38100" y="0"/>
                </a:moveTo>
                <a:lnTo>
                  <a:pt x="3571876" y="0"/>
                </a:lnTo>
                <a:cubicBezTo>
                  <a:pt x="3635002" y="0"/>
                  <a:pt x="3686175" y="51173"/>
                  <a:pt x="3686175" y="114299"/>
                </a:cubicBezTo>
                <a:lnTo>
                  <a:pt x="3686175" y="914401"/>
                </a:lnTo>
                <a:cubicBezTo>
                  <a:pt x="3686175" y="977527"/>
                  <a:pt x="3635002" y="1028700"/>
                  <a:pt x="3571876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2" name="Shape 52"/>
          <p:cNvSpPr/>
          <p:nvPr/>
        </p:nvSpPr>
        <p:spPr>
          <a:xfrm>
            <a:off x="8121551" y="4200525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83" name="Shape 53"/>
          <p:cNvSpPr/>
          <p:nvPr/>
        </p:nvSpPr>
        <p:spPr>
          <a:xfrm>
            <a:off x="8316813" y="43910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84" name="Text 54"/>
          <p:cNvSpPr/>
          <p:nvPr/>
        </p:nvSpPr>
        <p:spPr>
          <a:xfrm>
            <a:off x="8607326" y="435292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可追溯性</a:t>
            </a:r>
            <a:endParaRPr lang="en-US" sz="135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5" name="Text 55"/>
          <p:cNvSpPr/>
          <p:nvPr/>
        </p:nvSpPr>
        <p:spPr>
          <a:xfrm>
            <a:off x="8293001" y="4695825"/>
            <a:ext cx="3429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000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每个答案都标注 </a:t>
            </a:r>
            <a:r>
              <a:rPr lang="en-US" sz="1050" b="1" dirty="0">
                <a:solidFill>
                  <a:srgbClr val="4ECDC4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来源文档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86" name="Text 56"/>
          <p:cNvSpPr/>
          <p:nvPr/>
        </p:nvSpPr>
        <p:spPr>
          <a:xfrm>
            <a:off x="8293001" y="4924425"/>
            <a:ext cx="34194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确保信息准确可靠</a:t>
            </a:r>
            <a:endParaRPr lang="en-US" sz="9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11318240" cy="720090"/>
          </a:xfrm>
        </p:spPr>
        <p:txBody>
          <a:bodyPr vert="horz" wrap="square" lIns="0" tIns="0" rIns="0" bIns="0" rtlCol="0" anchor="b">
            <a:normAutofit fontScale="90000"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喂饭的艺术：如何把一本《经销商运营手册》变成AI的肌肉记忆</a:t>
            </a:r>
            <a:endParaRPr lang="zh-CN" altLang="en-US">
              <a:sym typeface="+mn-ea"/>
            </a:endParaRPr>
          </a:p>
        </p:txBody>
      </p:sp>
      <p:sp>
        <p:nvSpPr>
          <p:cNvPr id="16" name="Text 2"/>
          <p:cNvSpPr/>
          <p:nvPr/>
        </p:nvSpPr>
        <p:spPr>
          <a:xfrm>
            <a:off x="668020" y="1052195"/>
            <a:ext cx="11242675" cy="25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altLang="zh-CN" dirty="0"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GAIA知识库构建实操详解</a:t>
            </a:r>
            <a:endParaRPr lang="en-US" altLang="zh-CN" dirty="0">
              <a:latin typeface="BMWGroupTN Condensed TT Light" charset="0"/>
              <a:ea typeface="BMWGroupTN Condensed TT Light" charset="0"/>
              <a:cs typeface="BMWGroupTN Condensed TT Light" charset="0"/>
              <a:sym typeface="+mn-ea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571500" y="1669143"/>
            <a:ext cx="217714" cy="217714"/>
          </a:xfrm>
          <a:custGeom>
            <a:avLst/>
            <a:gdLst/>
            <a:ahLst/>
            <a:cxnLst/>
            <a:rect l="l" t="t" r="r" b="b"/>
            <a:pathLst>
              <a:path w="217714" h="217714">
                <a:moveTo>
                  <a:pt x="0" y="30616"/>
                </a:moveTo>
                <a:cubicBezTo>
                  <a:pt x="0" y="25003"/>
                  <a:pt x="4550" y="20411"/>
                  <a:pt x="10205" y="20411"/>
                </a:cubicBezTo>
                <a:lnTo>
                  <a:pt x="30616" y="20411"/>
                </a:lnTo>
                <a:cubicBezTo>
                  <a:pt x="36272" y="20411"/>
                  <a:pt x="40821" y="24961"/>
                  <a:pt x="40821" y="30616"/>
                </a:cubicBezTo>
                <a:lnTo>
                  <a:pt x="40821" y="74839"/>
                </a:lnTo>
                <a:lnTo>
                  <a:pt x="51027" y="74839"/>
                </a:lnTo>
                <a:cubicBezTo>
                  <a:pt x="56682" y="74839"/>
                  <a:pt x="61232" y="79389"/>
                  <a:pt x="61232" y="85045"/>
                </a:cubicBezTo>
                <a:cubicBezTo>
                  <a:pt x="61232" y="90700"/>
                  <a:pt x="56682" y="95250"/>
                  <a:pt x="51027" y="95250"/>
                </a:cubicBezTo>
                <a:lnTo>
                  <a:pt x="10205" y="95250"/>
                </a:lnTo>
                <a:cubicBezTo>
                  <a:pt x="4550" y="95250"/>
                  <a:pt x="0" y="90700"/>
                  <a:pt x="0" y="85045"/>
                </a:cubicBezTo>
                <a:cubicBezTo>
                  <a:pt x="0" y="79389"/>
                  <a:pt x="4550" y="74839"/>
                  <a:pt x="10205" y="74839"/>
                </a:cubicBezTo>
                <a:lnTo>
                  <a:pt x="20411" y="74839"/>
                </a:lnTo>
                <a:lnTo>
                  <a:pt x="20411" y="40821"/>
                </a:lnTo>
                <a:lnTo>
                  <a:pt x="10205" y="40821"/>
                </a:lnTo>
                <a:cubicBezTo>
                  <a:pt x="4550" y="40821"/>
                  <a:pt x="0" y="36272"/>
                  <a:pt x="0" y="30616"/>
                </a:cubicBezTo>
                <a:close/>
                <a:moveTo>
                  <a:pt x="12927" y="128077"/>
                </a:moveTo>
                <a:cubicBezTo>
                  <a:pt x="17774" y="124420"/>
                  <a:pt x="23685" y="122464"/>
                  <a:pt x="29766" y="122464"/>
                </a:cubicBezTo>
                <a:lnTo>
                  <a:pt x="31849" y="122464"/>
                </a:lnTo>
                <a:cubicBezTo>
                  <a:pt x="46179" y="122464"/>
                  <a:pt x="57830" y="134115"/>
                  <a:pt x="57830" y="148445"/>
                </a:cubicBezTo>
                <a:cubicBezTo>
                  <a:pt x="57830" y="156780"/>
                  <a:pt x="53833" y="164561"/>
                  <a:pt x="47115" y="169451"/>
                </a:cubicBezTo>
                <a:lnTo>
                  <a:pt x="36909" y="176893"/>
                </a:lnTo>
                <a:lnTo>
                  <a:pt x="51027" y="176893"/>
                </a:lnTo>
                <a:cubicBezTo>
                  <a:pt x="56682" y="176893"/>
                  <a:pt x="61232" y="181443"/>
                  <a:pt x="61232" y="187098"/>
                </a:cubicBezTo>
                <a:cubicBezTo>
                  <a:pt x="61232" y="192754"/>
                  <a:pt x="56682" y="197304"/>
                  <a:pt x="51027" y="197304"/>
                </a:cubicBezTo>
                <a:lnTo>
                  <a:pt x="12459" y="197304"/>
                </a:lnTo>
                <a:cubicBezTo>
                  <a:pt x="5570" y="197304"/>
                  <a:pt x="0" y="191733"/>
                  <a:pt x="0" y="184845"/>
                </a:cubicBezTo>
                <a:cubicBezTo>
                  <a:pt x="0" y="180847"/>
                  <a:pt x="1914" y="177105"/>
                  <a:pt x="5145" y="174767"/>
                </a:cubicBezTo>
                <a:lnTo>
                  <a:pt x="35123" y="152953"/>
                </a:lnTo>
                <a:cubicBezTo>
                  <a:pt x="36569" y="151890"/>
                  <a:pt x="37420" y="150231"/>
                  <a:pt x="37420" y="148445"/>
                </a:cubicBezTo>
                <a:cubicBezTo>
                  <a:pt x="37420" y="145384"/>
                  <a:pt x="34911" y="142875"/>
                  <a:pt x="31849" y="142875"/>
                </a:cubicBezTo>
                <a:lnTo>
                  <a:pt x="29766" y="142875"/>
                </a:lnTo>
                <a:cubicBezTo>
                  <a:pt x="28107" y="142875"/>
                  <a:pt x="26491" y="143428"/>
                  <a:pt x="25173" y="144406"/>
                </a:cubicBezTo>
                <a:lnTo>
                  <a:pt x="16329" y="151039"/>
                </a:lnTo>
                <a:cubicBezTo>
                  <a:pt x="11821" y="154441"/>
                  <a:pt x="5443" y="153506"/>
                  <a:pt x="2041" y="148998"/>
                </a:cubicBezTo>
                <a:cubicBezTo>
                  <a:pt x="-1361" y="144491"/>
                  <a:pt x="-425" y="138113"/>
                  <a:pt x="4082" y="134711"/>
                </a:cubicBezTo>
                <a:lnTo>
                  <a:pt x="12927" y="128077"/>
                </a:lnTo>
                <a:close/>
                <a:moveTo>
                  <a:pt x="95250" y="27214"/>
                </a:moveTo>
                <a:lnTo>
                  <a:pt x="204107" y="27214"/>
                </a:lnTo>
                <a:cubicBezTo>
                  <a:pt x="211634" y="27214"/>
                  <a:pt x="217714" y="33295"/>
                  <a:pt x="217714" y="40821"/>
                </a:cubicBezTo>
                <a:cubicBezTo>
                  <a:pt x="217714" y="48348"/>
                  <a:pt x="211634" y="54429"/>
                  <a:pt x="204107" y="54429"/>
                </a:cubicBezTo>
                <a:lnTo>
                  <a:pt x="95250" y="54429"/>
                </a:lnTo>
                <a:cubicBezTo>
                  <a:pt x="87724" y="54429"/>
                  <a:pt x="81643" y="48348"/>
                  <a:pt x="81643" y="40821"/>
                </a:cubicBezTo>
                <a:cubicBezTo>
                  <a:pt x="81643" y="33295"/>
                  <a:pt x="87724" y="27214"/>
                  <a:pt x="95250" y="27214"/>
                </a:cubicBezTo>
                <a:close/>
                <a:moveTo>
                  <a:pt x="95250" y="95250"/>
                </a:moveTo>
                <a:lnTo>
                  <a:pt x="204107" y="95250"/>
                </a:lnTo>
                <a:cubicBezTo>
                  <a:pt x="211634" y="95250"/>
                  <a:pt x="217714" y="101331"/>
                  <a:pt x="217714" y="108857"/>
                </a:cubicBezTo>
                <a:cubicBezTo>
                  <a:pt x="217714" y="116384"/>
                  <a:pt x="211634" y="122464"/>
                  <a:pt x="204107" y="122464"/>
                </a:cubicBezTo>
                <a:lnTo>
                  <a:pt x="95250" y="122464"/>
                </a:lnTo>
                <a:cubicBezTo>
                  <a:pt x="87724" y="122464"/>
                  <a:pt x="81643" y="116384"/>
                  <a:pt x="81643" y="108857"/>
                </a:cubicBezTo>
                <a:cubicBezTo>
                  <a:pt x="81643" y="101331"/>
                  <a:pt x="87724" y="95250"/>
                  <a:pt x="95250" y="95250"/>
                </a:cubicBezTo>
                <a:close/>
                <a:moveTo>
                  <a:pt x="95250" y="163286"/>
                </a:moveTo>
                <a:lnTo>
                  <a:pt x="204107" y="163286"/>
                </a:lnTo>
                <a:cubicBezTo>
                  <a:pt x="211634" y="163286"/>
                  <a:pt x="217714" y="169366"/>
                  <a:pt x="217714" y="176893"/>
                </a:cubicBezTo>
                <a:cubicBezTo>
                  <a:pt x="217714" y="184419"/>
                  <a:pt x="211634" y="190500"/>
                  <a:pt x="204107" y="190500"/>
                </a:cubicBezTo>
                <a:lnTo>
                  <a:pt x="95250" y="190500"/>
                </a:lnTo>
                <a:cubicBezTo>
                  <a:pt x="87724" y="190500"/>
                  <a:pt x="81643" y="184419"/>
                  <a:pt x="81643" y="176893"/>
                </a:cubicBezTo>
                <a:cubicBezTo>
                  <a:pt x="81643" y="169366"/>
                  <a:pt x="87724" y="163286"/>
                  <a:pt x="95250" y="163286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19" name="Text 5"/>
          <p:cNvSpPr/>
          <p:nvPr/>
        </p:nvSpPr>
        <p:spPr>
          <a:xfrm>
            <a:off x="1015365" y="1632585"/>
            <a:ext cx="4935855" cy="2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5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操作步骤</a:t>
            </a:r>
            <a:endParaRPr lang="en-US" sz="1715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0" name="Shape 6"/>
          <p:cNvSpPr/>
          <p:nvPr/>
        </p:nvSpPr>
        <p:spPr>
          <a:xfrm>
            <a:off x="544286" y="2068286"/>
            <a:ext cx="362857" cy="362857"/>
          </a:xfrm>
          <a:custGeom>
            <a:avLst/>
            <a:gdLst/>
            <a:ahLst/>
            <a:cxnLst/>
            <a:rect l="l" t="t" r="r" b="b"/>
            <a:pathLst>
              <a:path w="362857" h="362857">
                <a:moveTo>
                  <a:pt x="181429" y="0"/>
                </a:moveTo>
                <a:lnTo>
                  <a:pt x="181429" y="0"/>
                </a:lnTo>
                <a:cubicBezTo>
                  <a:pt x="281562" y="0"/>
                  <a:pt x="362857" y="81295"/>
                  <a:pt x="362857" y="181429"/>
                </a:cubicBezTo>
                <a:lnTo>
                  <a:pt x="362857" y="181429"/>
                </a:lnTo>
                <a:cubicBezTo>
                  <a:pt x="362857" y="281562"/>
                  <a:pt x="281562" y="362857"/>
                  <a:pt x="181429" y="362857"/>
                </a:cubicBezTo>
                <a:lnTo>
                  <a:pt x="181429" y="362857"/>
                </a:lnTo>
                <a:cubicBezTo>
                  <a:pt x="81295" y="362857"/>
                  <a:pt x="0" y="281562"/>
                  <a:pt x="0" y="181429"/>
                </a:cubicBezTo>
                <a:lnTo>
                  <a:pt x="0" y="181429"/>
                </a:lnTo>
                <a:cubicBezTo>
                  <a:pt x="0" y="81295"/>
                  <a:pt x="81295" y="0"/>
                  <a:pt x="181429" y="0"/>
                </a:cubicBezTo>
                <a:close/>
              </a:path>
            </a:pathLst>
          </a:custGeom>
          <a:solidFill>
            <a:schemeClr val="accent2"/>
          </a:solidFill>
        </p:spPr>
      </p:sp>
      <p:sp>
        <p:nvSpPr>
          <p:cNvPr id="21" name="Text 7"/>
          <p:cNvSpPr/>
          <p:nvPr/>
        </p:nvSpPr>
        <p:spPr>
          <a:xfrm>
            <a:off x="508000" y="2068286"/>
            <a:ext cx="435429" cy="362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5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1016000" y="2068286"/>
            <a:ext cx="4826000" cy="653143"/>
          </a:xfrm>
          <a:custGeom>
            <a:avLst/>
            <a:gdLst/>
            <a:ahLst/>
            <a:cxnLst/>
            <a:rect l="l" t="t" r="r" b="b"/>
            <a:pathLst>
              <a:path w="4826000" h="653143">
                <a:moveTo>
                  <a:pt x="72571" y="0"/>
                </a:moveTo>
                <a:lnTo>
                  <a:pt x="4753429" y="0"/>
                </a:lnTo>
                <a:cubicBezTo>
                  <a:pt x="4793509" y="0"/>
                  <a:pt x="4826000" y="32491"/>
                  <a:pt x="4826000" y="72571"/>
                </a:cubicBezTo>
                <a:lnTo>
                  <a:pt x="4826000" y="580572"/>
                </a:lnTo>
                <a:cubicBezTo>
                  <a:pt x="4826000" y="620652"/>
                  <a:pt x="4793509" y="653143"/>
                  <a:pt x="4753429" y="653143"/>
                </a:cubicBezTo>
                <a:lnTo>
                  <a:pt x="72571" y="653143"/>
                </a:lnTo>
                <a:cubicBezTo>
                  <a:pt x="32518" y="653143"/>
                  <a:pt x="0" y="620625"/>
                  <a:pt x="0" y="580572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Text 9"/>
          <p:cNvSpPr/>
          <p:nvPr/>
        </p:nvSpPr>
        <p:spPr>
          <a:xfrm>
            <a:off x="1124857" y="2177143"/>
            <a:ext cx="4680857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登录GAIA平台</a:t>
            </a:r>
            <a:endParaRPr lang="en-US" sz="1145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1124857" y="2431143"/>
            <a:ext cx="4671786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使用BMW统一认证账号进入系统</a:t>
            </a:r>
            <a:endParaRPr lang="en-US" sz="10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1" name="Shape 11"/>
          <p:cNvSpPr/>
          <p:nvPr/>
        </p:nvSpPr>
        <p:spPr>
          <a:xfrm>
            <a:off x="544286" y="2830286"/>
            <a:ext cx="362857" cy="362857"/>
          </a:xfrm>
          <a:custGeom>
            <a:avLst/>
            <a:gdLst/>
            <a:ahLst/>
            <a:cxnLst/>
            <a:rect l="l" t="t" r="r" b="b"/>
            <a:pathLst>
              <a:path w="362857" h="362857">
                <a:moveTo>
                  <a:pt x="181429" y="0"/>
                </a:moveTo>
                <a:lnTo>
                  <a:pt x="181429" y="0"/>
                </a:lnTo>
                <a:cubicBezTo>
                  <a:pt x="281562" y="0"/>
                  <a:pt x="362857" y="81295"/>
                  <a:pt x="362857" y="181429"/>
                </a:cubicBezTo>
                <a:lnTo>
                  <a:pt x="362857" y="181429"/>
                </a:lnTo>
                <a:cubicBezTo>
                  <a:pt x="362857" y="281562"/>
                  <a:pt x="281562" y="362857"/>
                  <a:pt x="181429" y="362857"/>
                </a:cubicBezTo>
                <a:lnTo>
                  <a:pt x="181429" y="362857"/>
                </a:lnTo>
                <a:cubicBezTo>
                  <a:pt x="81295" y="362857"/>
                  <a:pt x="0" y="281562"/>
                  <a:pt x="0" y="181429"/>
                </a:cubicBezTo>
                <a:lnTo>
                  <a:pt x="0" y="181429"/>
                </a:lnTo>
                <a:cubicBezTo>
                  <a:pt x="0" y="81295"/>
                  <a:pt x="81295" y="0"/>
                  <a:pt x="181429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p>
            <a:endParaRPr lang="zh-CN" altLang="en-US">
              <a:solidFill>
                <a:schemeClr val="accent1"/>
              </a:solidFill>
              <a:cs typeface="BMWGroupTN Condensed TT Light" charset="0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508000" y="2830286"/>
            <a:ext cx="435429" cy="362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5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2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3" name="Shape 13"/>
          <p:cNvSpPr/>
          <p:nvPr/>
        </p:nvSpPr>
        <p:spPr>
          <a:xfrm>
            <a:off x="1016000" y="2830286"/>
            <a:ext cx="4826000" cy="653143"/>
          </a:xfrm>
          <a:custGeom>
            <a:avLst/>
            <a:gdLst/>
            <a:ahLst/>
            <a:cxnLst/>
            <a:rect l="l" t="t" r="r" b="b"/>
            <a:pathLst>
              <a:path w="4826000" h="653143">
                <a:moveTo>
                  <a:pt x="72571" y="0"/>
                </a:moveTo>
                <a:lnTo>
                  <a:pt x="4753429" y="0"/>
                </a:lnTo>
                <a:cubicBezTo>
                  <a:pt x="4793509" y="0"/>
                  <a:pt x="4826000" y="32491"/>
                  <a:pt x="4826000" y="72571"/>
                </a:cubicBezTo>
                <a:lnTo>
                  <a:pt x="4826000" y="580572"/>
                </a:lnTo>
                <a:cubicBezTo>
                  <a:pt x="4826000" y="620652"/>
                  <a:pt x="4793509" y="653143"/>
                  <a:pt x="4753429" y="653143"/>
                </a:cubicBezTo>
                <a:lnTo>
                  <a:pt x="72571" y="653143"/>
                </a:lnTo>
                <a:cubicBezTo>
                  <a:pt x="32518" y="653143"/>
                  <a:pt x="0" y="620625"/>
                  <a:pt x="0" y="580572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Text 14"/>
          <p:cNvSpPr/>
          <p:nvPr/>
        </p:nvSpPr>
        <p:spPr>
          <a:xfrm>
            <a:off x="1124857" y="2939143"/>
            <a:ext cx="4680857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选择/新建知识库</a:t>
            </a:r>
            <a:endParaRPr lang="en-US" sz="1145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1124857" y="3193143"/>
            <a:ext cx="4671786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创建"经销商运营知识库"并设置权限</a:t>
            </a:r>
            <a:endParaRPr lang="en-US" sz="10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6" name="Shape 16"/>
          <p:cNvSpPr/>
          <p:nvPr/>
        </p:nvSpPr>
        <p:spPr>
          <a:xfrm>
            <a:off x="544286" y="3592286"/>
            <a:ext cx="362857" cy="362857"/>
          </a:xfrm>
          <a:custGeom>
            <a:avLst/>
            <a:gdLst/>
            <a:ahLst/>
            <a:cxnLst/>
            <a:rect l="l" t="t" r="r" b="b"/>
            <a:pathLst>
              <a:path w="362857" h="362857">
                <a:moveTo>
                  <a:pt x="181429" y="0"/>
                </a:moveTo>
                <a:lnTo>
                  <a:pt x="181429" y="0"/>
                </a:lnTo>
                <a:cubicBezTo>
                  <a:pt x="281562" y="0"/>
                  <a:pt x="362857" y="81295"/>
                  <a:pt x="362857" y="181429"/>
                </a:cubicBezTo>
                <a:lnTo>
                  <a:pt x="362857" y="181429"/>
                </a:lnTo>
                <a:cubicBezTo>
                  <a:pt x="362857" y="281562"/>
                  <a:pt x="281562" y="362857"/>
                  <a:pt x="181429" y="362857"/>
                </a:cubicBezTo>
                <a:lnTo>
                  <a:pt x="181429" y="362857"/>
                </a:lnTo>
                <a:cubicBezTo>
                  <a:pt x="81295" y="362857"/>
                  <a:pt x="0" y="281562"/>
                  <a:pt x="0" y="181429"/>
                </a:cubicBezTo>
                <a:lnTo>
                  <a:pt x="0" y="181429"/>
                </a:lnTo>
                <a:cubicBezTo>
                  <a:pt x="0" y="81295"/>
                  <a:pt x="81295" y="0"/>
                  <a:pt x="181429" y="0"/>
                </a:cubicBezTo>
                <a:close/>
              </a:path>
            </a:pathLst>
          </a:custGeom>
          <a:solidFill>
            <a:schemeClr val="accent2"/>
          </a:solidFill>
        </p:spPr>
      </p:sp>
      <p:sp>
        <p:nvSpPr>
          <p:cNvPr id="37" name="Text 17"/>
          <p:cNvSpPr/>
          <p:nvPr/>
        </p:nvSpPr>
        <p:spPr>
          <a:xfrm>
            <a:off x="508000" y="3592286"/>
            <a:ext cx="435429" cy="362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5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3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8" name="Shape 18"/>
          <p:cNvSpPr/>
          <p:nvPr/>
        </p:nvSpPr>
        <p:spPr>
          <a:xfrm>
            <a:off x="1016000" y="3592286"/>
            <a:ext cx="4826000" cy="653143"/>
          </a:xfrm>
          <a:custGeom>
            <a:avLst/>
            <a:gdLst/>
            <a:ahLst/>
            <a:cxnLst/>
            <a:rect l="l" t="t" r="r" b="b"/>
            <a:pathLst>
              <a:path w="4826000" h="653143">
                <a:moveTo>
                  <a:pt x="72571" y="0"/>
                </a:moveTo>
                <a:lnTo>
                  <a:pt x="4753429" y="0"/>
                </a:lnTo>
                <a:cubicBezTo>
                  <a:pt x="4793509" y="0"/>
                  <a:pt x="4826000" y="32491"/>
                  <a:pt x="4826000" y="72571"/>
                </a:cubicBezTo>
                <a:lnTo>
                  <a:pt x="4826000" y="580572"/>
                </a:lnTo>
                <a:cubicBezTo>
                  <a:pt x="4826000" y="620652"/>
                  <a:pt x="4793509" y="653143"/>
                  <a:pt x="4753429" y="653143"/>
                </a:cubicBezTo>
                <a:lnTo>
                  <a:pt x="72571" y="653143"/>
                </a:lnTo>
                <a:cubicBezTo>
                  <a:pt x="32518" y="653143"/>
                  <a:pt x="0" y="620625"/>
                  <a:pt x="0" y="580572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Text 19"/>
          <p:cNvSpPr/>
          <p:nvPr/>
        </p:nvSpPr>
        <p:spPr>
          <a:xfrm>
            <a:off x="1124857" y="3701143"/>
            <a:ext cx="4680857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上传文档</a:t>
            </a:r>
            <a:endParaRPr lang="en-US" sz="1145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0" name="Text 20"/>
          <p:cNvSpPr/>
          <p:nvPr/>
        </p:nvSpPr>
        <p:spPr>
          <a:xfrm>
            <a:off x="1124857" y="3955143"/>
            <a:ext cx="4671786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上传《宝马中国经销商运营手册（2025版）.pdf》</a:t>
            </a:r>
            <a:endParaRPr lang="en-US" sz="10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1" name="Shape 21"/>
          <p:cNvSpPr/>
          <p:nvPr/>
        </p:nvSpPr>
        <p:spPr>
          <a:xfrm>
            <a:off x="544286" y="4354286"/>
            <a:ext cx="362857" cy="362857"/>
          </a:xfrm>
          <a:custGeom>
            <a:avLst/>
            <a:gdLst/>
            <a:ahLst/>
            <a:cxnLst/>
            <a:rect l="l" t="t" r="r" b="b"/>
            <a:pathLst>
              <a:path w="362857" h="362857">
                <a:moveTo>
                  <a:pt x="181429" y="0"/>
                </a:moveTo>
                <a:lnTo>
                  <a:pt x="181429" y="0"/>
                </a:lnTo>
                <a:cubicBezTo>
                  <a:pt x="281562" y="0"/>
                  <a:pt x="362857" y="81295"/>
                  <a:pt x="362857" y="181429"/>
                </a:cubicBezTo>
                <a:lnTo>
                  <a:pt x="362857" y="181429"/>
                </a:lnTo>
                <a:cubicBezTo>
                  <a:pt x="362857" y="281562"/>
                  <a:pt x="281562" y="362857"/>
                  <a:pt x="181429" y="362857"/>
                </a:cubicBezTo>
                <a:lnTo>
                  <a:pt x="181429" y="362857"/>
                </a:lnTo>
                <a:cubicBezTo>
                  <a:pt x="81295" y="362857"/>
                  <a:pt x="0" y="281562"/>
                  <a:pt x="0" y="181429"/>
                </a:cubicBezTo>
                <a:lnTo>
                  <a:pt x="0" y="181429"/>
                </a:lnTo>
                <a:cubicBezTo>
                  <a:pt x="0" y="81295"/>
                  <a:pt x="81295" y="0"/>
                  <a:pt x="181429" y="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42" name="Text 22"/>
          <p:cNvSpPr/>
          <p:nvPr/>
        </p:nvSpPr>
        <p:spPr>
          <a:xfrm>
            <a:off x="508000" y="4354286"/>
            <a:ext cx="435429" cy="362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5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4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3" name="Shape 23"/>
          <p:cNvSpPr/>
          <p:nvPr/>
        </p:nvSpPr>
        <p:spPr>
          <a:xfrm>
            <a:off x="1016000" y="4354286"/>
            <a:ext cx="4826000" cy="653143"/>
          </a:xfrm>
          <a:custGeom>
            <a:avLst/>
            <a:gdLst/>
            <a:ahLst/>
            <a:cxnLst/>
            <a:rect l="l" t="t" r="r" b="b"/>
            <a:pathLst>
              <a:path w="4826000" h="653143">
                <a:moveTo>
                  <a:pt x="72571" y="0"/>
                </a:moveTo>
                <a:lnTo>
                  <a:pt x="4753429" y="0"/>
                </a:lnTo>
                <a:cubicBezTo>
                  <a:pt x="4793509" y="0"/>
                  <a:pt x="4826000" y="32491"/>
                  <a:pt x="4826000" y="72571"/>
                </a:cubicBezTo>
                <a:lnTo>
                  <a:pt x="4826000" y="580572"/>
                </a:lnTo>
                <a:cubicBezTo>
                  <a:pt x="4826000" y="620652"/>
                  <a:pt x="4793509" y="653143"/>
                  <a:pt x="4753429" y="653143"/>
                </a:cubicBezTo>
                <a:lnTo>
                  <a:pt x="72571" y="653143"/>
                </a:lnTo>
                <a:cubicBezTo>
                  <a:pt x="32518" y="653143"/>
                  <a:pt x="0" y="620625"/>
                  <a:pt x="0" y="580572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4" name="Text 24"/>
          <p:cNvSpPr/>
          <p:nvPr/>
        </p:nvSpPr>
        <p:spPr>
          <a:xfrm>
            <a:off x="1124857" y="4463143"/>
            <a:ext cx="4680857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设置分段参数</a:t>
            </a:r>
            <a:endParaRPr lang="en-US" sz="1145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5" name="Text 25"/>
          <p:cNvSpPr/>
          <p:nvPr/>
        </p:nvSpPr>
        <p:spPr>
          <a:xfrm>
            <a:off x="1124857" y="4717143"/>
            <a:ext cx="4671786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配置切片策略、重叠长度等参数</a:t>
            </a:r>
            <a:endParaRPr lang="en-US" sz="10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6" name="Shape 26"/>
          <p:cNvSpPr/>
          <p:nvPr/>
        </p:nvSpPr>
        <p:spPr>
          <a:xfrm>
            <a:off x="544286" y="5116286"/>
            <a:ext cx="362857" cy="362857"/>
          </a:xfrm>
          <a:custGeom>
            <a:avLst/>
            <a:gdLst/>
            <a:ahLst/>
            <a:cxnLst/>
            <a:rect l="l" t="t" r="r" b="b"/>
            <a:pathLst>
              <a:path w="362857" h="362857">
                <a:moveTo>
                  <a:pt x="181429" y="0"/>
                </a:moveTo>
                <a:lnTo>
                  <a:pt x="181429" y="0"/>
                </a:lnTo>
                <a:cubicBezTo>
                  <a:pt x="281562" y="0"/>
                  <a:pt x="362857" y="81295"/>
                  <a:pt x="362857" y="181429"/>
                </a:cubicBezTo>
                <a:lnTo>
                  <a:pt x="362857" y="181429"/>
                </a:lnTo>
                <a:cubicBezTo>
                  <a:pt x="362857" y="281562"/>
                  <a:pt x="281562" y="362857"/>
                  <a:pt x="181429" y="362857"/>
                </a:cubicBezTo>
                <a:lnTo>
                  <a:pt x="181429" y="362857"/>
                </a:lnTo>
                <a:cubicBezTo>
                  <a:pt x="81295" y="362857"/>
                  <a:pt x="0" y="281562"/>
                  <a:pt x="0" y="181429"/>
                </a:cubicBezTo>
                <a:lnTo>
                  <a:pt x="0" y="181429"/>
                </a:lnTo>
                <a:cubicBezTo>
                  <a:pt x="0" y="81295"/>
                  <a:pt x="81295" y="0"/>
                  <a:pt x="181429" y="0"/>
                </a:cubicBezTo>
                <a:close/>
              </a:path>
            </a:pathLst>
          </a:custGeom>
          <a:solidFill>
            <a:schemeClr val="accent2"/>
          </a:solidFill>
        </p:spPr>
      </p:sp>
      <p:sp>
        <p:nvSpPr>
          <p:cNvPr id="47" name="Text 27"/>
          <p:cNvSpPr/>
          <p:nvPr/>
        </p:nvSpPr>
        <p:spPr>
          <a:xfrm>
            <a:off x="508000" y="5116286"/>
            <a:ext cx="435429" cy="362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5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5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8" name="Shape 28"/>
          <p:cNvSpPr/>
          <p:nvPr/>
        </p:nvSpPr>
        <p:spPr>
          <a:xfrm>
            <a:off x="1016000" y="5116286"/>
            <a:ext cx="4826000" cy="653143"/>
          </a:xfrm>
          <a:custGeom>
            <a:avLst/>
            <a:gdLst/>
            <a:ahLst/>
            <a:cxnLst/>
            <a:rect l="l" t="t" r="r" b="b"/>
            <a:pathLst>
              <a:path w="4826000" h="653143">
                <a:moveTo>
                  <a:pt x="72571" y="0"/>
                </a:moveTo>
                <a:lnTo>
                  <a:pt x="4753429" y="0"/>
                </a:lnTo>
                <a:cubicBezTo>
                  <a:pt x="4793509" y="0"/>
                  <a:pt x="4826000" y="32491"/>
                  <a:pt x="4826000" y="72571"/>
                </a:cubicBezTo>
                <a:lnTo>
                  <a:pt x="4826000" y="580572"/>
                </a:lnTo>
                <a:cubicBezTo>
                  <a:pt x="4826000" y="620652"/>
                  <a:pt x="4793509" y="653143"/>
                  <a:pt x="4753429" y="653143"/>
                </a:cubicBezTo>
                <a:lnTo>
                  <a:pt x="72571" y="653143"/>
                </a:lnTo>
                <a:cubicBezTo>
                  <a:pt x="32518" y="653143"/>
                  <a:pt x="0" y="620625"/>
                  <a:pt x="0" y="580572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9" name="Text 29"/>
          <p:cNvSpPr/>
          <p:nvPr/>
        </p:nvSpPr>
        <p:spPr>
          <a:xfrm>
            <a:off x="1124857" y="5225143"/>
            <a:ext cx="4680857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等待处理完成</a:t>
            </a:r>
            <a:endParaRPr lang="en-US" sz="1145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0" name="Text 30"/>
          <p:cNvSpPr/>
          <p:nvPr/>
        </p:nvSpPr>
        <p:spPr>
          <a:xfrm>
            <a:off x="1124857" y="5479143"/>
            <a:ext cx="4671786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系统自动进行文档解析、切片、向量化</a:t>
            </a:r>
            <a:endParaRPr lang="en-US" sz="10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1" name="Shape 31"/>
          <p:cNvSpPr/>
          <p:nvPr/>
        </p:nvSpPr>
        <p:spPr>
          <a:xfrm>
            <a:off x="508091" y="6059896"/>
            <a:ext cx="5297714" cy="435429"/>
          </a:xfrm>
          <a:custGeom>
            <a:avLst/>
            <a:gdLst/>
            <a:ahLst/>
            <a:cxnLst/>
            <a:rect l="l" t="t" r="r" b="b"/>
            <a:pathLst>
              <a:path w="5297714" h="435429">
                <a:moveTo>
                  <a:pt x="72573" y="0"/>
                </a:moveTo>
                <a:lnTo>
                  <a:pt x="5225141" y="0"/>
                </a:lnTo>
                <a:cubicBezTo>
                  <a:pt x="5265222" y="0"/>
                  <a:pt x="5297714" y="32492"/>
                  <a:pt x="5297714" y="72573"/>
                </a:cubicBezTo>
                <a:lnTo>
                  <a:pt x="5297714" y="362856"/>
                </a:lnTo>
                <a:cubicBezTo>
                  <a:pt x="5297714" y="402937"/>
                  <a:pt x="5265222" y="435429"/>
                  <a:pt x="5225141" y="435429"/>
                </a:cubicBezTo>
                <a:lnTo>
                  <a:pt x="72573" y="435429"/>
                </a:lnTo>
                <a:cubicBezTo>
                  <a:pt x="32492" y="435429"/>
                  <a:pt x="0" y="402937"/>
                  <a:pt x="0" y="362856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gradFill flip="none" rotWithShape="1">
            <a:gsLst>
              <a:gs pos="0">
                <a:srgbClr val="1A535C"/>
              </a:gs>
              <a:gs pos="100000">
                <a:srgbClr val="4ECDC4"/>
              </a:gs>
            </a:gsLst>
            <a:lin ang="0" scaled="1"/>
          </a:gradFill>
        </p:spPr>
      </p:sp>
      <p:sp>
        <p:nvSpPr>
          <p:cNvPr id="62" name="Shape 32"/>
          <p:cNvSpPr/>
          <p:nvPr/>
        </p:nvSpPr>
        <p:spPr>
          <a:xfrm>
            <a:off x="635091" y="6205039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72571" y="145143"/>
                </a:moveTo>
                <a:cubicBezTo>
                  <a:pt x="112625" y="145143"/>
                  <a:pt x="145143" y="112625"/>
                  <a:pt x="145143" y="72571"/>
                </a:cubicBezTo>
                <a:cubicBezTo>
                  <a:pt x="145143" y="32518"/>
                  <a:pt x="112625" y="0"/>
                  <a:pt x="72571" y="0"/>
                </a:cubicBezTo>
                <a:cubicBezTo>
                  <a:pt x="32518" y="0"/>
                  <a:pt x="0" y="32518"/>
                  <a:pt x="0" y="72571"/>
                </a:cubicBezTo>
                <a:cubicBezTo>
                  <a:pt x="0" y="112625"/>
                  <a:pt x="32518" y="145143"/>
                  <a:pt x="72571" y="145143"/>
                </a:cubicBezTo>
                <a:close/>
                <a:moveTo>
                  <a:pt x="63500" y="45357"/>
                </a:moveTo>
                <a:cubicBezTo>
                  <a:pt x="63500" y="40350"/>
                  <a:pt x="67565" y="36286"/>
                  <a:pt x="72571" y="36286"/>
                </a:cubicBezTo>
                <a:cubicBezTo>
                  <a:pt x="77578" y="36286"/>
                  <a:pt x="81643" y="40350"/>
                  <a:pt x="81643" y="45357"/>
                </a:cubicBezTo>
                <a:cubicBezTo>
                  <a:pt x="81643" y="50364"/>
                  <a:pt x="77578" y="54429"/>
                  <a:pt x="72571" y="54429"/>
                </a:cubicBezTo>
                <a:cubicBezTo>
                  <a:pt x="67565" y="54429"/>
                  <a:pt x="63500" y="50364"/>
                  <a:pt x="63500" y="45357"/>
                </a:cubicBezTo>
                <a:close/>
                <a:moveTo>
                  <a:pt x="61232" y="63500"/>
                </a:moveTo>
                <a:lnTo>
                  <a:pt x="74839" y="63500"/>
                </a:lnTo>
                <a:cubicBezTo>
                  <a:pt x="78610" y="63500"/>
                  <a:pt x="81643" y="66533"/>
                  <a:pt x="81643" y="70304"/>
                </a:cubicBezTo>
                <a:lnTo>
                  <a:pt x="81643" y="95250"/>
                </a:lnTo>
                <a:lnTo>
                  <a:pt x="83911" y="95250"/>
                </a:lnTo>
                <a:cubicBezTo>
                  <a:pt x="87681" y="95250"/>
                  <a:pt x="90714" y="98283"/>
                  <a:pt x="90714" y="102054"/>
                </a:cubicBezTo>
                <a:cubicBezTo>
                  <a:pt x="90714" y="105824"/>
                  <a:pt x="87681" y="108857"/>
                  <a:pt x="83911" y="108857"/>
                </a:cubicBezTo>
                <a:lnTo>
                  <a:pt x="61232" y="108857"/>
                </a:lnTo>
                <a:cubicBezTo>
                  <a:pt x="57462" y="108857"/>
                  <a:pt x="54429" y="105824"/>
                  <a:pt x="54429" y="102054"/>
                </a:cubicBezTo>
                <a:cubicBezTo>
                  <a:pt x="54429" y="98283"/>
                  <a:pt x="57462" y="95250"/>
                  <a:pt x="61232" y="95250"/>
                </a:cubicBezTo>
                <a:lnTo>
                  <a:pt x="68036" y="95250"/>
                </a:lnTo>
                <a:lnTo>
                  <a:pt x="68036" y="77107"/>
                </a:lnTo>
                <a:lnTo>
                  <a:pt x="61232" y="77107"/>
                </a:lnTo>
                <a:cubicBezTo>
                  <a:pt x="57462" y="77107"/>
                  <a:pt x="54429" y="74074"/>
                  <a:pt x="54429" y="70304"/>
                </a:cubicBezTo>
                <a:cubicBezTo>
                  <a:pt x="54429" y="66533"/>
                  <a:pt x="57462" y="63500"/>
                  <a:pt x="61232" y="6350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3" name="Text 33"/>
          <p:cNvSpPr/>
          <p:nvPr/>
        </p:nvSpPr>
        <p:spPr>
          <a:xfrm>
            <a:off x="850213" y="6168753"/>
            <a:ext cx="4919306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一本800页的手册，系统会把它拆成一片片"知识卡片"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4" name="Shape 34"/>
          <p:cNvSpPr/>
          <p:nvPr/>
        </p:nvSpPr>
        <p:spPr>
          <a:xfrm>
            <a:off x="6168571" y="1451429"/>
            <a:ext cx="5660571" cy="5043714"/>
          </a:xfrm>
          <a:custGeom>
            <a:avLst/>
            <a:gdLst/>
            <a:ahLst/>
            <a:cxnLst/>
            <a:rect l="l" t="t" r="r" b="b"/>
            <a:pathLst>
              <a:path w="5660571" h="5043714">
                <a:moveTo>
                  <a:pt x="145158" y="0"/>
                </a:moveTo>
                <a:lnTo>
                  <a:pt x="5515413" y="0"/>
                </a:lnTo>
                <a:cubicBezTo>
                  <a:pt x="5595528" y="0"/>
                  <a:pt x="5660571" y="65043"/>
                  <a:pt x="5660571" y="145158"/>
                </a:cubicBezTo>
                <a:lnTo>
                  <a:pt x="5660571" y="4898556"/>
                </a:lnTo>
                <a:cubicBezTo>
                  <a:pt x="5660571" y="4978671"/>
                  <a:pt x="5595528" y="5043714"/>
                  <a:pt x="5515413" y="5043714"/>
                </a:cubicBezTo>
                <a:lnTo>
                  <a:pt x="145158" y="5043714"/>
                </a:lnTo>
                <a:cubicBezTo>
                  <a:pt x="65043" y="5043714"/>
                  <a:pt x="0" y="4978671"/>
                  <a:pt x="0" y="4898556"/>
                </a:cubicBezTo>
                <a:lnTo>
                  <a:pt x="0" y="145158"/>
                </a:lnTo>
                <a:cubicBezTo>
                  <a:pt x="0" y="65043"/>
                  <a:pt x="65043" y="0"/>
                  <a:pt x="145158" y="0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65" name="Shape 35"/>
          <p:cNvSpPr/>
          <p:nvPr/>
        </p:nvSpPr>
        <p:spPr>
          <a:xfrm>
            <a:off x="6377214" y="1669143"/>
            <a:ext cx="217714" cy="217714"/>
          </a:xfrm>
          <a:custGeom>
            <a:avLst/>
            <a:gdLst/>
            <a:ahLst/>
            <a:cxnLst/>
            <a:rect l="l" t="t" r="r" b="b"/>
            <a:pathLst>
              <a:path w="217714" h="217714">
                <a:moveTo>
                  <a:pt x="81643" y="108857"/>
                </a:moveTo>
                <a:lnTo>
                  <a:pt x="64847" y="125653"/>
                </a:lnTo>
                <a:cubicBezTo>
                  <a:pt x="59489" y="123570"/>
                  <a:pt x="53706" y="122464"/>
                  <a:pt x="47625" y="122464"/>
                </a:cubicBezTo>
                <a:cubicBezTo>
                  <a:pt x="21304" y="122464"/>
                  <a:pt x="0" y="143768"/>
                  <a:pt x="0" y="170089"/>
                </a:cubicBezTo>
                <a:cubicBezTo>
                  <a:pt x="0" y="196411"/>
                  <a:pt x="21304" y="217714"/>
                  <a:pt x="47625" y="217714"/>
                </a:cubicBezTo>
                <a:cubicBezTo>
                  <a:pt x="73946" y="217714"/>
                  <a:pt x="95250" y="196411"/>
                  <a:pt x="95250" y="170089"/>
                </a:cubicBezTo>
                <a:cubicBezTo>
                  <a:pt x="95250" y="164009"/>
                  <a:pt x="94102" y="158226"/>
                  <a:pt x="92061" y="152868"/>
                </a:cubicBezTo>
                <a:lnTo>
                  <a:pt x="212271" y="32657"/>
                </a:lnTo>
                <a:cubicBezTo>
                  <a:pt x="215291" y="29638"/>
                  <a:pt x="215291" y="24791"/>
                  <a:pt x="212271" y="21771"/>
                </a:cubicBezTo>
                <a:cubicBezTo>
                  <a:pt x="200238" y="9738"/>
                  <a:pt x="180762" y="9738"/>
                  <a:pt x="168729" y="21771"/>
                </a:cubicBezTo>
                <a:lnTo>
                  <a:pt x="108857" y="81643"/>
                </a:lnTo>
                <a:lnTo>
                  <a:pt x="92061" y="64847"/>
                </a:lnTo>
                <a:cubicBezTo>
                  <a:pt x="94144" y="59489"/>
                  <a:pt x="95250" y="53706"/>
                  <a:pt x="95250" y="47625"/>
                </a:cubicBezTo>
                <a:cubicBezTo>
                  <a:pt x="95250" y="21304"/>
                  <a:pt x="73946" y="0"/>
                  <a:pt x="47625" y="0"/>
                </a:cubicBezTo>
                <a:cubicBezTo>
                  <a:pt x="21304" y="0"/>
                  <a:pt x="0" y="21304"/>
                  <a:pt x="0" y="47625"/>
                </a:cubicBezTo>
                <a:cubicBezTo>
                  <a:pt x="0" y="73946"/>
                  <a:pt x="21304" y="95250"/>
                  <a:pt x="47625" y="95250"/>
                </a:cubicBezTo>
                <a:cubicBezTo>
                  <a:pt x="53706" y="95250"/>
                  <a:pt x="59489" y="94102"/>
                  <a:pt x="64847" y="92061"/>
                </a:cubicBezTo>
                <a:lnTo>
                  <a:pt x="81643" y="108857"/>
                </a:lnTo>
                <a:close/>
                <a:moveTo>
                  <a:pt x="123272" y="150486"/>
                </a:moveTo>
                <a:lnTo>
                  <a:pt x="168729" y="195943"/>
                </a:lnTo>
                <a:cubicBezTo>
                  <a:pt x="180762" y="207977"/>
                  <a:pt x="200238" y="207977"/>
                  <a:pt x="212271" y="195943"/>
                </a:cubicBezTo>
                <a:cubicBezTo>
                  <a:pt x="215291" y="192924"/>
                  <a:pt x="215291" y="188076"/>
                  <a:pt x="212271" y="185057"/>
                </a:cubicBezTo>
                <a:lnTo>
                  <a:pt x="150486" y="123272"/>
                </a:lnTo>
                <a:lnTo>
                  <a:pt x="123272" y="150486"/>
                </a:lnTo>
                <a:close/>
                <a:moveTo>
                  <a:pt x="27214" y="47625"/>
                </a:moveTo>
                <a:cubicBezTo>
                  <a:pt x="27214" y="36360"/>
                  <a:pt x="36360" y="27214"/>
                  <a:pt x="47625" y="27214"/>
                </a:cubicBezTo>
                <a:cubicBezTo>
                  <a:pt x="58890" y="27214"/>
                  <a:pt x="68036" y="36360"/>
                  <a:pt x="68036" y="47625"/>
                </a:cubicBezTo>
                <a:cubicBezTo>
                  <a:pt x="68036" y="58890"/>
                  <a:pt x="58890" y="68036"/>
                  <a:pt x="47625" y="68036"/>
                </a:cubicBezTo>
                <a:cubicBezTo>
                  <a:pt x="36360" y="68036"/>
                  <a:pt x="27214" y="58890"/>
                  <a:pt x="27214" y="47625"/>
                </a:cubicBezTo>
                <a:close/>
                <a:moveTo>
                  <a:pt x="47625" y="149679"/>
                </a:moveTo>
                <a:cubicBezTo>
                  <a:pt x="58890" y="149679"/>
                  <a:pt x="68036" y="158824"/>
                  <a:pt x="68036" y="170089"/>
                </a:cubicBezTo>
                <a:cubicBezTo>
                  <a:pt x="68036" y="181354"/>
                  <a:pt x="58890" y="190500"/>
                  <a:pt x="47625" y="190500"/>
                </a:cubicBezTo>
                <a:cubicBezTo>
                  <a:pt x="36360" y="190500"/>
                  <a:pt x="27214" y="181354"/>
                  <a:pt x="27214" y="170089"/>
                </a:cubicBezTo>
                <a:cubicBezTo>
                  <a:pt x="27214" y="158824"/>
                  <a:pt x="36360" y="149679"/>
                  <a:pt x="47625" y="149679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66" name="Text 36"/>
          <p:cNvSpPr/>
          <p:nvPr/>
        </p:nvSpPr>
        <p:spPr>
          <a:xfrm>
            <a:off x="6622143" y="1632857"/>
            <a:ext cx="5134429" cy="2902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5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核心机制——切片 (Chunking)</a:t>
            </a:r>
            <a:endParaRPr lang="en-US" sz="1715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7" name="Shape 37"/>
          <p:cNvSpPr/>
          <p:nvPr/>
        </p:nvSpPr>
        <p:spPr>
          <a:xfrm>
            <a:off x="6350000" y="2068195"/>
            <a:ext cx="5297805" cy="2395220"/>
          </a:xfrm>
          <a:custGeom>
            <a:avLst/>
            <a:gdLst/>
            <a:ahLst/>
            <a:cxnLst/>
            <a:rect l="l" t="t" r="r" b="b"/>
            <a:pathLst>
              <a:path w="5297714" h="2068286">
                <a:moveTo>
                  <a:pt x="108854" y="0"/>
                </a:moveTo>
                <a:lnTo>
                  <a:pt x="5188860" y="0"/>
                </a:lnTo>
                <a:cubicBezTo>
                  <a:pt x="5248979" y="0"/>
                  <a:pt x="5297714" y="48736"/>
                  <a:pt x="5297714" y="108854"/>
                </a:cubicBezTo>
                <a:lnTo>
                  <a:pt x="5297714" y="1959432"/>
                </a:lnTo>
                <a:cubicBezTo>
                  <a:pt x="5297714" y="2019550"/>
                  <a:pt x="5248979" y="2068286"/>
                  <a:pt x="5188860" y="2068286"/>
                </a:cubicBezTo>
                <a:lnTo>
                  <a:pt x="108854" y="2068286"/>
                </a:lnTo>
                <a:cubicBezTo>
                  <a:pt x="48736" y="2068286"/>
                  <a:pt x="0" y="2019550"/>
                  <a:pt x="0" y="1959432"/>
                </a:cubicBezTo>
                <a:lnTo>
                  <a:pt x="0" y="108854"/>
                </a:lnTo>
                <a:cubicBezTo>
                  <a:pt x="0" y="48776"/>
                  <a:pt x="48776" y="0"/>
                  <a:pt x="108854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68" name="Text 38"/>
          <p:cNvSpPr/>
          <p:nvPr/>
        </p:nvSpPr>
        <p:spPr>
          <a:xfrm>
            <a:off x="6495143" y="2213429"/>
            <a:ext cx="1052286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5" b="1" dirty="0">
                <a:solidFill>
                  <a:srgbClr val="1A53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PDF页面示意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9" name="Text 39"/>
          <p:cNvSpPr/>
          <p:nvPr/>
        </p:nvSpPr>
        <p:spPr>
          <a:xfrm>
            <a:off x="11102436" y="2249714"/>
            <a:ext cx="462643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第32页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0" name="Shape 40"/>
          <p:cNvSpPr/>
          <p:nvPr/>
        </p:nvSpPr>
        <p:spPr>
          <a:xfrm>
            <a:off x="6504305" y="2585085"/>
            <a:ext cx="4989195" cy="1659890"/>
          </a:xfrm>
          <a:custGeom>
            <a:avLst/>
            <a:gdLst/>
            <a:ahLst/>
            <a:cxnLst/>
            <a:rect l="l" t="t" r="r" b="b"/>
            <a:pathLst>
              <a:path w="4989286" h="1397000">
                <a:moveTo>
                  <a:pt x="72574" y="0"/>
                </a:moveTo>
                <a:lnTo>
                  <a:pt x="4916712" y="0"/>
                </a:lnTo>
                <a:cubicBezTo>
                  <a:pt x="4956793" y="0"/>
                  <a:pt x="4989286" y="32493"/>
                  <a:pt x="4989286" y="72574"/>
                </a:cubicBezTo>
                <a:lnTo>
                  <a:pt x="4989286" y="1324426"/>
                </a:lnTo>
                <a:cubicBezTo>
                  <a:pt x="4989286" y="1364507"/>
                  <a:pt x="4956793" y="1397000"/>
                  <a:pt x="4916712" y="1397000"/>
                </a:cubicBezTo>
                <a:lnTo>
                  <a:pt x="72574" y="1397000"/>
                </a:lnTo>
                <a:cubicBezTo>
                  <a:pt x="32493" y="1397000"/>
                  <a:pt x="0" y="1364507"/>
                  <a:pt x="0" y="1324426"/>
                </a:cubicBezTo>
                <a:lnTo>
                  <a:pt x="0" y="72574"/>
                </a:lnTo>
                <a:cubicBezTo>
                  <a:pt x="0" y="32519"/>
                  <a:pt x="32519" y="0"/>
                  <a:pt x="72574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1A535C"/>
            </a:solidFill>
            <a:prstDash val="dash"/>
          </a:ln>
        </p:spPr>
      </p:sp>
      <p:sp>
        <p:nvSpPr>
          <p:cNvPr id="71" name="Shape 41"/>
          <p:cNvSpPr/>
          <p:nvPr/>
        </p:nvSpPr>
        <p:spPr>
          <a:xfrm>
            <a:off x="6622143" y="3184071"/>
            <a:ext cx="4753429" cy="18143"/>
          </a:xfrm>
          <a:custGeom>
            <a:avLst/>
            <a:gdLst/>
            <a:ahLst/>
            <a:cxnLst/>
            <a:rect l="l" t="t" r="r" b="b"/>
            <a:pathLst>
              <a:path w="4753429" h="18143">
                <a:moveTo>
                  <a:pt x="0" y="0"/>
                </a:moveTo>
                <a:lnTo>
                  <a:pt x="4753429" y="0"/>
                </a:lnTo>
                <a:lnTo>
                  <a:pt x="4753429" y="18143"/>
                </a:lnTo>
                <a:lnTo>
                  <a:pt x="0" y="18143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72" name="Text 42"/>
          <p:cNvSpPr/>
          <p:nvPr/>
        </p:nvSpPr>
        <p:spPr>
          <a:xfrm>
            <a:off x="6622143" y="2703286"/>
            <a:ext cx="4816929" cy="362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5" b="1" dirty="0">
                <a:solidFill>
                  <a:srgbClr val="FFFFFF"/>
                </a:solidFill>
                <a:highlight>
                  <a:srgbClr val="4ECDC4">
                    <a:alpha val="10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Chunk 1 </a:t>
            </a:r>
            <a:r>
              <a:rPr lang="en-US" sz="1000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BMW X5配备的自适应双轴空气悬架，可在不同驾驶模式下调整车身高度...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3" name="Shape 43"/>
          <p:cNvSpPr/>
          <p:nvPr/>
        </p:nvSpPr>
        <p:spPr>
          <a:xfrm>
            <a:off x="6631033" y="3683181"/>
            <a:ext cx="4753429" cy="18143"/>
          </a:xfrm>
          <a:custGeom>
            <a:avLst/>
            <a:gdLst/>
            <a:ahLst/>
            <a:cxnLst/>
            <a:rect l="l" t="t" r="r" b="b"/>
            <a:pathLst>
              <a:path w="4753429" h="18143">
                <a:moveTo>
                  <a:pt x="0" y="0"/>
                </a:moveTo>
                <a:lnTo>
                  <a:pt x="4753429" y="0"/>
                </a:lnTo>
                <a:lnTo>
                  <a:pt x="4753429" y="18143"/>
                </a:lnTo>
                <a:lnTo>
                  <a:pt x="0" y="18143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74" name="Text 44"/>
          <p:cNvSpPr/>
          <p:nvPr/>
        </p:nvSpPr>
        <p:spPr>
          <a:xfrm>
            <a:off x="6622143" y="3374299"/>
            <a:ext cx="4816929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5" b="1" dirty="0">
                <a:solidFill>
                  <a:srgbClr val="FFFFFF"/>
                </a:solidFill>
                <a:highlight>
                  <a:srgbClr val="4ECDC4">
                    <a:alpha val="10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Chunk 2 </a:t>
            </a:r>
            <a:r>
              <a:rPr lang="en-US" sz="1000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在运动模式下，车身会自动降低10mm以提升操控稳定性。舒适模式下...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5" name="Text 45"/>
          <p:cNvSpPr/>
          <p:nvPr/>
        </p:nvSpPr>
        <p:spPr>
          <a:xfrm>
            <a:off x="6621508" y="3828324"/>
            <a:ext cx="4816929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5" b="1" dirty="0">
                <a:solidFill>
                  <a:srgbClr val="FFFFFF"/>
                </a:solidFill>
                <a:highlight>
                  <a:srgbClr val="4ECDC4">
                    <a:alpha val="10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Chunk 3 </a:t>
            </a:r>
            <a:r>
              <a:rPr lang="en-US" sz="1000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越野模式下，车身可升高40mm，提供更强的通过性。配合xDrive系统...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6" name="Shape 46"/>
          <p:cNvSpPr/>
          <p:nvPr/>
        </p:nvSpPr>
        <p:spPr>
          <a:xfrm>
            <a:off x="6354536" y="4616994"/>
            <a:ext cx="2585357" cy="625929"/>
          </a:xfrm>
          <a:custGeom>
            <a:avLst/>
            <a:gdLst/>
            <a:ahLst/>
            <a:cxnLst/>
            <a:rect l="l" t="t" r="r" b="b"/>
            <a:pathLst>
              <a:path w="2585357" h="625929">
                <a:moveTo>
                  <a:pt x="72570" y="0"/>
                </a:moveTo>
                <a:lnTo>
                  <a:pt x="2512787" y="0"/>
                </a:lnTo>
                <a:cubicBezTo>
                  <a:pt x="2552866" y="0"/>
                  <a:pt x="2585357" y="32491"/>
                  <a:pt x="2585357" y="72570"/>
                </a:cubicBezTo>
                <a:lnTo>
                  <a:pt x="2585357" y="553358"/>
                </a:lnTo>
                <a:cubicBezTo>
                  <a:pt x="2585357" y="593438"/>
                  <a:pt x="2552866" y="625929"/>
                  <a:pt x="2512787" y="625929"/>
                </a:cubicBezTo>
                <a:lnTo>
                  <a:pt x="72570" y="625929"/>
                </a:lnTo>
                <a:cubicBezTo>
                  <a:pt x="32491" y="625929"/>
                  <a:pt x="0" y="593438"/>
                  <a:pt x="0" y="553358"/>
                </a:cubicBezTo>
                <a:lnTo>
                  <a:pt x="0" y="72570"/>
                </a:lnTo>
                <a:cubicBezTo>
                  <a:pt x="0" y="32518"/>
                  <a:pt x="32518" y="0"/>
                  <a:pt x="72570" y="0"/>
                </a:cubicBezTo>
                <a:close/>
              </a:path>
            </a:pathLst>
          </a:custGeom>
          <a:solidFill>
            <a:srgbClr val="FEF2F2"/>
          </a:solidFill>
          <a:ln w="12700">
            <a:solidFill>
              <a:srgbClr val="FFC9C9"/>
            </a:solidFill>
            <a:prstDash val="solid"/>
          </a:ln>
        </p:spPr>
      </p:sp>
      <p:sp>
        <p:nvSpPr>
          <p:cNvPr id="77" name="Shape 47"/>
          <p:cNvSpPr/>
          <p:nvPr/>
        </p:nvSpPr>
        <p:spPr>
          <a:xfrm>
            <a:off x="6486071" y="4748530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72571" y="145143"/>
                </a:moveTo>
                <a:cubicBezTo>
                  <a:pt x="112625" y="145143"/>
                  <a:pt x="145143" y="112625"/>
                  <a:pt x="145143" y="72571"/>
                </a:cubicBezTo>
                <a:cubicBezTo>
                  <a:pt x="145143" y="32518"/>
                  <a:pt x="112625" y="0"/>
                  <a:pt x="72571" y="0"/>
                </a:cubicBezTo>
                <a:cubicBezTo>
                  <a:pt x="32518" y="0"/>
                  <a:pt x="0" y="32518"/>
                  <a:pt x="0" y="72571"/>
                </a:cubicBezTo>
                <a:cubicBezTo>
                  <a:pt x="0" y="112625"/>
                  <a:pt x="32518" y="145143"/>
                  <a:pt x="72571" y="145143"/>
                </a:cubicBezTo>
                <a:close/>
                <a:moveTo>
                  <a:pt x="47342" y="47342"/>
                </a:moveTo>
                <a:cubicBezTo>
                  <a:pt x="50006" y="44677"/>
                  <a:pt x="54315" y="44677"/>
                  <a:pt x="56952" y="47342"/>
                </a:cubicBezTo>
                <a:lnTo>
                  <a:pt x="72543" y="62933"/>
                </a:lnTo>
                <a:lnTo>
                  <a:pt x="88135" y="47342"/>
                </a:lnTo>
                <a:cubicBezTo>
                  <a:pt x="90799" y="44677"/>
                  <a:pt x="95108" y="44677"/>
                  <a:pt x="97745" y="47342"/>
                </a:cubicBezTo>
                <a:cubicBezTo>
                  <a:pt x="100381" y="50006"/>
                  <a:pt x="100409" y="54315"/>
                  <a:pt x="97745" y="56952"/>
                </a:cubicBezTo>
                <a:lnTo>
                  <a:pt x="82153" y="72543"/>
                </a:lnTo>
                <a:lnTo>
                  <a:pt x="97745" y="88135"/>
                </a:lnTo>
                <a:cubicBezTo>
                  <a:pt x="100409" y="90799"/>
                  <a:pt x="100409" y="95108"/>
                  <a:pt x="97745" y="97745"/>
                </a:cubicBezTo>
                <a:cubicBezTo>
                  <a:pt x="95080" y="100381"/>
                  <a:pt x="90771" y="100409"/>
                  <a:pt x="88135" y="97745"/>
                </a:cubicBezTo>
                <a:lnTo>
                  <a:pt x="72543" y="82153"/>
                </a:lnTo>
                <a:lnTo>
                  <a:pt x="56952" y="97745"/>
                </a:lnTo>
                <a:cubicBezTo>
                  <a:pt x="54287" y="100409"/>
                  <a:pt x="49978" y="100409"/>
                  <a:pt x="47342" y="97745"/>
                </a:cubicBezTo>
                <a:cubicBezTo>
                  <a:pt x="44705" y="95080"/>
                  <a:pt x="44677" y="90771"/>
                  <a:pt x="47342" y="88135"/>
                </a:cubicBezTo>
                <a:lnTo>
                  <a:pt x="62933" y="72543"/>
                </a:lnTo>
                <a:lnTo>
                  <a:pt x="47342" y="56952"/>
                </a:lnTo>
                <a:cubicBezTo>
                  <a:pt x="44677" y="54287"/>
                  <a:pt x="44677" y="49978"/>
                  <a:pt x="47342" y="47342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78" name="Text 48"/>
          <p:cNvSpPr/>
          <p:nvPr/>
        </p:nvSpPr>
        <p:spPr>
          <a:xfrm>
            <a:off x="6721929" y="4730387"/>
            <a:ext cx="571500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E7000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切得太碎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9" name="Text 49"/>
          <p:cNvSpPr/>
          <p:nvPr/>
        </p:nvSpPr>
        <p:spPr>
          <a:xfrm>
            <a:off x="6467929" y="4984387"/>
            <a:ext cx="2413000" cy="1451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AI断章取义，丢失上下文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80" name="Shape 50"/>
          <p:cNvSpPr/>
          <p:nvPr/>
        </p:nvSpPr>
        <p:spPr>
          <a:xfrm>
            <a:off x="9057821" y="4616994"/>
            <a:ext cx="2585357" cy="625929"/>
          </a:xfrm>
          <a:custGeom>
            <a:avLst/>
            <a:gdLst/>
            <a:ahLst/>
            <a:cxnLst/>
            <a:rect l="l" t="t" r="r" b="b"/>
            <a:pathLst>
              <a:path w="2585357" h="625929">
                <a:moveTo>
                  <a:pt x="72570" y="0"/>
                </a:moveTo>
                <a:lnTo>
                  <a:pt x="2512787" y="0"/>
                </a:lnTo>
                <a:cubicBezTo>
                  <a:pt x="2552866" y="0"/>
                  <a:pt x="2585357" y="32491"/>
                  <a:pt x="2585357" y="72570"/>
                </a:cubicBezTo>
                <a:lnTo>
                  <a:pt x="2585357" y="553358"/>
                </a:lnTo>
                <a:cubicBezTo>
                  <a:pt x="2585357" y="593438"/>
                  <a:pt x="2552866" y="625929"/>
                  <a:pt x="2512787" y="625929"/>
                </a:cubicBezTo>
                <a:lnTo>
                  <a:pt x="72570" y="625929"/>
                </a:lnTo>
                <a:cubicBezTo>
                  <a:pt x="32491" y="625929"/>
                  <a:pt x="0" y="593438"/>
                  <a:pt x="0" y="553358"/>
                </a:cubicBezTo>
                <a:lnTo>
                  <a:pt x="0" y="72570"/>
                </a:lnTo>
                <a:cubicBezTo>
                  <a:pt x="0" y="32518"/>
                  <a:pt x="32518" y="0"/>
                  <a:pt x="72570" y="0"/>
                </a:cubicBezTo>
                <a:close/>
              </a:path>
            </a:pathLst>
          </a:custGeom>
          <a:solidFill>
            <a:srgbClr val="FEF2F2"/>
          </a:solidFill>
          <a:ln w="12700">
            <a:solidFill>
              <a:srgbClr val="FFC9C9"/>
            </a:solidFill>
            <a:prstDash val="solid"/>
          </a:ln>
        </p:spPr>
      </p:sp>
      <p:sp>
        <p:nvSpPr>
          <p:cNvPr id="81" name="Shape 51"/>
          <p:cNvSpPr/>
          <p:nvPr/>
        </p:nvSpPr>
        <p:spPr>
          <a:xfrm>
            <a:off x="9189357" y="4748530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72571" y="145143"/>
                </a:moveTo>
                <a:cubicBezTo>
                  <a:pt x="112625" y="145143"/>
                  <a:pt x="145143" y="112625"/>
                  <a:pt x="145143" y="72571"/>
                </a:cubicBezTo>
                <a:cubicBezTo>
                  <a:pt x="145143" y="32518"/>
                  <a:pt x="112625" y="0"/>
                  <a:pt x="72571" y="0"/>
                </a:cubicBezTo>
                <a:cubicBezTo>
                  <a:pt x="32518" y="0"/>
                  <a:pt x="0" y="32518"/>
                  <a:pt x="0" y="72571"/>
                </a:cubicBezTo>
                <a:cubicBezTo>
                  <a:pt x="0" y="112625"/>
                  <a:pt x="32518" y="145143"/>
                  <a:pt x="72571" y="145143"/>
                </a:cubicBezTo>
                <a:close/>
                <a:moveTo>
                  <a:pt x="47342" y="47342"/>
                </a:moveTo>
                <a:cubicBezTo>
                  <a:pt x="50006" y="44677"/>
                  <a:pt x="54315" y="44677"/>
                  <a:pt x="56952" y="47342"/>
                </a:cubicBezTo>
                <a:lnTo>
                  <a:pt x="72543" y="62933"/>
                </a:lnTo>
                <a:lnTo>
                  <a:pt x="88135" y="47342"/>
                </a:lnTo>
                <a:cubicBezTo>
                  <a:pt x="90799" y="44677"/>
                  <a:pt x="95108" y="44677"/>
                  <a:pt x="97745" y="47342"/>
                </a:cubicBezTo>
                <a:cubicBezTo>
                  <a:pt x="100381" y="50006"/>
                  <a:pt x="100409" y="54315"/>
                  <a:pt x="97745" y="56952"/>
                </a:cubicBezTo>
                <a:lnTo>
                  <a:pt x="82153" y="72543"/>
                </a:lnTo>
                <a:lnTo>
                  <a:pt x="97745" y="88135"/>
                </a:lnTo>
                <a:cubicBezTo>
                  <a:pt x="100409" y="90799"/>
                  <a:pt x="100409" y="95108"/>
                  <a:pt x="97745" y="97745"/>
                </a:cubicBezTo>
                <a:cubicBezTo>
                  <a:pt x="95080" y="100381"/>
                  <a:pt x="90771" y="100409"/>
                  <a:pt x="88135" y="97745"/>
                </a:cubicBezTo>
                <a:lnTo>
                  <a:pt x="72543" y="82153"/>
                </a:lnTo>
                <a:lnTo>
                  <a:pt x="56952" y="97745"/>
                </a:lnTo>
                <a:cubicBezTo>
                  <a:pt x="54287" y="100409"/>
                  <a:pt x="49978" y="100409"/>
                  <a:pt x="47342" y="97745"/>
                </a:cubicBezTo>
                <a:cubicBezTo>
                  <a:pt x="44705" y="95080"/>
                  <a:pt x="44677" y="90771"/>
                  <a:pt x="47342" y="88135"/>
                </a:cubicBezTo>
                <a:lnTo>
                  <a:pt x="62933" y="72543"/>
                </a:lnTo>
                <a:lnTo>
                  <a:pt x="47342" y="56952"/>
                </a:lnTo>
                <a:cubicBezTo>
                  <a:pt x="44677" y="54287"/>
                  <a:pt x="44677" y="49978"/>
                  <a:pt x="47342" y="47342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82" name="Text 52"/>
          <p:cNvSpPr/>
          <p:nvPr/>
        </p:nvSpPr>
        <p:spPr>
          <a:xfrm>
            <a:off x="9425214" y="4730387"/>
            <a:ext cx="571500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E7000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切得太大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83" name="Text 53"/>
          <p:cNvSpPr/>
          <p:nvPr/>
        </p:nvSpPr>
        <p:spPr>
          <a:xfrm>
            <a:off x="9171214" y="4984387"/>
            <a:ext cx="2413000" cy="1451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检索精度下降，捞回无关内容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84" name="Shape 54"/>
          <p:cNvSpPr/>
          <p:nvPr/>
        </p:nvSpPr>
        <p:spPr>
          <a:xfrm>
            <a:off x="6354445" y="5624286"/>
            <a:ext cx="5297714" cy="435429"/>
          </a:xfrm>
          <a:custGeom>
            <a:avLst/>
            <a:gdLst/>
            <a:ahLst/>
            <a:cxnLst/>
            <a:rect l="l" t="t" r="r" b="b"/>
            <a:pathLst>
              <a:path w="5297714" h="435429">
                <a:moveTo>
                  <a:pt x="72573" y="0"/>
                </a:moveTo>
                <a:lnTo>
                  <a:pt x="5225141" y="0"/>
                </a:lnTo>
                <a:cubicBezTo>
                  <a:pt x="5265222" y="0"/>
                  <a:pt x="5297714" y="32492"/>
                  <a:pt x="5297714" y="72573"/>
                </a:cubicBezTo>
                <a:lnTo>
                  <a:pt x="5297714" y="362856"/>
                </a:lnTo>
                <a:cubicBezTo>
                  <a:pt x="5297714" y="402937"/>
                  <a:pt x="5265222" y="435429"/>
                  <a:pt x="5225141" y="435429"/>
                </a:cubicBezTo>
                <a:lnTo>
                  <a:pt x="72573" y="435429"/>
                </a:lnTo>
                <a:cubicBezTo>
                  <a:pt x="32492" y="435429"/>
                  <a:pt x="0" y="402937"/>
                  <a:pt x="0" y="362856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1A535C"/>
          </a:solidFill>
        </p:spPr>
      </p:sp>
      <p:sp>
        <p:nvSpPr>
          <p:cNvPr id="85" name="Shape 55"/>
          <p:cNvSpPr/>
          <p:nvPr/>
        </p:nvSpPr>
        <p:spPr>
          <a:xfrm>
            <a:off x="6463302" y="5769429"/>
            <a:ext cx="181429" cy="145143"/>
          </a:xfrm>
          <a:custGeom>
            <a:avLst/>
            <a:gdLst/>
            <a:ahLst/>
            <a:cxnLst/>
            <a:rect l="l" t="t" r="r" b="b"/>
            <a:pathLst>
              <a:path w="181429" h="145143">
                <a:moveTo>
                  <a:pt x="108857" y="9071"/>
                </a:moveTo>
                <a:lnTo>
                  <a:pt x="145143" y="9071"/>
                </a:lnTo>
                <a:cubicBezTo>
                  <a:pt x="150160" y="9071"/>
                  <a:pt x="154214" y="13125"/>
                  <a:pt x="154214" y="18143"/>
                </a:cubicBezTo>
                <a:cubicBezTo>
                  <a:pt x="154214" y="23160"/>
                  <a:pt x="150160" y="27214"/>
                  <a:pt x="145143" y="27214"/>
                </a:cubicBezTo>
                <a:lnTo>
                  <a:pt x="112939" y="27214"/>
                </a:lnTo>
                <a:cubicBezTo>
                  <a:pt x="111465" y="34528"/>
                  <a:pt x="106448" y="40566"/>
                  <a:pt x="99786" y="43458"/>
                </a:cubicBezTo>
                <a:lnTo>
                  <a:pt x="99786" y="127000"/>
                </a:lnTo>
                <a:lnTo>
                  <a:pt x="145143" y="127000"/>
                </a:lnTo>
                <a:cubicBezTo>
                  <a:pt x="150160" y="127000"/>
                  <a:pt x="154214" y="131054"/>
                  <a:pt x="154214" y="136071"/>
                </a:cubicBezTo>
                <a:cubicBezTo>
                  <a:pt x="154214" y="141089"/>
                  <a:pt x="150160" y="145143"/>
                  <a:pt x="145143" y="145143"/>
                </a:cubicBezTo>
                <a:lnTo>
                  <a:pt x="36286" y="145143"/>
                </a:lnTo>
                <a:cubicBezTo>
                  <a:pt x="31268" y="145143"/>
                  <a:pt x="27214" y="141089"/>
                  <a:pt x="27214" y="136071"/>
                </a:cubicBezTo>
                <a:cubicBezTo>
                  <a:pt x="27214" y="131054"/>
                  <a:pt x="31268" y="127000"/>
                  <a:pt x="36286" y="127000"/>
                </a:cubicBezTo>
                <a:lnTo>
                  <a:pt x="81643" y="127000"/>
                </a:lnTo>
                <a:lnTo>
                  <a:pt x="81643" y="43458"/>
                </a:lnTo>
                <a:cubicBezTo>
                  <a:pt x="74981" y="40538"/>
                  <a:pt x="69963" y="34500"/>
                  <a:pt x="68489" y="27214"/>
                </a:cubicBezTo>
                <a:lnTo>
                  <a:pt x="36286" y="27214"/>
                </a:lnTo>
                <a:cubicBezTo>
                  <a:pt x="31268" y="27214"/>
                  <a:pt x="27214" y="23160"/>
                  <a:pt x="27214" y="18143"/>
                </a:cubicBezTo>
                <a:cubicBezTo>
                  <a:pt x="27214" y="13125"/>
                  <a:pt x="31268" y="9071"/>
                  <a:pt x="36286" y="9071"/>
                </a:cubicBezTo>
                <a:lnTo>
                  <a:pt x="72571" y="9071"/>
                </a:lnTo>
                <a:cubicBezTo>
                  <a:pt x="76710" y="3572"/>
                  <a:pt x="83287" y="0"/>
                  <a:pt x="90714" y="0"/>
                </a:cubicBezTo>
                <a:cubicBezTo>
                  <a:pt x="98142" y="0"/>
                  <a:pt x="104718" y="3572"/>
                  <a:pt x="108857" y="9071"/>
                </a:cubicBezTo>
                <a:close/>
                <a:moveTo>
                  <a:pt x="124619" y="90714"/>
                </a:moveTo>
                <a:lnTo>
                  <a:pt x="165667" y="90714"/>
                </a:lnTo>
                <a:lnTo>
                  <a:pt x="145143" y="55506"/>
                </a:lnTo>
                <a:lnTo>
                  <a:pt x="124619" y="90714"/>
                </a:lnTo>
                <a:close/>
                <a:moveTo>
                  <a:pt x="145143" y="117929"/>
                </a:moveTo>
                <a:cubicBezTo>
                  <a:pt x="127312" y="117929"/>
                  <a:pt x="112486" y="108290"/>
                  <a:pt x="109424" y="95562"/>
                </a:cubicBezTo>
                <a:cubicBezTo>
                  <a:pt x="108687" y="92444"/>
                  <a:pt x="109708" y="89240"/>
                  <a:pt x="111323" y="86462"/>
                </a:cubicBezTo>
                <a:lnTo>
                  <a:pt x="138311" y="40198"/>
                </a:lnTo>
                <a:cubicBezTo>
                  <a:pt x="139728" y="37760"/>
                  <a:pt x="142336" y="36286"/>
                  <a:pt x="145143" y="36286"/>
                </a:cubicBezTo>
                <a:cubicBezTo>
                  <a:pt x="147949" y="36286"/>
                  <a:pt x="150557" y="37788"/>
                  <a:pt x="151975" y="40198"/>
                </a:cubicBezTo>
                <a:lnTo>
                  <a:pt x="178962" y="86462"/>
                </a:lnTo>
                <a:cubicBezTo>
                  <a:pt x="180578" y="89240"/>
                  <a:pt x="181599" y="92444"/>
                  <a:pt x="180862" y="95562"/>
                </a:cubicBezTo>
                <a:cubicBezTo>
                  <a:pt x="177800" y="108262"/>
                  <a:pt x="162974" y="117929"/>
                  <a:pt x="145143" y="117929"/>
                </a:cubicBezTo>
                <a:close/>
                <a:moveTo>
                  <a:pt x="35946" y="55506"/>
                </a:moveTo>
                <a:lnTo>
                  <a:pt x="15421" y="90714"/>
                </a:lnTo>
                <a:lnTo>
                  <a:pt x="56498" y="90714"/>
                </a:lnTo>
                <a:lnTo>
                  <a:pt x="35946" y="55506"/>
                </a:lnTo>
                <a:close/>
                <a:moveTo>
                  <a:pt x="255" y="95562"/>
                </a:moveTo>
                <a:cubicBezTo>
                  <a:pt x="-482" y="92444"/>
                  <a:pt x="539" y="89240"/>
                  <a:pt x="2154" y="86462"/>
                </a:cubicBezTo>
                <a:lnTo>
                  <a:pt x="29142" y="40198"/>
                </a:lnTo>
                <a:cubicBezTo>
                  <a:pt x="30559" y="37760"/>
                  <a:pt x="33167" y="36286"/>
                  <a:pt x="35974" y="36286"/>
                </a:cubicBezTo>
                <a:cubicBezTo>
                  <a:pt x="38780" y="36286"/>
                  <a:pt x="41388" y="37788"/>
                  <a:pt x="42806" y="40198"/>
                </a:cubicBezTo>
                <a:lnTo>
                  <a:pt x="69793" y="86462"/>
                </a:lnTo>
                <a:cubicBezTo>
                  <a:pt x="71409" y="89240"/>
                  <a:pt x="72430" y="92444"/>
                  <a:pt x="71693" y="95562"/>
                </a:cubicBezTo>
                <a:cubicBezTo>
                  <a:pt x="68631" y="108262"/>
                  <a:pt x="53805" y="117929"/>
                  <a:pt x="35974" y="117929"/>
                </a:cubicBezTo>
                <a:cubicBezTo>
                  <a:pt x="18143" y="117929"/>
                  <a:pt x="3317" y="108290"/>
                  <a:pt x="255" y="95562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86" name="Text 56"/>
          <p:cNvSpPr/>
          <p:nvPr/>
        </p:nvSpPr>
        <p:spPr>
          <a:xfrm>
            <a:off x="6696567" y="5733143"/>
            <a:ext cx="4919306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黄金法则：</a:t>
            </a:r>
            <a:r>
              <a:rPr lang="en-US" sz="1145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找到语义完整性与检索精度的平衡点</a:t>
            </a:r>
            <a:endParaRPr lang="en-US" sz="1600" dirty="0"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7146290" cy="720090"/>
          </a:xfrm>
        </p:spPr>
        <p:txBody>
          <a:bodyPr>
            <a:normAutofit/>
          </a:bodyPr>
          <a:lstStyle/>
          <a:p>
            <a:r>
              <a:rPr lang="en-US" altLang="zh-CN"/>
              <a:t>GAIA</a:t>
            </a:r>
            <a:r>
              <a:rPr lang="zh-CN" altLang="en-US"/>
              <a:t>分片</a:t>
            </a:r>
            <a:r>
              <a:rPr lang="zh-CN" altLang="en-US"/>
              <a:t>逻辑</a:t>
            </a:r>
            <a:endParaRPr lang="zh-CN" alt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64210" y="1500505"/>
          <a:ext cx="10951845" cy="49117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95500"/>
                <a:gridCol w="4452620"/>
                <a:gridCol w="4403725"/>
              </a:tblGrid>
              <a:tr h="717550">
                <a:tc>
                  <a:txBody>
                    <a:bodyPr/>
                    <a:lstStyle/>
                    <a:p>
                      <a:endParaRPr lang="ja-JP" altLang="en-US">
                        <a:cs typeface="BMWGroupTN Condensed TT Light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accent1"/>
                          </a:solidFill>
                          <a:cs typeface="BMWGroupTN Condensed TT Light" charset="0"/>
                        </a:rPr>
                        <a:t>打开多模态</a:t>
                      </a:r>
                      <a:endParaRPr lang="en-US" b="1">
                        <a:solidFill>
                          <a:schemeClr val="accent1"/>
                        </a:solidFill>
                        <a:cs typeface="BMWGroupTN Condensed TT Light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accent1"/>
                          </a:solidFill>
                          <a:cs typeface="BMWGroupTN Condensed TT Light" charset="0"/>
                        </a:rPr>
                        <a:t>不打开多模态</a:t>
                      </a:r>
                      <a:endParaRPr lang="en-US" b="1">
                        <a:solidFill>
                          <a:schemeClr val="accent1"/>
                        </a:solidFill>
                        <a:cs typeface="BMWGroupTN Condensed TT Light" charset="0"/>
                      </a:endParaRPr>
                    </a:p>
                  </a:txBody>
                  <a:tcPr marL="123825" marR="123825" marT="57150" marB="57150" anchor="ctr"/>
                </a:tc>
              </a:tr>
              <a:tr h="2041525">
                <a:tc>
                  <a:txBody>
                    <a:bodyPr/>
                    <a:lstStyle/>
                    <a:p>
                      <a:pPr algn="ctr"/>
                      <a:r>
                        <a:rPr lang="ja-JP" altLang="en-US" b="1">
                          <a:solidFill>
                            <a:schemeClr val="accent1"/>
                          </a:solidFill>
                          <a:cs typeface="BMWGroupTN Condensed TT Light" charset="0"/>
                        </a:rPr>
                        <a:t>分块策略</a:t>
                      </a:r>
                      <a:endParaRPr lang="ja-JP" altLang="en-US" b="1">
                        <a:solidFill>
                          <a:schemeClr val="accent1"/>
                        </a:solidFill>
                        <a:cs typeface="BMWGroupTN Condensed TT Light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cs typeface="BMWGroupTN Condensed TT Light" charset="0"/>
                        </a:rPr>
                        <a:t>基于文档结构分块</a:t>
                      </a:r>
                      <a:r>
                        <a:rPr lang="en-US" altLang="ja-JP" sz="1400">
                          <a:cs typeface="BMWGroupTN Condensed TT Light" charset="0"/>
                        </a:rPr>
                        <a:t>+ </a:t>
                      </a:r>
                      <a:r>
                        <a:rPr lang="ja-JP" altLang="en-US" sz="1400">
                          <a:cs typeface="BMWGroupTN Condensed TT Light" charset="0"/>
                        </a:rPr>
                        <a:t>递归字符分块</a:t>
                      </a:r>
                      <a:endParaRPr lang="en-US" altLang="ja-JP" sz="1400">
                        <a:cs typeface="BMWGroupTN Condensed TT Light" charset="0"/>
                      </a:endParaRPr>
                    </a:p>
                    <a:p>
                      <a:pPr marL="342900" indent="-342900">
                        <a:buAutoNum type="arabicPeriod"/>
                      </a:pPr>
                      <a:r>
                        <a:rPr lang="zh-CN" altLang="en-US" sz="1400">
                          <a:cs typeface="BMWGroupTN Condensed TT Light" charset="0"/>
                        </a:rPr>
                        <a:t>先按照标题</a:t>
                      </a:r>
                      <a:r>
                        <a:rPr lang="en-US" altLang="zh-CN" sz="1400">
                          <a:cs typeface="BMWGroupTN Condensed TT Light" charset="0"/>
                        </a:rPr>
                        <a:t>/</a:t>
                      </a:r>
                      <a:r>
                        <a:rPr lang="zh-CN" altLang="en-US" sz="1400">
                          <a:cs typeface="BMWGroupTN Condensed TT Light" charset="0"/>
                        </a:rPr>
                        <a:t>章节分块</a:t>
                      </a:r>
                      <a:endParaRPr lang="en-US" altLang="zh-CN" sz="1400">
                        <a:cs typeface="BMWGroupTN Condensed TT Light" charset="0"/>
                      </a:endParaRPr>
                    </a:p>
                    <a:p>
                      <a:pPr marL="342900" indent="-342900">
                        <a:buAutoNum type="arabicPeriod"/>
                      </a:pPr>
                      <a:r>
                        <a:rPr lang="zh-CN" altLang="en-US" sz="1400">
                          <a:cs typeface="BMWGroupTN Condensed TT Light" charset="0"/>
                        </a:rPr>
                        <a:t>再对章节内容，按照段落</a:t>
                      </a:r>
                      <a:r>
                        <a:rPr lang="en-US" altLang="zh-CN" sz="1400">
                          <a:cs typeface="BMWGroupTN Condensed TT Light" charset="0"/>
                        </a:rPr>
                        <a:t>(\n)</a:t>
                      </a:r>
                      <a:r>
                        <a:rPr lang="zh-CN" altLang="en-US" sz="1400">
                          <a:cs typeface="BMWGroupTN Condensed TT Light" charset="0"/>
                        </a:rPr>
                        <a:t>分块</a:t>
                      </a:r>
                      <a:endParaRPr lang="en-US" altLang="zh-CN" sz="1400">
                        <a:cs typeface="BMWGroupTN Condensed TT Light" charset="0"/>
                      </a:endParaRPr>
                    </a:p>
                    <a:p>
                      <a:pPr marL="342900" indent="-342900">
                        <a:buAutoNum type="arabicPeriod"/>
                      </a:pPr>
                      <a:r>
                        <a:rPr lang="zh-CN" altLang="en-US" sz="1400">
                          <a:cs typeface="BMWGroupTN Condensed TT Light" charset="0"/>
                        </a:rPr>
                        <a:t>最后，如果相邻</a:t>
                      </a:r>
                      <a:r>
                        <a:rPr lang="en-US" altLang="zh-CN" sz="1400">
                          <a:cs typeface="BMWGroupTN Condensed TT Light" charset="0"/>
                        </a:rPr>
                        <a:t>chunk</a:t>
                      </a:r>
                      <a:r>
                        <a:rPr lang="zh-CN" altLang="en-US" sz="1400">
                          <a:cs typeface="BMWGroupTN Condensed TT Light" charset="0"/>
                        </a:rPr>
                        <a:t>字符数都太小，会进行</a:t>
                      </a:r>
                      <a:r>
                        <a:rPr lang="en-US" altLang="zh-CN" sz="1400">
                          <a:cs typeface="BMWGroupTN Condensed TT Light" charset="0"/>
                        </a:rPr>
                        <a:t>chunk</a:t>
                      </a:r>
                      <a:r>
                        <a:rPr lang="zh-CN" altLang="en-US" sz="1400">
                          <a:cs typeface="BMWGroupTN Condensed TT Light" charset="0"/>
                        </a:rPr>
                        <a:t>的合并</a:t>
                      </a:r>
                      <a:endParaRPr lang="zh-CN" altLang="en-US" sz="1400">
                        <a:cs typeface="BMWGroupTN Condensed TT Light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>
                          <a:cs typeface="BMWGroupTN Condensed TT Light" charset="0"/>
                        </a:rPr>
                        <a:t>对</a:t>
                      </a:r>
                      <a:r>
                        <a:rPr lang="ja-JP" altLang="en-US" sz="1400">
                          <a:cs typeface="BMWGroupTN Condensed TT Light" charset="0"/>
                        </a:rPr>
                        <a:t>递归字符分块</a:t>
                      </a:r>
                      <a:r>
                        <a:rPr lang="zh-CN" altLang="en-US" sz="1400">
                          <a:cs typeface="BMWGroupTN Condensed TT Light" charset="0"/>
                        </a:rPr>
                        <a:t>：</a:t>
                      </a:r>
                      <a:endParaRPr lang="en-US" altLang="zh-CN" sz="1400">
                        <a:cs typeface="BMWGroupTN Condensed TT Light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defRPr/>
                      </a:pPr>
                      <a:r>
                        <a:rPr lang="zh-CN" altLang="en-US" sz="1400">
                          <a:cs typeface="BMWGroupTN Condensed TT Light" charset="0"/>
                        </a:rPr>
                        <a:t>先对章节内容，按照段落</a:t>
                      </a:r>
                      <a:r>
                        <a:rPr lang="en-US" altLang="zh-CN" sz="1400">
                          <a:cs typeface="BMWGroupTN Condensed TT Light" charset="0"/>
                        </a:rPr>
                        <a:t>(\n)</a:t>
                      </a:r>
                      <a:r>
                        <a:rPr lang="zh-CN" altLang="en-US" sz="1400">
                          <a:cs typeface="BMWGroupTN Condensed TT Light" charset="0"/>
                        </a:rPr>
                        <a:t>分块</a:t>
                      </a:r>
                      <a:endParaRPr lang="en-US" altLang="zh-CN" sz="1400">
                        <a:cs typeface="BMWGroupTN Condensed TT Light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defRPr/>
                      </a:pPr>
                      <a:r>
                        <a:rPr lang="zh-CN" altLang="en-US" sz="1400">
                          <a:cs typeface="BMWGroupTN Condensed TT Light" charset="0"/>
                        </a:rPr>
                        <a:t>最后如果相邻</a:t>
                      </a:r>
                      <a:r>
                        <a:rPr lang="en-US" altLang="zh-CN" sz="1400">
                          <a:cs typeface="BMWGroupTN Condensed TT Light" charset="0"/>
                        </a:rPr>
                        <a:t>chunk</a:t>
                      </a:r>
                      <a:r>
                        <a:rPr lang="zh-CN" altLang="en-US" sz="1400">
                          <a:cs typeface="BMWGroupTN Condensed TT Light" charset="0"/>
                        </a:rPr>
                        <a:t>字符数都太小，会进行</a:t>
                      </a:r>
                      <a:r>
                        <a:rPr lang="en-US" altLang="zh-CN" sz="1400">
                          <a:cs typeface="BMWGroupTN Condensed TT Light" charset="0"/>
                        </a:rPr>
                        <a:t>chunk</a:t>
                      </a:r>
                      <a:r>
                        <a:rPr lang="zh-CN" altLang="en-US" sz="1400">
                          <a:cs typeface="BMWGroupTN Condensed TT Light" charset="0"/>
                        </a:rPr>
                        <a:t>的合并</a:t>
                      </a:r>
                      <a:endParaRPr lang="en-US" altLang="zh-CN" sz="1400">
                        <a:cs typeface="BMWGroupTN Condensed TT Light" charset="0"/>
                      </a:endParaRPr>
                    </a:p>
                    <a:p>
                      <a:endParaRPr lang="en-US" altLang="zh-CN" sz="1400">
                        <a:cs typeface="BMWGroupTN Condensed TT Light" charset="0"/>
                      </a:endParaRPr>
                    </a:p>
                  </a:txBody>
                  <a:tcPr marL="123825" marR="123825" marT="57150" marB="57150" anchor="ctr"/>
                </a:tc>
              </a:tr>
              <a:tr h="717550">
                <a:tc>
                  <a:txBody>
                    <a:bodyPr/>
                    <a:lstStyle/>
                    <a:p>
                      <a:pPr algn="ctr"/>
                      <a:r>
                        <a:rPr lang="ja-JP" altLang="en-US" b="1">
                          <a:solidFill>
                            <a:schemeClr val="accent1"/>
                          </a:solidFill>
                          <a:cs typeface="BMWGroupTN Condensed TT Light" charset="0"/>
                        </a:rPr>
                        <a:t>最大块大小</a:t>
                      </a:r>
                      <a:endParaRPr lang="ja-JP" altLang="en-US" b="1">
                        <a:solidFill>
                          <a:schemeClr val="accent1"/>
                        </a:solidFill>
                        <a:cs typeface="BMWGroupTN Condensed TT Light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cs typeface="BMWGroupTN Condensed TT Light" charset="0"/>
                        </a:rPr>
                        <a:t>1024</a:t>
                      </a:r>
                      <a:r>
                        <a:rPr lang="ja-JP" altLang="en-US" sz="1400">
                          <a:cs typeface="BMWGroupTN Condensed TT Light" charset="0"/>
                        </a:rPr>
                        <a:t>字符</a:t>
                      </a:r>
                      <a:endParaRPr lang="ja-JP" altLang="en-US" sz="1400">
                        <a:cs typeface="BMWGroupTN Condensed TT Light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ja-JP" sz="1400">
                          <a:cs typeface="BMWGroupTN Condensed TT Light" charset="0"/>
                        </a:rPr>
                        <a:t>1</a:t>
                      </a:r>
                      <a:r>
                        <a:rPr lang="en-US" altLang="zh-CN" sz="1400">
                          <a:cs typeface="BMWGroupTN Condensed TT Light" charset="0"/>
                        </a:rPr>
                        <a:t>024</a:t>
                      </a:r>
                      <a:r>
                        <a:rPr lang="ja-JP" altLang="en-US" sz="1400">
                          <a:cs typeface="BMWGroupTN Condensed TT Light" charset="0"/>
                        </a:rPr>
                        <a:t>字符</a:t>
                      </a:r>
                      <a:endParaRPr lang="ja-JP" altLang="en-US" sz="1400">
                        <a:cs typeface="BMWGroupTN Condensed TT Light" charset="0"/>
                      </a:endParaRPr>
                    </a:p>
                  </a:txBody>
                  <a:tcPr marL="123825" marR="123825" marT="57150" marB="57150" anchor="ctr"/>
                </a:tc>
              </a:tr>
              <a:tr h="717550">
                <a:tc>
                  <a:txBody>
                    <a:bodyPr/>
                    <a:lstStyle/>
                    <a:p>
                      <a:pPr algn="ctr"/>
                      <a:r>
                        <a:rPr lang="ja-JP" altLang="en-US" b="1">
                          <a:solidFill>
                            <a:schemeClr val="accent1"/>
                          </a:solidFill>
                          <a:cs typeface="BMWGroupTN Condensed TT Light" charset="0"/>
                        </a:rPr>
                        <a:t>最小块大小</a:t>
                      </a:r>
                      <a:endParaRPr lang="ja-JP" altLang="en-US" b="1">
                        <a:solidFill>
                          <a:schemeClr val="accent1"/>
                        </a:solidFill>
                        <a:cs typeface="BMWGroupTN Condensed TT Light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ja-JP" sz="1400">
                          <a:cs typeface="BMWGroupTN Condensed TT Light" charset="0"/>
                        </a:rPr>
                        <a:t>120</a:t>
                      </a:r>
                      <a:r>
                        <a:rPr lang="ja-JP" altLang="en-US" sz="1400">
                          <a:cs typeface="BMWGroupTN Condensed TT Light" charset="0"/>
                        </a:rPr>
                        <a:t>字符</a:t>
                      </a:r>
                      <a:endParaRPr lang="ja-JP" altLang="en-US" sz="1400">
                        <a:cs typeface="BMWGroupTN Condensed TT Light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ja-JP" sz="1400">
                          <a:cs typeface="BMWGroupTN Condensed TT Light" charset="0"/>
                        </a:rPr>
                        <a:t>100</a:t>
                      </a:r>
                      <a:r>
                        <a:rPr lang="ja-JP" altLang="en-US" sz="1400">
                          <a:cs typeface="BMWGroupTN Condensed TT Light" charset="0"/>
                        </a:rPr>
                        <a:t>字符</a:t>
                      </a:r>
                      <a:endParaRPr lang="ja-JP" altLang="en-US" sz="1400">
                        <a:cs typeface="BMWGroupTN Condensed TT Light" charset="0"/>
                      </a:endParaRPr>
                    </a:p>
                  </a:txBody>
                  <a:tcPr marL="123825" marR="123825" marT="57150" marB="57150" anchor="ctr"/>
                </a:tc>
              </a:tr>
              <a:tr h="717550">
                <a:tc>
                  <a:txBody>
                    <a:bodyPr/>
                    <a:lstStyle/>
                    <a:p>
                      <a:pPr algn="ctr"/>
                      <a:r>
                        <a:rPr lang="ja-JP" altLang="en-US" b="1">
                          <a:solidFill>
                            <a:schemeClr val="accent1"/>
                          </a:solidFill>
                          <a:cs typeface="BMWGroupTN Condensed TT Light" charset="0"/>
                        </a:rPr>
                        <a:t>结构保留</a:t>
                      </a:r>
                      <a:endParaRPr lang="ja-JP" altLang="en-US" b="1">
                        <a:solidFill>
                          <a:schemeClr val="accent1"/>
                        </a:solidFill>
                        <a:cs typeface="BMWGroupTN Condensed TT Light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cs typeface="BMWGroupTN Condensed TT Light" charset="0"/>
                        </a:rPr>
                        <a:t>保留标题层级和页眉页脚</a:t>
                      </a:r>
                      <a:endParaRPr lang="ja-JP" altLang="en-US" sz="1400">
                        <a:cs typeface="BMWGroupTN Condensed TT Light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cs typeface="BMWGroupTN Condensed TT Light" charset="0"/>
                        </a:rPr>
                        <a:t>无</a:t>
                      </a:r>
                      <a:endParaRPr lang="ja-JP" altLang="en-US" sz="1400">
                        <a:cs typeface="BMWGroupTN Condensed TT Light" charset="0"/>
                      </a:endParaRPr>
                    </a:p>
                  </a:txBody>
                  <a:tcPr marL="123825" marR="123825" marT="57150" marB="57150" anchor="ctr"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7146290" cy="720090"/>
          </a:xfrm>
        </p:spPr>
        <p:txBody>
          <a:bodyPr>
            <a:normAutofit/>
          </a:bodyPr>
          <a:lstStyle/>
          <a:p>
            <a:r>
              <a:rPr lang="zh-CN" altLang="en-US"/>
              <a:t>什么是向量检索：不识字，只“</a:t>
            </a:r>
            <a:r>
              <a:rPr lang="zh-CN" altLang="en-US">
                <a:sym typeface="+mn-ea"/>
              </a:rPr>
              <a:t>闻味</a:t>
            </a:r>
            <a:r>
              <a:rPr lang="zh-CN" altLang="en-US"/>
              <a:t>”</a:t>
            </a:r>
            <a:endParaRPr lang="zh-CN" altLang="en-US"/>
          </a:p>
        </p:txBody>
      </p:sp>
      <p:sp>
        <p:nvSpPr>
          <p:cNvPr id="16" name="Text 2"/>
          <p:cNvSpPr/>
          <p:nvPr/>
        </p:nvSpPr>
        <p:spPr>
          <a:xfrm>
            <a:off x="681990" y="996950"/>
            <a:ext cx="11243310" cy="240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altLang="zh-CN" dirty="0"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语义相近的词/句，向量坐标在空间中彼此靠近</a:t>
            </a:r>
            <a:endParaRPr lang="en-US" altLang="zh-CN" dirty="0">
              <a:latin typeface="BMWGroupTN Condensed TT Light" charset="0"/>
              <a:ea typeface="BMWGroupTN Condensed TT Light" charset="0"/>
              <a:cs typeface="BMWGroupTN Condensed TT Light" charset="0"/>
              <a:sym typeface="+mn-ea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541294" y="1580922"/>
            <a:ext cx="206207" cy="206207"/>
          </a:xfrm>
          <a:custGeom>
            <a:avLst/>
            <a:gdLst/>
            <a:ahLst/>
            <a:cxnLst/>
            <a:rect l="l" t="t" r="r" b="b"/>
            <a:pathLst>
              <a:path w="206207" h="206207">
                <a:moveTo>
                  <a:pt x="0" y="32220"/>
                </a:moveTo>
                <a:cubicBezTo>
                  <a:pt x="0" y="21547"/>
                  <a:pt x="8659" y="12888"/>
                  <a:pt x="19332" y="12888"/>
                </a:cubicBezTo>
                <a:lnTo>
                  <a:pt x="57996" y="12888"/>
                </a:lnTo>
                <a:cubicBezTo>
                  <a:pt x="68669" y="12888"/>
                  <a:pt x="77328" y="21547"/>
                  <a:pt x="77328" y="32220"/>
                </a:cubicBezTo>
                <a:lnTo>
                  <a:pt x="77328" y="38664"/>
                </a:lnTo>
                <a:lnTo>
                  <a:pt x="128879" y="38664"/>
                </a:lnTo>
                <a:lnTo>
                  <a:pt x="128879" y="32220"/>
                </a:lnTo>
                <a:cubicBezTo>
                  <a:pt x="128879" y="21547"/>
                  <a:pt x="137539" y="12888"/>
                  <a:pt x="148211" y="12888"/>
                </a:cubicBezTo>
                <a:lnTo>
                  <a:pt x="186875" y="12888"/>
                </a:lnTo>
                <a:cubicBezTo>
                  <a:pt x="197548" y="12888"/>
                  <a:pt x="206207" y="21547"/>
                  <a:pt x="206207" y="32220"/>
                </a:cubicBezTo>
                <a:lnTo>
                  <a:pt x="206207" y="70884"/>
                </a:lnTo>
                <a:cubicBezTo>
                  <a:pt x="206207" y="81557"/>
                  <a:pt x="197548" y="90216"/>
                  <a:pt x="186875" y="90216"/>
                </a:cubicBezTo>
                <a:lnTo>
                  <a:pt x="148211" y="90216"/>
                </a:lnTo>
                <a:cubicBezTo>
                  <a:pt x="137539" y="90216"/>
                  <a:pt x="128879" y="81557"/>
                  <a:pt x="128879" y="70884"/>
                </a:cubicBezTo>
                <a:lnTo>
                  <a:pt x="128879" y="64440"/>
                </a:lnTo>
                <a:lnTo>
                  <a:pt x="77328" y="64440"/>
                </a:lnTo>
                <a:lnTo>
                  <a:pt x="77328" y="70884"/>
                </a:lnTo>
                <a:cubicBezTo>
                  <a:pt x="77328" y="73824"/>
                  <a:pt x="76643" y="76643"/>
                  <a:pt x="75475" y="79140"/>
                </a:cubicBezTo>
                <a:lnTo>
                  <a:pt x="103104" y="115992"/>
                </a:lnTo>
                <a:lnTo>
                  <a:pt x="135323" y="115992"/>
                </a:lnTo>
                <a:cubicBezTo>
                  <a:pt x="145996" y="115992"/>
                  <a:pt x="154655" y="124651"/>
                  <a:pt x="154655" y="135323"/>
                </a:cubicBezTo>
                <a:lnTo>
                  <a:pt x="154655" y="173987"/>
                </a:lnTo>
                <a:cubicBezTo>
                  <a:pt x="154655" y="184660"/>
                  <a:pt x="145996" y="193319"/>
                  <a:pt x="135323" y="193319"/>
                </a:cubicBezTo>
                <a:lnTo>
                  <a:pt x="96660" y="193319"/>
                </a:lnTo>
                <a:cubicBezTo>
                  <a:pt x="85987" y="193319"/>
                  <a:pt x="77328" y="184660"/>
                  <a:pt x="77328" y="173987"/>
                </a:cubicBezTo>
                <a:lnTo>
                  <a:pt x="77328" y="135323"/>
                </a:lnTo>
                <a:cubicBezTo>
                  <a:pt x="77328" y="132383"/>
                  <a:pt x="78012" y="129564"/>
                  <a:pt x="79180" y="127067"/>
                </a:cubicBezTo>
                <a:lnTo>
                  <a:pt x="51552" y="90216"/>
                </a:lnTo>
                <a:lnTo>
                  <a:pt x="19332" y="90216"/>
                </a:lnTo>
                <a:cubicBezTo>
                  <a:pt x="8659" y="90216"/>
                  <a:pt x="0" y="81557"/>
                  <a:pt x="0" y="70884"/>
                </a:cubicBezTo>
                <a:lnTo>
                  <a:pt x="0" y="32220"/>
                </a:ln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19" name="Text 5"/>
          <p:cNvSpPr/>
          <p:nvPr/>
        </p:nvSpPr>
        <p:spPr>
          <a:xfrm>
            <a:off x="773277" y="1546554"/>
            <a:ext cx="5352795" cy="2749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5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二维向量空间示意</a:t>
            </a:r>
            <a:endParaRPr lang="en-US" sz="1625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0" name="Shape 6"/>
          <p:cNvSpPr/>
          <p:nvPr/>
        </p:nvSpPr>
        <p:spPr>
          <a:xfrm>
            <a:off x="515518" y="1958968"/>
            <a:ext cx="5507450" cy="3608626"/>
          </a:xfrm>
          <a:custGeom>
            <a:avLst/>
            <a:gdLst/>
            <a:ahLst/>
            <a:cxnLst/>
            <a:rect l="l" t="t" r="r" b="b"/>
            <a:pathLst>
              <a:path w="5507450" h="3608626">
                <a:moveTo>
                  <a:pt x="103098" y="0"/>
                </a:moveTo>
                <a:lnTo>
                  <a:pt x="5404352" y="0"/>
                </a:lnTo>
                <a:cubicBezTo>
                  <a:pt x="5461292" y="0"/>
                  <a:pt x="5507450" y="46159"/>
                  <a:pt x="5507450" y="103098"/>
                </a:cubicBezTo>
                <a:lnTo>
                  <a:pt x="5507450" y="3505527"/>
                </a:lnTo>
                <a:cubicBezTo>
                  <a:pt x="5507450" y="3562467"/>
                  <a:pt x="5461292" y="3608626"/>
                  <a:pt x="5404352" y="3608626"/>
                </a:cubicBezTo>
                <a:lnTo>
                  <a:pt x="103098" y="3608626"/>
                </a:lnTo>
                <a:cubicBezTo>
                  <a:pt x="46159" y="3608626"/>
                  <a:pt x="0" y="3562467"/>
                  <a:pt x="0" y="3505527"/>
                </a:cubicBezTo>
                <a:lnTo>
                  <a:pt x="0" y="103098"/>
                </a:lnTo>
                <a:cubicBezTo>
                  <a:pt x="0" y="46197"/>
                  <a:pt x="46197" y="0"/>
                  <a:pt x="103098" y="0"/>
                </a:cubicBezTo>
                <a:close/>
              </a:path>
            </a:pathLst>
          </a:custGeom>
          <a:solidFill>
            <a:srgbClr val="F4F6F8">
              <a:alpha val="10000"/>
            </a:srgb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pic>
        <p:nvPicPr>
          <p:cNvPr id="21" name="Image 0" descr="https://kimi-img.moonshot.cn/pub/slides/26-04-13-05:47:47-d7e160oge03nlbaav7v0.png"/>
          <p:cNvPicPr>
            <a:picLocks noChangeAspect="1"/>
          </p:cNvPicPr>
          <p:nvPr/>
        </p:nvPicPr>
        <p:blipFill>
          <a:blip r:embed="rId2">
            <a:biLevel thresh="25000"/>
            <a:lum bright="100000" contrast="100000"/>
          </a:blip>
          <a:srcRect/>
          <a:stretch>
            <a:fillRect/>
          </a:stretch>
        </p:blipFill>
        <p:spPr>
          <a:xfrm>
            <a:off x="652989" y="2096440"/>
            <a:ext cx="4639662" cy="3333683"/>
          </a:xfrm>
          <a:prstGeom prst="roundRect">
            <a:avLst>
              <a:gd name="adj" fmla="val 0"/>
            </a:avLst>
          </a:prstGeom>
        </p:spPr>
      </p:pic>
      <p:sp>
        <p:nvSpPr>
          <p:cNvPr id="22" name="Shape 7"/>
          <p:cNvSpPr/>
          <p:nvPr/>
        </p:nvSpPr>
        <p:spPr>
          <a:xfrm>
            <a:off x="6352282" y="1374715"/>
            <a:ext cx="5490266" cy="2096440"/>
          </a:xfrm>
          <a:custGeom>
            <a:avLst/>
            <a:gdLst/>
            <a:ahLst/>
            <a:cxnLst/>
            <a:rect l="l" t="t" r="r" b="b"/>
            <a:pathLst>
              <a:path w="5490266" h="2096440">
                <a:moveTo>
                  <a:pt x="34368" y="0"/>
                </a:moveTo>
                <a:lnTo>
                  <a:pt x="5387163" y="0"/>
                </a:lnTo>
                <a:cubicBezTo>
                  <a:pt x="5444106" y="0"/>
                  <a:pt x="5490266" y="46161"/>
                  <a:pt x="5490266" y="103103"/>
                </a:cubicBezTo>
                <a:lnTo>
                  <a:pt x="5490266" y="1993337"/>
                </a:lnTo>
                <a:cubicBezTo>
                  <a:pt x="5490266" y="2050279"/>
                  <a:pt x="5444106" y="2096440"/>
                  <a:pt x="5387163" y="2096440"/>
                </a:cubicBezTo>
                <a:lnTo>
                  <a:pt x="34368" y="2096440"/>
                </a:lnTo>
                <a:cubicBezTo>
                  <a:pt x="15387" y="2096440"/>
                  <a:pt x="0" y="2081053"/>
                  <a:pt x="0" y="2062072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3" name="Shape 8"/>
          <p:cNvSpPr/>
          <p:nvPr/>
        </p:nvSpPr>
        <p:spPr>
          <a:xfrm>
            <a:off x="6352282" y="1374715"/>
            <a:ext cx="34368" cy="2096440"/>
          </a:xfrm>
          <a:custGeom>
            <a:avLst/>
            <a:gdLst/>
            <a:ahLst/>
            <a:cxnLst/>
            <a:rect l="l" t="t" r="r" b="b"/>
            <a:pathLst>
              <a:path w="34368" h="2096440">
                <a:moveTo>
                  <a:pt x="34368" y="0"/>
                </a:moveTo>
                <a:lnTo>
                  <a:pt x="34368" y="0"/>
                </a:lnTo>
                <a:lnTo>
                  <a:pt x="34368" y="2096440"/>
                </a:lnTo>
                <a:lnTo>
                  <a:pt x="34368" y="2096440"/>
                </a:lnTo>
                <a:cubicBezTo>
                  <a:pt x="15387" y="2096440"/>
                  <a:pt x="0" y="2081053"/>
                  <a:pt x="0" y="2062072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30" name="Shape 9"/>
          <p:cNvSpPr/>
          <p:nvPr/>
        </p:nvSpPr>
        <p:spPr>
          <a:xfrm>
            <a:off x="6541305" y="1546554"/>
            <a:ext cx="412414" cy="412414"/>
          </a:xfrm>
          <a:custGeom>
            <a:avLst/>
            <a:gdLst/>
            <a:ahLst/>
            <a:cxnLst/>
            <a:rect l="l" t="t" r="r" b="b"/>
            <a:pathLst>
              <a:path w="412414" h="412414">
                <a:moveTo>
                  <a:pt x="206207" y="0"/>
                </a:moveTo>
                <a:lnTo>
                  <a:pt x="206207" y="0"/>
                </a:lnTo>
                <a:cubicBezTo>
                  <a:pt x="320016" y="0"/>
                  <a:pt x="412414" y="92398"/>
                  <a:pt x="412414" y="206207"/>
                </a:cubicBezTo>
                <a:lnTo>
                  <a:pt x="412414" y="206207"/>
                </a:lnTo>
                <a:cubicBezTo>
                  <a:pt x="412414" y="320016"/>
                  <a:pt x="320016" y="412414"/>
                  <a:pt x="206207" y="412414"/>
                </a:cubicBezTo>
                <a:lnTo>
                  <a:pt x="206207" y="412414"/>
                </a:lnTo>
                <a:cubicBezTo>
                  <a:pt x="92398" y="412414"/>
                  <a:pt x="0" y="320016"/>
                  <a:pt x="0" y="206207"/>
                </a:cubicBezTo>
                <a:lnTo>
                  <a:pt x="0" y="206207"/>
                </a:lnTo>
                <a:cubicBezTo>
                  <a:pt x="0" y="92398"/>
                  <a:pt x="92398" y="0"/>
                  <a:pt x="206207" y="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31" name="Shape 10"/>
          <p:cNvSpPr/>
          <p:nvPr/>
        </p:nvSpPr>
        <p:spPr>
          <a:xfrm>
            <a:off x="6693813" y="1666841"/>
            <a:ext cx="107400" cy="171839"/>
          </a:xfrm>
          <a:custGeom>
            <a:avLst/>
            <a:gdLst/>
            <a:ahLst/>
            <a:cxnLst/>
            <a:rect l="l" t="t" r="r" b="b"/>
            <a:pathLst>
              <a:path w="107400" h="171839">
                <a:moveTo>
                  <a:pt x="21480" y="53700"/>
                </a:moveTo>
                <a:cubicBezTo>
                  <a:pt x="21480" y="35912"/>
                  <a:pt x="35912" y="21480"/>
                  <a:pt x="53700" y="21480"/>
                </a:cubicBezTo>
                <a:cubicBezTo>
                  <a:pt x="71488" y="21480"/>
                  <a:pt x="85920" y="35912"/>
                  <a:pt x="85920" y="53700"/>
                </a:cubicBezTo>
                <a:cubicBezTo>
                  <a:pt x="85920" y="68031"/>
                  <a:pt x="76556" y="80180"/>
                  <a:pt x="63601" y="84376"/>
                </a:cubicBezTo>
                <a:cubicBezTo>
                  <a:pt x="54069" y="87464"/>
                  <a:pt x="42960" y="96223"/>
                  <a:pt x="42960" y="110085"/>
                </a:cubicBezTo>
                <a:lnTo>
                  <a:pt x="42960" y="118140"/>
                </a:lnTo>
                <a:cubicBezTo>
                  <a:pt x="42960" y="124080"/>
                  <a:pt x="47759" y="128879"/>
                  <a:pt x="53700" y="128879"/>
                </a:cubicBezTo>
                <a:cubicBezTo>
                  <a:pt x="59640" y="128879"/>
                  <a:pt x="64440" y="124080"/>
                  <a:pt x="64440" y="118140"/>
                </a:cubicBezTo>
                <a:lnTo>
                  <a:pt x="64440" y="110085"/>
                </a:lnTo>
                <a:cubicBezTo>
                  <a:pt x="64440" y="109514"/>
                  <a:pt x="64641" y="108709"/>
                  <a:pt x="65614" y="107635"/>
                </a:cubicBezTo>
                <a:cubicBezTo>
                  <a:pt x="66621" y="106527"/>
                  <a:pt x="68266" y="105453"/>
                  <a:pt x="70212" y="104815"/>
                </a:cubicBezTo>
                <a:cubicBezTo>
                  <a:pt x="91793" y="97868"/>
                  <a:pt x="107400" y="77630"/>
                  <a:pt x="107400" y="53700"/>
                </a:cubicBezTo>
                <a:cubicBezTo>
                  <a:pt x="107400" y="24031"/>
                  <a:pt x="83369" y="0"/>
                  <a:pt x="53700" y="0"/>
                </a:cubicBezTo>
                <a:cubicBezTo>
                  <a:pt x="24031" y="0"/>
                  <a:pt x="0" y="24031"/>
                  <a:pt x="0" y="53700"/>
                </a:cubicBezTo>
                <a:cubicBezTo>
                  <a:pt x="0" y="59640"/>
                  <a:pt x="4799" y="64440"/>
                  <a:pt x="10740" y="64440"/>
                </a:cubicBezTo>
                <a:cubicBezTo>
                  <a:pt x="16680" y="64440"/>
                  <a:pt x="21480" y="59640"/>
                  <a:pt x="21480" y="53700"/>
                </a:cubicBezTo>
                <a:close/>
                <a:moveTo>
                  <a:pt x="53700" y="171839"/>
                </a:moveTo>
                <a:cubicBezTo>
                  <a:pt x="61117" y="171839"/>
                  <a:pt x="67125" y="165832"/>
                  <a:pt x="67125" y="158414"/>
                </a:cubicBezTo>
                <a:cubicBezTo>
                  <a:pt x="67125" y="150997"/>
                  <a:pt x="61117" y="144989"/>
                  <a:pt x="53700" y="144989"/>
                </a:cubicBezTo>
                <a:cubicBezTo>
                  <a:pt x="46283" y="144989"/>
                  <a:pt x="40275" y="150997"/>
                  <a:pt x="40275" y="158414"/>
                </a:cubicBezTo>
                <a:cubicBezTo>
                  <a:pt x="40275" y="165832"/>
                  <a:pt x="46283" y="171839"/>
                  <a:pt x="53700" y="17183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2" name="Text 11"/>
          <p:cNvSpPr/>
          <p:nvPr/>
        </p:nvSpPr>
        <p:spPr>
          <a:xfrm>
            <a:off x="7056823" y="1632474"/>
            <a:ext cx="1116956" cy="240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什么是向量？</a:t>
            </a:r>
            <a:endParaRPr lang="en-US" sz="1355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6541305" y="2062072"/>
            <a:ext cx="5198140" cy="4124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向量就是 </a:t>
            </a:r>
            <a:r>
              <a:rPr lang="en-US" sz="1080" b="1" dirty="0">
                <a:solidFill>
                  <a:srgbClr val="4ECDC4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数学坐标</a:t>
            </a:r>
            <a:r>
              <a:rPr lang="en-US" sz="108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。就像用（经度，纬度）描述位置，用一串数字（如768个）描述一段文字的含义。</a:t>
            </a:r>
            <a:endParaRPr lang="en-US" sz="108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4" name="Shape 13"/>
          <p:cNvSpPr/>
          <p:nvPr/>
        </p:nvSpPr>
        <p:spPr>
          <a:xfrm>
            <a:off x="6541305" y="2577590"/>
            <a:ext cx="5129404" cy="721725"/>
          </a:xfrm>
          <a:custGeom>
            <a:avLst/>
            <a:gdLst/>
            <a:ahLst/>
            <a:cxnLst/>
            <a:rect l="l" t="t" r="r" b="b"/>
            <a:pathLst>
              <a:path w="5129404" h="721725">
                <a:moveTo>
                  <a:pt x="68737" y="0"/>
                </a:moveTo>
                <a:lnTo>
                  <a:pt x="5060667" y="0"/>
                </a:lnTo>
                <a:cubicBezTo>
                  <a:pt x="5098629" y="0"/>
                  <a:pt x="5129404" y="30775"/>
                  <a:pt x="5129404" y="68737"/>
                </a:cubicBezTo>
                <a:lnTo>
                  <a:pt x="5129404" y="652988"/>
                </a:lnTo>
                <a:cubicBezTo>
                  <a:pt x="5129404" y="690951"/>
                  <a:pt x="5098629" y="721725"/>
                  <a:pt x="5060667" y="721725"/>
                </a:cubicBezTo>
                <a:lnTo>
                  <a:pt x="68737" y="721725"/>
                </a:lnTo>
                <a:cubicBezTo>
                  <a:pt x="30775" y="721725"/>
                  <a:pt x="0" y="690951"/>
                  <a:pt x="0" y="652988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35" name="Text 14"/>
          <p:cNvSpPr/>
          <p:nvPr/>
        </p:nvSpPr>
        <p:spPr>
          <a:xfrm>
            <a:off x="6644409" y="2680693"/>
            <a:ext cx="4983340" cy="1718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示例："宝马X5"的向量表示</a:t>
            </a:r>
            <a:endParaRPr lang="en-US" sz="1200" dirty="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6" name="Shape 15"/>
          <p:cNvSpPr/>
          <p:nvPr/>
        </p:nvSpPr>
        <p:spPr>
          <a:xfrm>
            <a:off x="6644409" y="2921268"/>
            <a:ext cx="4923197" cy="274943"/>
          </a:xfrm>
          <a:custGeom>
            <a:avLst/>
            <a:gdLst/>
            <a:ahLst/>
            <a:cxnLst/>
            <a:rect l="l" t="t" r="r" b="b"/>
            <a:pathLst>
              <a:path w="4923197" h="274943">
                <a:moveTo>
                  <a:pt x="34368" y="0"/>
                </a:moveTo>
                <a:lnTo>
                  <a:pt x="4888829" y="0"/>
                </a:lnTo>
                <a:cubicBezTo>
                  <a:pt x="4907810" y="0"/>
                  <a:pt x="4923197" y="15387"/>
                  <a:pt x="4923197" y="34368"/>
                </a:cubicBezTo>
                <a:lnTo>
                  <a:pt x="4923197" y="240575"/>
                </a:lnTo>
                <a:cubicBezTo>
                  <a:pt x="4923197" y="259556"/>
                  <a:pt x="4907810" y="274943"/>
                  <a:pt x="4888829" y="274943"/>
                </a:cubicBezTo>
                <a:lnTo>
                  <a:pt x="34368" y="274943"/>
                </a:lnTo>
                <a:cubicBezTo>
                  <a:pt x="15387" y="274943"/>
                  <a:pt x="0" y="259556"/>
                  <a:pt x="0" y="240575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7" name="Text 16"/>
          <p:cNvSpPr/>
          <p:nvPr/>
        </p:nvSpPr>
        <p:spPr>
          <a:xfrm>
            <a:off x="6644409" y="2921268"/>
            <a:ext cx="4974748" cy="274943"/>
          </a:xfrm>
          <a:prstGeom prst="rect">
            <a:avLst/>
          </a:prstGeom>
          <a:noFill/>
        </p:spPr>
        <p:txBody>
          <a:bodyPr wrap="square" lIns="68736" tIns="68736" rIns="68736" bIns="68736" rtlCol="0" anchor="ctr"/>
          <a:lstStyle/>
          <a:p>
            <a:pPr>
              <a:lnSpc>
                <a:spcPct val="110000"/>
              </a:lnSpc>
            </a:pPr>
            <a:r>
              <a:rPr lang="en-US" sz="810" dirty="0">
                <a:solidFill>
                  <a:srgbClr val="1A53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[0.23, -0.87, 0.45, 0.12, -0.34, 0.78, ...] (768维)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8" name="Shape 17"/>
          <p:cNvSpPr/>
          <p:nvPr/>
        </p:nvSpPr>
        <p:spPr>
          <a:xfrm>
            <a:off x="6352282" y="3608626"/>
            <a:ext cx="5490266" cy="2285463"/>
          </a:xfrm>
          <a:custGeom>
            <a:avLst/>
            <a:gdLst/>
            <a:ahLst/>
            <a:cxnLst/>
            <a:rect l="l" t="t" r="r" b="b"/>
            <a:pathLst>
              <a:path w="5490266" h="2285463">
                <a:moveTo>
                  <a:pt x="34368" y="0"/>
                </a:moveTo>
                <a:lnTo>
                  <a:pt x="5387169" y="0"/>
                </a:lnTo>
                <a:cubicBezTo>
                  <a:pt x="5444108" y="0"/>
                  <a:pt x="5490266" y="46158"/>
                  <a:pt x="5490266" y="103097"/>
                </a:cubicBezTo>
                <a:lnTo>
                  <a:pt x="5490266" y="2182366"/>
                </a:lnTo>
                <a:cubicBezTo>
                  <a:pt x="5490266" y="2239305"/>
                  <a:pt x="5444108" y="2285463"/>
                  <a:pt x="5387169" y="2285463"/>
                </a:cubicBezTo>
                <a:lnTo>
                  <a:pt x="34368" y="2285463"/>
                </a:lnTo>
                <a:cubicBezTo>
                  <a:pt x="15387" y="2285463"/>
                  <a:pt x="0" y="2270076"/>
                  <a:pt x="0" y="2251095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9" name="Shape 18"/>
          <p:cNvSpPr/>
          <p:nvPr/>
        </p:nvSpPr>
        <p:spPr>
          <a:xfrm>
            <a:off x="6352282" y="3608626"/>
            <a:ext cx="34368" cy="2285463"/>
          </a:xfrm>
          <a:custGeom>
            <a:avLst/>
            <a:gdLst/>
            <a:ahLst/>
            <a:cxnLst/>
            <a:rect l="l" t="t" r="r" b="b"/>
            <a:pathLst>
              <a:path w="34368" h="2285463">
                <a:moveTo>
                  <a:pt x="34368" y="0"/>
                </a:moveTo>
                <a:lnTo>
                  <a:pt x="34368" y="0"/>
                </a:lnTo>
                <a:lnTo>
                  <a:pt x="34368" y="2285463"/>
                </a:lnTo>
                <a:lnTo>
                  <a:pt x="34368" y="2285463"/>
                </a:lnTo>
                <a:cubicBezTo>
                  <a:pt x="15387" y="2285463"/>
                  <a:pt x="0" y="2270076"/>
                  <a:pt x="0" y="2251095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40" name="Shape 19"/>
          <p:cNvSpPr/>
          <p:nvPr/>
        </p:nvSpPr>
        <p:spPr>
          <a:xfrm>
            <a:off x="6541305" y="3780465"/>
            <a:ext cx="412414" cy="412414"/>
          </a:xfrm>
          <a:custGeom>
            <a:avLst/>
            <a:gdLst/>
            <a:ahLst/>
            <a:cxnLst/>
            <a:rect l="l" t="t" r="r" b="b"/>
            <a:pathLst>
              <a:path w="412414" h="412414">
                <a:moveTo>
                  <a:pt x="206207" y="0"/>
                </a:moveTo>
                <a:lnTo>
                  <a:pt x="206207" y="0"/>
                </a:lnTo>
                <a:cubicBezTo>
                  <a:pt x="320016" y="0"/>
                  <a:pt x="412414" y="92398"/>
                  <a:pt x="412414" y="206207"/>
                </a:cubicBezTo>
                <a:lnTo>
                  <a:pt x="412414" y="206207"/>
                </a:lnTo>
                <a:cubicBezTo>
                  <a:pt x="412414" y="320016"/>
                  <a:pt x="320016" y="412414"/>
                  <a:pt x="206207" y="412414"/>
                </a:cubicBezTo>
                <a:lnTo>
                  <a:pt x="206207" y="412414"/>
                </a:lnTo>
                <a:cubicBezTo>
                  <a:pt x="92398" y="412414"/>
                  <a:pt x="0" y="320016"/>
                  <a:pt x="0" y="206207"/>
                </a:cubicBezTo>
                <a:lnTo>
                  <a:pt x="0" y="206207"/>
                </a:lnTo>
                <a:cubicBezTo>
                  <a:pt x="0" y="92398"/>
                  <a:pt x="92398" y="0"/>
                  <a:pt x="206207" y="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41" name="Shape 20"/>
          <p:cNvSpPr/>
          <p:nvPr/>
        </p:nvSpPr>
        <p:spPr>
          <a:xfrm>
            <a:off x="6683073" y="3900753"/>
            <a:ext cx="128879" cy="171839"/>
          </a:xfrm>
          <a:custGeom>
            <a:avLst/>
            <a:gdLst/>
            <a:ahLst/>
            <a:cxnLst/>
            <a:rect l="l" t="t" r="r" b="b"/>
            <a:pathLst>
              <a:path w="128879" h="171839">
                <a:moveTo>
                  <a:pt x="98304" y="128879"/>
                </a:moveTo>
                <a:cubicBezTo>
                  <a:pt x="100754" y="121395"/>
                  <a:pt x="105654" y="114615"/>
                  <a:pt x="111192" y="108776"/>
                </a:cubicBezTo>
                <a:cubicBezTo>
                  <a:pt x="122167" y="97230"/>
                  <a:pt x="128879" y="81624"/>
                  <a:pt x="128879" y="64440"/>
                </a:cubicBezTo>
                <a:cubicBezTo>
                  <a:pt x="128879" y="28864"/>
                  <a:pt x="100016" y="0"/>
                  <a:pt x="64440" y="0"/>
                </a:cubicBezTo>
                <a:cubicBezTo>
                  <a:pt x="28864" y="0"/>
                  <a:pt x="0" y="28864"/>
                  <a:pt x="0" y="64440"/>
                </a:cubicBezTo>
                <a:cubicBezTo>
                  <a:pt x="0" y="81624"/>
                  <a:pt x="6712" y="97230"/>
                  <a:pt x="17687" y="108776"/>
                </a:cubicBezTo>
                <a:cubicBezTo>
                  <a:pt x="23225" y="114615"/>
                  <a:pt x="28159" y="121395"/>
                  <a:pt x="30575" y="128879"/>
                </a:cubicBezTo>
                <a:lnTo>
                  <a:pt x="98271" y="128879"/>
                </a:lnTo>
                <a:close/>
                <a:moveTo>
                  <a:pt x="96660" y="144989"/>
                </a:moveTo>
                <a:lnTo>
                  <a:pt x="32220" y="144989"/>
                </a:lnTo>
                <a:lnTo>
                  <a:pt x="32220" y="150359"/>
                </a:lnTo>
                <a:cubicBezTo>
                  <a:pt x="32220" y="165194"/>
                  <a:pt x="44235" y="177209"/>
                  <a:pt x="59070" y="177209"/>
                </a:cubicBezTo>
                <a:lnTo>
                  <a:pt x="69810" y="177209"/>
                </a:lnTo>
                <a:cubicBezTo>
                  <a:pt x="84644" y="177209"/>
                  <a:pt x="96660" y="165194"/>
                  <a:pt x="96660" y="150359"/>
                </a:cubicBezTo>
                <a:lnTo>
                  <a:pt x="96660" y="144989"/>
                </a:lnTo>
                <a:close/>
                <a:moveTo>
                  <a:pt x="61755" y="37590"/>
                </a:moveTo>
                <a:cubicBezTo>
                  <a:pt x="48397" y="37590"/>
                  <a:pt x="37590" y="48397"/>
                  <a:pt x="37590" y="61755"/>
                </a:cubicBezTo>
                <a:cubicBezTo>
                  <a:pt x="37590" y="66219"/>
                  <a:pt x="33999" y="69810"/>
                  <a:pt x="29535" y="69810"/>
                </a:cubicBezTo>
                <a:cubicBezTo>
                  <a:pt x="25071" y="69810"/>
                  <a:pt x="21480" y="66219"/>
                  <a:pt x="21480" y="61755"/>
                </a:cubicBezTo>
                <a:cubicBezTo>
                  <a:pt x="21480" y="39503"/>
                  <a:pt x="39503" y="21480"/>
                  <a:pt x="61755" y="21480"/>
                </a:cubicBezTo>
                <a:cubicBezTo>
                  <a:pt x="66219" y="21480"/>
                  <a:pt x="69810" y="25071"/>
                  <a:pt x="69810" y="29535"/>
                </a:cubicBezTo>
                <a:cubicBezTo>
                  <a:pt x="69810" y="33999"/>
                  <a:pt x="66219" y="37590"/>
                  <a:pt x="61755" y="3759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2" name="Text 21"/>
          <p:cNvSpPr/>
          <p:nvPr/>
        </p:nvSpPr>
        <p:spPr>
          <a:xfrm>
            <a:off x="7056823" y="3866385"/>
            <a:ext cx="773277" cy="240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核心原理</a:t>
            </a:r>
            <a:endParaRPr lang="en-US" sz="1355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3" name="Text 22"/>
          <p:cNvSpPr/>
          <p:nvPr/>
        </p:nvSpPr>
        <p:spPr>
          <a:xfrm>
            <a:off x="6541305" y="4295983"/>
            <a:ext cx="5198140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语义相近的词/句，向量坐标在空间中</a:t>
            </a:r>
            <a:r>
              <a:rPr lang="en-US" sz="1080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</a:t>
            </a:r>
            <a:r>
              <a:rPr lang="en-US" sz="1080" b="1" dirty="0">
                <a:solidFill>
                  <a:srgbClr val="4ECDC4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彼此靠近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4" name="Shape 23"/>
          <p:cNvSpPr/>
          <p:nvPr/>
        </p:nvSpPr>
        <p:spPr>
          <a:xfrm>
            <a:off x="6545601" y="4609590"/>
            <a:ext cx="5120812" cy="317903"/>
          </a:xfrm>
          <a:custGeom>
            <a:avLst/>
            <a:gdLst/>
            <a:ahLst/>
            <a:cxnLst/>
            <a:rect l="l" t="t" r="r" b="b"/>
            <a:pathLst>
              <a:path w="5120812" h="317903">
                <a:moveTo>
                  <a:pt x="68737" y="0"/>
                </a:moveTo>
                <a:lnTo>
                  <a:pt x="5052075" y="0"/>
                </a:lnTo>
                <a:cubicBezTo>
                  <a:pt x="5090037" y="0"/>
                  <a:pt x="5120812" y="30775"/>
                  <a:pt x="5120812" y="68737"/>
                </a:cubicBezTo>
                <a:lnTo>
                  <a:pt x="5120812" y="249166"/>
                </a:lnTo>
                <a:cubicBezTo>
                  <a:pt x="5120812" y="287128"/>
                  <a:pt x="5090037" y="317903"/>
                  <a:pt x="5052075" y="317903"/>
                </a:cubicBezTo>
                <a:lnTo>
                  <a:pt x="68737" y="317903"/>
                </a:lnTo>
                <a:cubicBezTo>
                  <a:pt x="30800" y="317903"/>
                  <a:pt x="0" y="287103"/>
                  <a:pt x="0" y="249166"/>
                </a:cubicBezTo>
                <a:lnTo>
                  <a:pt x="0" y="68737"/>
                </a:lnTo>
                <a:cubicBezTo>
                  <a:pt x="0" y="30800"/>
                  <a:pt x="30800" y="0"/>
                  <a:pt x="68737" y="0"/>
                </a:cubicBezTo>
                <a:close/>
              </a:path>
            </a:pathLst>
          </a:custGeom>
          <a:noFill/>
          <a:ln w="12700">
            <a:solidFill>
              <a:srgbClr val="B9F8CF"/>
            </a:solidFill>
            <a:prstDash val="solid"/>
          </a:ln>
        </p:spPr>
      </p:sp>
      <p:sp>
        <p:nvSpPr>
          <p:cNvPr id="45" name="Shape 24"/>
          <p:cNvSpPr/>
          <p:nvPr/>
        </p:nvSpPr>
        <p:spPr>
          <a:xfrm>
            <a:off x="6635817" y="4708397"/>
            <a:ext cx="120288" cy="120288"/>
          </a:xfrm>
          <a:custGeom>
            <a:avLst/>
            <a:gdLst/>
            <a:ahLst/>
            <a:cxnLst/>
            <a:rect l="l" t="t" r="r" b="b"/>
            <a:pathLst>
              <a:path w="120288" h="120288">
                <a:moveTo>
                  <a:pt x="60144" y="120288"/>
                </a:moveTo>
                <a:cubicBezTo>
                  <a:pt x="93338" y="120288"/>
                  <a:pt x="120288" y="93338"/>
                  <a:pt x="120288" y="60144"/>
                </a:cubicBezTo>
                <a:cubicBezTo>
                  <a:pt x="120288" y="26950"/>
                  <a:pt x="93338" y="0"/>
                  <a:pt x="60144" y="0"/>
                </a:cubicBezTo>
                <a:cubicBezTo>
                  <a:pt x="26950" y="0"/>
                  <a:pt x="0" y="26950"/>
                  <a:pt x="0" y="60144"/>
                </a:cubicBezTo>
                <a:cubicBezTo>
                  <a:pt x="0" y="93338"/>
                  <a:pt x="26950" y="120288"/>
                  <a:pt x="60144" y="120288"/>
                </a:cubicBezTo>
                <a:close/>
                <a:moveTo>
                  <a:pt x="79972" y="49971"/>
                </a:moveTo>
                <a:lnTo>
                  <a:pt x="61177" y="80043"/>
                </a:lnTo>
                <a:cubicBezTo>
                  <a:pt x="60191" y="81617"/>
                  <a:pt x="58499" y="82604"/>
                  <a:pt x="56643" y="82698"/>
                </a:cubicBezTo>
                <a:cubicBezTo>
                  <a:pt x="54787" y="82792"/>
                  <a:pt x="53002" y="81946"/>
                  <a:pt x="51897" y="80442"/>
                </a:cubicBezTo>
                <a:lnTo>
                  <a:pt x="40621" y="65406"/>
                </a:lnTo>
                <a:cubicBezTo>
                  <a:pt x="38741" y="62916"/>
                  <a:pt x="39258" y="59392"/>
                  <a:pt x="41748" y="57512"/>
                </a:cubicBezTo>
                <a:cubicBezTo>
                  <a:pt x="44239" y="55633"/>
                  <a:pt x="47763" y="56150"/>
                  <a:pt x="49642" y="58640"/>
                </a:cubicBezTo>
                <a:lnTo>
                  <a:pt x="55985" y="67098"/>
                </a:lnTo>
                <a:lnTo>
                  <a:pt x="70410" y="44004"/>
                </a:lnTo>
                <a:cubicBezTo>
                  <a:pt x="72055" y="41372"/>
                  <a:pt x="75532" y="40550"/>
                  <a:pt x="78187" y="42218"/>
                </a:cubicBezTo>
                <a:cubicBezTo>
                  <a:pt x="80842" y="43886"/>
                  <a:pt x="81640" y="47340"/>
                  <a:pt x="79972" y="49995"/>
                </a:cubicBezTo>
                <a:close/>
              </a:path>
            </a:pathLst>
          </a:custGeom>
          <a:solidFill>
            <a:srgbClr val="00C950"/>
          </a:solidFill>
        </p:spPr>
      </p:sp>
      <p:sp>
        <p:nvSpPr>
          <p:cNvPr id="46" name="Text 25"/>
          <p:cNvSpPr/>
          <p:nvPr/>
        </p:nvSpPr>
        <p:spPr>
          <a:xfrm>
            <a:off x="6819791" y="4682622"/>
            <a:ext cx="4833735" cy="1718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"X5空气悬架"</a:t>
            </a:r>
            <a:r>
              <a:rPr lang="en-US" sz="945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≈ </a:t>
            </a:r>
            <a:r>
              <a:rPr lang="en-US" sz="945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"G05自适应悬架"</a:t>
            </a:r>
            <a:r>
              <a:rPr lang="en-US" sz="945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→ 坐标很近</a:t>
            </a:r>
            <a:endParaRPr lang="en-US" sz="945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7" name="Shape 26"/>
          <p:cNvSpPr/>
          <p:nvPr/>
        </p:nvSpPr>
        <p:spPr>
          <a:xfrm>
            <a:off x="6545601" y="5004820"/>
            <a:ext cx="5120812" cy="317903"/>
          </a:xfrm>
          <a:custGeom>
            <a:avLst/>
            <a:gdLst/>
            <a:ahLst/>
            <a:cxnLst/>
            <a:rect l="l" t="t" r="r" b="b"/>
            <a:pathLst>
              <a:path w="5120812" h="317903">
                <a:moveTo>
                  <a:pt x="68737" y="0"/>
                </a:moveTo>
                <a:lnTo>
                  <a:pt x="5052075" y="0"/>
                </a:lnTo>
                <a:cubicBezTo>
                  <a:pt x="5090037" y="0"/>
                  <a:pt x="5120812" y="30775"/>
                  <a:pt x="5120812" y="68737"/>
                </a:cubicBezTo>
                <a:lnTo>
                  <a:pt x="5120812" y="249166"/>
                </a:lnTo>
                <a:cubicBezTo>
                  <a:pt x="5120812" y="287128"/>
                  <a:pt x="5090037" y="317903"/>
                  <a:pt x="5052075" y="317903"/>
                </a:cubicBezTo>
                <a:lnTo>
                  <a:pt x="68737" y="317903"/>
                </a:lnTo>
                <a:cubicBezTo>
                  <a:pt x="30800" y="317903"/>
                  <a:pt x="0" y="287103"/>
                  <a:pt x="0" y="249166"/>
                </a:cubicBezTo>
                <a:lnTo>
                  <a:pt x="0" y="68737"/>
                </a:lnTo>
                <a:cubicBezTo>
                  <a:pt x="0" y="30800"/>
                  <a:pt x="30800" y="0"/>
                  <a:pt x="68737" y="0"/>
                </a:cubicBezTo>
                <a:close/>
              </a:path>
            </a:pathLst>
          </a:custGeom>
          <a:noFill/>
          <a:ln w="12700">
            <a:solidFill>
              <a:srgbClr val="B9F8CF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48" name="Shape 27"/>
          <p:cNvSpPr/>
          <p:nvPr/>
        </p:nvSpPr>
        <p:spPr>
          <a:xfrm>
            <a:off x="6635817" y="5103628"/>
            <a:ext cx="120288" cy="120288"/>
          </a:xfrm>
          <a:custGeom>
            <a:avLst/>
            <a:gdLst/>
            <a:ahLst/>
            <a:cxnLst/>
            <a:rect l="l" t="t" r="r" b="b"/>
            <a:pathLst>
              <a:path w="120288" h="120288">
                <a:moveTo>
                  <a:pt x="60144" y="120288"/>
                </a:moveTo>
                <a:cubicBezTo>
                  <a:pt x="93338" y="120288"/>
                  <a:pt x="120288" y="93338"/>
                  <a:pt x="120288" y="60144"/>
                </a:cubicBezTo>
                <a:cubicBezTo>
                  <a:pt x="120288" y="26950"/>
                  <a:pt x="93338" y="0"/>
                  <a:pt x="60144" y="0"/>
                </a:cubicBezTo>
                <a:cubicBezTo>
                  <a:pt x="26950" y="0"/>
                  <a:pt x="0" y="26950"/>
                  <a:pt x="0" y="60144"/>
                </a:cubicBezTo>
                <a:cubicBezTo>
                  <a:pt x="0" y="93338"/>
                  <a:pt x="26950" y="120288"/>
                  <a:pt x="60144" y="120288"/>
                </a:cubicBezTo>
                <a:close/>
                <a:moveTo>
                  <a:pt x="79972" y="49971"/>
                </a:moveTo>
                <a:lnTo>
                  <a:pt x="61177" y="80043"/>
                </a:lnTo>
                <a:cubicBezTo>
                  <a:pt x="60191" y="81617"/>
                  <a:pt x="58499" y="82604"/>
                  <a:pt x="56643" y="82698"/>
                </a:cubicBezTo>
                <a:cubicBezTo>
                  <a:pt x="54787" y="82792"/>
                  <a:pt x="53002" y="81946"/>
                  <a:pt x="51897" y="80442"/>
                </a:cubicBezTo>
                <a:lnTo>
                  <a:pt x="40621" y="65406"/>
                </a:lnTo>
                <a:cubicBezTo>
                  <a:pt x="38741" y="62916"/>
                  <a:pt x="39258" y="59392"/>
                  <a:pt x="41748" y="57512"/>
                </a:cubicBezTo>
                <a:cubicBezTo>
                  <a:pt x="44239" y="55633"/>
                  <a:pt x="47763" y="56150"/>
                  <a:pt x="49642" y="58640"/>
                </a:cubicBezTo>
                <a:lnTo>
                  <a:pt x="55985" y="67098"/>
                </a:lnTo>
                <a:lnTo>
                  <a:pt x="70410" y="44004"/>
                </a:lnTo>
                <a:cubicBezTo>
                  <a:pt x="72055" y="41372"/>
                  <a:pt x="75532" y="40550"/>
                  <a:pt x="78187" y="42218"/>
                </a:cubicBezTo>
                <a:cubicBezTo>
                  <a:pt x="80842" y="43886"/>
                  <a:pt x="81640" y="47340"/>
                  <a:pt x="79972" y="49995"/>
                </a:cubicBezTo>
                <a:close/>
              </a:path>
            </a:pathLst>
          </a:custGeom>
          <a:solidFill>
            <a:srgbClr val="00C950"/>
          </a:solidFill>
        </p:spPr>
      </p:sp>
      <p:sp>
        <p:nvSpPr>
          <p:cNvPr id="49" name="Text 28"/>
          <p:cNvSpPr/>
          <p:nvPr/>
        </p:nvSpPr>
        <p:spPr>
          <a:xfrm>
            <a:off x="6819791" y="5077852"/>
            <a:ext cx="4833735" cy="1718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"返款审批流程"</a:t>
            </a:r>
            <a:r>
              <a:rPr lang="en-US" sz="945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≈ </a:t>
            </a:r>
            <a:r>
              <a:rPr lang="en-US" sz="945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"销售激励结算标准"</a:t>
            </a:r>
            <a:r>
              <a:rPr lang="en-US" sz="945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→ 坐标很近</a:t>
            </a:r>
            <a:endParaRPr lang="en-US" sz="945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0" name="Shape 29"/>
          <p:cNvSpPr/>
          <p:nvPr/>
        </p:nvSpPr>
        <p:spPr>
          <a:xfrm>
            <a:off x="6545601" y="5400051"/>
            <a:ext cx="5120812" cy="317903"/>
          </a:xfrm>
          <a:custGeom>
            <a:avLst/>
            <a:gdLst/>
            <a:ahLst/>
            <a:cxnLst/>
            <a:rect l="l" t="t" r="r" b="b"/>
            <a:pathLst>
              <a:path w="5120812" h="317903">
                <a:moveTo>
                  <a:pt x="68737" y="0"/>
                </a:moveTo>
                <a:lnTo>
                  <a:pt x="5052075" y="0"/>
                </a:lnTo>
                <a:cubicBezTo>
                  <a:pt x="5090037" y="0"/>
                  <a:pt x="5120812" y="30775"/>
                  <a:pt x="5120812" y="68737"/>
                </a:cubicBezTo>
                <a:lnTo>
                  <a:pt x="5120812" y="249166"/>
                </a:lnTo>
                <a:cubicBezTo>
                  <a:pt x="5120812" y="287128"/>
                  <a:pt x="5090037" y="317903"/>
                  <a:pt x="5052075" y="317903"/>
                </a:cubicBezTo>
                <a:lnTo>
                  <a:pt x="68737" y="317903"/>
                </a:lnTo>
                <a:cubicBezTo>
                  <a:pt x="30800" y="317903"/>
                  <a:pt x="0" y="287103"/>
                  <a:pt x="0" y="249166"/>
                </a:cubicBezTo>
                <a:lnTo>
                  <a:pt x="0" y="68737"/>
                </a:lnTo>
                <a:cubicBezTo>
                  <a:pt x="0" y="30800"/>
                  <a:pt x="30800" y="0"/>
                  <a:pt x="68737" y="0"/>
                </a:cubicBezTo>
                <a:close/>
              </a:path>
            </a:pathLst>
          </a:custGeom>
          <a:noFill/>
          <a:ln w="12700">
            <a:solidFill>
              <a:srgbClr val="FFC9C9"/>
            </a:solidFill>
            <a:prstDash val="solid"/>
          </a:ln>
        </p:spPr>
      </p:sp>
      <p:sp>
        <p:nvSpPr>
          <p:cNvPr id="61" name="Shape 30"/>
          <p:cNvSpPr/>
          <p:nvPr/>
        </p:nvSpPr>
        <p:spPr>
          <a:xfrm>
            <a:off x="6635817" y="5498858"/>
            <a:ext cx="120288" cy="120288"/>
          </a:xfrm>
          <a:custGeom>
            <a:avLst/>
            <a:gdLst/>
            <a:ahLst/>
            <a:cxnLst/>
            <a:rect l="l" t="t" r="r" b="b"/>
            <a:pathLst>
              <a:path w="120288" h="120288">
                <a:moveTo>
                  <a:pt x="60144" y="120288"/>
                </a:moveTo>
                <a:cubicBezTo>
                  <a:pt x="93338" y="120288"/>
                  <a:pt x="120288" y="93338"/>
                  <a:pt x="120288" y="60144"/>
                </a:cubicBezTo>
                <a:cubicBezTo>
                  <a:pt x="120288" y="26950"/>
                  <a:pt x="93338" y="0"/>
                  <a:pt x="60144" y="0"/>
                </a:cubicBezTo>
                <a:cubicBezTo>
                  <a:pt x="26950" y="0"/>
                  <a:pt x="0" y="26950"/>
                  <a:pt x="0" y="60144"/>
                </a:cubicBezTo>
                <a:cubicBezTo>
                  <a:pt x="0" y="93338"/>
                  <a:pt x="26950" y="120288"/>
                  <a:pt x="60144" y="120288"/>
                </a:cubicBezTo>
                <a:close/>
                <a:moveTo>
                  <a:pt x="39234" y="39234"/>
                </a:moveTo>
                <a:cubicBezTo>
                  <a:pt x="41443" y="37026"/>
                  <a:pt x="45014" y="37026"/>
                  <a:pt x="47199" y="39234"/>
                </a:cubicBezTo>
                <a:lnTo>
                  <a:pt x="60120" y="52156"/>
                </a:lnTo>
                <a:lnTo>
                  <a:pt x="73042" y="39234"/>
                </a:lnTo>
                <a:cubicBezTo>
                  <a:pt x="75250" y="37026"/>
                  <a:pt x="78821" y="37026"/>
                  <a:pt x="81006" y="39234"/>
                </a:cubicBezTo>
                <a:cubicBezTo>
                  <a:pt x="83191" y="41443"/>
                  <a:pt x="83215" y="45014"/>
                  <a:pt x="81006" y="47199"/>
                </a:cubicBezTo>
                <a:lnTo>
                  <a:pt x="68085" y="60120"/>
                </a:lnTo>
                <a:lnTo>
                  <a:pt x="81006" y="73042"/>
                </a:lnTo>
                <a:cubicBezTo>
                  <a:pt x="83215" y="75250"/>
                  <a:pt x="83215" y="78821"/>
                  <a:pt x="81006" y="81006"/>
                </a:cubicBezTo>
                <a:cubicBezTo>
                  <a:pt x="78798" y="83191"/>
                  <a:pt x="75227" y="83215"/>
                  <a:pt x="73042" y="81006"/>
                </a:cubicBezTo>
                <a:lnTo>
                  <a:pt x="60120" y="68085"/>
                </a:lnTo>
                <a:lnTo>
                  <a:pt x="47199" y="81006"/>
                </a:lnTo>
                <a:cubicBezTo>
                  <a:pt x="44990" y="83215"/>
                  <a:pt x="41419" y="83215"/>
                  <a:pt x="39234" y="81006"/>
                </a:cubicBezTo>
                <a:cubicBezTo>
                  <a:pt x="37049" y="78798"/>
                  <a:pt x="37026" y="75227"/>
                  <a:pt x="39234" y="73042"/>
                </a:cubicBezTo>
                <a:lnTo>
                  <a:pt x="52156" y="60120"/>
                </a:lnTo>
                <a:lnTo>
                  <a:pt x="39234" y="47199"/>
                </a:lnTo>
                <a:cubicBezTo>
                  <a:pt x="37026" y="44990"/>
                  <a:pt x="37026" y="41419"/>
                  <a:pt x="39234" y="39234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62" name="Text 31"/>
          <p:cNvSpPr/>
          <p:nvPr/>
        </p:nvSpPr>
        <p:spPr>
          <a:xfrm>
            <a:off x="6819791" y="5473082"/>
            <a:ext cx="4833735" cy="1718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"X5空气悬架"</a:t>
            </a:r>
            <a:r>
              <a:rPr lang="en-US" sz="945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vs </a:t>
            </a:r>
            <a:r>
              <a:rPr lang="en-US" sz="945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"扳手"</a:t>
            </a:r>
            <a:r>
              <a:rPr lang="en-US" sz="945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→ 坐标很远</a:t>
            </a:r>
            <a:endParaRPr lang="en-US" sz="945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3" name="Shape 32"/>
          <p:cNvSpPr/>
          <p:nvPr/>
        </p:nvSpPr>
        <p:spPr>
          <a:xfrm>
            <a:off x="343679" y="6031560"/>
            <a:ext cx="11504643" cy="481150"/>
          </a:xfrm>
          <a:custGeom>
            <a:avLst/>
            <a:gdLst/>
            <a:ahLst/>
            <a:cxnLst/>
            <a:rect l="l" t="t" r="r" b="b"/>
            <a:pathLst>
              <a:path w="11504643" h="481150">
                <a:moveTo>
                  <a:pt x="103106" y="0"/>
                </a:moveTo>
                <a:lnTo>
                  <a:pt x="11401537" y="0"/>
                </a:lnTo>
                <a:cubicBezTo>
                  <a:pt x="11458481" y="0"/>
                  <a:pt x="11504643" y="46162"/>
                  <a:pt x="11504643" y="103106"/>
                </a:cubicBezTo>
                <a:lnTo>
                  <a:pt x="11504643" y="378044"/>
                </a:lnTo>
                <a:cubicBezTo>
                  <a:pt x="11504643" y="434988"/>
                  <a:pt x="11458481" y="481150"/>
                  <a:pt x="11401537" y="481150"/>
                </a:cubicBezTo>
                <a:lnTo>
                  <a:pt x="103106" y="481150"/>
                </a:lnTo>
                <a:cubicBezTo>
                  <a:pt x="46162" y="481150"/>
                  <a:pt x="0" y="434988"/>
                  <a:pt x="0" y="378044"/>
                </a:cubicBezTo>
                <a:lnTo>
                  <a:pt x="0" y="103106"/>
                </a:lnTo>
                <a:cubicBezTo>
                  <a:pt x="0" y="46200"/>
                  <a:pt x="46200" y="0"/>
                  <a:pt x="1031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A535C">
                  <a:alpha val="29000"/>
                </a:srgbClr>
              </a:gs>
              <a:gs pos="100000">
                <a:srgbClr val="4ECDC4">
                  <a:alpha val="42000"/>
                </a:srgbClr>
              </a:gs>
            </a:gsLst>
            <a:lin ang="0" scaled="1"/>
          </a:gradFill>
        </p:spPr>
      </p:sp>
      <p:sp>
        <p:nvSpPr>
          <p:cNvPr id="64" name="Shape 33"/>
          <p:cNvSpPr/>
          <p:nvPr/>
        </p:nvSpPr>
        <p:spPr>
          <a:xfrm>
            <a:off x="498334" y="6203400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36301" y="31522"/>
                </a:moveTo>
                <a:lnTo>
                  <a:pt x="29293" y="51552"/>
                </a:lnTo>
                <a:lnTo>
                  <a:pt x="108178" y="51552"/>
                </a:lnTo>
                <a:lnTo>
                  <a:pt x="101170" y="31522"/>
                </a:lnTo>
                <a:cubicBezTo>
                  <a:pt x="99962" y="28085"/>
                  <a:pt x="96713" y="25776"/>
                  <a:pt x="93062" y="25776"/>
                </a:cubicBezTo>
                <a:lnTo>
                  <a:pt x="44410" y="25776"/>
                </a:lnTo>
                <a:cubicBezTo>
                  <a:pt x="40758" y="25776"/>
                  <a:pt x="37509" y="28085"/>
                  <a:pt x="36301" y="31522"/>
                </a:cubicBezTo>
                <a:close/>
                <a:moveTo>
                  <a:pt x="10633" y="52841"/>
                </a:moveTo>
                <a:lnTo>
                  <a:pt x="20084" y="25856"/>
                </a:lnTo>
                <a:cubicBezTo>
                  <a:pt x="23708" y="15519"/>
                  <a:pt x="33455" y="8592"/>
                  <a:pt x="44410" y="8592"/>
                </a:cubicBezTo>
                <a:lnTo>
                  <a:pt x="93062" y="8592"/>
                </a:lnTo>
                <a:cubicBezTo>
                  <a:pt x="104016" y="8592"/>
                  <a:pt x="113763" y="15519"/>
                  <a:pt x="117388" y="25856"/>
                </a:cubicBezTo>
                <a:lnTo>
                  <a:pt x="126839" y="52841"/>
                </a:lnTo>
                <a:cubicBezTo>
                  <a:pt x="133068" y="55418"/>
                  <a:pt x="137471" y="61567"/>
                  <a:pt x="137471" y="68736"/>
                </a:cubicBezTo>
                <a:lnTo>
                  <a:pt x="137471" y="120288"/>
                </a:lnTo>
                <a:cubicBezTo>
                  <a:pt x="137471" y="125040"/>
                  <a:pt x="133632" y="128879"/>
                  <a:pt x="128879" y="128879"/>
                </a:cubicBezTo>
                <a:lnTo>
                  <a:pt x="120288" y="128879"/>
                </a:lnTo>
                <a:cubicBezTo>
                  <a:pt x="115535" y="128879"/>
                  <a:pt x="111696" y="125040"/>
                  <a:pt x="111696" y="120288"/>
                </a:cubicBezTo>
                <a:lnTo>
                  <a:pt x="111696" y="111696"/>
                </a:lnTo>
                <a:lnTo>
                  <a:pt x="25776" y="111696"/>
                </a:lnTo>
                <a:lnTo>
                  <a:pt x="25776" y="120288"/>
                </a:lnTo>
                <a:cubicBezTo>
                  <a:pt x="25776" y="125040"/>
                  <a:pt x="21936" y="128879"/>
                  <a:pt x="17184" y="128879"/>
                </a:cubicBezTo>
                <a:lnTo>
                  <a:pt x="8592" y="128879"/>
                </a:lnTo>
                <a:cubicBezTo>
                  <a:pt x="3840" y="128879"/>
                  <a:pt x="0" y="125040"/>
                  <a:pt x="0" y="120288"/>
                </a:cubicBezTo>
                <a:lnTo>
                  <a:pt x="0" y="68736"/>
                </a:lnTo>
                <a:cubicBezTo>
                  <a:pt x="0" y="61567"/>
                  <a:pt x="4403" y="55418"/>
                  <a:pt x="10633" y="52841"/>
                </a:cubicBezTo>
                <a:close/>
                <a:moveTo>
                  <a:pt x="34368" y="81624"/>
                </a:moveTo>
                <a:cubicBezTo>
                  <a:pt x="34368" y="76882"/>
                  <a:pt x="30518" y="73032"/>
                  <a:pt x="25776" y="73032"/>
                </a:cubicBezTo>
                <a:cubicBezTo>
                  <a:pt x="21034" y="73032"/>
                  <a:pt x="17184" y="76882"/>
                  <a:pt x="17184" y="81624"/>
                </a:cubicBezTo>
                <a:cubicBezTo>
                  <a:pt x="17184" y="86366"/>
                  <a:pt x="21034" y="90216"/>
                  <a:pt x="25776" y="90216"/>
                </a:cubicBezTo>
                <a:cubicBezTo>
                  <a:pt x="30518" y="90216"/>
                  <a:pt x="34368" y="86366"/>
                  <a:pt x="34368" y="81624"/>
                </a:cubicBezTo>
                <a:close/>
                <a:moveTo>
                  <a:pt x="111696" y="90216"/>
                </a:moveTo>
                <a:cubicBezTo>
                  <a:pt x="116438" y="90216"/>
                  <a:pt x="120288" y="86366"/>
                  <a:pt x="120288" y="81624"/>
                </a:cubicBezTo>
                <a:cubicBezTo>
                  <a:pt x="120288" y="76882"/>
                  <a:pt x="116438" y="73032"/>
                  <a:pt x="111696" y="73032"/>
                </a:cubicBezTo>
                <a:cubicBezTo>
                  <a:pt x="106954" y="73032"/>
                  <a:pt x="103104" y="76882"/>
                  <a:pt x="103104" y="81624"/>
                </a:cubicBezTo>
                <a:cubicBezTo>
                  <a:pt x="103104" y="86366"/>
                  <a:pt x="106954" y="90216"/>
                  <a:pt x="111696" y="9021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5" name="Text 34"/>
          <p:cNvSpPr/>
          <p:nvPr/>
        </p:nvSpPr>
        <p:spPr>
          <a:xfrm>
            <a:off x="699491" y="6169032"/>
            <a:ext cx="11080094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宝马场景应用： 销售顾问搜"竞品对比"，向量检索能自动找到"竞品拆解分析""竞争对手优劣势"等文档，即使文档里根本没有"竞品对比"这四个字</a:t>
            </a:r>
            <a:endParaRPr lang="en-US" sz="1200" b="1" dirty="0">
              <a:solidFill>
                <a:srgbClr val="FFFFFF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7146290" cy="72009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"断章取义"的代价：当AI只看了半句话</a:t>
            </a:r>
            <a:endParaRPr lang="zh-CN" altLang="en-US">
              <a:sym typeface="+mn-ea"/>
            </a:endParaRPr>
          </a:p>
        </p:txBody>
      </p:sp>
      <p:sp>
        <p:nvSpPr>
          <p:cNvPr id="16" name="Text 2"/>
          <p:cNvSpPr/>
          <p:nvPr/>
        </p:nvSpPr>
        <p:spPr>
          <a:xfrm>
            <a:off x="345382" y="1001609"/>
            <a:ext cx="11578946" cy="241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5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切片不当可能导致合规风险和业务误导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345382" y="1398799"/>
            <a:ext cx="5681541" cy="4040975"/>
          </a:xfrm>
          <a:prstGeom prst="roundRect">
            <a:avLst>
              <a:gd name="adj" fmla="val 7559"/>
            </a:avLst>
          </a:pr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5"/>
          <p:cNvSpPr/>
          <p:nvPr/>
        </p:nvSpPr>
        <p:spPr>
          <a:xfrm>
            <a:off x="518074" y="1588759"/>
            <a:ext cx="483535" cy="483535"/>
          </a:xfrm>
          <a:custGeom>
            <a:avLst/>
            <a:gdLst/>
            <a:ahLst/>
            <a:cxnLst/>
            <a:rect l="l" t="t" r="r" b="b"/>
            <a:pathLst>
              <a:path w="483535" h="483535">
                <a:moveTo>
                  <a:pt x="241768" y="0"/>
                </a:moveTo>
                <a:lnTo>
                  <a:pt x="241768" y="0"/>
                </a:lnTo>
                <a:cubicBezTo>
                  <a:pt x="375203" y="0"/>
                  <a:pt x="483535" y="108332"/>
                  <a:pt x="483535" y="241768"/>
                </a:cubicBezTo>
                <a:lnTo>
                  <a:pt x="483535" y="241768"/>
                </a:lnTo>
                <a:cubicBezTo>
                  <a:pt x="483535" y="375203"/>
                  <a:pt x="375203" y="483535"/>
                  <a:pt x="241768" y="483535"/>
                </a:cubicBezTo>
                <a:lnTo>
                  <a:pt x="241768" y="483535"/>
                </a:lnTo>
                <a:cubicBezTo>
                  <a:pt x="108332" y="483535"/>
                  <a:pt x="0" y="375203"/>
                  <a:pt x="0" y="241768"/>
                </a:cubicBezTo>
                <a:lnTo>
                  <a:pt x="0" y="241768"/>
                </a:lnTo>
                <a:cubicBezTo>
                  <a:pt x="0" y="108332"/>
                  <a:pt x="108332" y="0"/>
                  <a:pt x="241768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0" name="Shape 6"/>
          <p:cNvSpPr/>
          <p:nvPr/>
        </p:nvSpPr>
        <p:spPr>
          <a:xfrm>
            <a:off x="643275" y="1726912"/>
            <a:ext cx="233133" cy="207229"/>
          </a:xfrm>
          <a:custGeom>
            <a:avLst/>
            <a:gdLst/>
            <a:ahLst/>
            <a:cxnLst/>
            <a:rect l="l" t="t" r="r" b="b"/>
            <a:pathLst>
              <a:path w="233133" h="207229">
                <a:moveTo>
                  <a:pt x="68645" y="62088"/>
                </a:moveTo>
                <a:lnTo>
                  <a:pt x="61076" y="54519"/>
                </a:lnTo>
                <a:cubicBezTo>
                  <a:pt x="56017" y="49460"/>
                  <a:pt x="56017" y="41244"/>
                  <a:pt x="61076" y="36184"/>
                </a:cubicBezTo>
                <a:lnTo>
                  <a:pt x="107500" y="-10281"/>
                </a:lnTo>
                <a:cubicBezTo>
                  <a:pt x="112560" y="-15340"/>
                  <a:pt x="120776" y="-15340"/>
                  <a:pt x="125835" y="-10281"/>
                </a:cubicBezTo>
                <a:lnTo>
                  <a:pt x="133404" y="-2671"/>
                </a:lnTo>
                <a:cubicBezTo>
                  <a:pt x="138463" y="2388"/>
                  <a:pt x="138463" y="10604"/>
                  <a:pt x="133404" y="15664"/>
                </a:cubicBezTo>
                <a:lnTo>
                  <a:pt x="86980" y="62088"/>
                </a:lnTo>
                <a:cubicBezTo>
                  <a:pt x="81920" y="67147"/>
                  <a:pt x="73704" y="67147"/>
                  <a:pt x="68645" y="62088"/>
                </a:cubicBezTo>
                <a:close/>
                <a:moveTo>
                  <a:pt x="111710" y="85685"/>
                </a:moveTo>
                <a:lnTo>
                  <a:pt x="99001" y="72976"/>
                </a:lnTo>
                <a:lnTo>
                  <a:pt x="144332" y="27644"/>
                </a:lnTo>
                <a:lnTo>
                  <a:pt x="192659" y="75971"/>
                </a:lnTo>
                <a:lnTo>
                  <a:pt x="147327" y="121302"/>
                </a:lnTo>
                <a:lnTo>
                  <a:pt x="134618" y="108593"/>
                </a:lnTo>
                <a:lnTo>
                  <a:pt x="40717" y="202494"/>
                </a:lnTo>
                <a:cubicBezTo>
                  <a:pt x="34403" y="208808"/>
                  <a:pt x="24163" y="208808"/>
                  <a:pt x="17809" y="202494"/>
                </a:cubicBezTo>
                <a:cubicBezTo>
                  <a:pt x="11454" y="196180"/>
                  <a:pt x="11495" y="185940"/>
                  <a:pt x="17809" y="179585"/>
                </a:cubicBezTo>
                <a:lnTo>
                  <a:pt x="111710" y="85685"/>
                </a:lnTo>
                <a:close/>
                <a:moveTo>
                  <a:pt x="158215" y="151617"/>
                </a:moveTo>
                <a:cubicBezTo>
                  <a:pt x="153156" y="146558"/>
                  <a:pt x="153156" y="138342"/>
                  <a:pt x="158215" y="133283"/>
                </a:cubicBezTo>
                <a:lnTo>
                  <a:pt x="204639" y="86858"/>
                </a:lnTo>
                <a:cubicBezTo>
                  <a:pt x="209698" y="81799"/>
                  <a:pt x="217915" y="81799"/>
                  <a:pt x="222974" y="86858"/>
                </a:cubicBezTo>
                <a:lnTo>
                  <a:pt x="230543" y="94427"/>
                </a:lnTo>
                <a:cubicBezTo>
                  <a:pt x="235602" y="99486"/>
                  <a:pt x="235602" y="107703"/>
                  <a:pt x="230543" y="112762"/>
                </a:cubicBezTo>
                <a:lnTo>
                  <a:pt x="184119" y="159227"/>
                </a:lnTo>
                <a:cubicBezTo>
                  <a:pt x="179059" y="164286"/>
                  <a:pt x="170843" y="164286"/>
                  <a:pt x="165784" y="159227"/>
                </a:cubicBezTo>
                <a:lnTo>
                  <a:pt x="158215" y="15165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Text 7"/>
          <p:cNvSpPr/>
          <p:nvPr/>
        </p:nvSpPr>
        <p:spPr>
          <a:xfrm>
            <a:off x="1105224" y="1606028"/>
            <a:ext cx="1139762" cy="2763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反面案例一</a:t>
            </a:r>
            <a:endParaRPr lang="en-US" sz="163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2" name="Text 8"/>
          <p:cNvSpPr/>
          <p:nvPr/>
        </p:nvSpPr>
        <p:spPr>
          <a:xfrm>
            <a:off x="1105224" y="1882334"/>
            <a:ext cx="1096589" cy="172691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95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法务场景</a:t>
            </a:r>
            <a:endParaRPr lang="en-US" sz="950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3" name="Shape 9"/>
          <p:cNvSpPr/>
          <p:nvPr/>
        </p:nvSpPr>
        <p:spPr>
          <a:xfrm>
            <a:off x="522391" y="2214765"/>
            <a:ext cx="5327524" cy="803014"/>
          </a:xfrm>
          <a:custGeom>
            <a:avLst/>
            <a:gdLst/>
            <a:ahLst/>
            <a:cxnLst/>
            <a:rect l="l" t="t" r="r" b="b"/>
            <a:pathLst>
              <a:path w="5327524" h="803014">
                <a:moveTo>
                  <a:pt x="69075" y="0"/>
                </a:moveTo>
                <a:lnTo>
                  <a:pt x="5258449" y="0"/>
                </a:lnTo>
                <a:cubicBezTo>
                  <a:pt x="5296598" y="0"/>
                  <a:pt x="5327524" y="30926"/>
                  <a:pt x="5327524" y="69075"/>
                </a:cubicBezTo>
                <a:lnTo>
                  <a:pt x="5327524" y="733939"/>
                </a:lnTo>
                <a:cubicBezTo>
                  <a:pt x="5327524" y="772088"/>
                  <a:pt x="5296598" y="803014"/>
                  <a:pt x="5258449" y="803014"/>
                </a:cubicBezTo>
                <a:lnTo>
                  <a:pt x="69075" y="803014"/>
                </a:lnTo>
                <a:cubicBezTo>
                  <a:pt x="30926" y="803014"/>
                  <a:pt x="0" y="772088"/>
                  <a:pt x="0" y="733939"/>
                </a:cubicBezTo>
                <a:lnTo>
                  <a:pt x="0" y="69075"/>
                </a:lnTo>
                <a:cubicBezTo>
                  <a:pt x="0" y="30952"/>
                  <a:pt x="30952" y="0"/>
                  <a:pt x="69075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0" name="Shape 10"/>
          <p:cNvSpPr/>
          <p:nvPr/>
        </p:nvSpPr>
        <p:spPr>
          <a:xfrm>
            <a:off x="647592" y="2348601"/>
            <a:ext cx="120884" cy="120884"/>
          </a:xfrm>
          <a:custGeom>
            <a:avLst/>
            <a:gdLst/>
            <a:ahLst/>
            <a:cxnLst/>
            <a:rect l="l" t="t" r="r" b="b"/>
            <a:pathLst>
              <a:path w="120884" h="120884">
                <a:moveTo>
                  <a:pt x="60442" y="120884"/>
                </a:moveTo>
                <a:cubicBezTo>
                  <a:pt x="93801" y="120884"/>
                  <a:pt x="120884" y="93801"/>
                  <a:pt x="120884" y="60442"/>
                </a:cubicBezTo>
                <a:cubicBezTo>
                  <a:pt x="120884" y="27083"/>
                  <a:pt x="93801" y="0"/>
                  <a:pt x="60442" y="0"/>
                </a:cubicBezTo>
                <a:cubicBezTo>
                  <a:pt x="27083" y="0"/>
                  <a:pt x="0" y="27083"/>
                  <a:pt x="0" y="60442"/>
                </a:cubicBezTo>
                <a:cubicBezTo>
                  <a:pt x="0" y="93801"/>
                  <a:pt x="27083" y="120884"/>
                  <a:pt x="60442" y="120884"/>
                </a:cubicBezTo>
                <a:close/>
                <a:moveTo>
                  <a:pt x="80369" y="50219"/>
                </a:moveTo>
                <a:lnTo>
                  <a:pt x="61481" y="80440"/>
                </a:lnTo>
                <a:cubicBezTo>
                  <a:pt x="60489" y="82022"/>
                  <a:pt x="58789" y="83013"/>
                  <a:pt x="56924" y="83108"/>
                </a:cubicBezTo>
                <a:cubicBezTo>
                  <a:pt x="55059" y="83202"/>
                  <a:pt x="53264" y="82352"/>
                  <a:pt x="52155" y="80841"/>
                </a:cubicBezTo>
                <a:lnTo>
                  <a:pt x="40822" y="65731"/>
                </a:lnTo>
                <a:cubicBezTo>
                  <a:pt x="38933" y="63228"/>
                  <a:pt x="39453" y="59686"/>
                  <a:pt x="41955" y="57798"/>
                </a:cubicBezTo>
                <a:cubicBezTo>
                  <a:pt x="44458" y="55909"/>
                  <a:pt x="47999" y="56428"/>
                  <a:pt x="49888" y="58931"/>
                </a:cubicBezTo>
                <a:lnTo>
                  <a:pt x="56263" y="67431"/>
                </a:lnTo>
                <a:lnTo>
                  <a:pt x="70760" y="44222"/>
                </a:lnTo>
                <a:cubicBezTo>
                  <a:pt x="72412" y="41577"/>
                  <a:pt x="75907" y="40751"/>
                  <a:pt x="78575" y="42427"/>
                </a:cubicBezTo>
                <a:cubicBezTo>
                  <a:pt x="81242" y="44104"/>
                  <a:pt x="82045" y="47574"/>
                  <a:pt x="80369" y="50242"/>
                </a:cubicBezTo>
                <a:close/>
              </a:path>
            </a:pathLst>
          </a:custGeom>
          <a:solidFill>
            <a:srgbClr val="008236"/>
          </a:solidFill>
        </p:spPr>
      </p:sp>
      <p:sp>
        <p:nvSpPr>
          <p:cNvPr id="31" name="Text 11"/>
          <p:cNvSpPr/>
          <p:nvPr/>
        </p:nvSpPr>
        <p:spPr>
          <a:xfrm>
            <a:off x="832709" y="2322697"/>
            <a:ext cx="4969716" cy="172691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95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原文</a:t>
            </a:r>
            <a:endParaRPr lang="en-US" sz="950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630323" y="2564465"/>
            <a:ext cx="5172102" cy="3453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"未经用户明示同意，不得将个人信息提供给第三方。 </a:t>
            </a:r>
            <a:r>
              <a:rPr lang="en-US" sz="950" b="1" dirty="0">
                <a:solidFill>
                  <a:schemeClr val="bg1"/>
                </a:solidFill>
                <a:highlight>
                  <a:srgbClr val="B9F8CF">
                    <a:alpha val="10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但法律法规另有规定、或为履行合同所必需的情形除外。 </a:t>
            </a:r>
            <a:r>
              <a:rPr lang="en-US" sz="950" b="1" dirty="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</a:t>
            </a:r>
            <a:endParaRPr lang="en-US" sz="950" b="1" dirty="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3" name="Shape 13"/>
          <p:cNvSpPr/>
          <p:nvPr/>
        </p:nvSpPr>
        <p:spPr>
          <a:xfrm>
            <a:off x="522391" y="3130028"/>
            <a:ext cx="5327524" cy="630323"/>
          </a:xfrm>
          <a:custGeom>
            <a:avLst/>
            <a:gdLst/>
            <a:ahLst/>
            <a:cxnLst/>
            <a:rect l="l" t="t" r="r" b="b"/>
            <a:pathLst>
              <a:path w="5327524" h="630323">
                <a:moveTo>
                  <a:pt x="69077" y="0"/>
                </a:moveTo>
                <a:lnTo>
                  <a:pt x="5258447" y="0"/>
                </a:lnTo>
                <a:cubicBezTo>
                  <a:pt x="5296597" y="0"/>
                  <a:pt x="5327524" y="30927"/>
                  <a:pt x="5327524" y="69077"/>
                </a:cubicBezTo>
                <a:lnTo>
                  <a:pt x="5327524" y="561246"/>
                </a:lnTo>
                <a:cubicBezTo>
                  <a:pt x="5327524" y="599396"/>
                  <a:pt x="5296597" y="630323"/>
                  <a:pt x="5258447" y="630323"/>
                </a:cubicBezTo>
                <a:lnTo>
                  <a:pt x="69077" y="630323"/>
                </a:lnTo>
                <a:cubicBezTo>
                  <a:pt x="30927" y="630323"/>
                  <a:pt x="0" y="599396"/>
                  <a:pt x="0" y="561246"/>
                </a:cubicBezTo>
                <a:lnTo>
                  <a:pt x="0" y="69077"/>
                </a:lnTo>
                <a:cubicBezTo>
                  <a:pt x="0" y="30927"/>
                  <a:pt x="30927" y="0"/>
                  <a:pt x="69077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4" name="Shape 14"/>
          <p:cNvSpPr/>
          <p:nvPr/>
        </p:nvSpPr>
        <p:spPr>
          <a:xfrm>
            <a:off x="647592" y="3263864"/>
            <a:ext cx="120884" cy="120884"/>
          </a:xfrm>
          <a:custGeom>
            <a:avLst/>
            <a:gdLst/>
            <a:ahLst/>
            <a:cxnLst/>
            <a:rect l="l" t="t" r="r" b="b"/>
            <a:pathLst>
              <a:path w="120884" h="120884">
                <a:moveTo>
                  <a:pt x="60442" y="120884"/>
                </a:moveTo>
                <a:cubicBezTo>
                  <a:pt x="93801" y="120884"/>
                  <a:pt x="120884" y="93801"/>
                  <a:pt x="120884" y="60442"/>
                </a:cubicBezTo>
                <a:cubicBezTo>
                  <a:pt x="120884" y="27083"/>
                  <a:pt x="93801" y="0"/>
                  <a:pt x="60442" y="0"/>
                </a:cubicBezTo>
                <a:cubicBezTo>
                  <a:pt x="27083" y="0"/>
                  <a:pt x="0" y="27083"/>
                  <a:pt x="0" y="60442"/>
                </a:cubicBezTo>
                <a:cubicBezTo>
                  <a:pt x="0" y="93801"/>
                  <a:pt x="27083" y="120884"/>
                  <a:pt x="60442" y="120884"/>
                </a:cubicBezTo>
                <a:close/>
                <a:moveTo>
                  <a:pt x="39429" y="39429"/>
                </a:moveTo>
                <a:cubicBezTo>
                  <a:pt x="41648" y="37210"/>
                  <a:pt x="45237" y="37210"/>
                  <a:pt x="47433" y="39429"/>
                </a:cubicBezTo>
                <a:lnTo>
                  <a:pt x="60418" y="52414"/>
                </a:lnTo>
                <a:lnTo>
                  <a:pt x="73404" y="39429"/>
                </a:lnTo>
                <a:cubicBezTo>
                  <a:pt x="75623" y="37210"/>
                  <a:pt x="79212" y="37210"/>
                  <a:pt x="81408" y="39429"/>
                </a:cubicBezTo>
                <a:cubicBezTo>
                  <a:pt x="83603" y="41648"/>
                  <a:pt x="83627" y="45237"/>
                  <a:pt x="81408" y="47433"/>
                </a:cubicBezTo>
                <a:lnTo>
                  <a:pt x="68422" y="60418"/>
                </a:lnTo>
                <a:lnTo>
                  <a:pt x="81408" y="73404"/>
                </a:lnTo>
                <a:cubicBezTo>
                  <a:pt x="83627" y="75623"/>
                  <a:pt x="83627" y="79212"/>
                  <a:pt x="81408" y="81408"/>
                </a:cubicBezTo>
                <a:cubicBezTo>
                  <a:pt x="79188" y="83603"/>
                  <a:pt x="75600" y="83627"/>
                  <a:pt x="73404" y="81408"/>
                </a:cubicBezTo>
                <a:lnTo>
                  <a:pt x="60418" y="68422"/>
                </a:lnTo>
                <a:lnTo>
                  <a:pt x="47433" y="81408"/>
                </a:lnTo>
                <a:cubicBezTo>
                  <a:pt x="45213" y="83627"/>
                  <a:pt x="41625" y="83627"/>
                  <a:pt x="39429" y="81408"/>
                </a:cubicBezTo>
                <a:cubicBezTo>
                  <a:pt x="37233" y="79188"/>
                  <a:pt x="37210" y="75600"/>
                  <a:pt x="39429" y="73404"/>
                </a:cubicBezTo>
                <a:lnTo>
                  <a:pt x="52414" y="60418"/>
                </a:lnTo>
                <a:lnTo>
                  <a:pt x="39429" y="47433"/>
                </a:lnTo>
                <a:cubicBezTo>
                  <a:pt x="37210" y="45213"/>
                  <a:pt x="37210" y="41625"/>
                  <a:pt x="39429" y="39429"/>
                </a:cubicBezTo>
                <a:close/>
              </a:path>
            </a:pathLst>
          </a:custGeom>
          <a:solidFill>
            <a:srgbClr val="C10007"/>
          </a:solidFill>
        </p:spPr>
      </p:sp>
      <p:sp>
        <p:nvSpPr>
          <p:cNvPr id="35" name="Text 15"/>
          <p:cNvSpPr/>
          <p:nvPr/>
        </p:nvSpPr>
        <p:spPr>
          <a:xfrm>
            <a:off x="832709" y="3237960"/>
            <a:ext cx="4969716" cy="172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C1000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糟糕切片结果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630323" y="3479728"/>
            <a:ext cx="5172102" cy="172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Chunk 27 只有："未经用户明示同意，不得将个人信息提供给第三方。"</a:t>
            </a:r>
            <a:endParaRPr lang="en-US" sz="95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7" name="Shape 17"/>
          <p:cNvSpPr/>
          <p:nvPr/>
        </p:nvSpPr>
        <p:spPr>
          <a:xfrm>
            <a:off x="522391" y="3872601"/>
            <a:ext cx="5327524" cy="630323"/>
          </a:xfrm>
          <a:custGeom>
            <a:avLst/>
            <a:gdLst/>
            <a:ahLst/>
            <a:cxnLst/>
            <a:rect l="l" t="t" r="r" b="b"/>
            <a:pathLst>
              <a:path w="5327524" h="630323">
                <a:moveTo>
                  <a:pt x="69077" y="0"/>
                </a:moveTo>
                <a:lnTo>
                  <a:pt x="5258447" y="0"/>
                </a:lnTo>
                <a:cubicBezTo>
                  <a:pt x="5296597" y="0"/>
                  <a:pt x="5327524" y="30927"/>
                  <a:pt x="5327524" y="69077"/>
                </a:cubicBezTo>
                <a:lnTo>
                  <a:pt x="5327524" y="561246"/>
                </a:lnTo>
                <a:cubicBezTo>
                  <a:pt x="5327524" y="599396"/>
                  <a:pt x="5296597" y="630323"/>
                  <a:pt x="5258447" y="630323"/>
                </a:cubicBezTo>
                <a:lnTo>
                  <a:pt x="69077" y="630323"/>
                </a:lnTo>
                <a:cubicBezTo>
                  <a:pt x="30927" y="630323"/>
                  <a:pt x="0" y="599396"/>
                  <a:pt x="0" y="561246"/>
                </a:cubicBezTo>
                <a:lnTo>
                  <a:pt x="0" y="69077"/>
                </a:lnTo>
                <a:cubicBezTo>
                  <a:pt x="0" y="30927"/>
                  <a:pt x="30927" y="0"/>
                  <a:pt x="69077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8" name="Shape 18"/>
          <p:cNvSpPr/>
          <p:nvPr/>
        </p:nvSpPr>
        <p:spPr>
          <a:xfrm>
            <a:off x="647592" y="4006436"/>
            <a:ext cx="120884" cy="120884"/>
          </a:xfrm>
          <a:custGeom>
            <a:avLst/>
            <a:gdLst/>
            <a:ahLst/>
            <a:cxnLst/>
            <a:rect l="l" t="t" r="r" b="b"/>
            <a:pathLst>
              <a:path w="120884" h="120884">
                <a:moveTo>
                  <a:pt x="60442" y="0"/>
                </a:moveTo>
                <a:cubicBezTo>
                  <a:pt x="63913" y="0"/>
                  <a:pt x="67100" y="1912"/>
                  <a:pt x="68753" y="4958"/>
                </a:cubicBezTo>
                <a:lnTo>
                  <a:pt x="119751" y="99399"/>
                </a:lnTo>
                <a:cubicBezTo>
                  <a:pt x="121332" y="102326"/>
                  <a:pt x="121262" y="105868"/>
                  <a:pt x="119562" y="108725"/>
                </a:cubicBezTo>
                <a:cubicBezTo>
                  <a:pt x="117862" y="111581"/>
                  <a:pt x="114769" y="113329"/>
                  <a:pt x="111440" y="113329"/>
                </a:cubicBezTo>
                <a:lnTo>
                  <a:pt x="9444" y="113329"/>
                </a:lnTo>
                <a:cubicBezTo>
                  <a:pt x="6115" y="113329"/>
                  <a:pt x="3046" y="111581"/>
                  <a:pt x="1322" y="108725"/>
                </a:cubicBezTo>
                <a:cubicBezTo>
                  <a:pt x="-401" y="105868"/>
                  <a:pt x="-449" y="102326"/>
                  <a:pt x="1133" y="99399"/>
                </a:cubicBezTo>
                <a:lnTo>
                  <a:pt x="52131" y="4958"/>
                </a:lnTo>
                <a:cubicBezTo>
                  <a:pt x="53784" y="1912"/>
                  <a:pt x="56971" y="0"/>
                  <a:pt x="60442" y="0"/>
                </a:cubicBezTo>
                <a:close/>
                <a:moveTo>
                  <a:pt x="60442" y="39665"/>
                </a:moveTo>
                <a:cubicBezTo>
                  <a:pt x="57302" y="39665"/>
                  <a:pt x="54775" y="42191"/>
                  <a:pt x="54775" y="45331"/>
                </a:cubicBezTo>
                <a:lnTo>
                  <a:pt x="54775" y="71775"/>
                </a:lnTo>
                <a:cubicBezTo>
                  <a:pt x="54775" y="74915"/>
                  <a:pt x="57302" y="77441"/>
                  <a:pt x="60442" y="77441"/>
                </a:cubicBezTo>
                <a:cubicBezTo>
                  <a:pt x="63582" y="77441"/>
                  <a:pt x="66108" y="74915"/>
                  <a:pt x="66108" y="71775"/>
                </a:cubicBezTo>
                <a:lnTo>
                  <a:pt x="66108" y="45331"/>
                </a:lnTo>
                <a:cubicBezTo>
                  <a:pt x="66108" y="42191"/>
                  <a:pt x="63582" y="39665"/>
                  <a:pt x="60442" y="39665"/>
                </a:cubicBezTo>
                <a:close/>
                <a:moveTo>
                  <a:pt x="66746" y="90663"/>
                </a:moveTo>
                <a:cubicBezTo>
                  <a:pt x="66889" y="88323"/>
                  <a:pt x="65722" y="86097"/>
                  <a:pt x="63716" y="84883"/>
                </a:cubicBezTo>
                <a:cubicBezTo>
                  <a:pt x="61710" y="83670"/>
                  <a:pt x="59197" y="83670"/>
                  <a:pt x="57191" y="84883"/>
                </a:cubicBezTo>
                <a:cubicBezTo>
                  <a:pt x="55185" y="86097"/>
                  <a:pt x="54018" y="88323"/>
                  <a:pt x="54162" y="90663"/>
                </a:cubicBezTo>
                <a:cubicBezTo>
                  <a:pt x="54018" y="93003"/>
                  <a:pt x="55185" y="95229"/>
                  <a:pt x="57191" y="96442"/>
                </a:cubicBezTo>
                <a:cubicBezTo>
                  <a:pt x="59197" y="97656"/>
                  <a:pt x="61710" y="97656"/>
                  <a:pt x="63716" y="96442"/>
                </a:cubicBezTo>
                <a:cubicBezTo>
                  <a:pt x="65722" y="95229"/>
                  <a:pt x="66889" y="93003"/>
                  <a:pt x="66746" y="90663"/>
                </a:cubicBezTo>
                <a:close/>
              </a:path>
            </a:pathLst>
          </a:custGeom>
          <a:solidFill>
            <a:srgbClr val="CA3500"/>
          </a:solidFill>
        </p:spPr>
      </p:sp>
      <p:sp>
        <p:nvSpPr>
          <p:cNvPr id="39" name="Text 19"/>
          <p:cNvSpPr/>
          <p:nvPr/>
        </p:nvSpPr>
        <p:spPr>
          <a:xfrm>
            <a:off x="832709" y="3980533"/>
            <a:ext cx="4969716" cy="172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CA350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AI错误理解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0" name="Text 20"/>
          <p:cNvSpPr/>
          <p:nvPr/>
        </p:nvSpPr>
        <p:spPr>
          <a:xfrm>
            <a:off x="630323" y="4222300"/>
            <a:ext cx="5172102" cy="172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认为"绝对禁止"，忽略了后文的但书条款</a:t>
            </a:r>
            <a:endParaRPr lang="en-US" sz="95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1" name="Shape 21"/>
          <p:cNvSpPr/>
          <p:nvPr/>
        </p:nvSpPr>
        <p:spPr>
          <a:xfrm>
            <a:off x="526708" y="4619490"/>
            <a:ext cx="5318890" cy="638958"/>
          </a:xfrm>
          <a:custGeom>
            <a:avLst/>
            <a:gdLst/>
            <a:ahLst/>
            <a:cxnLst/>
            <a:rect l="l" t="t" r="r" b="b"/>
            <a:pathLst>
              <a:path w="5318890" h="638958">
                <a:moveTo>
                  <a:pt x="69078" y="0"/>
                </a:moveTo>
                <a:lnTo>
                  <a:pt x="5249812" y="0"/>
                </a:lnTo>
                <a:cubicBezTo>
                  <a:pt x="5287962" y="0"/>
                  <a:pt x="5318890" y="30927"/>
                  <a:pt x="5318890" y="69078"/>
                </a:cubicBezTo>
                <a:lnTo>
                  <a:pt x="5318890" y="569880"/>
                </a:lnTo>
                <a:cubicBezTo>
                  <a:pt x="5318890" y="608030"/>
                  <a:pt x="5287962" y="638958"/>
                  <a:pt x="5249812" y="638958"/>
                </a:cubicBezTo>
                <a:lnTo>
                  <a:pt x="69078" y="638958"/>
                </a:lnTo>
                <a:cubicBezTo>
                  <a:pt x="30953" y="638958"/>
                  <a:pt x="0" y="608005"/>
                  <a:pt x="0" y="569880"/>
                </a:cubicBezTo>
                <a:lnTo>
                  <a:pt x="0" y="69078"/>
                </a:lnTo>
                <a:cubicBezTo>
                  <a:pt x="0" y="30953"/>
                  <a:pt x="30953" y="0"/>
                  <a:pt x="69078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2" name="Shape 22"/>
          <p:cNvSpPr/>
          <p:nvPr/>
        </p:nvSpPr>
        <p:spPr>
          <a:xfrm>
            <a:off x="647592" y="4766278"/>
            <a:ext cx="155422" cy="138153"/>
          </a:xfrm>
          <a:custGeom>
            <a:avLst/>
            <a:gdLst/>
            <a:ahLst/>
            <a:cxnLst/>
            <a:rect l="l" t="t" r="r" b="b"/>
            <a:pathLst>
              <a:path w="155422" h="138153">
                <a:moveTo>
                  <a:pt x="129518" y="-4317"/>
                </a:moveTo>
                <a:cubicBezTo>
                  <a:pt x="131380" y="-4317"/>
                  <a:pt x="133026" y="-3130"/>
                  <a:pt x="133620" y="-1376"/>
                </a:cubicBezTo>
                <a:lnTo>
                  <a:pt x="137263" y="9525"/>
                </a:lnTo>
                <a:lnTo>
                  <a:pt x="148164" y="13168"/>
                </a:lnTo>
                <a:cubicBezTo>
                  <a:pt x="149918" y="13761"/>
                  <a:pt x="151105" y="15407"/>
                  <a:pt x="151105" y="17269"/>
                </a:cubicBezTo>
                <a:cubicBezTo>
                  <a:pt x="151105" y="19131"/>
                  <a:pt x="149918" y="20777"/>
                  <a:pt x="148164" y="21371"/>
                </a:cubicBezTo>
                <a:lnTo>
                  <a:pt x="137263" y="25013"/>
                </a:lnTo>
                <a:lnTo>
                  <a:pt x="133620" y="35914"/>
                </a:lnTo>
                <a:cubicBezTo>
                  <a:pt x="133026" y="37668"/>
                  <a:pt x="131380" y="38856"/>
                  <a:pt x="129518" y="38856"/>
                </a:cubicBezTo>
                <a:cubicBezTo>
                  <a:pt x="127657" y="38856"/>
                  <a:pt x="126011" y="37668"/>
                  <a:pt x="125417" y="35914"/>
                </a:cubicBezTo>
                <a:lnTo>
                  <a:pt x="121774" y="25013"/>
                </a:lnTo>
                <a:lnTo>
                  <a:pt x="110873" y="21371"/>
                </a:lnTo>
                <a:cubicBezTo>
                  <a:pt x="109119" y="20777"/>
                  <a:pt x="107932" y="19131"/>
                  <a:pt x="107932" y="17269"/>
                </a:cubicBezTo>
                <a:cubicBezTo>
                  <a:pt x="107932" y="15407"/>
                  <a:pt x="109119" y="13761"/>
                  <a:pt x="110873" y="13168"/>
                </a:cubicBezTo>
                <a:lnTo>
                  <a:pt x="121774" y="9525"/>
                </a:lnTo>
                <a:lnTo>
                  <a:pt x="125417" y="-1376"/>
                </a:lnTo>
                <a:cubicBezTo>
                  <a:pt x="126011" y="-3130"/>
                  <a:pt x="127657" y="-4317"/>
                  <a:pt x="129518" y="-4317"/>
                </a:cubicBezTo>
                <a:close/>
                <a:moveTo>
                  <a:pt x="86723" y="26281"/>
                </a:moveTo>
                <a:cubicBezTo>
                  <a:pt x="90096" y="22909"/>
                  <a:pt x="95574" y="22909"/>
                  <a:pt x="98947" y="26281"/>
                </a:cubicBezTo>
                <a:lnTo>
                  <a:pt x="120533" y="47868"/>
                </a:lnTo>
                <a:cubicBezTo>
                  <a:pt x="123906" y="51241"/>
                  <a:pt x="123906" y="56718"/>
                  <a:pt x="120533" y="60091"/>
                </a:cubicBezTo>
                <a:lnTo>
                  <a:pt x="117592" y="63032"/>
                </a:lnTo>
                <a:cubicBezTo>
                  <a:pt x="119724" y="68969"/>
                  <a:pt x="120884" y="75364"/>
                  <a:pt x="120884" y="82055"/>
                </a:cubicBezTo>
                <a:cubicBezTo>
                  <a:pt x="120884" y="113059"/>
                  <a:pt x="95763" y="138180"/>
                  <a:pt x="64759" y="138180"/>
                </a:cubicBezTo>
                <a:cubicBezTo>
                  <a:pt x="33756" y="138180"/>
                  <a:pt x="8635" y="113032"/>
                  <a:pt x="8635" y="82028"/>
                </a:cubicBezTo>
                <a:cubicBezTo>
                  <a:pt x="8635" y="51025"/>
                  <a:pt x="33756" y="25904"/>
                  <a:pt x="64759" y="25904"/>
                </a:cubicBezTo>
                <a:cubicBezTo>
                  <a:pt x="71424" y="25904"/>
                  <a:pt x="77846" y="27064"/>
                  <a:pt x="83782" y="29223"/>
                </a:cubicBezTo>
                <a:lnTo>
                  <a:pt x="86723" y="26281"/>
                </a:lnTo>
                <a:close/>
                <a:moveTo>
                  <a:pt x="38856" y="82028"/>
                </a:moveTo>
                <a:cubicBezTo>
                  <a:pt x="38856" y="67727"/>
                  <a:pt x="50458" y="56125"/>
                  <a:pt x="64759" y="56125"/>
                </a:cubicBezTo>
                <a:cubicBezTo>
                  <a:pt x="68348" y="56125"/>
                  <a:pt x="71235" y="53237"/>
                  <a:pt x="71235" y="49649"/>
                </a:cubicBezTo>
                <a:cubicBezTo>
                  <a:pt x="71235" y="46060"/>
                  <a:pt x="68348" y="43173"/>
                  <a:pt x="64759" y="43173"/>
                </a:cubicBezTo>
                <a:cubicBezTo>
                  <a:pt x="43308" y="43173"/>
                  <a:pt x="25904" y="60577"/>
                  <a:pt x="25904" y="82028"/>
                </a:cubicBezTo>
                <a:cubicBezTo>
                  <a:pt x="25904" y="85617"/>
                  <a:pt x="28791" y="88504"/>
                  <a:pt x="32380" y="88504"/>
                </a:cubicBezTo>
                <a:cubicBezTo>
                  <a:pt x="35968" y="88504"/>
                  <a:pt x="38856" y="85617"/>
                  <a:pt x="38856" y="82028"/>
                </a:cubicBezTo>
                <a:close/>
              </a:path>
            </a:pathLst>
          </a:custGeom>
          <a:solidFill>
            <a:srgbClr val="C10007"/>
          </a:solidFill>
        </p:spPr>
      </p:sp>
      <p:sp>
        <p:nvSpPr>
          <p:cNvPr id="43" name="Text 23"/>
          <p:cNvSpPr/>
          <p:nvPr/>
        </p:nvSpPr>
        <p:spPr>
          <a:xfrm>
            <a:off x="858613" y="4731739"/>
            <a:ext cx="4943812" cy="2072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b="1" dirty="0">
                <a:solidFill>
                  <a:srgbClr val="C1000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后果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4" name="Text 24"/>
          <p:cNvSpPr/>
          <p:nvPr/>
        </p:nvSpPr>
        <p:spPr>
          <a:xfrm>
            <a:off x="638958" y="4973507"/>
            <a:ext cx="5154833" cy="172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法务人员据此做出过严的合规判断，影响业务正常开展</a:t>
            </a:r>
            <a:endParaRPr lang="en-US" sz="95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5" name="Shape 25"/>
          <p:cNvSpPr/>
          <p:nvPr/>
        </p:nvSpPr>
        <p:spPr>
          <a:xfrm>
            <a:off x="6163053" y="1398799"/>
            <a:ext cx="5681541" cy="4040975"/>
          </a:xfrm>
          <a:prstGeom prst="roundRect">
            <a:avLst>
              <a:gd name="adj" fmla="val 8303"/>
            </a:avLst>
          </a:pr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Shape 27"/>
          <p:cNvSpPr/>
          <p:nvPr/>
        </p:nvSpPr>
        <p:spPr>
          <a:xfrm>
            <a:off x="6335744" y="1588759"/>
            <a:ext cx="483535" cy="483535"/>
          </a:xfrm>
          <a:custGeom>
            <a:avLst/>
            <a:gdLst/>
            <a:ahLst/>
            <a:cxnLst/>
            <a:rect l="l" t="t" r="r" b="b"/>
            <a:pathLst>
              <a:path w="483535" h="483535">
                <a:moveTo>
                  <a:pt x="241768" y="0"/>
                </a:moveTo>
                <a:lnTo>
                  <a:pt x="241768" y="0"/>
                </a:lnTo>
                <a:cubicBezTo>
                  <a:pt x="375203" y="0"/>
                  <a:pt x="483535" y="108332"/>
                  <a:pt x="483535" y="241768"/>
                </a:cubicBezTo>
                <a:lnTo>
                  <a:pt x="483535" y="241768"/>
                </a:lnTo>
                <a:cubicBezTo>
                  <a:pt x="483535" y="375203"/>
                  <a:pt x="375203" y="483535"/>
                  <a:pt x="241768" y="483535"/>
                </a:cubicBezTo>
                <a:lnTo>
                  <a:pt x="241768" y="483535"/>
                </a:lnTo>
                <a:cubicBezTo>
                  <a:pt x="108332" y="483535"/>
                  <a:pt x="0" y="375203"/>
                  <a:pt x="0" y="241768"/>
                </a:cubicBezTo>
                <a:lnTo>
                  <a:pt x="0" y="241768"/>
                </a:lnTo>
                <a:cubicBezTo>
                  <a:pt x="0" y="108332"/>
                  <a:pt x="108332" y="0"/>
                  <a:pt x="241768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8" name="Shape 28"/>
          <p:cNvSpPr/>
          <p:nvPr/>
        </p:nvSpPr>
        <p:spPr>
          <a:xfrm>
            <a:off x="6473897" y="1726912"/>
            <a:ext cx="207229" cy="207229"/>
          </a:xfrm>
          <a:custGeom>
            <a:avLst/>
            <a:gdLst/>
            <a:ahLst/>
            <a:cxnLst/>
            <a:rect l="l" t="t" r="r" b="b"/>
            <a:pathLst>
              <a:path w="207229" h="207229">
                <a:moveTo>
                  <a:pt x="54722" y="47517"/>
                </a:moveTo>
                <a:lnTo>
                  <a:pt x="44158" y="77711"/>
                </a:lnTo>
                <a:lnTo>
                  <a:pt x="163072" y="77711"/>
                </a:lnTo>
                <a:lnTo>
                  <a:pt x="152508" y="47517"/>
                </a:lnTo>
                <a:cubicBezTo>
                  <a:pt x="150687" y="42336"/>
                  <a:pt x="145789" y="38856"/>
                  <a:pt x="140285" y="38856"/>
                </a:cubicBezTo>
                <a:lnTo>
                  <a:pt x="66945" y="38856"/>
                </a:lnTo>
                <a:cubicBezTo>
                  <a:pt x="61440" y="38856"/>
                  <a:pt x="56543" y="42336"/>
                  <a:pt x="54722" y="47517"/>
                </a:cubicBezTo>
                <a:close/>
                <a:moveTo>
                  <a:pt x="16028" y="79654"/>
                </a:moveTo>
                <a:lnTo>
                  <a:pt x="30275" y="38977"/>
                </a:lnTo>
                <a:cubicBezTo>
                  <a:pt x="35739" y="23394"/>
                  <a:pt x="50431" y="12952"/>
                  <a:pt x="66945" y="12952"/>
                </a:cubicBezTo>
                <a:lnTo>
                  <a:pt x="140285" y="12952"/>
                </a:lnTo>
                <a:cubicBezTo>
                  <a:pt x="156798" y="12952"/>
                  <a:pt x="171490" y="23394"/>
                  <a:pt x="176955" y="38977"/>
                </a:cubicBezTo>
                <a:lnTo>
                  <a:pt x="191202" y="79654"/>
                </a:lnTo>
                <a:cubicBezTo>
                  <a:pt x="200592" y="83539"/>
                  <a:pt x="207229" y="92808"/>
                  <a:pt x="207229" y="103615"/>
                </a:cubicBezTo>
                <a:lnTo>
                  <a:pt x="207229" y="181326"/>
                </a:lnTo>
                <a:cubicBezTo>
                  <a:pt x="207229" y="188490"/>
                  <a:pt x="201442" y="194278"/>
                  <a:pt x="194278" y="194278"/>
                </a:cubicBezTo>
                <a:lnTo>
                  <a:pt x="181326" y="194278"/>
                </a:lnTo>
                <a:cubicBezTo>
                  <a:pt x="174162" y="194278"/>
                  <a:pt x="168374" y="188490"/>
                  <a:pt x="168374" y="181326"/>
                </a:cubicBezTo>
                <a:lnTo>
                  <a:pt x="168374" y="168374"/>
                </a:lnTo>
                <a:lnTo>
                  <a:pt x="38856" y="168374"/>
                </a:lnTo>
                <a:lnTo>
                  <a:pt x="38856" y="181326"/>
                </a:lnTo>
                <a:cubicBezTo>
                  <a:pt x="38856" y="188490"/>
                  <a:pt x="33068" y="194278"/>
                  <a:pt x="25904" y="194278"/>
                </a:cubicBezTo>
                <a:lnTo>
                  <a:pt x="12952" y="194278"/>
                </a:lnTo>
                <a:cubicBezTo>
                  <a:pt x="5788" y="194278"/>
                  <a:pt x="0" y="188490"/>
                  <a:pt x="0" y="181326"/>
                </a:cubicBezTo>
                <a:lnTo>
                  <a:pt x="0" y="103615"/>
                </a:lnTo>
                <a:cubicBezTo>
                  <a:pt x="0" y="92808"/>
                  <a:pt x="6638" y="83539"/>
                  <a:pt x="16028" y="79654"/>
                </a:cubicBezTo>
                <a:close/>
                <a:moveTo>
                  <a:pt x="51807" y="123042"/>
                </a:moveTo>
                <a:cubicBezTo>
                  <a:pt x="51807" y="115894"/>
                  <a:pt x="46004" y="110091"/>
                  <a:pt x="38856" y="110091"/>
                </a:cubicBezTo>
                <a:cubicBezTo>
                  <a:pt x="31707" y="110091"/>
                  <a:pt x="25904" y="115894"/>
                  <a:pt x="25904" y="123042"/>
                </a:cubicBezTo>
                <a:cubicBezTo>
                  <a:pt x="25904" y="130191"/>
                  <a:pt x="31707" y="135994"/>
                  <a:pt x="38856" y="135994"/>
                </a:cubicBezTo>
                <a:cubicBezTo>
                  <a:pt x="46004" y="135994"/>
                  <a:pt x="51807" y="130191"/>
                  <a:pt x="51807" y="123042"/>
                </a:cubicBezTo>
                <a:close/>
                <a:moveTo>
                  <a:pt x="168374" y="135994"/>
                </a:moveTo>
                <a:cubicBezTo>
                  <a:pt x="175522" y="135994"/>
                  <a:pt x="181326" y="130191"/>
                  <a:pt x="181326" y="123042"/>
                </a:cubicBezTo>
                <a:cubicBezTo>
                  <a:pt x="181326" y="115894"/>
                  <a:pt x="175522" y="110091"/>
                  <a:pt x="168374" y="110091"/>
                </a:cubicBezTo>
                <a:cubicBezTo>
                  <a:pt x="161226" y="110091"/>
                  <a:pt x="155422" y="115894"/>
                  <a:pt x="155422" y="123042"/>
                </a:cubicBezTo>
                <a:cubicBezTo>
                  <a:pt x="155422" y="130191"/>
                  <a:pt x="161226" y="135994"/>
                  <a:pt x="168374" y="13599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9" name="Text 29"/>
          <p:cNvSpPr/>
          <p:nvPr/>
        </p:nvSpPr>
        <p:spPr>
          <a:xfrm>
            <a:off x="6922894" y="1606028"/>
            <a:ext cx="1139762" cy="2763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反面案例二</a:t>
            </a:r>
            <a:endParaRPr lang="en-US" sz="163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0" name="Text 30"/>
          <p:cNvSpPr/>
          <p:nvPr/>
        </p:nvSpPr>
        <p:spPr>
          <a:xfrm>
            <a:off x="6922894" y="1882334"/>
            <a:ext cx="1096589" cy="172691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95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销售/产品场景</a:t>
            </a:r>
            <a:endParaRPr lang="en-US" sz="950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1" name="Shape 31"/>
          <p:cNvSpPr/>
          <p:nvPr/>
        </p:nvSpPr>
        <p:spPr>
          <a:xfrm>
            <a:off x="6340061" y="2214765"/>
            <a:ext cx="5327524" cy="803014"/>
          </a:xfrm>
          <a:custGeom>
            <a:avLst/>
            <a:gdLst/>
            <a:ahLst/>
            <a:cxnLst/>
            <a:rect l="l" t="t" r="r" b="b"/>
            <a:pathLst>
              <a:path w="5327524" h="803014">
                <a:moveTo>
                  <a:pt x="69075" y="0"/>
                </a:moveTo>
                <a:lnTo>
                  <a:pt x="5258449" y="0"/>
                </a:lnTo>
                <a:cubicBezTo>
                  <a:pt x="5296598" y="0"/>
                  <a:pt x="5327524" y="30926"/>
                  <a:pt x="5327524" y="69075"/>
                </a:cubicBezTo>
                <a:lnTo>
                  <a:pt x="5327524" y="733939"/>
                </a:lnTo>
                <a:cubicBezTo>
                  <a:pt x="5327524" y="772088"/>
                  <a:pt x="5296598" y="803014"/>
                  <a:pt x="5258449" y="803014"/>
                </a:cubicBezTo>
                <a:lnTo>
                  <a:pt x="69075" y="803014"/>
                </a:lnTo>
                <a:cubicBezTo>
                  <a:pt x="30926" y="803014"/>
                  <a:pt x="0" y="772088"/>
                  <a:pt x="0" y="733939"/>
                </a:cubicBezTo>
                <a:lnTo>
                  <a:pt x="0" y="69075"/>
                </a:lnTo>
                <a:cubicBezTo>
                  <a:pt x="0" y="30952"/>
                  <a:pt x="30952" y="0"/>
                  <a:pt x="69075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62" name="Shape 32"/>
          <p:cNvSpPr/>
          <p:nvPr/>
        </p:nvSpPr>
        <p:spPr>
          <a:xfrm>
            <a:off x="6465262" y="2348601"/>
            <a:ext cx="120884" cy="120884"/>
          </a:xfrm>
          <a:custGeom>
            <a:avLst/>
            <a:gdLst/>
            <a:ahLst/>
            <a:cxnLst/>
            <a:rect l="l" t="t" r="r" b="b"/>
            <a:pathLst>
              <a:path w="120884" h="120884">
                <a:moveTo>
                  <a:pt x="60442" y="120884"/>
                </a:moveTo>
                <a:cubicBezTo>
                  <a:pt x="93801" y="120884"/>
                  <a:pt x="120884" y="93801"/>
                  <a:pt x="120884" y="60442"/>
                </a:cubicBezTo>
                <a:cubicBezTo>
                  <a:pt x="120884" y="27083"/>
                  <a:pt x="93801" y="0"/>
                  <a:pt x="60442" y="0"/>
                </a:cubicBezTo>
                <a:cubicBezTo>
                  <a:pt x="27083" y="0"/>
                  <a:pt x="0" y="27083"/>
                  <a:pt x="0" y="60442"/>
                </a:cubicBezTo>
                <a:cubicBezTo>
                  <a:pt x="0" y="93801"/>
                  <a:pt x="27083" y="120884"/>
                  <a:pt x="60442" y="120884"/>
                </a:cubicBezTo>
                <a:close/>
                <a:moveTo>
                  <a:pt x="80369" y="50219"/>
                </a:moveTo>
                <a:lnTo>
                  <a:pt x="61481" y="80440"/>
                </a:lnTo>
                <a:cubicBezTo>
                  <a:pt x="60489" y="82022"/>
                  <a:pt x="58789" y="83013"/>
                  <a:pt x="56924" y="83108"/>
                </a:cubicBezTo>
                <a:cubicBezTo>
                  <a:pt x="55059" y="83202"/>
                  <a:pt x="53264" y="82352"/>
                  <a:pt x="52155" y="80841"/>
                </a:cubicBezTo>
                <a:lnTo>
                  <a:pt x="40822" y="65731"/>
                </a:lnTo>
                <a:cubicBezTo>
                  <a:pt x="38933" y="63228"/>
                  <a:pt x="39453" y="59686"/>
                  <a:pt x="41955" y="57798"/>
                </a:cubicBezTo>
                <a:cubicBezTo>
                  <a:pt x="44458" y="55909"/>
                  <a:pt x="47999" y="56428"/>
                  <a:pt x="49888" y="58931"/>
                </a:cubicBezTo>
                <a:lnTo>
                  <a:pt x="56263" y="67431"/>
                </a:lnTo>
                <a:lnTo>
                  <a:pt x="70760" y="44222"/>
                </a:lnTo>
                <a:cubicBezTo>
                  <a:pt x="72412" y="41577"/>
                  <a:pt x="75907" y="40751"/>
                  <a:pt x="78575" y="42427"/>
                </a:cubicBezTo>
                <a:cubicBezTo>
                  <a:pt x="81242" y="44104"/>
                  <a:pt x="82045" y="47574"/>
                  <a:pt x="80369" y="50242"/>
                </a:cubicBezTo>
                <a:close/>
              </a:path>
            </a:pathLst>
          </a:custGeom>
          <a:solidFill>
            <a:srgbClr val="008236"/>
          </a:solidFill>
        </p:spPr>
      </p:sp>
      <p:sp>
        <p:nvSpPr>
          <p:cNvPr id="63" name="Text 33"/>
          <p:cNvSpPr/>
          <p:nvPr/>
        </p:nvSpPr>
        <p:spPr>
          <a:xfrm>
            <a:off x="6650380" y="2322697"/>
            <a:ext cx="4969716" cy="172691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95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原文</a:t>
            </a:r>
            <a:endParaRPr lang="en-US" sz="950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4" name="Text 34"/>
          <p:cNvSpPr/>
          <p:nvPr/>
        </p:nvSpPr>
        <p:spPr>
          <a:xfrm>
            <a:off x="6447993" y="2564465"/>
            <a:ext cx="5172102" cy="3453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"BMW X5配备的自适应双轴空气悬架，可在不同驾驶模式下调整车身高度。</a:t>
            </a:r>
            <a:r>
              <a:rPr lang="en-US" sz="950" dirty="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</a:t>
            </a:r>
            <a:r>
              <a:rPr lang="en-US" sz="950" dirty="0">
                <a:solidFill>
                  <a:schemeClr val="bg1"/>
                </a:solidFill>
                <a:highlight>
                  <a:srgbClr val="B9F8CF">
                    <a:alpha val="10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但在运动模式下</a:t>
            </a:r>
            <a:r>
              <a:rPr lang="en-US" sz="950" dirty="0">
                <a:solidFill>
                  <a:schemeClr val="tx1"/>
                </a:solidFill>
                <a:highlight>
                  <a:srgbClr val="B9F8CF">
                    <a:alpha val="10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 </a:t>
            </a:r>
            <a:r>
              <a:rPr lang="en-US" sz="95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，车身会自动降低10mm以提升操控稳定性。"</a:t>
            </a:r>
            <a:endParaRPr lang="en-US" sz="95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5" name="Shape 35"/>
          <p:cNvSpPr/>
          <p:nvPr/>
        </p:nvSpPr>
        <p:spPr>
          <a:xfrm>
            <a:off x="6340061" y="3130028"/>
            <a:ext cx="5327524" cy="630323"/>
          </a:xfrm>
          <a:custGeom>
            <a:avLst/>
            <a:gdLst/>
            <a:ahLst/>
            <a:cxnLst/>
            <a:rect l="l" t="t" r="r" b="b"/>
            <a:pathLst>
              <a:path w="5327524" h="630323">
                <a:moveTo>
                  <a:pt x="69077" y="0"/>
                </a:moveTo>
                <a:lnTo>
                  <a:pt x="5258447" y="0"/>
                </a:lnTo>
                <a:cubicBezTo>
                  <a:pt x="5296597" y="0"/>
                  <a:pt x="5327524" y="30927"/>
                  <a:pt x="5327524" y="69077"/>
                </a:cubicBezTo>
                <a:lnTo>
                  <a:pt x="5327524" y="561246"/>
                </a:lnTo>
                <a:cubicBezTo>
                  <a:pt x="5327524" y="599396"/>
                  <a:pt x="5296597" y="630323"/>
                  <a:pt x="5258447" y="630323"/>
                </a:cubicBezTo>
                <a:lnTo>
                  <a:pt x="69077" y="630323"/>
                </a:lnTo>
                <a:cubicBezTo>
                  <a:pt x="30927" y="630323"/>
                  <a:pt x="0" y="599396"/>
                  <a:pt x="0" y="561246"/>
                </a:cubicBezTo>
                <a:lnTo>
                  <a:pt x="0" y="69077"/>
                </a:lnTo>
                <a:cubicBezTo>
                  <a:pt x="0" y="30927"/>
                  <a:pt x="30927" y="0"/>
                  <a:pt x="69077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66" name="Shape 36"/>
          <p:cNvSpPr/>
          <p:nvPr/>
        </p:nvSpPr>
        <p:spPr>
          <a:xfrm>
            <a:off x="6465262" y="3263864"/>
            <a:ext cx="120884" cy="120884"/>
          </a:xfrm>
          <a:custGeom>
            <a:avLst/>
            <a:gdLst/>
            <a:ahLst/>
            <a:cxnLst/>
            <a:rect l="l" t="t" r="r" b="b"/>
            <a:pathLst>
              <a:path w="120884" h="120884">
                <a:moveTo>
                  <a:pt x="60442" y="120884"/>
                </a:moveTo>
                <a:cubicBezTo>
                  <a:pt x="93801" y="120884"/>
                  <a:pt x="120884" y="93801"/>
                  <a:pt x="120884" y="60442"/>
                </a:cubicBezTo>
                <a:cubicBezTo>
                  <a:pt x="120884" y="27083"/>
                  <a:pt x="93801" y="0"/>
                  <a:pt x="60442" y="0"/>
                </a:cubicBezTo>
                <a:cubicBezTo>
                  <a:pt x="27083" y="0"/>
                  <a:pt x="0" y="27083"/>
                  <a:pt x="0" y="60442"/>
                </a:cubicBezTo>
                <a:cubicBezTo>
                  <a:pt x="0" y="93801"/>
                  <a:pt x="27083" y="120884"/>
                  <a:pt x="60442" y="120884"/>
                </a:cubicBezTo>
                <a:close/>
                <a:moveTo>
                  <a:pt x="39429" y="39429"/>
                </a:moveTo>
                <a:cubicBezTo>
                  <a:pt x="41648" y="37210"/>
                  <a:pt x="45237" y="37210"/>
                  <a:pt x="47433" y="39429"/>
                </a:cubicBezTo>
                <a:lnTo>
                  <a:pt x="60418" y="52414"/>
                </a:lnTo>
                <a:lnTo>
                  <a:pt x="73404" y="39429"/>
                </a:lnTo>
                <a:cubicBezTo>
                  <a:pt x="75623" y="37210"/>
                  <a:pt x="79212" y="37210"/>
                  <a:pt x="81408" y="39429"/>
                </a:cubicBezTo>
                <a:cubicBezTo>
                  <a:pt x="83603" y="41648"/>
                  <a:pt x="83627" y="45237"/>
                  <a:pt x="81408" y="47433"/>
                </a:cubicBezTo>
                <a:lnTo>
                  <a:pt x="68422" y="60418"/>
                </a:lnTo>
                <a:lnTo>
                  <a:pt x="81408" y="73404"/>
                </a:lnTo>
                <a:cubicBezTo>
                  <a:pt x="83627" y="75623"/>
                  <a:pt x="83627" y="79212"/>
                  <a:pt x="81408" y="81408"/>
                </a:cubicBezTo>
                <a:cubicBezTo>
                  <a:pt x="79188" y="83603"/>
                  <a:pt x="75600" y="83627"/>
                  <a:pt x="73404" y="81408"/>
                </a:cubicBezTo>
                <a:lnTo>
                  <a:pt x="60418" y="68422"/>
                </a:lnTo>
                <a:lnTo>
                  <a:pt x="47433" y="81408"/>
                </a:lnTo>
                <a:cubicBezTo>
                  <a:pt x="45213" y="83627"/>
                  <a:pt x="41625" y="83627"/>
                  <a:pt x="39429" y="81408"/>
                </a:cubicBezTo>
                <a:cubicBezTo>
                  <a:pt x="37233" y="79188"/>
                  <a:pt x="37210" y="75600"/>
                  <a:pt x="39429" y="73404"/>
                </a:cubicBezTo>
                <a:lnTo>
                  <a:pt x="52414" y="60418"/>
                </a:lnTo>
                <a:lnTo>
                  <a:pt x="39429" y="47433"/>
                </a:lnTo>
                <a:cubicBezTo>
                  <a:pt x="37210" y="45213"/>
                  <a:pt x="37210" y="41625"/>
                  <a:pt x="39429" y="39429"/>
                </a:cubicBezTo>
                <a:close/>
              </a:path>
            </a:pathLst>
          </a:custGeom>
          <a:solidFill>
            <a:srgbClr val="C10007"/>
          </a:solidFill>
        </p:spPr>
      </p:sp>
      <p:sp>
        <p:nvSpPr>
          <p:cNvPr id="67" name="Text 37"/>
          <p:cNvSpPr/>
          <p:nvPr/>
        </p:nvSpPr>
        <p:spPr>
          <a:xfrm>
            <a:off x="6650380" y="3237960"/>
            <a:ext cx="4969716" cy="172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C1000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糟糕切片结果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8" name="Text 38"/>
          <p:cNvSpPr/>
          <p:nvPr/>
        </p:nvSpPr>
        <p:spPr>
          <a:xfrm>
            <a:off x="6447993" y="3479728"/>
            <a:ext cx="5172102" cy="172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Chunk 45是前半句，Chunk 46是后半句。用户搜索"运动模式高度变化"时只召回了Chunk 46</a:t>
            </a:r>
            <a:endParaRPr lang="en-US" sz="95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9" name="Shape 39"/>
          <p:cNvSpPr/>
          <p:nvPr/>
        </p:nvSpPr>
        <p:spPr>
          <a:xfrm>
            <a:off x="6340061" y="3872601"/>
            <a:ext cx="5327524" cy="630323"/>
          </a:xfrm>
          <a:custGeom>
            <a:avLst/>
            <a:gdLst/>
            <a:ahLst/>
            <a:cxnLst/>
            <a:rect l="l" t="t" r="r" b="b"/>
            <a:pathLst>
              <a:path w="5327524" h="630323">
                <a:moveTo>
                  <a:pt x="69077" y="0"/>
                </a:moveTo>
                <a:lnTo>
                  <a:pt x="5258447" y="0"/>
                </a:lnTo>
                <a:cubicBezTo>
                  <a:pt x="5296597" y="0"/>
                  <a:pt x="5327524" y="30927"/>
                  <a:pt x="5327524" y="69077"/>
                </a:cubicBezTo>
                <a:lnTo>
                  <a:pt x="5327524" y="561246"/>
                </a:lnTo>
                <a:cubicBezTo>
                  <a:pt x="5327524" y="599396"/>
                  <a:pt x="5296597" y="630323"/>
                  <a:pt x="5258447" y="630323"/>
                </a:cubicBezTo>
                <a:lnTo>
                  <a:pt x="69077" y="630323"/>
                </a:lnTo>
                <a:cubicBezTo>
                  <a:pt x="30927" y="630323"/>
                  <a:pt x="0" y="599396"/>
                  <a:pt x="0" y="561246"/>
                </a:cubicBezTo>
                <a:lnTo>
                  <a:pt x="0" y="69077"/>
                </a:lnTo>
                <a:cubicBezTo>
                  <a:pt x="0" y="30927"/>
                  <a:pt x="30927" y="0"/>
                  <a:pt x="69077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0" name="Shape 40"/>
          <p:cNvSpPr/>
          <p:nvPr/>
        </p:nvSpPr>
        <p:spPr>
          <a:xfrm>
            <a:off x="6465262" y="4006436"/>
            <a:ext cx="120884" cy="120884"/>
          </a:xfrm>
          <a:custGeom>
            <a:avLst/>
            <a:gdLst/>
            <a:ahLst/>
            <a:cxnLst/>
            <a:rect l="l" t="t" r="r" b="b"/>
            <a:pathLst>
              <a:path w="120884" h="120884">
                <a:moveTo>
                  <a:pt x="60442" y="0"/>
                </a:moveTo>
                <a:cubicBezTo>
                  <a:pt x="63913" y="0"/>
                  <a:pt x="67100" y="1912"/>
                  <a:pt x="68753" y="4958"/>
                </a:cubicBezTo>
                <a:lnTo>
                  <a:pt x="119751" y="99399"/>
                </a:lnTo>
                <a:cubicBezTo>
                  <a:pt x="121332" y="102326"/>
                  <a:pt x="121262" y="105868"/>
                  <a:pt x="119562" y="108725"/>
                </a:cubicBezTo>
                <a:cubicBezTo>
                  <a:pt x="117862" y="111581"/>
                  <a:pt x="114769" y="113329"/>
                  <a:pt x="111440" y="113329"/>
                </a:cubicBezTo>
                <a:lnTo>
                  <a:pt x="9444" y="113329"/>
                </a:lnTo>
                <a:cubicBezTo>
                  <a:pt x="6115" y="113329"/>
                  <a:pt x="3046" y="111581"/>
                  <a:pt x="1322" y="108725"/>
                </a:cubicBezTo>
                <a:cubicBezTo>
                  <a:pt x="-401" y="105868"/>
                  <a:pt x="-449" y="102326"/>
                  <a:pt x="1133" y="99399"/>
                </a:cubicBezTo>
                <a:lnTo>
                  <a:pt x="52131" y="4958"/>
                </a:lnTo>
                <a:cubicBezTo>
                  <a:pt x="53784" y="1912"/>
                  <a:pt x="56971" y="0"/>
                  <a:pt x="60442" y="0"/>
                </a:cubicBezTo>
                <a:close/>
                <a:moveTo>
                  <a:pt x="60442" y="39665"/>
                </a:moveTo>
                <a:cubicBezTo>
                  <a:pt x="57302" y="39665"/>
                  <a:pt x="54775" y="42191"/>
                  <a:pt x="54775" y="45331"/>
                </a:cubicBezTo>
                <a:lnTo>
                  <a:pt x="54775" y="71775"/>
                </a:lnTo>
                <a:cubicBezTo>
                  <a:pt x="54775" y="74915"/>
                  <a:pt x="57302" y="77441"/>
                  <a:pt x="60442" y="77441"/>
                </a:cubicBezTo>
                <a:cubicBezTo>
                  <a:pt x="63582" y="77441"/>
                  <a:pt x="66108" y="74915"/>
                  <a:pt x="66108" y="71775"/>
                </a:cubicBezTo>
                <a:lnTo>
                  <a:pt x="66108" y="45331"/>
                </a:lnTo>
                <a:cubicBezTo>
                  <a:pt x="66108" y="42191"/>
                  <a:pt x="63582" y="39665"/>
                  <a:pt x="60442" y="39665"/>
                </a:cubicBezTo>
                <a:close/>
                <a:moveTo>
                  <a:pt x="66746" y="90663"/>
                </a:moveTo>
                <a:cubicBezTo>
                  <a:pt x="66889" y="88323"/>
                  <a:pt x="65722" y="86097"/>
                  <a:pt x="63716" y="84883"/>
                </a:cubicBezTo>
                <a:cubicBezTo>
                  <a:pt x="61710" y="83670"/>
                  <a:pt x="59197" y="83670"/>
                  <a:pt x="57191" y="84883"/>
                </a:cubicBezTo>
                <a:cubicBezTo>
                  <a:pt x="55185" y="86097"/>
                  <a:pt x="54018" y="88323"/>
                  <a:pt x="54162" y="90663"/>
                </a:cubicBezTo>
                <a:cubicBezTo>
                  <a:pt x="54018" y="93003"/>
                  <a:pt x="55185" y="95229"/>
                  <a:pt x="57191" y="96442"/>
                </a:cubicBezTo>
                <a:cubicBezTo>
                  <a:pt x="59197" y="97656"/>
                  <a:pt x="61710" y="97656"/>
                  <a:pt x="63716" y="96442"/>
                </a:cubicBezTo>
                <a:cubicBezTo>
                  <a:pt x="65722" y="95229"/>
                  <a:pt x="66889" y="93003"/>
                  <a:pt x="66746" y="90663"/>
                </a:cubicBezTo>
                <a:close/>
              </a:path>
            </a:pathLst>
          </a:custGeom>
          <a:solidFill>
            <a:srgbClr val="CA3500"/>
          </a:solidFill>
        </p:spPr>
      </p:sp>
      <p:sp>
        <p:nvSpPr>
          <p:cNvPr id="71" name="Text 41"/>
          <p:cNvSpPr/>
          <p:nvPr/>
        </p:nvSpPr>
        <p:spPr>
          <a:xfrm>
            <a:off x="6650380" y="3980533"/>
            <a:ext cx="4969716" cy="172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CA350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AI回答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2" name="Text 42"/>
          <p:cNvSpPr/>
          <p:nvPr/>
        </p:nvSpPr>
        <p:spPr>
          <a:xfrm>
            <a:off x="6447993" y="4222300"/>
            <a:ext cx="5172102" cy="172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只说了"车身会自动降低10mm"，丢失了前提条件"在运动模式下"</a:t>
            </a:r>
            <a:endParaRPr lang="en-US" sz="95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3" name="Shape 43"/>
          <p:cNvSpPr/>
          <p:nvPr/>
        </p:nvSpPr>
        <p:spPr>
          <a:xfrm>
            <a:off x="6344379" y="4619490"/>
            <a:ext cx="5318890" cy="638958"/>
          </a:xfrm>
          <a:custGeom>
            <a:avLst/>
            <a:gdLst/>
            <a:ahLst/>
            <a:cxnLst/>
            <a:rect l="l" t="t" r="r" b="b"/>
            <a:pathLst>
              <a:path w="5318890" h="638958">
                <a:moveTo>
                  <a:pt x="69078" y="0"/>
                </a:moveTo>
                <a:lnTo>
                  <a:pt x="5249812" y="0"/>
                </a:lnTo>
                <a:cubicBezTo>
                  <a:pt x="5287962" y="0"/>
                  <a:pt x="5318890" y="30927"/>
                  <a:pt x="5318890" y="69078"/>
                </a:cubicBezTo>
                <a:lnTo>
                  <a:pt x="5318890" y="569880"/>
                </a:lnTo>
                <a:cubicBezTo>
                  <a:pt x="5318890" y="608030"/>
                  <a:pt x="5287962" y="638958"/>
                  <a:pt x="5249812" y="638958"/>
                </a:cubicBezTo>
                <a:lnTo>
                  <a:pt x="69078" y="638958"/>
                </a:lnTo>
                <a:cubicBezTo>
                  <a:pt x="30953" y="638958"/>
                  <a:pt x="0" y="608005"/>
                  <a:pt x="0" y="569880"/>
                </a:cubicBezTo>
                <a:lnTo>
                  <a:pt x="0" y="69078"/>
                </a:lnTo>
                <a:cubicBezTo>
                  <a:pt x="0" y="30953"/>
                  <a:pt x="30953" y="0"/>
                  <a:pt x="69078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4" name="Shape 44"/>
          <p:cNvSpPr/>
          <p:nvPr/>
        </p:nvSpPr>
        <p:spPr>
          <a:xfrm>
            <a:off x="6465262" y="4766278"/>
            <a:ext cx="155422" cy="138153"/>
          </a:xfrm>
          <a:custGeom>
            <a:avLst/>
            <a:gdLst/>
            <a:ahLst/>
            <a:cxnLst/>
            <a:rect l="l" t="t" r="r" b="b"/>
            <a:pathLst>
              <a:path w="155422" h="138153">
                <a:moveTo>
                  <a:pt x="129518" y="-4317"/>
                </a:moveTo>
                <a:cubicBezTo>
                  <a:pt x="131380" y="-4317"/>
                  <a:pt x="133026" y="-3130"/>
                  <a:pt x="133620" y="-1376"/>
                </a:cubicBezTo>
                <a:lnTo>
                  <a:pt x="137263" y="9525"/>
                </a:lnTo>
                <a:lnTo>
                  <a:pt x="148164" y="13168"/>
                </a:lnTo>
                <a:cubicBezTo>
                  <a:pt x="149918" y="13761"/>
                  <a:pt x="151105" y="15407"/>
                  <a:pt x="151105" y="17269"/>
                </a:cubicBezTo>
                <a:cubicBezTo>
                  <a:pt x="151105" y="19131"/>
                  <a:pt x="149918" y="20777"/>
                  <a:pt x="148164" y="21371"/>
                </a:cubicBezTo>
                <a:lnTo>
                  <a:pt x="137263" y="25013"/>
                </a:lnTo>
                <a:lnTo>
                  <a:pt x="133620" y="35914"/>
                </a:lnTo>
                <a:cubicBezTo>
                  <a:pt x="133026" y="37668"/>
                  <a:pt x="131380" y="38856"/>
                  <a:pt x="129518" y="38856"/>
                </a:cubicBezTo>
                <a:cubicBezTo>
                  <a:pt x="127657" y="38856"/>
                  <a:pt x="126011" y="37668"/>
                  <a:pt x="125417" y="35914"/>
                </a:cubicBezTo>
                <a:lnTo>
                  <a:pt x="121774" y="25013"/>
                </a:lnTo>
                <a:lnTo>
                  <a:pt x="110873" y="21371"/>
                </a:lnTo>
                <a:cubicBezTo>
                  <a:pt x="109119" y="20777"/>
                  <a:pt x="107932" y="19131"/>
                  <a:pt x="107932" y="17269"/>
                </a:cubicBezTo>
                <a:cubicBezTo>
                  <a:pt x="107932" y="15407"/>
                  <a:pt x="109119" y="13761"/>
                  <a:pt x="110873" y="13168"/>
                </a:cubicBezTo>
                <a:lnTo>
                  <a:pt x="121774" y="9525"/>
                </a:lnTo>
                <a:lnTo>
                  <a:pt x="125417" y="-1376"/>
                </a:lnTo>
                <a:cubicBezTo>
                  <a:pt x="126011" y="-3130"/>
                  <a:pt x="127657" y="-4317"/>
                  <a:pt x="129518" y="-4317"/>
                </a:cubicBezTo>
                <a:close/>
                <a:moveTo>
                  <a:pt x="86723" y="26281"/>
                </a:moveTo>
                <a:cubicBezTo>
                  <a:pt x="90096" y="22909"/>
                  <a:pt x="95574" y="22909"/>
                  <a:pt x="98947" y="26281"/>
                </a:cubicBezTo>
                <a:lnTo>
                  <a:pt x="120533" y="47868"/>
                </a:lnTo>
                <a:cubicBezTo>
                  <a:pt x="123906" y="51241"/>
                  <a:pt x="123906" y="56718"/>
                  <a:pt x="120533" y="60091"/>
                </a:cubicBezTo>
                <a:lnTo>
                  <a:pt x="117592" y="63032"/>
                </a:lnTo>
                <a:cubicBezTo>
                  <a:pt x="119724" y="68969"/>
                  <a:pt x="120884" y="75364"/>
                  <a:pt x="120884" y="82055"/>
                </a:cubicBezTo>
                <a:cubicBezTo>
                  <a:pt x="120884" y="113059"/>
                  <a:pt x="95763" y="138180"/>
                  <a:pt x="64759" y="138180"/>
                </a:cubicBezTo>
                <a:cubicBezTo>
                  <a:pt x="33756" y="138180"/>
                  <a:pt x="8635" y="113032"/>
                  <a:pt x="8635" y="82028"/>
                </a:cubicBezTo>
                <a:cubicBezTo>
                  <a:pt x="8635" y="51025"/>
                  <a:pt x="33756" y="25904"/>
                  <a:pt x="64759" y="25904"/>
                </a:cubicBezTo>
                <a:cubicBezTo>
                  <a:pt x="71424" y="25904"/>
                  <a:pt x="77846" y="27064"/>
                  <a:pt x="83782" y="29223"/>
                </a:cubicBezTo>
                <a:lnTo>
                  <a:pt x="86723" y="26281"/>
                </a:lnTo>
                <a:close/>
                <a:moveTo>
                  <a:pt x="38856" y="82028"/>
                </a:moveTo>
                <a:cubicBezTo>
                  <a:pt x="38856" y="67727"/>
                  <a:pt x="50458" y="56125"/>
                  <a:pt x="64759" y="56125"/>
                </a:cubicBezTo>
                <a:cubicBezTo>
                  <a:pt x="68348" y="56125"/>
                  <a:pt x="71235" y="53237"/>
                  <a:pt x="71235" y="49649"/>
                </a:cubicBezTo>
                <a:cubicBezTo>
                  <a:pt x="71235" y="46060"/>
                  <a:pt x="68348" y="43173"/>
                  <a:pt x="64759" y="43173"/>
                </a:cubicBezTo>
                <a:cubicBezTo>
                  <a:pt x="43308" y="43173"/>
                  <a:pt x="25904" y="60577"/>
                  <a:pt x="25904" y="82028"/>
                </a:cubicBezTo>
                <a:cubicBezTo>
                  <a:pt x="25904" y="85617"/>
                  <a:pt x="28791" y="88504"/>
                  <a:pt x="32380" y="88504"/>
                </a:cubicBezTo>
                <a:cubicBezTo>
                  <a:pt x="35968" y="88504"/>
                  <a:pt x="38856" y="85617"/>
                  <a:pt x="38856" y="82028"/>
                </a:cubicBezTo>
                <a:close/>
              </a:path>
            </a:pathLst>
          </a:custGeom>
          <a:solidFill>
            <a:srgbClr val="CA3500"/>
          </a:solidFill>
        </p:spPr>
      </p:sp>
      <p:sp>
        <p:nvSpPr>
          <p:cNvPr id="75" name="Text 45"/>
          <p:cNvSpPr/>
          <p:nvPr/>
        </p:nvSpPr>
        <p:spPr>
          <a:xfrm>
            <a:off x="6676283" y="4731739"/>
            <a:ext cx="4943812" cy="2072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b="1" dirty="0">
                <a:solidFill>
                  <a:srgbClr val="CA350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后果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6" name="Text 46"/>
          <p:cNvSpPr/>
          <p:nvPr/>
        </p:nvSpPr>
        <p:spPr>
          <a:xfrm>
            <a:off x="6456628" y="4973507"/>
            <a:ext cx="5154833" cy="172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销售顾问可能把"运动模式专属"说成"全系标配功能"，造成客户预期偏差</a:t>
            </a:r>
            <a:endParaRPr lang="en-US" sz="95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7" name="Shape 47"/>
          <p:cNvSpPr/>
          <p:nvPr/>
        </p:nvSpPr>
        <p:spPr>
          <a:xfrm>
            <a:off x="345382" y="5577926"/>
            <a:ext cx="11501235" cy="759841"/>
          </a:xfrm>
          <a:custGeom>
            <a:avLst/>
            <a:gdLst/>
            <a:ahLst/>
            <a:cxnLst/>
            <a:rect l="l" t="t" r="r" b="b"/>
            <a:pathLst>
              <a:path w="11501235" h="759841">
                <a:moveTo>
                  <a:pt x="103612" y="0"/>
                </a:moveTo>
                <a:lnTo>
                  <a:pt x="11397623" y="0"/>
                </a:lnTo>
                <a:cubicBezTo>
                  <a:pt x="11454846" y="0"/>
                  <a:pt x="11501235" y="46389"/>
                  <a:pt x="11501235" y="103612"/>
                </a:cubicBezTo>
                <a:lnTo>
                  <a:pt x="11501235" y="656229"/>
                </a:lnTo>
                <a:cubicBezTo>
                  <a:pt x="11501235" y="713453"/>
                  <a:pt x="11454846" y="759841"/>
                  <a:pt x="11397623" y="759841"/>
                </a:cubicBezTo>
                <a:lnTo>
                  <a:pt x="103612" y="759841"/>
                </a:lnTo>
                <a:cubicBezTo>
                  <a:pt x="46389" y="759841"/>
                  <a:pt x="0" y="713453"/>
                  <a:pt x="0" y="656229"/>
                </a:cubicBezTo>
                <a:lnTo>
                  <a:pt x="0" y="103612"/>
                </a:lnTo>
                <a:cubicBezTo>
                  <a:pt x="0" y="46427"/>
                  <a:pt x="46427" y="0"/>
                  <a:pt x="103612" y="0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</p:sp>
      <p:sp>
        <p:nvSpPr>
          <p:cNvPr id="78" name="Shape 48"/>
          <p:cNvSpPr/>
          <p:nvPr/>
        </p:nvSpPr>
        <p:spPr>
          <a:xfrm>
            <a:off x="522391" y="5802425"/>
            <a:ext cx="310844" cy="310844"/>
          </a:xfrm>
          <a:custGeom>
            <a:avLst/>
            <a:gdLst/>
            <a:ahLst/>
            <a:cxnLst/>
            <a:rect l="l" t="t" r="r" b="b"/>
            <a:pathLst>
              <a:path w="310844" h="310844">
                <a:moveTo>
                  <a:pt x="155422" y="0"/>
                </a:moveTo>
                <a:cubicBezTo>
                  <a:pt x="164347" y="0"/>
                  <a:pt x="172543" y="4918"/>
                  <a:pt x="176793" y="12749"/>
                </a:cubicBezTo>
                <a:lnTo>
                  <a:pt x="307930" y="255596"/>
                </a:lnTo>
                <a:cubicBezTo>
                  <a:pt x="311998" y="263125"/>
                  <a:pt x="311816" y="272232"/>
                  <a:pt x="307444" y="279578"/>
                </a:cubicBezTo>
                <a:cubicBezTo>
                  <a:pt x="303073" y="286924"/>
                  <a:pt x="295120" y="291416"/>
                  <a:pt x="286559" y="291416"/>
                </a:cubicBezTo>
                <a:lnTo>
                  <a:pt x="24285" y="291416"/>
                </a:lnTo>
                <a:cubicBezTo>
                  <a:pt x="15724" y="291416"/>
                  <a:pt x="7832" y="286924"/>
                  <a:pt x="3400" y="279578"/>
                </a:cubicBezTo>
                <a:cubicBezTo>
                  <a:pt x="-1032" y="272232"/>
                  <a:pt x="-1154" y="263125"/>
                  <a:pt x="2914" y="255596"/>
                </a:cubicBezTo>
                <a:lnTo>
                  <a:pt x="134052" y="12749"/>
                </a:lnTo>
                <a:cubicBezTo>
                  <a:pt x="138301" y="4918"/>
                  <a:pt x="146497" y="0"/>
                  <a:pt x="155422" y="0"/>
                </a:cubicBezTo>
                <a:close/>
                <a:moveTo>
                  <a:pt x="155422" y="101996"/>
                </a:moveTo>
                <a:cubicBezTo>
                  <a:pt x="147347" y="101996"/>
                  <a:pt x="140851" y="108492"/>
                  <a:pt x="140851" y="116567"/>
                </a:cubicBezTo>
                <a:lnTo>
                  <a:pt x="140851" y="184564"/>
                </a:lnTo>
                <a:cubicBezTo>
                  <a:pt x="140851" y="192638"/>
                  <a:pt x="147347" y="199135"/>
                  <a:pt x="155422" y="199135"/>
                </a:cubicBezTo>
                <a:cubicBezTo>
                  <a:pt x="163497" y="199135"/>
                  <a:pt x="169993" y="192638"/>
                  <a:pt x="169993" y="184564"/>
                </a:cubicBezTo>
                <a:lnTo>
                  <a:pt x="169993" y="116567"/>
                </a:lnTo>
                <a:cubicBezTo>
                  <a:pt x="169993" y="108492"/>
                  <a:pt x="163497" y="101996"/>
                  <a:pt x="155422" y="101996"/>
                </a:cubicBezTo>
                <a:close/>
                <a:moveTo>
                  <a:pt x="171632" y="233133"/>
                </a:moveTo>
                <a:cubicBezTo>
                  <a:pt x="172001" y="227116"/>
                  <a:pt x="169000" y="221392"/>
                  <a:pt x="163842" y="218272"/>
                </a:cubicBezTo>
                <a:cubicBezTo>
                  <a:pt x="158684" y="215152"/>
                  <a:pt x="152221" y="215152"/>
                  <a:pt x="147063" y="218272"/>
                </a:cubicBezTo>
                <a:cubicBezTo>
                  <a:pt x="141905" y="221392"/>
                  <a:pt x="138904" y="227116"/>
                  <a:pt x="139273" y="233133"/>
                </a:cubicBezTo>
                <a:cubicBezTo>
                  <a:pt x="138904" y="239150"/>
                  <a:pt x="141905" y="244875"/>
                  <a:pt x="147063" y="247995"/>
                </a:cubicBezTo>
                <a:cubicBezTo>
                  <a:pt x="152221" y="251115"/>
                  <a:pt x="158684" y="251115"/>
                  <a:pt x="163842" y="247995"/>
                </a:cubicBezTo>
                <a:cubicBezTo>
                  <a:pt x="169000" y="244875"/>
                  <a:pt x="172001" y="239150"/>
                  <a:pt x="171632" y="23313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9" name="Text 49"/>
          <p:cNvSpPr/>
          <p:nvPr/>
        </p:nvSpPr>
        <p:spPr>
          <a:xfrm>
            <a:off x="1010244" y="5716079"/>
            <a:ext cx="4213666" cy="241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结论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80" name="Text 50"/>
          <p:cNvSpPr/>
          <p:nvPr/>
        </p:nvSpPr>
        <p:spPr>
          <a:xfrm>
            <a:off x="1010244" y="5992385"/>
            <a:ext cx="4196397" cy="2072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切片不当带来的不仅是信息丢失，更可能导致 </a:t>
            </a:r>
            <a:r>
              <a:rPr lang="en-US" sz="109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合规风险</a:t>
            </a:r>
            <a:r>
              <a:rPr lang="en-US" sz="1090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和 </a:t>
            </a:r>
            <a:r>
              <a:rPr lang="en-US" sz="109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业务误导</a:t>
            </a:r>
            <a:endParaRPr lang="en-US" sz="1600" dirty="0"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7146290" cy="72009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切片策略：决定AI是"专家"还是"断片"</a:t>
            </a:r>
            <a:endParaRPr lang="zh-CN" altLang="en-US">
              <a:sym typeface="+mn-ea"/>
            </a:endParaRPr>
          </a:p>
        </p:txBody>
      </p:sp>
      <p:sp>
        <p:nvSpPr>
          <p:cNvPr id="16" name="Text 2"/>
          <p:cNvSpPr/>
          <p:nvPr/>
        </p:nvSpPr>
        <p:spPr>
          <a:xfrm>
            <a:off x="393700" y="1219200"/>
            <a:ext cx="11503025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altLang="zh-CN" dirty="0"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找到语义完整性与检索精度的平衡点</a:t>
            </a:r>
            <a:endParaRPr lang="en-US" altLang="zh-CN" dirty="0">
              <a:latin typeface="BMWGroupTN Condensed TT Light" charset="0"/>
              <a:ea typeface="BMWGroupTN Condensed TT Light" charset="0"/>
              <a:cs typeface="BMWGroupTN Condensed TT Light" charset="0"/>
              <a:sym typeface="+mn-ea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381000" y="1847850"/>
            <a:ext cx="11543665" cy="3653155"/>
          </a:xfrm>
          <a:custGeom>
            <a:avLst/>
            <a:gdLst/>
            <a:ahLst/>
            <a:cxnLst/>
            <a:rect l="l" t="t" r="r" b="b"/>
            <a:pathLst>
              <a:path w="11430000" h="2638425">
                <a:moveTo>
                  <a:pt x="152395" y="0"/>
                </a:moveTo>
                <a:lnTo>
                  <a:pt x="11277605" y="0"/>
                </a:lnTo>
                <a:cubicBezTo>
                  <a:pt x="11361714" y="0"/>
                  <a:pt x="11430000" y="68286"/>
                  <a:pt x="11430000" y="152395"/>
                </a:cubicBezTo>
                <a:lnTo>
                  <a:pt x="11430000" y="2486030"/>
                </a:lnTo>
                <a:cubicBezTo>
                  <a:pt x="11430000" y="2570139"/>
                  <a:pt x="11361714" y="2638425"/>
                  <a:pt x="11277605" y="2638425"/>
                </a:cubicBezTo>
                <a:lnTo>
                  <a:pt x="152395" y="2638425"/>
                </a:lnTo>
                <a:cubicBezTo>
                  <a:pt x="68286" y="2638425"/>
                  <a:pt x="0" y="2570139"/>
                  <a:pt x="0" y="2486030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p>
            <a:endParaRPr lang="zh-CN" altLang="en-US">
              <a:cs typeface="BMWGroupTN Condensed TT Light" charset="0"/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33400" y="2000250"/>
          <a:ext cx="11214100" cy="3296920"/>
        </p:xfrm>
        <a:graphic>
          <a:graphicData uri="http://schemas.openxmlformats.org/drawingml/2006/table">
            <a:tbl>
              <a:tblPr/>
              <a:tblGrid>
                <a:gridCol w="1278255"/>
                <a:gridCol w="1441450"/>
                <a:gridCol w="1306195"/>
                <a:gridCol w="1605280"/>
                <a:gridCol w="5582920"/>
              </a:tblGrid>
              <a:tr h="53403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切片方式</a:t>
                      </a:r>
                      <a:endParaRPr lang="en-US" sz="1000" u="none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机制原理</a:t>
                      </a:r>
                      <a:endParaRPr lang="en-US" sz="1000" u="none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优势</a:t>
                      </a:r>
                      <a:endParaRPr lang="en-US" sz="1000" u="none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劣势</a:t>
                      </a:r>
                      <a:endParaRPr lang="en-US" sz="1000" u="none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宝马场景影响</a:t>
                      </a:r>
                      <a:endParaRPr lang="en-US" sz="1000" u="none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固定长度切片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按500字符硬切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简单、速度快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语义腰斩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可能把"发动机参数"和其后的"扭矩/功率数值表"切到两个文件，AI学到断腿的信息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3467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递归字符分割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按段落(\n)切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保持段落完整性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无法处理复杂表格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适合纯文字SOP，面对"返利阶梯表"直接崩溃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62738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语义分块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AI理解语义后再切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质量最高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计算慢、成本略高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推荐：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                                自动识别"竞品对比要点"为独立语义块，不会被切断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3403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基于文档结构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按标题/章节切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保留层级关系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依赖文档有规范结构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适合产品手册等有章节目录的文档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父子文档检索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存大块、搜小块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兼顾精准与完整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实现相对复杂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BMWGroupTN Condensed TT Light" charset="0"/>
                          <a:ea typeface="BMWGroupTN Condensed TT Light" charset="0"/>
                          <a:cs typeface="BMWGroupTN Condensed TT Light" charset="0"/>
                        </a:rPr>
                        <a:t>先定位具体条款（小块），再返回整章上下文（大块）</a:t>
                      </a:r>
                      <a:endParaRPr lang="en-US" sz="1000" dirty="0">
                        <a:solidFill>
                          <a:srgbClr val="1E293B"/>
                        </a:solidFill>
                        <a:latin typeface="BMWGroupTN Condensed TT Light" charset="0"/>
                        <a:ea typeface="BMWGroupTN Condensed TT Light" charset="0"/>
                        <a:cs typeface="BMWGroupTN Condensed TT Light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演示</a:t>
            </a:r>
            <a:endParaRPr lang="zh-CN" altLang="en-US"/>
          </a:p>
        </p:txBody>
      </p:sp>
      <p:sp>
        <p:nvSpPr>
          <p:cNvPr id="43" name="Shape 12"/>
          <p:cNvSpPr/>
          <p:nvPr/>
        </p:nvSpPr>
        <p:spPr>
          <a:xfrm>
            <a:off x="2131060" y="2038350"/>
            <a:ext cx="7929245" cy="2781300"/>
          </a:xfrm>
          <a:prstGeom prst="roundRect">
            <a:avLst>
              <a:gd name="adj" fmla="val 6043"/>
            </a:avLst>
          </a:pr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>
              <a:cs typeface="BMWGroupTN Condensed TT Light" charset="0"/>
            </a:endParaRPr>
          </a:p>
        </p:txBody>
      </p:sp>
      <p:sp>
        <p:nvSpPr>
          <p:cNvPr id="47" name="Text 13"/>
          <p:cNvSpPr/>
          <p:nvPr/>
        </p:nvSpPr>
        <p:spPr>
          <a:xfrm>
            <a:off x="3428365" y="3263900"/>
            <a:ext cx="5334000" cy="406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使用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GAIA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演示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合同审核与合规条款智能匹配</a:t>
            </a:r>
            <a:endParaRPr lang="en-US" altLang="zh-CN" sz="3200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latin typeface="BMWGroupTN Condensed TT Light" charset="0"/>
              <a:ea typeface="BMWGroupTN Condensed TT Light" charset="0"/>
              <a:cs typeface="BMWGroupTN Condensed TT Light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场景</a:t>
            </a:r>
            <a:r>
              <a:rPr lang="zh-CN" altLang="en-US">
                <a:sym typeface="+mn-ea"/>
              </a:rPr>
              <a:t>一 | 合同审核与合规条款智能匹配</a:t>
            </a:r>
            <a:endParaRPr lang="zh-CN" altLang="en-US">
              <a:sym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2954" y="994565"/>
            <a:ext cx="11583257" cy="2400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altLang="zh-CN" dirty="0"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从"凭记忆+翻文档"变为"系统辅助校验"</a:t>
            </a:r>
            <a:endParaRPr lang="en-US" altLang="zh-CN" dirty="0">
              <a:latin typeface="BMWGroupTN Condensed TT Light" charset="0"/>
              <a:ea typeface="BMWGroupTN Condensed TT Light" charset="0"/>
              <a:cs typeface="BMWGroupTN Condensed TT Light" charset="0"/>
              <a:sym typeface="+mn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9985" y="1714736"/>
            <a:ext cx="480135" cy="480135"/>
          </a:xfrm>
          <a:custGeom>
            <a:avLst/>
            <a:gdLst/>
            <a:ahLst/>
            <a:cxnLst/>
            <a:rect l="l" t="t" r="r" b="b"/>
            <a:pathLst>
              <a:path w="480135" h="480135">
                <a:moveTo>
                  <a:pt x="240068" y="0"/>
                </a:moveTo>
                <a:lnTo>
                  <a:pt x="240068" y="0"/>
                </a:lnTo>
                <a:cubicBezTo>
                  <a:pt x="372653" y="0"/>
                  <a:pt x="480135" y="107482"/>
                  <a:pt x="480135" y="240068"/>
                </a:cubicBezTo>
                <a:lnTo>
                  <a:pt x="480135" y="240068"/>
                </a:lnTo>
                <a:cubicBezTo>
                  <a:pt x="480135" y="372653"/>
                  <a:pt x="372653" y="480135"/>
                  <a:pt x="240068" y="480135"/>
                </a:cubicBezTo>
                <a:lnTo>
                  <a:pt x="240068" y="480135"/>
                </a:lnTo>
                <a:cubicBezTo>
                  <a:pt x="107482" y="480135"/>
                  <a:pt x="0" y="372653"/>
                  <a:pt x="0" y="240068"/>
                </a:cubicBezTo>
                <a:lnTo>
                  <a:pt x="0" y="240068"/>
                </a:lnTo>
                <a:cubicBezTo>
                  <a:pt x="0" y="107482"/>
                  <a:pt x="107482" y="0"/>
                  <a:pt x="240068" y="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2" name="Shape 5"/>
          <p:cNvSpPr/>
          <p:nvPr/>
        </p:nvSpPr>
        <p:spPr>
          <a:xfrm>
            <a:off x="634306" y="1851917"/>
            <a:ext cx="231494" cy="205772"/>
          </a:xfrm>
          <a:custGeom>
            <a:avLst/>
            <a:gdLst/>
            <a:ahLst/>
            <a:cxnLst/>
            <a:rect l="l" t="t" r="r" b="b"/>
            <a:pathLst>
              <a:path w="231494" h="205772">
                <a:moveTo>
                  <a:pt x="68162" y="61651"/>
                </a:moveTo>
                <a:lnTo>
                  <a:pt x="60647" y="54136"/>
                </a:lnTo>
                <a:cubicBezTo>
                  <a:pt x="55623" y="49112"/>
                  <a:pt x="55623" y="40953"/>
                  <a:pt x="60647" y="35930"/>
                </a:cubicBezTo>
                <a:lnTo>
                  <a:pt x="106744" y="-10208"/>
                </a:lnTo>
                <a:cubicBezTo>
                  <a:pt x="111768" y="-15232"/>
                  <a:pt x="119927" y="-15232"/>
                  <a:pt x="124950" y="-10208"/>
                </a:cubicBezTo>
                <a:lnTo>
                  <a:pt x="132466" y="-2653"/>
                </a:lnTo>
                <a:cubicBezTo>
                  <a:pt x="137490" y="2371"/>
                  <a:pt x="137490" y="10530"/>
                  <a:pt x="132466" y="15553"/>
                </a:cubicBezTo>
                <a:lnTo>
                  <a:pt x="86368" y="61651"/>
                </a:lnTo>
                <a:cubicBezTo>
                  <a:pt x="81344" y="66675"/>
                  <a:pt x="73186" y="66675"/>
                  <a:pt x="68162" y="61651"/>
                </a:cubicBezTo>
                <a:close/>
                <a:moveTo>
                  <a:pt x="110924" y="85082"/>
                </a:moveTo>
                <a:lnTo>
                  <a:pt x="98304" y="72462"/>
                </a:lnTo>
                <a:lnTo>
                  <a:pt x="143317" y="27450"/>
                </a:lnTo>
                <a:lnTo>
                  <a:pt x="191304" y="75436"/>
                </a:lnTo>
                <a:lnTo>
                  <a:pt x="146291" y="120449"/>
                </a:lnTo>
                <a:lnTo>
                  <a:pt x="133672" y="107829"/>
                </a:lnTo>
                <a:lnTo>
                  <a:pt x="40431" y="201070"/>
                </a:lnTo>
                <a:cubicBezTo>
                  <a:pt x="34161" y="207340"/>
                  <a:pt x="23993" y="207340"/>
                  <a:pt x="17684" y="201070"/>
                </a:cubicBezTo>
                <a:cubicBezTo>
                  <a:pt x="11374" y="194800"/>
                  <a:pt x="11414" y="184632"/>
                  <a:pt x="17684" y="178322"/>
                </a:cubicBezTo>
                <a:lnTo>
                  <a:pt x="110924" y="85082"/>
                </a:lnTo>
                <a:close/>
                <a:moveTo>
                  <a:pt x="157102" y="150551"/>
                </a:moveTo>
                <a:cubicBezTo>
                  <a:pt x="152078" y="145528"/>
                  <a:pt x="152078" y="137369"/>
                  <a:pt x="157102" y="132345"/>
                </a:cubicBezTo>
                <a:lnTo>
                  <a:pt x="203200" y="86247"/>
                </a:lnTo>
                <a:cubicBezTo>
                  <a:pt x="208224" y="81224"/>
                  <a:pt x="216382" y="81224"/>
                  <a:pt x="221406" y="86247"/>
                </a:cubicBezTo>
                <a:lnTo>
                  <a:pt x="228922" y="93763"/>
                </a:lnTo>
                <a:cubicBezTo>
                  <a:pt x="233945" y="98787"/>
                  <a:pt x="233945" y="106945"/>
                  <a:pt x="228922" y="111969"/>
                </a:cubicBezTo>
                <a:lnTo>
                  <a:pt x="182824" y="158107"/>
                </a:lnTo>
                <a:cubicBezTo>
                  <a:pt x="177800" y="163131"/>
                  <a:pt x="169641" y="163131"/>
                  <a:pt x="164618" y="158107"/>
                </a:cubicBezTo>
                <a:lnTo>
                  <a:pt x="157102" y="150591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093006" y="1731883"/>
            <a:ext cx="925975" cy="274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场景背景</a:t>
            </a:r>
            <a:endParaRPr lang="en-US" sz="162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3006" y="2006246"/>
            <a:ext cx="883105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宝马法务团队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9985" y="2332052"/>
            <a:ext cx="5341502" cy="651612"/>
          </a:xfrm>
          <a:custGeom>
            <a:avLst/>
            <a:gdLst/>
            <a:ahLst/>
            <a:cxnLst/>
            <a:rect l="l" t="t" r="r" b="b"/>
            <a:pathLst>
              <a:path w="5341502" h="651612">
                <a:moveTo>
                  <a:pt x="68589" y="0"/>
                </a:moveTo>
                <a:lnTo>
                  <a:pt x="5272913" y="0"/>
                </a:lnTo>
                <a:cubicBezTo>
                  <a:pt x="5310794" y="0"/>
                  <a:pt x="5341502" y="30708"/>
                  <a:pt x="5341502" y="68589"/>
                </a:cubicBezTo>
                <a:lnTo>
                  <a:pt x="5341502" y="583023"/>
                </a:lnTo>
                <a:cubicBezTo>
                  <a:pt x="5341502" y="620904"/>
                  <a:pt x="5310794" y="651612"/>
                  <a:pt x="5272913" y="651612"/>
                </a:cubicBezTo>
                <a:lnTo>
                  <a:pt x="68589" y="651612"/>
                </a:lnTo>
                <a:cubicBezTo>
                  <a:pt x="30734" y="651612"/>
                  <a:pt x="0" y="620878"/>
                  <a:pt x="0" y="583023"/>
                </a:cubicBezTo>
                <a:lnTo>
                  <a:pt x="0" y="68589"/>
                </a:lnTo>
                <a:cubicBezTo>
                  <a:pt x="0" y="30734"/>
                  <a:pt x="30734" y="0"/>
                  <a:pt x="68589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871" y="2434938"/>
            <a:ext cx="5204321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审核范围：</a:t>
            </a:r>
            <a:r>
              <a:rPr lang="en-US" sz="108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日常审核大量合同</a:t>
            </a:r>
            <a:endParaRPr lang="en-US" sz="108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2871" y="2709301"/>
            <a:ext cx="5195747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chemeClr val="tx1">
                    <a:lumMod val="85000"/>
                  </a:scheme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供应商采购合同、经销商合作协议、数据合作协议、营销活动协议等</a:t>
            </a:r>
            <a:endParaRPr lang="en-US" sz="945" dirty="0">
              <a:solidFill>
                <a:schemeClr val="tx1">
                  <a:lumMod val="85000"/>
                </a:schemeClr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9985" y="3086550"/>
            <a:ext cx="5341502" cy="651612"/>
          </a:xfrm>
          <a:custGeom>
            <a:avLst/>
            <a:gdLst/>
            <a:ahLst/>
            <a:cxnLst/>
            <a:rect l="l" t="t" r="r" b="b"/>
            <a:pathLst>
              <a:path w="5341502" h="651612">
                <a:moveTo>
                  <a:pt x="68589" y="0"/>
                </a:moveTo>
                <a:lnTo>
                  <a:pt x="5272913" y="0"/>
                </a:lnTo>
                <a:cubicBezTo>
                  <a:pt x="5310794" y="0"/>
                  <a:pt x="5341502" y="30708"/>
                  <a:pt x="5341502" y="68589"/>
                </a:cubicBezTo>
                <a:lnTo>
                  <a:pt x="5341502" y="583023"/>
                </a:lnTo>
                <a:cubicBezTo>
                  <a:pt x="5341502" y="620904"/>
                  <a:pt x="5310794" y="651612"/>
                  <a:pt x="5272913" y="651612"/>
                </a:cubicBezTo>
                <a:lnTo>
                  <a:pt x="68589" y="651612"/>
                </a:lnTo>
                <a:cubicBezTo>
                  <a:pt x="30734" y="651612"/>
                  <a:pt x="0" y="620878"/>
                  <a:pt x="0" y="583023"/>
                </a:cubicBezTo>
                <a:lnTo>
                  <a:pt x="0" y="68589"/>
                </a:lnTo>
                <a:cubicBezTo>
                  <a:pt x="0" y="30734"/>
                  <a:pt x="30734" y="0"/>
                  <a:pt x="68589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871" y="3189436"/>
            <a:ext cx="5204321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合规要求：</a:t>
            </a:r>
            <a:r>
              <a:rPr lang="en-US" sz="108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每类合同需要符合</a:t>
            </a:r>
            <a:endParaRPr lang="en-US" sz="108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12871" y="3463799"/>
            <a:ext cx="5195747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chemeClr val="tx1">
                    <a:lumMod val="85000"/>
                  </a:scheme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集团内部合规标准和本地法律法规（如《个人信息保护法》）</a:t>
            </a:r>
            <a:endParaRPr lang="en-US" sz="945" dirty="0">
              <a:solidFill>
                <a:schemeClr val="tx1">
                  <a:lumMod val="85000"/>
                </a:schemeClr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18717" y="4149500"/>
            <a:ext cx="5332928" cy="831662"/>
          </a:xfrm>
          <a:custGeom>
            <a:avLst/>
            <a:gdLst/>
            <a:ahLst/>
            <a:cxnLst/>
            <a:rect l="l" t="t" r="r" b="b"/>
            <a:pathLst>
              <a:path w="5332928" h="831662">
                <a:moveTo>
                  <a:pt x="68587" y="0"/>
                </a:moveTo>
                <a:lnTo>
                  <a:pt x="5264341" y="0"/>
                </a:lnTo>
                <a:cubicBezTo>
                  <a:pt x="5302221" y="0"/>
                  <a:pt x="5332928" y="30708"/>
                  <a:pt x="5332928" y="68587"/>
                </a:cubicBezTo>
                <a:lnTo>
                  <a:pt x="5332928" y="763075"/>
                </a:lnTo>
                <a:cubicBezTo>
                  <a:pt x="5332928" y="800955"/>
                  <a:pt x="5302221" y="831662"/>
                  <a:pt x="5264341" y="831662"/>
                </a:cubicBezTo>
                <a:lnTo>
                  <a:pt x="68587" y="831662"/>
                </a:lnTo>
                <a:cubicBezTo>
                  <a:pt x="30708" y="831662"/>
                  <a:pt x="0" y="800955"/>
                  <a:pt x="0" y="763075"/>
                </a:cubicBezTo>
                <a:lnTo>
                  <a:pt x="0" y="68587"/>
                </a:lnTo>
                <a:cubicBezTo>
                  <a:pt x="0" y="30708"/>
                  <a:pt x="30708" y="0"/>
                  <a:pt x="68587" y="0"/>
                </a:cubicBezTo>
                <a:close/>
              </a:path>
            </a:pathLst>
          </a:custGeom>
          <a:solidFill>
            <a:srgbClr val="FEF2F2"/>
          </a:solidFill>
          <a:ln w="12700">
            <a:solidFill>
              <a:srgbClr val="FFC9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038" y="429096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0"/>
                </a:moveTo>
                <a:cubicBezTo>
                  <a:pt x="72529" y="0"/>
                  <a:pt x="76146" y="2170"/>
                  <a:pt x="78022" y="5627"/>
                </a:cubicBezTo>
                <a:lnTo>
                  <a:pt x="135895" y="112800"/>
                </a:lnTo>
                <a:cubicBezTo>
                  <a:pt x="137691" y="116122"/>
                  <a:pt x="137610" y="120141"/>
                  <a:pt x="135681" y="123383"/>
                </a:cubicBezTo>
                <a:cubicBezTo>
                  <a:pt x="133752" y="126625"/>
                  <a:pt x="130242" y="128608"/>
                  <a:pt x="126464" y="128608"/>
                </a:cubicBezTo>
                <a:lnTo>
                  <a:pt x="10717" y="128608"/>
                </a:lnTo>
                <a:cubicBezTo>
                  <a:pt x="6939" y="128608"/>
                  <a:pt x="3456" y="126625"/>
                  <a:pt x="1500" y="123383"/>
                </a:cubicBezTo>
                <a:cubicBezTo>
                  <a:pt x="-455" y="120141"/>
                  <a:pt x="-509" y="116122"/>
                  <a:pt x="1286" y="112800"/>
                </a:cubicBezTo>
                <a:lnTo>
                  <a:pt x="59159" y="5627"/>
                </a:lnTo>
                <a:cubicBezTo>
                  <a:pt x="61035" y="2170"/>
                  <a:pt x="64652" y="0"/>
                  <a:pt x="68591" y="0"/>
                </a:cubicBezTo>
                <a:close/>
                <a:moveTo>
                  <a:pt x="68591" y="45013"/>
                </a:moveTo>
                <a:cubicBezTo>
                  <a:pt x="65027" y="45013"/>
                  <a:pt x="62160" y="47880"/>
                  <a:pt x="62160" y="51443"/>
                </a:cubicBezTo>
                <a:lnTo>
                  <a:pt x="62160" y="81451"/>
                </a:lnTo>
                <a:cubicBezTo>
                  <a:pt x="62160" y="85015"/>
                  <a:pt x="65027" y="87882"/>
                  <a:pt x="68591" y="87882"/>
                </a:cubicBezTo>
                <a:cubicBezTo>
                  <a:pt x="72154" y="87882"/>
                  <a:pt x="75021" y="85015"/>
                  <a:pt x="75021" y="81451"/>
                </a:cubicBezTo>
                <a:lnTo>
                  <a:pt x="75021" y="51443"/>
                </a:lnTo>
                <a:cubicBezTo>
                  <a:pt x="75021" y="47880"/>
                  <a:pt x="72154" y="45013"/>
                  <a:pt x="68591" y="45013"/>
                </a:cubicBezTo>
                <a:close/>
                <a:moveTo>
                  <a:pt x="75745" y="102886"/>
                </a:moveTo>
                <a:cubicBezTo>
                  <a:pt x="75907" y="100231"/>
                  <a:pt x="74583" y="97704"/>
                  <a:pt x="72307" y="96327"/>
                </a:cubicBezTo>
                <a:cubicBezTo>
                  <a:pt x="70030" y="94950"/>
                  <a:pt x="67178" y="94950"/>
                  <a:pt x="64902" y="96327"/>
                </a:cubicBezTo>
                <a:cubicBezTo>
                  <a:pt x="62625" y="97704"/>
                  <a:pt x="61301" y="100231"/>
                  <a:pt x="61464" y="102886"/>
                </a:cubicBezTo>
                <a:cubicBezTo>
                  <a:pt x="61301" y="105541"/>
                  <a:pt x="62625" y="108068"/>
                  <a:pt x="64902" y="109445"/>
                </a:cubicBezTo>
                <a:cubicBezTo>
                  <a:pt x="67178" y="110822"/>
                  <a:pt x="70030" y="110822"/>
                  <a:pt x="72307" y="109445"/>
                </a:cubicBezTo>
                <a:cubicBezTo>
                  <a:pt x="74583" y="108068"/>
                  <a:pt x="75907" y="105541"/>
                  <a:pt x="75745" y="102886"/>
                </a:cubicBezTo>
                <a:close/>
              </a:path>
            </a:pathLst>
          </a:custGeom>
          <a:solidFill>
            <a:srgbClr val="C10007"/>
          </a:solidFill>
        </p:spPr>
      </p:sp>
      <p:sp>
        <p:nvSpPr>
          <p:cNvPr id="18" name="Text 16"/>
          <p:cNvSpPr/>
          <p:nvPr/>
        </p:nvSpPr>
        <p:spPr>
          <a:xfrm>
            <a:off x="843673" y="4256673"/>
            <a:ext cx="4969390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C1000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工作困难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5890" y="4531036"/>
            <a:ext cx="5178599" cy="342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法务人员需要在集团合规文档库中查找对应的标准条款和先例，纯靠关键词搜索难以精准定位，审核效率低且存在遗漏风险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165528" y="1337519"/>
            <a:ext cx="5684456" cy="5178599"/>
          </a:xfrm>
          <a:custGeom>
            <a:avLst/>
            <a:gdLst/>
            <a:ahLst/>
            <a:cxnLst/>
            <a:rect l="l" t="t" r="r" b="b"/>
            <a:pathLst>
              <a:path w="5684456" h="5178599">
                <a:moveTo>
                  <a:pt x="137181" y="0"/>
                </a:moveTo>
                <a:lnTo>
                  <a:pt x="5547275" y="0"/>
                </a:lnTo>
                <a:cubicBezTo>
                  <a:pt x="5623038" y="0"/>
                  <a:pt x="5684456" y="61418"/>
                  <a:pt x="5684456" y="137181"/>
                </a:cubicBezTo>
                <a:lnTo>
                  <a:pt x="5684456" y="5041418"/>
                </a:lnTo>
                <a:cubicBezTo>
                  <a:pt x="5684456" y="5117181"/>
                  <a:pt x="5623038" y="5178599"/>
                  <a:pt x="5547275" y="5178599"/>
                </a:cubicBezTo>
                <a:lnTo>
                  <a:pt x="137181" y="5178599"/>
                </a:lnTo>
                <a:cubicBezTo>
                  <a:pt x="61418" y="5178599"/>
                  <a:pt x="0" y="5117181"/>
                  <a:pt x="0" y="5041418"/>
                </a:cubicBezTo>
                <a:lnTo>
                  <a:pt x="0" y="137181"/>
                </a:lnTo>
                <a:cubicBezTo>
                  <a:pt x="0" y="61469"/>
                  <a:pt x="61469" y="0"/>
                  <a:pt x="137181" y="0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1" name="Shape 19"/>
          <p:cNvSpPr/>
          <p:nvPr/>
        </p:nvSpPr>
        <p:spPr>
          <a:xfrm>
            <a:off x="6337005" y="1508996"/>
            <a:ext cx="480135" cy="480135"/>
          </a:xfrm>
          <a:custGeom>
            <a:avLst/>
            <a:gdLst/>
            <a:ahLst/>
            <a:cxnLst/>
            <a:rect l="l" t="t" r="r" b="b"/>
            <a:pathLst>
              <a:path w="480135" h="480135">
                <a:moveTo>
                  <a:pt x="240068" y="0"/>
                </a:moveTo>
                <a:lnTo>
                  <a:pt x="240068" y="0"/>
                </a:lnTo>
                <a:cubicBezTo>
                  <a:pt x="372653" y="0"/>
                  <a:pt x="480135" y="107482"/>
                  <a:pt x="480135" y="240068"/>
                </a:cubicBezTo>
                <a:lnTo>
                  <a:pt x="480135" y="240068"/>
                </a:lnTo>
                <a:cubicBezTo>
                  <a:pt x="480135" y="372653"/>
                  <a:pt x="372653" y="480135"/>
                  <a:pt x="240068" y="480135"/>
                </a:cubicBezTo>
                <a:lnTo>
                  <a:pt x="240068" y="480135"/>
                </a:lnTo>
                <a:cubicBezTo>
                  <a:pt x="107482" y="480135"/>
                  <a:pt x="0" y="372653"/>
                  <a:pt x="0" y="240068"/>
                </a:cubicBezTo>
                <a:lnTo>
                  <a:pt x="0" y="240068"/>
                </a:lnTo>
                <a:cubicBezTo>
                  <a:pt x="0" y="107482"/>
                  <a:pt x="107482" y="0"/>
                  <a:pt x="240068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Shape 20"/>
          <p:cNvSpPr/>
          <p:nvPr/>
        </p:nvSpPr>
        <p:spPr>
          <a:xfrm>
            <a:off x="6448465" y="1646177"/>
            <a:ext cx="257215" cy="205772"/>
          </a:xfrm>
          <a:custGeom>
            <a:avLst/>
            <a:gdLst/>
            <a:ahLst/>
            <a:cxnLst/>
            <a:rect l="l" t="t" r="r" b="b"/>
            <a:pathLst>
              <a:path w="257215" h="205772">
                <a:moveTo>
                  <a:pt x="141468" y="0"/>
                </a:moveTo>
                <a:cubicBezTo>
                  <a:pt x="141468" y="-7114"/>
                  <a:pt x="135721" y="-12861"/>
                  <a:pt x="128608" y="-12861"/>
                </a:cubicBezTo>
                <a:cubicBezTo>
                  <a:pt x="121494" y="-12861"/>
                  <a:pt x="115747" y="-7114"/>
                  <a:pt x="115747" y="0"/>
                </a:cubicBezTo>
                <a:lnTo>
                  <a:pt x="115747" y="25722"/>
                </a:lnTo>
                <a:lnTo>
                  <a:pt x="77165" y="25722"/>
                </a:lnTo>
                <a:cubicBezTo>
                  <a:pt x="55864" y="25722"/>
                  <a:pt x="38582" y="43003"/>
                  <a:pt x="38582" y="64304"/>
                </a:cubicBezTo>
                <a:lnTo>
                  <a:pt x="38582" y="154329"/>
                </a:lnTo>
                <a:cubicBezTo>
                  <a:pt x="38582" y="175630"/>
                  <a:pt x="55864" y="192911"/>
                  <a:pt x="77165" y="192911"/>
                </a:cubicBezTo>
                <a:lnTo>
                  <a:pt x="180051" y="192911"/>
                </a:lnTo>
                <a:cubicBezTo>
                  <a:pt x="201351" y="192911"/>
                  <a:pt x="218633" y="175630"/>
                  <a:pt x="218633" y="154329"/>
                </a:cubicBezTo>
                <a:lnTo>
                  <a:pt x="218633" y="64304"/>
                </a:lnTo>
                <a:cubicBezTo>
                  <a:pt x="218633" y="43003"/>
                  <a:pt x="201351" y="25722"/>
                  <a:pt x="180051" y="25722"/>
                </a:cubicBezTo>
                <a:lnTo>
                  <a:pt x="141468" y="25722"/>
                </a:lnTo>
                <a:lnTo>
                  <a:pt x="141468" y="0"/>
                </a:lnTo>
                <a:close/>
                <a:moveTo>
                  <a:pt x="64304" y="147899"/>
                </a:moveTo>
                <a:cubicBezTo>
                  <a:pt x="64304" y="142553"/>
                  <a:pt x="68604" y="138253"/>
                  <a:pt x="73949" y="138253"/>
                </a:cubicBezTo>
                <a:lnTo>
                  <a:pt x="86810" y="138253"/>
                </a:lnTo>
                <a:cubicBezTo>
                  <a:pt x="92155" y="138253"/>
                  <a:pt x="96456" y="142553"/>
                  <a:pt x="96456" y="147899"/>
                </a:cubicBezTo>
                <a:cubicBezTo>
                  <a:pt x="96456" y="153244"/>
                  <a:pt x="92155" y="157544"/>
                  <a:pt x="86810" y="157544"/>
                </a:cubicBezTo>
                <a:lnTo>
                  <a:pt x="73949" y="157544"/>
                </a:lnTo>
                <a:cubicBezTo>
                  <a:pt x="68604" y="157544"/>
                  <a:pt x="64304" y="153244"/>
                  <a:pt x="64304" y="147899"/>
                </a:cubicBezTo>
                <a:close/>
                <a:moveTo>
                  <a:pt x="112532" y="147899"/>
                </a:moveTo>
                <a:cubicBezTo>
                  <a:pt x="112532" y="142553"/>
                  <a:pt x="116832" y="138253"/>
                  <a:pt x="122177" y="138253"/>
                </a:cubicBezTo>
                <a:lnTo>
                  <a:pt x="135038" y="138253"/>
                </a:lnTo>
                <a:cubicBezTo>
                  <a:pt x="140383" y="138253"/>
                  <a:pt x="144684" y="142553"/>
                  <a:pt x="144684" y="147899"/>
                </a:cubicBezTo>
                <a:cubicBezTo>
                  <a:pt x="144684" y="153244"/>
                  <a:pt x="140383" y="157544"/>
                  <a:pt x="135038" y="157544"/>
                </a:cubicBezTo>
                <a:lnTo>
                  <a:pt x="122177" y="157544"/>
                </a:lnTo>
                <a:cubicBezTo>
                  <a:pt x="116832" y="157544"/>
                  <a:pt x="112532" y="153244"/>
                  <a:pt x="112532" y="147899"/>
                </a:cubicBezTo>
                <a:close/>
                <a:moveTo>
                  <a:pt x="160759" y="147899"/>
                </a:moveTo>
                <a:cubicBezTo>
                  <a:pt x="160759" y="142553"/>
                  <a:pt x="165060" y="138253"/>
                  <a:pt x="170405" y="138253"/>
                </a:cubicBezTo>
                <a:lnTo>
                  <a:pt x="183266" y="138253"/>
                </a:lnTo>
                <a:cubicBezTo>
                  <a:pt x="188611" y="138253"/>
                  <a:pt x="192911" y="142553"/>
                  <a:pt x="192911" y="147899"/>
                </a:cubicBezTo>
                <a:cubicBezTo>
                  <a:pt x="192911" y="153244"/>
                  <a:pt x="188611" y="157544"/>
                  <a:pt x="183266" y="157544"/>
                </a:cubicBezTo>
                <a:lnTo>
                  <a:pt x="170405" y="157544"/>
                </a:lnTo>
                <a:cubicBezTo>
                  <a:pt x="165060" y="157544"/>
                  <a:pt x="160759" y="153244"/>
                  <a:pt x="160759" y="147899"/>
                </a:cubicBezTo>
                <a:close/>
                <a:moveTo>
                  <a:pt x="90025" y="70734"/>
                </a:moveTo>
                <a:cubicBezTo>
                  <a:pt x="100672" y="70734"/>
                  <a:pt x="109316" y="79378"/>
                  <a:pt x="109316" y="90025"/>
                </a:cubicBezTo>
                <a:cubicBezTo>
                  <a:pt x="109316" y="100672"/>
                  <a:pt x="100672" y="109316"/>
                  <a:pt x="90025" y="109316"/>
                </a:cubicBezTo>
                <a:cubicBezTo>
                  <a:pt x="79378" y="109316"/>
                  <a:pt x="70734" y="100672"/>
                  <a:pt x="70734" y="90025"/>
                </a:cubicBezTo>
                <a:cubicBezTo>
                  <a:pt x="70734" y="79378"/>
                  <a:pt x="79378" y="70734"/>
                  <a:pt x="90025" y="70734"/>
                </a:cubicBezTo>
                <a:close/>
                <a:moveTo>
                  <a:pt x="147899" y="90025"/>
                </a:moveTo>
                <a:cubicBezTo>
                  <a:pt x="147899" y="79378"/>
                  <a:pt x="156543" y="70734"/>
                  <a:pt x="167190" y="70734"/>
                </a:cubicBezTo>
                <a:cubicBezTo>
                  <a:pt x="177837" y="70734"/>
                  <a:pt x="186481" y="79378"/>
                  <a:pt x="186481" y="90025"/>
                </a:cubicBezTo>
                <a:cubicBezTo>
                  <a:pt x="186481" y="100672"/>
                  <a:pt x="177837" y="109316"/>
                  <a:pt x="167190" y="109316"/>
                </a:cubicBezTo>
                <a:cubicBezTo>
                  <a:pt x="156543" y="109316"/>
                  <a:pt x="147899" y="100672"/>
                  <a:pt x="147899" y="90025"/>
                </a:cubicBezTo>
                <a:close/>
                <a:moveTo>
                  <a:pt x="25722" y="90025"/>
                </a:moveTo>
                <a:cubicBezTo>
                  <a:pt x="25722" y="82912"/>
                  <a:pt x="19974" y="77165"/>
                  <a:pt x="12861" y="77165"/>
                </a:cubicBezTo>
                <a:cubicBezTo>
                  <a:pt x="5747" y="77165"/>
                  <a:pt x="0" y="82912"/>
                  <a:pt x="0" y="90025"/>
                </a:cubicBezTo>
                <a:lnTo>
                  <a:pt x="0" y="128608"/>
                </a:lnTo>
                <a:cubicBezTo>
                  <a:pt x="0" y="135721"/>
                  <a:pt x="5747" y="141468"/>
                  <a:pt x="12861" y="141468"/>
                </a:cubicBezTo>
                <a:cubicBezTo>
                  <a:pt x="19974" y="141468"/>
                  <a:pt x="25722" y="135721"/>
                  <a:pt x="25722" y="128608"/>
                </a:cubicBezTo>
                <a:lnTo>
                  <a:pt x="25722" y="90025"/>
                </a:lnTo>
                <a:close/>
                <a:moveTo>
                  <a:pt x="244354" y="77165"/>
                </a:moveTo>
                <a:cubicBezTo>
                  <a:pt x="237241" y="77165"/>
                  <a:pt x="231494" y="82912"/>
                  <a:pt x="231494" y="90025"/>
                </a:cubicBezTo>
                <a:lnTo>
                  <a:pt x="231494" y="128608"/>
                </a:lnTo>
                <a:cubicBezTo>
                  <a:pt x="231494" y="135721"/>
                  <a:pt x="237241" y="141468"/>
                  <a:pt x="244354" y="141468"/>
                </a:cubicBezTo>
                <a:cubicBezTo>
                  <a:pt x="251468" y="141468"/>
                  <a:pt x="257215" y="135721"/>
                  <a:pt x="257215" y="128608"/>
                </a:cubicBezTo>
                <a:lnTo>
                  <a:pt x="257215" y="90025"/>
                </a:lnTo>
                <a:cubicBezTo>
                  <a:pt x="257215" y="82912"/>
                  <a:pt x="251468" y="77165"/>
                  <a:pt x="244354" y="77165"/>
                </a:cubicBezTo>
                <a:close/>
              </a:path>
            </a:pathLst>
          </a:custGeom>
          <a:solidFill>
            <a:srgbClr val="1A535C"/>
          </a:solidFill>
        </p:spPr>
      </p:sp>
      <p:sp>
        <p:nvSpPr>
          <p:cNvPr id="23" name="Text 21"/>
          <p:cNvSpPr/>
          <p:nvPr/>
        </p:nvSpPr>
        <p:spPr>
          <a:xfrm>
            <a:off x="6920026" y="1526143"/>
            <a:ext cx="2254920" cy="274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GAIA + 知识库解决方案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920026" y="1800506"/>
            <a:ext cx="2212051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FFFFFF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智能合规，降低风险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57039" y="2263494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68591" y="47156"/>
                </a:moveTo>
                <a:cubicBezTo>
                  <a:pt x="63848" y="47156"/>
                  <a:pt x="60017" y="50988"/>
                  <a:pt x="60017" y="55730"/>
                </a:cubicBezTo>
                <a:cubicBezTo>
                  <a:pt x="60017" y="59293"/>
                  <a:pt x="57150" y="62160"/>
                  <a:pt x="53586" y="62160"/>
                </a:cubicBezTo>
                <a:cubicBezTo>
                  <a:pt x="50023" y="62160"/>
                  <a:pt x="47156" y="59293"/>
                  <a:pt x="47156" y="55730"/>
                </a:cubicBezTo>
                <a:cubicBezTo>
                  <a:pt x="47156" y="43887"/>
                  <a:pt x="56748" y="34295"/>
                  <a:pt x="68591" y="34295"/>
                </a:cubicBezTo>
                <a:cubicBezTo>
                  <a:pt x="80433" y="34295"/>
                  <a:pt x="90025" y="43887"/>
                  <a:pt x="90025" y="55730"/>
                </a:cubicBezTo>
                <a:cubicBezTo>
                  <a:pt x="90025" y="68376"/>
                  <a:pt x="80380" y="73735"/>
                  <a:pt x="75021" y="75691"/>
                </a:cubicBezTo>
                <a:lnTo>
                  <a:pt x="75021" y="76709"/>
                </a:lnTo>
                <a:cubicBezTo>
                  <a:pt x="75021" y="80273"/>
                  <a:pt x="72154" y="83139"/>
                  <a:pt x="68591" y="83139"/>
                </a:cubicBezTo>
                <a:cubicBezTo>
                  <a:pt x="65027" y="83139"/>
                  <a:pt x="62160" y="80273"/>
                  <a:pt x="62160" y="76709"/>
                </a:cubicBezTo>
                <a:lnTo>
                  <a:pt x="62160" y="74539"/>
                </a:lnTo>
                <a:cubicBezTo>
                  <a:pt x="62160" y="69046"/>
                  <a:pt x="66126" y="65108"/>
                  <a:pt x="70225" y="63768"/>
                </a:cubicBezTo>
                <a:cubicBezTo>
                  <a:pt x="71940" y="63205"/>
                  <a:pt x="73762" y="62294"/>
                  <a:pt x="75101" y="61008"/>
                </a:cubicBezTo>
                <a:cubicBezTo>
                  <a:pt x="76254" y="59883"/>
                  <a:pt x="77165" y="58329"/>
                  <a:pt x="77165" y="55757"/>
                </a:cubicBezTo>
                <a:cubicBezTo>
                  <a:pt x="77165" y="51014"/>
                  <a:pt x="73333" y="47183"/>
                  <a:pt x="68591" y="47183"/>
                </a:cubicBezTo>
                <a:close/>
                <a:moveTo>
                  <a:pt x="60017" y="98599"/>
                </a:moveTo>
                <a:cubicBezTo>
                  <a:pt x="60017" y="93867"/>
                  <a:pt x="63859" y="90025"/>
                  <a:pt x="68591" y="90025"/>
                </a:cubicBezTo>
                <a:cubicBezTo>
                  <a:pt x="73323" y="90025"/>
                  <a:pt x="77165" y="93867"/>
                  <a:pt x="77165" y="98599"/>
                </a:cubicBezTo>
                <a:cubicBezTo>
                  <a:pt x="77165" y="103331"/>
                  <a:pt x="73323" y="107173"/>
                  <a:pt x="68591" y="107173"/>
                </a:cubicBezTo>
                <a:cubicBezTo>
                  <a:pt x="63859" y="107173"/>
                  <a:pt x="60017" y="103331"/>
                  <a:pt x="60017" y="98599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27" name="Text 25"/>
          <p:cNvSpPr/>
          <p:nvPr/>
        </p:nvSpPr>
        <p:spPr>
          <a:xfrm>
            <a:off x="6657674" y="2229198"/>
            <a:ext cx="4986538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提问示例</a:t>
            </a:r>
            <a:endParaRPr lang="en-US" sz="108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39891" y="2503561"/>
            <a:ext cx="5135730" cy="480135"/>
          </a:xfrm>
          <a:custGeom>
            <a:avLst/>
            <a:gdLst/>
            <a:ahLst/>
            <a:cxnLst/>
            <a:rect l="l" t="t" r="r" b="b"/>
            <a:pathLst>
              <a:path w="5135730" h="480135">
                <a:moveTo>
                  <a:pt x="34296" y="0"/>
                </a:moveTo>
                <a:lnTo>
                  <a:pt x="5101434" y="0"/>
                </a:lnTo>
                <a:cubicBezTo>
                  <a:pt x="5120375" y="0"/>
                  <a:pt x="5135730" y="15355"/>
                  <a:pt x="5135730" y="34296"/>
                </a:cubicBezTo>
                <a:lnTo>
                  <a:pt x="5135730" y="445839"/>
                </a:lnTo>
                <a:cubicBezTo>
                  <a:pt x="5135730" y="464780"/>
                  <a:pt x="5120375" y="480135"/>
                  <a:pt x="5101434" y="480135"/>
                </a:cubicBezTo>
                <a:lnTo>
                  <a:pt x="34296" y="480135"/>
                </a:lnTo>
                <a:cubicBezTo>
                  <a:pt x="15355" y="480135"/>
                  <a:pt x="0" y="464780"/>
                  <a:pt x="0" y="445839"/>
                </a:cubicBezTo>
                <a:lnTo>
                  <a:pt x="0" y="34296"/>
                </a:lnTo>
                <a:cubicBezTo>
                  <a:pt x="0" y="15368"/>
                  <a:pt x="15368" y="0"/>
                  <a:pt x="34296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9" name="Text 27"/>
          <p:cNvSpPr/>
          <p:nvPr/>
        </p:nvSpPr>
        <p:spPr>
          <a:xfrm>
            <a:off x="6439891" y="2503561"/>
            <a:ext cx="5195747" cy="480135"/>
          </a:xfrm>
          <a:prstGeom prst="rect">
            <a:avLst/>
          </a:prstGeom>
          <a:noFill/>
        </p:spPr>
        <p:txBody>
          <a:bodyPr wrap="square" lIns="68591" tIns="68591" rIns="68591" bIns="68591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"数据合作协议中的个人信息跨境传输条款，宝马集团的标准要求和《个人信息保护法》有哪些合规要点需要特别关注？"</a:t>
            </a:r>
            <a:endParaRPr lang="en-US" sz="945" dirty="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74460" y="3567430"/>
            <a:ext cx="5100955" cy="685165"/>
          </a:xfrm>
          <a:custGeom>
            <a:avLst/>
            <a:gdLst/>
            <a:ahLst/>
            <a:cxnLst/>
            <a:rect l="l" t="t" r="r" b="b"/>
            <a:pathLst>
              <a:path w="5341502" h="1063156">
                <a:moveTo>
                  <a:pt x="68595" y="0"/>
                </a:moveTo>
                <a:lnTo>
                  <a:pt x="5272907" y="0"/>
                </a:lnTo>
                <a:cubicBezTo>
                  <a:pt x="5310791" y="0"/>
                  <a:pt x="5341502" y="30711"/>
                  <a:pt x="5341502" y="68595"/>
                </a:cubicBezTo>
                <a:lnTo>
                  <a:pt x="5341502" y="994561"/>
                </a:lnTo>
                <a:cubicBezTo>
                  <a:pt x="5341502" y="1032445"/>
                  <a:pt x="5310791" y="1063156"/>
                  <a:pt x="5272907" y="1063156"/>
                </a:cubicBezTo>
                <a:lnTo>
                  <a:pt x="68595" y="1063156"/>
                </a:lnTo>
                <a:cubicBezTo>
                  <a:pt x="30711" y="1063156"/>
                  <a:pt x="0" y="1032445"/>
                  <a:pt x="0" y="994561"/>
                </a:cubicBezTo>
                <a:lnTo>
                  <a:pt x="0" y="68595"/>
                </a:lnTo>
                <a:cubicBezTo>
                  <a:pt x="0" y="30736"/>
                  <a:pt x="30736" y="0"/>
                  <a:pt x="68595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" name="Shape 29"/>
          <p:cNvSpPr/>
          <p:nvPr/>
        </p:nvSpPr>
        <p:spPr>
          <a:xfrm>
            <a:off x="6439891" y="3326650"/>
            <a:ext cx="171477" cy="137181"/>
          </a:xfrm>
          <a:custGeom>
            <a:avLst/>
            <a:gdLst/>
            <a:ahLst/>
            <a:cxnLst/>
            <a:rect l="l" t="t" r="r" b="b"/>
            <a:pathLst>
              <a:path w="171477" h="137181">
                <a:moveTo>
                  <a:pt x="111433" y="56400"/>
                </a:moveTo>
                <a:cubicBezTo>
                  <a:pt x="114702" y="55516"/>
                  <a:pt x="118131" y="57070"/>
                  <a:pt x="119605" y="60097"/>
                </a:cubicBezTo>
                <a:lnTo>
                  <a:pt x="124589" y="70172"/>
                </a:lnTo>
                <a:cubicBezTo>
                  <a:pt x="127348" y="70547"/>
                  <a:pt x="130054" y="71297"/>
                  <a:pt x="132600" y="72342"/>
                </a:cubicBezTo>
                <a:lnTo>
                  <a:pt x="141977" y="66099"/>
                </a:lnTo>
                <a:cubicBezTo>
                  <a:pt x="144791" y="64223"/>
                  <a:pt x="148515" y="64599"/>
                  <a:pt x="150900" y="66983"/>
                </a:cubicBezTo>
                <a:lnTo>
                  <a:pt x="156044" y="72127"/>
                </a:lnTo>
                <a:cubicBezTo>
                  <a:pt x="158428" y="74512"/>
                  <a:pt x="158804" y="78263"/>
                  <a:pt x="156928" y="81050"/>
                </a:cubicBezTo>
                <a:lnTo>
                  <a:pt x="150685" y="90400"/>
                </a:lnTo>
                <a:cubicBezTo>
                  <a:pt x="151194" y="91660"/>
                  <a:pt x="151650" y="92973"/>
                  <a:pt x="152025" y="94339"/>
                </a:cubicBezTo>
                <a:cubicBezTo>
                  <a:pt x="152400" y="95705"/>
                  <a:pt x="152641" y="97045"/>
                  <a:pt x="152829" y="98412"/>
                </a:cubicBezTo>
                <a:lnTo>
                  <a:pt x="162930" y="103395"/>
                </a:lnTo>
                <a:cubicBezTo>
                  <a:pt x="165957" y="104896"/>
                  <a:pt x="167511" y="108325"/>
                  <a:pt x="166627" y="111567"/>
                </a:cubicBezTo>
                <a:lnTo>
                  <a:pt x="164752" y="118587"/>
                </a:lnTo>
                <a:cubicBezTo>
                  <a:pt x="163868" y="121829"/>
                  <a:pt x="160840" y="124026"/>
                  <a:pt x="157464" y="123812"/>
                </a:cubicBezTo>
                <a:lnTo>
                  <a:pt x="146211" y="123088"/>
                </a:lnTo>
                <a:cubicBezTo>
                  <a:pt x="144523" y="125258"/>
                  <a:pt x="142567" y="127268"/>
                  <a:pt x="140343" y="128983"/>
                </a:cubicBezTo>
                <a:lnTo>
                  <a:pt x="141066" y="140209"/>
                </a:lnTo>
                <a:cubicBezTo>
                  <a:pt x="141281" y="143585"/>
                  <a:pt x="139084" y="146639"/>
                  <a:pt x="135842" y="147497"/>
                </a:cubicBezTo>
                <a:lnTo>
                  <a:pt x="128822" y="149372"/>
                </a:lnTo>
                <a:cubicBezTo>
                  <a:pt x="125553" y="150257"/>
                  <a:pt x="122150" y="148703"/>
                  <a:pt x="120650" y="145675"/>
                </a:cubicBezTo>
                <a:lnTo>
                  <a:pt x="115666" y="135601"/>
                </a:lnTo>
                <a:cubicBezTo>
                  <a:pt x="112907" y="135226"/>
                  <a:pt x="110201" y="134475"/>
                  <a:pt x="107655" y="133430"/>
                </a:cubicBezTo>
                <a:lnTo>
                  <a:pt x="98278" y="139673"/>
                </a:lnTo>
                <a:cubicBezTo>
                  <a:pt x="95464" y="141549"/>
                  <a:pt x="91740" y="141174"/>
                  <a:pt x="89355" y="138789"/>
                </a:cubicBezTo>
                <a:lnTo>
                  <a:pt x="84211" y="133645"/>
                </a:lnTo>
                <a:cubicBezTo>
                  <a:pt x="81827" y="131260"/>
                  <a:pt x="81451" y="127536"/>
                  <a:pt x="83327" y="124723"/>
                </a:cubicBezTo>
                <a:lnTo>
                  <a:pt x="89570" y="115345"/>
                </a:lnTo>
                <a:cubicBezTo>
                  <a:pt x="89061" y="114086"/>
                  <a:pt x="88605" y="112773"/>
                  <a:pt x="88230" y="111406"/>
                </a:cubicBezTo>
                <a:cubicBezTo>
                  <a:pt x="87855" y="110040"/>
                  <a:pt x="87614" y="108673"/>
                  <a:pt x="87426" y="107334"/>
                </a:cubicBezTo>
                <a:lnTo>
                  <a:pt x="77325" y="102350"/>
                </a:lnTo>
                <a:cubicBezTo>
                  <a:pt x="74298" y="100850"/>
                  <a:pt x="72770" y="97420"/>
                  <a:pt x="73628" y="94178"/>
                </a:cubicBezTo>
                <a:lnTo>
                  <a:pt x="75503" y="87158"/>
                </a:lnTo>
                <a:cubicBezTo>
                  <a:pt x="76388" y="83916"/>
                  <a:pt x="79415" y="81719"/>
                  <a:pt x="82791" y="81934"/>
                </a:cubicBezTo>
                <a:lnTo>
                  <a:pt x="94018" y="82657"/>
                </a:lnTo>
                <a:cubicBezTo>
                  <a:pt x="95705" y="80487"/>
                  <a:pt x="97661" y="78477"/>
                  <a:pt x="99885" y="76763"/>
                </a:cubicBezTo>
                <a:lnTo>
                  <a:pt x="99162" y="65563"/>
                </a:lnTo>
                <a:cubicBezTo>
                  <a:pt x="98947" y="62187"/>
                  <a:pt x="101145" y="59133"/>
                  <a:pt x="104386" y="58275"/>
                </a:cubicBezTo>
                <a:lnTo>
                  <a:pt x="111406" y="56400"/>
                </a:lnTo>
                <a:close/>
                <a:moveTo>
                  <a:pt x="120141" y="91097"/>
                </a:moveTo>
                <a:cubicBezTo>
                  <a:pt x="113634" y="91104"/>
                  <a:pt x="108358" y="96393"/>
                  <a:pt x="108365" y="102899"/>
                </a:cubicBezTo>
                <a:cubicBezTo>
                  <a:pt x="108373" y="109406"/>
                  <a:pt x="113661" y="114682"/>
                  <a:pt x="120168" y="114675"/>
                </a:cubicBezTo>
                <a:cubicBezTo>
                  <a:pt x="126674" y="114668"/>
                  <a:pt x="131951" y="109379"/>
                  <a:pt x="131943" y="102873"/>
                </a:cubicBezTo>
                <a:cubicBezTo>
                  <a:pt x="131936" y="96366"/>
                  <a:pt x="126647" y="91090"/>
                  <a:pt x="120141" y="91097"/>
                </a:cubicBezTo>
                <a:close/>
                <a:moveTo>
                  <a:pt x="60258" y="-12191"/>
                </a:moveTo>
                <a:lnTo>
                  <a:pt x="67278" y="-10315"/>
                </a:lnTo>
                <a:cubicBezTo>
                  <a:pt x="70520" y="-9431"/>
                  <a:pt x="72717" y="-6377"/>
                  <a:pt x="72503" y="-3028"/>
                </a:cubicBezTo>
                <a:lnTo>
                  <a:pt x="71779" y="8172"/>
                </a:lnTo>
                <a:cubicBezTo>
                  <a:pt x="74003" y="9887"/>
                  <a:pt x="75959" y="11869"/>
                  <a:pt x="77647" y="14066"/>
                </a:cubicBezTo>
                <a:lnTo>
                  <a:pt x="88900" y="13343"/>
                </a:lnTo>
                <a:cubicBezTo>
                  <a:pt x="92249" y="13129"/>
                  <a:pt x="95304" y="15326"/>
                  <a:pt x="96188" y="18568"/>
                </a:cubicBezTo>
                <a:lnTo>
                  <a:pt x="98063" y="25588"/>
                </a:lnTo>
                <a:cubicBezTo>
                  <a:pt x="98921" y="28830"/>
                  <a:pt x="97393" y="32259"/>
                  <a:pt x="94366" y="33759"/>
                </a:cubicBezTo>
                <a:lnTo>
                  <a:pt x="84265" y="38743"/>
                </a:lnTo>
                <a:cubicBezTo>
                  <a:pt x="84077" y="40109"/>
                  <a:pt x="83809" y="41476"/>
                  <a:pt x="83461" y="42816"/>
                </a:cubicBezTo>
                <a:cubicBezTo>
                  <a:pt x="83113" y="44155"/>
                  <a:pt x="82630" y="45495"/>
                  <a:pt x="82121" y="46754"/>
                </a:cubicBezTo>
                <a:lnTo>
                  <a:pt x="88364" y="56132"/>
                </a:lnTo>
                <a:cubicBezTo>
                  <a:pt x="90240" y="58945"/>
                  <a:pt x="89865" y="62669"/>
                  <a:pt x="87480" y="65054"/>
                </a:cubicBezTo>
                <a:lnTo>
                  <a:pt x="82336" y="70198"/>
                </a:lnTo>
                <a:cubicBezTo>
                  <a:pt x="79951" y="72583"/>
                  <a:pt x="76227" y="72958"/>
                  <a:pt x="73414" y="71082"/>
                </a:cubicBezTo>
                <a:lnTo>
                  <a:pt x="64036" y="64840"/>
                </a:lnTo>
                <a:cubicBezTo>
                  <a:pt x="61491" y="65885"/>
                  <a:pt x="58784" y="66635"/>
                  <a:pt x="56025" y="67010"/>
                </a:cubicBezTo>
                <a:lnTo>
                  <a:pt x="51041" y="77084"/>
                </a:lnTo>
                <a:cubicBezTo>
                  <a:pt x="49541" y="80112"/>
                  <a:pt x="46111" y="81639"/>
                  <a:pt x="42869" y="80782"/>
                </a:cubicBezTo>
                <a:lnTo>
                  <a:pt x="35849" y="78906"/>
                </a:lnTo>
                <a:cubicBezTo>
                  <a:pt x="32581" y="78022"/>
                  <a:pt x="30410" y="74968"/>
                  <a:pt x="30625" y="71618"/>
                </a:cubicBezTo>
                <a:lnTo>
                  <a:pt x="31348" y="60392"/>
                </a:lnTo>
                <a:cubicBezTo>
                  <a:pt x="29124" y="58677"/>
                  <a:pt x="27168" y="56695"/>
                  <a:pt x="25480" y="54497"/>
                </a:cubicBezTo>
                <a:lnTo>
                  <a:pt x="14227" y="55221"/>
                </a:lnTo>
                <a:cubicBezTo>
                  <a:pt x="10878" y="55435"/>
                  <a:pt x="7824" y="53238"/>
                  <a:pt x="6939" y="49996"/>
                </a:cubicBezTo>
                <a:lnTo>
                  <a:pt x="5064" y="42976"/>
                </a:lnTo>
                <a:cubicBezTo>
                  <a:pt x="4207" y="39734"/>
                  <a:pt x="5734" y="36305"/>
                  <a:pt x="8761" y="34804"/>
                </a:cubicBezTo>
                <a:lnTo>
                  <a:pt x="18862" y="29821"/>
                </a:lnTo>
                <a:cubicBezTo>
                  <a:pt x="19050" y="28454"/>
                  <a:pt x="19318" y="27115"/>
                  <a:pt x="19666" y="25748"/>
                </a:cubicBezTo>
                <a:cubicBezTo>
                  <a:pt x="20041" y="24382"/>
                  <a:pt x="20470" y="23069"/>
                  <a:pt x="21006" y="21810"/>
                </a:cubicBezTo>
                <a:lnTo>
                  <a:pt x="14763" y="12459"/>
                </a:lnTo>
                <a:cubicBezTo>
                  <a:pt x="12888" y="9646"/>
                  <a:pt x="13263" y="5921"/>
                  <a:pt x="15647" y="3537"/>
                </a:cubicBezTo>
                <a:lnTo>
                  <a:pt x="20792" y="-1608"/>
                </a:lnTo>
                <a:cubicBezTo>
                  <a:pt x="23176" y="-3992"/>
                  <a:pt x="26900" y="-4367"/>
                  <a:pt x="29714" y="-2492"/>
                </a:cubicBezTo>
                <a:lnTo>
                  <a:pt x="39091" y="3751"/>
                </a:lnTo>
                <a:cubicBezTo>
                  <a:pt x="41637" y="2706"/>
                  <a:pt x="44343" y="1956"/>
                  <a:pt x="47103" y="1581"/>
                </a:cubicBezTo>
                <a:lnTo>
                  <a:pt x="52086" y="-8493"/>
                </a:lnTo>
                <a:cubicBezTo>
                  <a:pt x="53586" y="-11521"/>
                  <a:pt x="56989" y="-13048"/>
                  <a:pt x="60258" y="-12191"/>
                </a:cubicBezTo>
                <a:close/>
                <a:moveTo>
                  <a:pt x="51550" y="22506"/>
                </a:moveTo>
                <a:cubicBezTo>
                  <a:pt x="45044" y="22506"/>
                  <a:pt x="39761" y="27789"/>
                  <a:pt x="39761" y="34295"/>
                </a:cubicBezTo>
                <a:cubicBezTo>
                  <a:pt x="39761" y="40802"/>
                  <a:pt x="45044" y="46084"/>
                  <a:pt x="51550" y="46084"/>
                </a:cubicBezTo>
                <a:cubicBezTo>
                  <a:pt x="58057" y="46084"/>
                  <a:pt x="63339" y="40802"/>
                  <a:pt x="63339" y="34295"/>
                </a:cubicBezTo>
                <a:cubicBezTo>
                  <a:pt x="63339" y="27789"/>
                  <a:pt x="58057" y="22506"/>
                  <a:pt x="51550" y="22506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32" name="Text 30"/>
          <p:cNvSpPr/>
          <p:nvPr/>
        </p:nvSpPr>
        <p:spPr>
          <a:xfrm>
            <a:off x="6657674" y="3292354"/>
            <a:ext cx="4986538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GAIA动作</a:t>
            </a:r>
            <a:endParaRPr lang="en-US" sz="108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0" name="Text 31"/>
          <p:cNvSpPr/>
          <p:nvPr/>
        </p:nvSpPr>
        <p:spPr>
          <a:xfrm>
            <a:off x="6577330" y="3566795"/>
            <a:ext cx="4839970" cy="683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945" dirty="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检索《BMW Group Data Protection Standard》</a:t>
            </a:r>
            <a:endParaRPr lang="en-US" sz="1600" dirty="0">
              <a:solidFill>
                <a:schemeClr val="bg1"/>
              </a:solidFill>
              <a:cs typeface="BMWGroupTN Condensed TT Light" charset="0"/>
            </a:endParaRPr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945" dirty="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检索《个人信息保护法合规指引》</a:t>
            </a:r>
            <a:endParaRPr lang="en-US" sz="1600" dirty="0">
              <a:solidFill>
                <a:schemeClr val="bg1"/>
              </a:solidFill>
              <a:cs typeface="BMWGroupTN Condensed TT Light" charset="0"/>
            </a:endParaRPr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945" dirty="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检索历史合同审核案例</a:t>
            </a:r>
            <a:endParaRPr lang="en-US" sz="945" dirty="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1" name="Shape 32"/>
          <p:cNvSpPr/>
          <p:nvPr/>
        </p:nvSpPr>
        <p:spPr>
          <a:xfrm>
            <a:off x="6445885" y="4712970"/>
            <a:ext cx="5100955" cy="1116965"/>
          </a:xfrm>
          <a:custGeom>
            <a:avLst/>
            <a:gdLst/>
            <a:ahLst/>
            <a:cxnLst/>
            <a:rect l="l" t="t" r="r" b="b"/>
            <a:pathLst>
              <a:path w="5341502" h="1474700">
                <a:moveTo>
                  <a:pt x="68588" y="0"/>
                </a:moveTo>
                <a:lnTo>
                  <a:pt x="5272914" y="0"/>
                </a:lnTo>
                <a:cubicBezTo>
                  <a:pt x="5310794" y="0"/>
                  <a:pt x="5341502" y="30708"/>
                  <a:pt x="5341502" y="68588"/>
                </a:cubicBezTo>
                <a:lnTo>
                  <a:pt x="5341502" y="1406112"/>
                </a:lnTo>
                <a:cubicBezTo>
                  <a:pt x="5341502" y="1443992"/>
                  <a:pt x="5310794" y="1474700"/>
                  <a:pt x="5272914" y="1474700"/>
                </a:cubicBezTo>
                <a:lnTo>
                  <a:pt x="68588" y="1474700"/>
                </a:lnTo>
                <a:cubicBezTo>
                  <a:pt x="30708" y="1474700"/>
                  <a:pt x="0" y="1443992"/>
                  <a:pt x="0" y="1406112"/>
                </a:cubicBezTo>
                <a:lnTo>
                  <a:pt x="0" y="68588"/>
                </a:lnTo>
                <a:cubicBezTo>
                  <a:pt x="0" y="30708"/>
                  <a:pt x="30708" y="0"/>
                  <a:pt x="68588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4" name="Shape 33"/>
          <p:cNvSpPr/>
          <p:nvPr/>
        </p:nvSpPr>
        <p:spPr>
          <a:xfrm>
            <a:off x="6474187" y="4492692"/>
            <a:ext cx="102886" cy="137181"/>
          </a:xfrm>
          <a:custGeom>
            <a:avLst/>
            <a:gdLst/>
            <a:ahLst/>
            <a:cxnLst/>
            <a:rect l="l" t="t" r="r" b="b"/>
            <a:pathLst>
              <a:path w="102886" h="137181">
                <a:moveTo>
                  <a:pt x="0" y="17148"/>
                </a:moveTo>
                <a:cubicBezTo>
                  <a:pt x="0" y="7690"/>
                  <a:pt x="7690" y="0"/>
                  <a:pt x="17148" y="0"/>
                </a:cubicBezTo>
                <a:lnTo>
                  <a:pt x="57204" y="0"/>
                </a:lnTo>
                <a:cubicBezTo>
                  <a:pt x="61758" y="0"/>
                  <a:pt x="66126" y="1795"/>
                  <a:pt x="69341" y="5010"/>
                </a:cubicBezTo>
                <a:lnTo>
                  <a:pt x="97876" y="33572"/>
                </a:lnTo>
                <a:cubicBezTo>
                  <a:pt x="101091" y="36787"/>
                  <a:pt x="102886" y="41154"/>
                  <a:pt x="102886" y="45709"/>
                </a:cubicBezTo>
                <a:lnTo>
                  <a:pt x="102886" y="120034"/>
                </a:lnTo>
                <a:cubicBezTo>
                  <a:pt x="102886" y="129492"/>
                  <a:pt x="95196" y="137181"/>
                  <a:pt x="85738" y="137181"/>
                </a:cubicBezTo>
                <a:lnTo>
                  <a:pt x="17148" y="137181"/>
                </a:lnTo>
                <a:cubicBezTo>
                  <a:pt x="7690" y="137181"/>
                  <a:pt x="0" y="129492"/>
                  <a:pt x="0" y="120034"/>
                </a:cubicBezTo>
                <a:lnTo>
                  <a:pt x="0" y="17148"/>
                </a:lnTo>
                <a:close/>
                <a:moveTo>
                  <a:pt x="55730" y="15674"/>
                </a:moveTo>
                <a:lnTo>
                  <a:pt x="55730" y="40726"/>
                </a:lnTo>
                <a:cubicBezTo>
                  <a:pt x="55730" y="44289"/>
                  <a:pt x="58597" y="47156"/>
                  <a:pt x="62160" y="47156"/>
                </a:cubicBezTo>
                <a:lnTo>
                  <a:pt x="87212" y="47156"/>
                </a:lnTo>
                <a:lnTo>
                  <a:pt x="55730" y="15674"/>
                </a:lnTo>
                <a:close/>
                <a:moveTo>
                  <a:pt x="32152" y="68591"/>
                </a:moveTo>
                <a:cubicBezTo>
                  <a:pt x="28588" y="68591"/>
                  <a:pt x="25722" y="71458"/>
                  <a:pt x="25722" y="75021"/>
                </a:cubicBezTo>
                <a:cubicBezTo>
                  <a:pt x="25722" y="78585"/>
                  <a:pt x="28588" y="81451"/>
                  <a:pt x="32152" y="81451"/>
                </a:cubicBezTo>
                <a:lnTo>
                  <a:pt x="70734" y="81451"/>
                </a:lnTo>
                <a:cubicBezTo>
                  <a:pt x="74298" y="81451"/>
                  <a:pt x="77165" y="78585"/>
                  <a:pt x="77165" y="75021"/>
                </a:cubicBezTo>
                <a:cubicBezTo>
                  <a:pt x="77165" y="71458"/>
                  <a:pt x="74298" y="68591"/>
                  <a:pt x="70734" y="68591"/>
                </a:cubicBezTo>
                <a:lnTo>
                  <a:pt x="32152" y="68591"/>
                </a:lnTo>
                <a:close/>
                <a:moveTo>
                  <a:pt x="32152" y="94312"/>
                </a:moveTo>
                <a:cubicBezTo>
                  <a:pt x="28588" y="94312"/>
                  <a:pt x="25722" y="97179"/>
                  <a:pt x="25722" y="100743"/>
                </a:cubicBezTo>
                <a:cubicBezTo>
                  <a:pt x="25722" y="104306"/>
                  <a:pt x="28588" y="107173"/>
                  <a:pt x="32152" y="107173"/>
                </a:cubicBezTo>
                <a:lnTo>
                  <a:pt x="70734" y="107173"/>
                </a:lnTo>
                <a:cubicBezTo>
                  <a:pt x="74298" y="107173"/>
                  <a:pt x="77165" y="104306"/>
                  <a:pt x="77165" y="100743"/>
                </a:cubicBezTo>
                <a:cubicBezTo>
                  <a:pt x="77165" y="97179"/>
                  <a:pt x="74298" y="94312"/>
                  <a:pt x="70734" y="94312"/>
                </a:cubicBezTo>
                <a:lnTo>
                  <a:pt x="32152" y="94312"/>
                </a:ln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45" name="Text 34"/>
          <p:cNvSpPr/>
          <p:nvPr/>
        </p:nvSpPr>
        <p:spPr>
          <a:xfrm>
            <a:off x="6657674" y="4458397"/>
            <a:ext cx="4986538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输出结果</a:t>
            </a:r>
            <a:endParaRPr lang="en-US" sz="108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6" name="Text 35"/>
          <p:cNvSpPr/>
          <p:nvPr/>
        </p:nvSpPr>
        <p:spPr>
          <a:xfrm>
            <a:off x="6594475" y="4765675"/>
            <a:ext cx="4840605" cy="138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✓ 跨境传输条款需包含的要素清单</a:t>
            </a:r>
            <a:endParaRPr lang="en-US" sz="945" dirty="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0" name="Text 36"/>
          <p:cNvSpPr/>
          <p:nvPr/>
        </p:nvSpPr>
        <p:spPr>
          <a:xfrm>
            <a:off x="6594475" y="4971415"/>
            <a:ext cx="4840605" cy="138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✓ 明确告知+单独同意要求</a:t>
            </a:r>
            <a:endParaRPr lang="en-US" sz="945" dirty="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2" name="Text 37"/>
          <p:cNvSpPr/>
          <p:nvPr/>
        </p:nvSpPr>
        <p:spPr>
          <a:xfrm>
            <a:off x="6594475" y="5177155"/>
            <a:ext cx="4840605" cy="138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✓ 安全评估要求</a:t>
            </a:r>
            <a:endParaRPr lang="en-US" sz="945" dirty="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8" name="Text 38"/>
          <p:cNvSpPr/>
          <p:nvPr/>
        </p:nvSpPr>
        <p:spPr>
          <a:xfrm>
            <a:off x="6594475" y="5382895"/>
            <a:ext cx="4840605" cy="138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✓ 标准合同条款模板</a:t>
            </a:r>
            <a:endParaRPr lang="en-US" sz="945" dirty="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9" name="Text 39"/>
          <p:cNvSpPr/>
          <p:nvPr/>
        </p:nvSpPr>
        <p:spPr>
          <a:xfrm>
            <a:off x="6594475" y="5588635"/>
            <a:ext cx="4840605" cy="138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chemeClr val="bg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✓ 附上集团标准条款文本供参考</a:t>
            </a:r>
            <a:endParaRPr lang="en-US" sz="945" dirty="0">
              <a:solidFill>
                <a:schemeClr val="bg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1" name="Shape 41"/>
          <p:cNvSpPr/>
          <p:nvPr/>
        </p:nvSpPr>
        <p:spPr>
          <a:xfrm>
            <a:off x="6457039" y="607027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0"/>
                </a:moveTo>
                <a:cubicBezTo>
                  <a:pt x="69823" y="0"/>
                  <a:pt x="71056" y="268"/>
                  <a:pt x="72181" y="777"/>
                </a:cubicBezTo>
                <a:lnTo>
                  <a:pt x="122659" y="22185"/>
                </a:lnTo>
                <a:cubicBezTo>
                  <a:pt x="128554" y="24677"/>
                  <a:pt x="132948" y="30491"/>
                  <a:pt x="132921" y="37511"/>
                </a:cubicBezTo>
                <a:cubicBezTo>
                  <a:pt x="132787" y="64089"/>
                  <a:pt x="121856" y="112719"/>
                  <a:pt x="75691" y="134824"/>
                </a:cubicBezTo>
                <a:cubicBezTo>
                  <a:pt x="71216" y="136967"/>
                  <a:pt x="66019" y="136967"/>
                  <a:pt x="61544" y="134824"/>
                </a:cubicBezTo>
                <a:cubicBezTo>
                  <a:pt x="15353" y="112719"/>
                  <a:pt x="4448" y="64089"/>
                  <a:pt x="4314" y="37511"/>
                </a:cubicBezTo>
                <a:cubicBezTo>
                  <a:pt x="4287" y="30491"/>
                  <a:pt x="8681" y="24677"/>
                  <a:pt x="14576" y="22185"/>
                </a:cubicBezTo>
                <a:lnTo>
                  <a:pt x="65027" y="777"/>
                </a:lnTo>
                <a:cubicBezTo>
                  <a:pt x="66153" y="268"/>
                  <a:pt x="67358" y="0"/>
                  <a:pt x="68591" y="0"/>
                </a:cubicBezTo>
                <a:close/>
                <a:moveTo>
                  <a:pt x="68591" y="17898"/>
                </a:moveTo>
                <a:lnTo>
                  <a:pt x="68591" y="119203"/>
                </a:lnTo>
                <a:cubicBezTo>
                  <a:pt x="105565" y="101305"/>
                  <a:pt x="115506" y="61651"/>
                  <a:pt x="115747" y="37912"/>
                </a:cubicBezTo>
                <a:lnTo>
                  <a:pt x="68591" y="17925"/>
                </a:lnTo>
                <a:lnTo>
                  <a:pt x="68591" y="17925"/>
                </a:lnTo>
                <a:close/>
              </a:path>
            </a:pathLst>
          </a:custGeom>
          <a:solidFill>
            <a:srgbClr val="FF0000"/>
          </a:solidFill>
        </p:spPr>
      </p:sp>
      <p:sp>
        <p:nvSpPr>
          <p:cNvPr id="62" name="Text 42"/>
          <p:cNvSpPr/>
          <p:nvPr/>
        </p:nvSpPr>
        <p:spPr>
          <a:xfrm>
            <a:off x="6657674" y="6035983"/>
            <a:ext cx="4986538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F000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效果：法务审核从"凭记忆+翻文档"变为"系统辅助校验"，降低合规风险</a:t>
            </a:r>
            <a:endParaRPr lang="en-US" sz="1080" b="1" dirty="0">
              <a:solidFill>
                <a:srgbClr val="FF0000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7146290" cy="720090"/>
          </a:xfrm>
        </p:spPr>
        <p:txBody>
          <a:bodyPr vert="horz" wrap="square" lIns="0" tIns="0" rIns="0" bIns="0" rtlCol="0" anchor="b">
            <a:normAutofit fontScale="90000"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检索的艺术：Prompt就是你的"指挥棒"</a:t>
            </a:r>
            <a:endParaRPr lang="zh-CN" altLang="en-US">
              <a:sym typeface="+mn-ea"/>
            </a:endParaRPr>
          </a:p>
        </p:txBody>
      </p:sp>
      <p:sp>
        <p:nvSpPr>
          <p:cNvPr id="16" name="Text 2"/>
          <p:cNvSpPr/>
          <p:nvPr/>
        </p:nvSpPr>
        <p:spPr>
          <a:xfrm>
            <a:off x="378928" y="1098890"/>
            <a:ext cx="11519403" cy="26524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altLang="zh-CN" dirty="0"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通过Prompt技巧提升检索质量和答案准确性</a:t>
            </a:r>
            <a:endParaRPr lang="en-US" altLang="zh-CN" dirty="0">
              <a:latin typeface="BMWGroupTN Condensed TT Light" charset="0"/>
              <a:ea typeface="BMWGroupTN Condensed TT Light" charset="0"/>
              <a:cs typeface="BMWGroupTN Condensed TT Light" charset="0"/>
              <a:sym typeface="+mn-ea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568392" y="1743068"/>
            <a:ext cx="530499" cy="530499"/>
          </a:xfrm>
          <a:custGeom>
            <a:avLst/>
            <a:gdLst/>
            <a:ahLst/>
            <a:cxnLst/>
            <a:rect l="l" t="t" r="r" b="b"/>
            <a:pathLst>
              <a:path w="530499" h="530499">
                <a:moveTo>
                  <a:pt x="265249" y="0"/>
                </a:moveTo>
                <a:lnTo>
                  <a:pt x="265249" y="0"/>
                </a:lnTo>
                <a:cubicBezTo>
                  <a:pt x="411645" y="0"/>
                  <a:pt x="530499" y="118854"/>
                  <a:pt x="530499" y="265249"/>
                </a:cubicBezTo>
                <a:lnTo>
                  <a:pt x="530499" y="265249"/>
                </a:lnTo>
                <a:cubicBezTo>
                  <a:pt x="530499" y="411645"/>
                  <a:pt x="411645" y="530499"/>
                  <a:pt x="265249" y="530499"/>
                </a:cubicBezTo>
                <a:lnTo>
                  <a:pt x="265249" y="530499"/>
                </a:lnTo>
                <a:cubicBezTo>
                  <a:pt x="118854" y="530499"/>
                  <a:pt x="0" y="411645"/>
                  <a:pt x="0" y="265249"/>
                </a:cubicBezTo>
                <a:lnTo>
                  <a:pt x="0" y="265249"/>
                </a:lnTo>
                <a:cubicBezTo>
                  <a:pt x="0" y="118854"/>
                  <a:pt x="118854" y="0"/>
                  <a:pt x="265249" y="0"/>
                </a:cubicBezTo>
                <a:close/>
              </a:path>
            </a:pathLst>
          </a:custGeom>
          <a:solidFill>
            <a:srgbClr val="1A535C"/>
          </a:solidFill>
        </p:spPr>
      </p:sp>
      <p:sp>
        <p:nvSpPr>
          <p:cNvPr id="20" name="Text 6"/>
          <p:cNvSpPr/>
          <p:nvPr/>
        </p:nvSpPr>
        <p:spPr>
          <a:xfrm>
            <a:off x="788939" y="1856746"/>
            <a:ext cx="198937" cy="3031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1" name="Text 7"/>
          <p:cNvSpPr/>
          <p:nvPr/>
        </p:nvSpPr>
        <p:spPr>
          <a:xfrm>
            <a:off x="1212569" y="1875692"/>
            <a:ext cx="852587" cy="265249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9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查询改写</a:t>
            </a:r>
            <a:endParaRPr lang="en-US" sz="149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2" name="Text 8"/>
          <p:cNvSpPr/>
          <p:nvPr/>
        </p:nvSpPr>
        <p:spPr>
          <a:xfrm>
            <a:off x="600777" y="2350843"/>
            <a:ext cx="3400876" cy="189464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Query Rewriting</a:t>
            </a:r>
            <a:endParaRPr lang="en-US" sz="16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3" name="Shape 9"/>
          <p:cNvSpPr/>
          <p:nvPr/>
        </p:nvSpPr>
        <p:spPr>
          <a:xfrm>
            <a:off x="568325" y="2728595"/>
            <a:ext cx="3334385" cy="842010"/>
          </a:xfrm>
          <a:custGeom>
            <a:avLst/>
            <a:gdLst/>
            <a:ahLst/>
            <a:cxnLst/>
            <a:rect l="l" t="t" r="r" b="b"/>
            <a:pathLst>
              <a:path w="3334564" h="606284">
                <a:moveTo>
                  <a:pt x="75786" y="0"/>
                </a:moveTo>
                <a:lnTo>
                  <a:pt x="3258779" y="0"/>
                </a:lnTo>
                <a:cubicBezTo>
                  <a:pt x="3300634" y="0"/>
                  <a:pt x="3334564" y="33930"/>
                  <a:pt x="3334564" y="75786"/>
                </a:cubicBezTo>
                <a:lnTo>
                  <a:pt x="3334564" y="530499"/>
                </a:lnTo>
                <a:cubicBezTo>
                  <a:pt x="3334564" y="572354"/>
                  <a:pt x="3300634" y="606284"/>
                  <a:pt x="3258779" y="606284"/>
                </a:cubicBezTo>
                <a:lnTo>
                  <a:pt x="75786" y="606284"/>
                </a:lnTo>
                <a:cubicBezTo>
                  <a:pt x="33930" y="606284"/>
                  <a:pt x="0" y="572354"/>
                  <a:pt x="0" y="530499"/>
                </a:cubicBezTo>
                <a:lnTo>
                  <a:pt x="0" y="75786"/>
                </a:lnTo>
                <a:cubicBezTo>
                  <a:pt x="0" y="33930"/>
                  <a:pt x="33930" y="0"/>
                  <a:pt x="75786" y="0"/>
                </a:cubicBezTo>
                <a:close/>
              </a:path>
            </a:pathLst>
          </a:custGeom>
          <a:solidFill>
            <a:srgbClr val="F3F4F6"/>
          </a:solidFill>
        </p:spPr>
      </p:sp>
      <p:sp>
        <p:nvSpPr>
          <p:cNvPr id="30" name="Text 10"/>
          <p:cNvSpPr/>
          <p:nvPr/>
        </p:nvSpPr>
        <p:spPr>
          <a:xfrm>
            <a:off x="682070" y="2841958"/>
            <a:ext cx="3164047" cy="1515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6A7282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Before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682070" y="3031422"/>
            <a:ext cx="3173520" cy="189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销售顾问问："返利怎么算？"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2" name="Shape 12"/>
          <p:cNvSpPr/>
          <p:nvPr/>
        </p:nvSpPr>
        <p:spPr>
          <a:xfrm>
            <a:off x="2163145" y="3718279"/>
            <a:ext cx="142098" cy="189464"/>
          </a:xfrm>
          <a:custGeom>
            <a:avLst/>
            <a:gdLst/>
            <a:ahLst/>
            <a:cxnLst/>
            <a:rect l="l" t="t" r="r" b="b"/>
            <a:pathLst>
              <a:path w="142098" h="189464">
                <a:moveTo>
                  <a:pt x="62686" y="185985"/>
                </a:moveTo>
                <a:cubicBezTo>
                  <a:pt x="67311" y="190611"/>
                  <a:pt x="74823" y="190611"/>
                  <a:pt x="79449" y="185985"/>
                </a:cubicBezTo>
                <a:lnTo>
                  <a:pt x="138656" y="126778"/>
                </a:lnTo>
                <a:cubicBezTo>
                  <a:pt x="143282" y="122152"/>
                  <a:pt x="143282" y="114640"/>
                  <a:pt x="138656" y="110015"/>
                </a:cubicBezTo>
                <a:cubicBezTo>
                  <a:pt x="134031" y="105389"/>
                  <a:pt x="126519" y="105389"/>
                  <a:pt x="121893" y="110015"/>
                </a:cubicBezTo>
                <a:lnTo>
                  <a:pt x="82890" y="149018"/>
                </a:lnTo>
                <a:lnTo>
                  <a:pt x="82890" y="11841"/>
                </a:lnTo>
                <a:cubicBezTo>
                  <a:pt x="82890" y="5292"/>
                  <a:pt x="77599" y="0"/>
                  <a:pt x="71049" y="0"/>
                </a:cubicBezTo>
                <a:cubicBezTo>
                  <a:pt x="64499" y="0"/>
                  <a:pt x="59207" y="5292"/>
                  <a:pt x="59207" y="11841"/>
                </a:cubicBezTo>
                <a:lnTo>
                  <a:pt x="59207" y="149018"/>
                </a:lnTo>
                <a:lnTo>
                  <a:pt x="20205" y="110015"/>
                </a:lnTo>
                <a:cubicBezTo>
                  <a:pt x="15579" y="105389"/>
                  <a:pt x="8067" y="105389"/>
                  <a:pt x="3441" y="110015"/>
                </a:cubicBezTo>
                <a:cubicBezTo>
                  <a:pt x="-1184" y="114640"/>
                  <a:pt x="-1184" y="122152"/>
                  <a:pt x="3441" y="126778"/>
                </a:cubicBezTo>
                <a:lnTo>
                  <a:pt x="62649" y="185985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33" name="Shape 13"/>
          <p:cNvSpPr/>
          <p:nvPr/>
        </p:nvSpPr>
        <p:spPr>
          <a:xfrm>
            <a:off x="577865" y="3964693"/>
            <a:ext cx="3315618" cy="890480"/>
          </a:xfrm>
          <a:custGeom>
            <a:avLst/>
            <a:gdLst/>
            <a:ahLst/>
            <a:cxnLst/>
            <a:rect l="l" t="t" r="r" b="b"/>
            <a:pathLst>
              <a:path w="3315618" h="890480">
                <a:moveTo>
                  <a:pt x="75789" y="0"/>
                </a:moveTo>
                <a:lnTo>
                  <a:pt x="3239829" y="0"/>
                </a:lnTo>
                <a:cubicBezTo>
                  <a:pt x="3281658" y="0"/>
                  <a:pt x="3315618" y="33960"/>
                  <a:pt x="3315618" y="75789"/>
                </a:cubicBezTo>
                <a:lnTo>
                  <a:pt x="3315618" y="814691"/>
                </a:lnTo>
                <a:cubicBezTo>
                  <a:pt x="3315618" y="856520"/>
                  <a:pt x="3281658" y="890480"/>
                  <a:pt x="3239829" y="890480"/>
                </a:cubicBezTo>
                <a:lnTo>
                  <a:pt x="75789" y="890480"/>
                </a:lnTo>
                <a:cubicBezTo>
                  <a:pt x="33960" y="890480"/>
                  <a:pt x="0" y="856520"/>
                  <a:pt x="0" y="814691"/>
                </a:cubicBezTo>
                <a:lnTo>
                  <a:pt x="0" y="75789"/>
                </a:lnTo>
                <a:cubicBezTo>
                  <a:pt x="0" y="33932"/>
                  <a:pt x="33932" y="0"/>
                  <a:pt x="75789" y="0"/>
                </a:cubicBezTo>
                <a:close/>
              </a:path>
            </a:pathLst>
          </a:custGeom>
          <a:noFill/>
          <a:ln w="25400">
            <a:solidFill>
              <a:srgbClr val="4ECDC4"/>
            </a:solidFill>
            <a:prstDash val="solid"/>
          </a:ln>
        </p:spPr>
      </p:sp>
      <p:sp>
        <p:nvSpPr>
          <p:cNvPr id="34" name="Text 14"/>
          <p:cNvSpPr/>
          <p:nvPr/>
        </p:nvSpPr>
        <p:spPr>
          <a:xfrm>
            <a:off x="701016" y="4087844"/>
            <a:ext cx="3126154" cy="151571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10000"/>
              </a:lnSpc>
            </a:pPr>
            <a:r>
              <a:rPr lang="en-US" sz="895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After (Prompt自动改写)</a:t>
            </a:r>
            <a:endParaRPr lang="en-US" sz="895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5" name="Shape 15"/>
          <p:cNvSpPr/>
          <p:nvPr/>
        </p:nvSpPr>
        <p:spPr>
          <a:xfrm>
            <a:off x="701016" y="4277308"/>
            <a:ext cx="3069315" cy="454713"/>
          </a:xfrm>
          <a:custGeom>
            <a:avLst/>
            <a:gdLst/>
            <a:ahLst/>
            <a:cxnLst/>
            <a:rect l="l" t="t" r="r" b="b"/>
            <a:pathLst>
              <a:path w="3069315" h="454713">
                <a:moveTo>
                  <a:pt x="37891" y="0"/>
                </a:moveTo>
                <a:lnTo>
                  <a:pt x="3031423" y="0"/>
                </a:lnTo>
                <a:cubicBezTo>
                  <a:pt x="3052350" y="0"/>
                  <a:pt x="3069315" y="16964"/>
                  <a:pt x="3069315" y="37891"/>
                </a:cubicBezTo>
                <a:lnTo>
                  <a:pt x="3069315" y="416822"/>
                </a:lnTo>
                <a:cubicBezTo>
                  <a:pt x="3069315" y="437749"/>
                  <a:pt x="3052350" y="454713"/>
                  <a:pt x="3031423" y="454713"/>
                </a:cubicBezTo>
                <a:lnTo>
                  <a:pt x="37891" y="454713"/>
                </a:lnTo>
                <a:cubicBezTo>
                  <a:pt x="16964" y="454713"/>
                  <a:pt x="0" y="437749"/>
                  <a:pt x="0" y="416822"/>
                </a:cubicBezTo>
                <a:lnTo>
                  <a:pt x="0" y="37891"/>
                </a:lnTo>
                <a:cubicBezTo>
                  <a:pt x="0" y="16979"/>
                  <a:pt x="16979" y="0"/>
                  <a:pt x="37891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6" name="Text 16"/>
          <p:cNvSpPr/>
          <p:nvPr/>
        </p:nvSpPr>
        <p:spPr>
          <a:xfrm>
            <a:off x="701016" y="4277308"/>
            <a:ext cx="3126154" cy="454713"/>
          </a:xfrm>
          <a:prstGeom prst="rect">
            <a:avLst/>
          </a:prstGeom>
          <a:noFill/>
        </p:spPr>
        <p:txBody>
          <a:bodyPr wrap="square" lIns="75786" tIns="75786" rIns="75786" bIns="75786" rtlCol="0" anchor="ctr"/>
          <a:lstStyle/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1A53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(经销商返利 OR 销售激励) AND (计算规则 OR 阶梯标准) AND (2025年 OR 最新)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7" name="Shape 17"/>
          <p:cNvSpPr/>
          <p:nvPr/>
        </p:nvSpPr>
        <p:spPr>
          <a:xfrm>
            <a:off x="573128" y="4983061"/>
            <a:ext cx="3325091" cy="615758"/>
          </a:xfrm>
          <a:custGeom>
            <a:avLst/>
            <a:gdLst/>
            <a:ahLst/>
            <a:cxnLst/>
            <a:rect l="l" t="t" r="r" b="b"/>
            <a:pathLst>
              <a:path w="3325091" h="615758">
                <a:moveTo>
                  <a:pt x="75787" y="0"/>
                </a:moveTo>
                <a:lnTo>
                  <a:pt x="3249303" y="0"/>
                </a:lnTo>
                <a:cubicBezTo>
                  <a:pt x="3291160" y="0"/>
                  <a:pt x="3325091" y="33931"/>
                  <a:pt x="3325091" y="75787"/>
                </a:cubicBezTo>
                <a:lnTo>
                  <a:pt x="3325091" y="539970"/>
                </a:lnTo>
                <a:cubicBezTo>
                  <a:pt x="3325091" y="581826"/>
                  <a:pt x="3291160" y="615758"/>
                  <a:pt x="3249303" y="615758"/>
                </a:cubicBezTo>
                <a:lnTo>
                  <a:pt x="75787" y="615758"/>
                </a:lnTo>
                <a:cubicBezTo>
                  <a:pt x="33931" y="615758"/>
                  <a:pt x="0" y="581826"/>
                  <a:pt x="0" y="539970"/>
                </a:cubicBezTo>
                <a:lnTo>
                  <a:pt x="0" y="75787"/>
                </a:lnTo>
                <a:cubicBezTo>
                  <a:pt x="0" y="33931"/>
                  <a:pt x="33931" y="0"/>
                  <a:pt x="75787" y="0"/>
                </a:cubicBezTo>
                <a:close/>
              </a:path>
            </a:pathLst>
          </a:custGeom>
          <a:solidFill>
            <a:srgbClr val="F0FDF4"/>
          </a:solidFill>
          <a:ln w="12700">
            <a:solidFill>
              <a:srgbClr val="B9F8CF"/>
            </a:solidFill>
            <a:prstDash val="solid"/>
          </a:ln>
        </p:spPr>
      </p:sp>
      <p:sp>
        <p:nvSpPr>
          <p:cNvPr id="38" name="Shape 18"/>
          <p:cNvSpPr/>
          <p:nvPr/>
        </p:nvSpPr>
        <p:spPr>
          <a:xfrm>
            <a:off x="710490" y="5129896"/>
            <a:ext cx="132625" cy="132625"/>
          </a:xfrm>
          <a:custGeom>
            <a:avLst/>
            <a:gdLst/>
            <a:ahLst/>
            <a:cxnLst/>
            <a:rect l="l" t="t" r="r" b="b"/>
            <a:pathLst>
              <a:path w="132625" h="132625">
                <a:moveTo>
                  <a:pt x="66312" y="132625"/>
                </a:moveTo>
                <a:cubicBezTo>
                  <a:pt x="102911" y="132625"/>
                  <a:pt x="132625" y="102911"/>
                  <a:pt x="132625" y="66312"/>
                </a:cubicBezTo>
                <a:cubicBezTo>
                  <a:pt x="132625" y="29714"/>
                  <a:pt x="102911" y="0"/>
                  <a:pt x="66312" y="0"/>
                </a:cubicBezTo>
                <a:cubicBezTo>
                  <a:pt x="29714" y="0"/>
                  <a:pt x="0" y="29714"/>
                  <a:pt x="0" y="66312"/>
                </a:cubicBezTo>
                <a:cubicBezTo>
                  <a:pt x="0" y="102911"/>
                  <a:pt x="29714" y="132625"/>
                  <a:pt x="66312" y="132625"/>
                </a:cubicBezTo>
                <a:close/>
                <a:moveTo>
                  <a:pt x="88175" y="55096"/>
                </a:moveTo>
                <a:lnTo>
                  <a:pt x="67452" y="88252"/>
                </a:lnTo>
                <a:cubicBezTo>
                  <a:pt x="66364" y="89988"/>
                  <a:pt x="64499" y="91076"/>
                  <a:pt x="62453" y="91179"/>
                </a:cubicBezTo>
                <a:cubicBezTo>
                  <a:pt x="60406" y="91283"/>
                  <a:pt x="58438" y="90351"/>
                  <a:pt x="57220" y="88693"/>
                </a:cubicBezTo>
                <a:lnTo>
                  <a:pt x="44787" y="72115"/>
                </a:lnTo>
                <a:cubicBezTo>
                  <a:pt x="42714" y="69369"/>
                  <a:pt x="43284" y="65483"/>
                  <a:pt x="46030" y="63411"/>
                </a:cubicBezTo>
                <a:cubicBezTo>
                  <a:pt x="48776" y="61339"/>
                  <a:pt x="52661" y="61909"/>
                  <a:pt x="54734" y="64655"/>
                </a:cubicBezTo>
                <a:lnTo>
                  <a:pt x="61727" y="73980"/>
                </a:lnTo>
                <a:lnTo>
                  <a:pt x="77632" y="48517"/>
                </a:lnTo>
                <a:cubicBezTo>
                  <a:pt x="79445" y="45616"/>
                  <a:pt x="83279" y="44709"/>
                  <a:pt x="86206" y="46548"/>
                </a:cubicBezTo>
                <a:cubicBezTo>
                  <a:pt x="89133" y="48387"/>
                  <a:pt x="90014" y="52195"/>
                  <a:pt x="88175" y="55122"/>
                </a:cubicBezTo>
                <a:close/>
              </a:path>
            </a:pathLst>
          </a:custGeom>
          <a:solidFill>
            <a:srgbClr val="008236"/>
          </a:solidFill>
        </p:spPr>
      </p:sp>
      <p:sp>
        <p:nvSpPr>
          <p:cNvPr id="39" name="Text 19"/>
          <p:cNvSpPr/>
          <p:nvPr/>
        </p:nvSpPr>
        <p:spPr>
          <a:xfrm>
            <a:off x="918591" y="5101476"/>
            <a:ext cx="2927526" cy="378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b="1" dirty="0">
                <a:solidFill>
                  <a:srgbClr val="008236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价值：</a:t>
            </a:r>
            <a:r>
              <a:rPr lang="en-US" sz="1045" dirty="0">
                <a:solidFill>
                  <a:srgbClr val="008236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命中率大幅提升，不再漏掉不同表达方式的文档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2" name="Shape 22"/>
          <p:cNvSpPr/>
          <p:nvPr/>
        </p:nvSpPr>
        <p:spPr>
          <a:xfrm>
            <a:off x="4430642" y="1743068"/>
            <a:ext cx="530499" cy="530499"/>
          </a:xfrm>
          <a:custGeom>
            <a:avLst/>
            <a:gdLst/>
            <a:ahLst/>
            <a:cxnLst/>
            <a:rect l="l" t="t" r="r" b="b"/>
            <a:pathLst>
              <a:path w="530499" h="530499">
                <a:moveTo>
                  <a:pt x="265249" y="0"/>
                </a:moveTo>
                <a:lnTo>
                  <a:pt x="265249" y="0"/>
                </a:lnTo>
                <a:cubicBezTo>
                  <a:pt x="411645" y="0"/>
                  <a:pt x="530499" y="118854"/>
                  <a:pt x="530499" y="265249"/>
                </a:cubicBezTo>
                <a:lnTo>
                  <a:pt x="530499" y="265249"/>
                </a:lnTo>
                <a:cubicBezTo>
                  <a:pt x="530499" y="411645"/>
                  <a:pt x="411645" y="530499"/>
                  <a:pt x="265249" y="530499"/>
                </a:cubicBezTo>
                <a:lnTo>
                  <a:pt x="265249" y="530499"/>
                </a:lnTo>
                <a:cubicBezTo>
                  <a:pt x="118854" y="530499"/>
                  <a:pt x="0" y="411645"/>
                  <a:pt x="0" y="265249"/>
                </a:cubicBezTo>
                <a:lnTo>
                  <a:pt x="0" y="265249"/>
                </a:lnTo>
                <a:cubicBezTo>
                  <a:pt x="0" y="118854"/>
                  <a:pt x="118854" y="0"/>
                  <a:pt x="265249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43" name="Text 23"/>
          <p:cNvSpPr/>
          <p:nvPr/>
        </p:nvSpPr>
        <p:spPr>
          <a:xfrm>
            <a:off x="4631948" y="1856746"/>
            <a:ext cx="246303" cy="3031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2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4" name="Text 24"/>
          <p:cNvSpPr/>
          <p:nvPr/>
        </p:nvSpPr>
        <p:spPr>
          <a:xfrm>
            <a:off x="5074819" y="1875692"/>
            <a:ext cx="1610443" cy="265249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9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上下文压缩与重组</a:t>
            </a:r>
            <a:endParaRPr lang="en-US" sz="149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5" name="Text 25"/>
          <p:cNvSpPr/>
          <p:nvPr/>
        </p:nvSpPr>
        <p:spPr>
          <a:xfrm>
            <a:off x="4463027" y="2350843"/>
            <a:ext cx="3400876" cy="189464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Context Compression &amp; Reorganization</a:t>
            </a:r>
            <a:endParaRPr lang="en-US" sz="16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6" name="Shape 26"/>
          <p:cNvSpPr/>
          <p:nvPr/>
        </p:nvSpPr>
        <p:spPr>
          <a:xfrm>
            <a:off x="4435379" y="2733016"/>
            <a:ext cx="3325091" cy="843114"/>
          </a:xfrm>
          <a:custGeom>
            <a:avLst/>
            <a:gdLst/>
            <a:ahLst/>
            <a:cxnLst/>
            <a:rect l="l" t="t" r="r" b="b"/>
            <a:pathLst>
              <a:path w="3325091" h="843114">
                <a:moveTo>
                  <a:pt x="75788" y="0"/>
                </a:moveTo>
                <a:lnTo>
                  <a:pt x="3249303" y="0"/>
                </a:lnTo>
                <a:cubicBezTo>
                  <a:pt x="3291160" y="0"/>
                  <a:pt x="3325091" y="33931"/>
                  <a:pt x="3325091" y="75788"/>
                </a:cubicBezTo>
                <a:lnTo>
                  <a:pt x="3325091" y="767327"/>
                </a:lnTo>
                <a:cubicBezTo>
                  <a:pt x="3325091" y="809183"/>
                  <a:pt x="3291160" y="843114"/>
                  <a:pt x="3249303" y="843114"/>
                </a:cubicBezTo>
                <a:lnTo>
                  <a:pt x="75788" y="843114"/>
                </a:lnTo>
                <a:cubicBezTo>
                  <a:pt x="33959" y="843114"/>
                  <a:pt x="0" y="809155"/>
                  <a:pt x="0" y="767327"/>
                </a:cubicBezTo>
                <a:lnTo>
                  <a:pt x="0" y="75788"/>
                </a:lnTo>
                <a:cubicBezTo>
                  <a:pt x="0" y="33959"/>
                  <a:pt x="33959" y="0"/>
                  <a:pt x="75788" y="0"/>
                </a:cubicBezTo>
                <a:close/>
              </a:path>
            </a:pathLst>
          </a:custGeom>
          <a:solidFill>
            <a:srgbClr val="FEF2F2"/>
          </a:solidFill>
          <a:ln w="12700">
            <a:solidFill>
              <a:srgbClr val="FFC9C9"/>
            </a:solidFill>
            <a:prstDash val="solid"/>
          </a:ln>
        </p:spPr>
      </p:sp>
      <p:sp>
        <p:nvSpPr>
          <p:cNvPr id="47" name="Shape 27"/>
          <p:cNvSpPr/>
          <p:nvPr/>
        </p:nvSpPr>
        <p:spPr>
          <a:xfrm>
            <a:off x="4572740" y="2879851"/>
            <a:ext cx="132625" cy="132625"/>
          </a:xfrm>
          <a:custGeom>
            <a:avLst/>
            <a:gdLst/>
            <a:ahLst/>
            <a:cxnLst/>
            <a:rect l="l" t="t" r="r" b="b"/>
            <a:pathLst>
              <a:path w="132625" h="132625">
                <a:moveTo>
                  <a:pt x="66312" y="0"/>
                </a:moveTo>
                <a:cubicBezTo>
                  <a:pt x="70120" y="0"/>
                  <a:pt x="73617" y="2098"/>
                  <a:pt x="75430" y="5440"/>
                </a:cubicBezTo>
                <a:lnTo>
                  <a:pt x="131381" y="109053"/>
                </a:lnTo>
                <a:cubicBezTo>
                  <a:pt x="133117" y="112265"/>
                  <a:pt x="133039" y="116150"/>
                  <a:pt x="131174" y="119285"/>
                </a:cubicBezTo>
                <a:cubicBezTo>
                  <a:pt x="129309" y="122419"/>
                  <a:pt x="125916" y="124336"/>
                  <a:pt x="122263" y="124336"/>
                </a:cubicBezTo>
                <a:lnTo>
                  <a:pt x="10361" y="124336"/>
                </a:lnTo>
                <a:cubicBezTo>
                  <a:pt x="6709" y="124336"/>
                  <a:pt x="3342" y="122419"/>
                  <a:pt x="1451" y="119285"/>
                </a:cubicBezTo>
                <a:cubicBezTo>
                  <a:pt x="-440" y="116150"/>
                  <a:pt x="-492" y="112265"/>
                  <a:pt x="1243" y="109053"/>
                </a:cubicBezTo>
                <a:lnTo>
                  <a:pt x="57194" y="5440"/>
                </a:lnTo>
                <a:cubicBezTo>
                  <a:pt x="59008" y="2098"/>
                  <a:pt x="62505" y="0"/>
                  <a:pt x="66312" y="0"/>
                </a:cubicBezTo>
                <a:close/>
                <a:moveTo>
                  <a:pt x="66312" y="43517"/>
                </a:moveTo>
                <a:cubicBezTo>
                  <a:pt x="62867" y="43517"/>
                  <a:pt x="60096" y="46289"/>
                  <a:pt x="60096" y="49734"/>
                </a:cubicBezTo>
                <a:lnTo>
                  <a:pt x="60096" y="78746"/>
                </a:lnTo>
                <a:cubicBezTo>
                  <a:pt x="60096" y="82191"/>
                  <a:pt x="62867" y="84963"/>
                  <a:pt x="66312" y="84963"/>
                </a:cubicBezTo>
                <a:cubicBezTo>
                  <a:pt x="69757" y="84963"/>
                  <a:pt x="72529" y="82191"/>
                  <a:pt x="72529" y="78746"/>
                </a:cubicBezTo>
                <a:lnTo>
                  <a:pt x="72529" y="49734"/>
                </a:lnTo>
                <a:cubicBezTo>
                  <a:pt x="72529" y="46289"/>
                  <a:pt x="69757" y="43517"/>
                  <a:pt x="66312" y="43517"/>
                </a:cubicBezTo>
                <a:close/>
                <a:moveTo>
                  <a:pt x="73229" y="99469"/>
                </a:moveTo>
                <a:cubicBezTo>
                  <a:pt x="73386" y="96901"/>
                  <a:pt x="72106" y="94459"/>
                  <a:pt x="69905" y="93128"/>
                </a:cubicBezTo>
                <a:cubicBezTo>
                  <a:pt x="67704" y="91796"/>
                  <a:pt x="64946" y="91796"/>
                  <a:pt x="62746" y="93128"/>
                </a:cubicBezTo>
                <a:cubicBezTo>
                  <a:pt x="60545" y="94459"/>
                  <a:pt x="59265" y="96901"/>
                  <a:pt x="59422" y="99469"/>
                </a:cubicBezTo>
                <a:cubicBezTo>
                  <a:pt x="59265" y="102036"/>
                  <a:pt x="60545" y="104478"/>
                  <a:pt x="62746" y="105809"/>
                </a:cubicBezTo>
                <a:cubicBezTo>
                  <a:pt x="64946" y="107141"/>
                  <a:pt x="67704" y="107141"/>
                  <a:pt x="69905" y="105809"/>
                </a:cubicBezTo>
                <a:cubicBezTo>
                  <a:pt x="72106" y="104478"/>
                  <a:pt x="73386" y="102036"/>
                  <a:pt x="73229" y="99469"/>
                </a:cubicBezTo>
                <a:close/>
              </a:path>
            </a:pathLst>
          </a:custGeom>
          <a:solidFill>
            <a:srgbClr val="C10007"/>
          </a:solidFill>
        </p:spPr>
      </p:sp>
      <p:sp>
        <p:nvSpPr>
          <p:cNvPr id="48" name="Text 28"/>
          <p:cNvSpPr/>
          <p:nvPr/>
        </p:nvSpPr>
        <p:spPr>
          <a:xfrm>
            <a:off x="4833697" y="2851431"/>
            <a:ext cx="331562" cy="179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b="1" dirty="0">
                <a:solidFill>
                  <a:srgbClr val="C1000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问题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9" name="Text 29"/>
          <p:cNvSpPr/>
          <p:nvPr/>
        </p:nvSpPr>
        <p:spPr>
          <a:xfrm>
            <a:off x="4553794" y="3078788"/>
            <a:ext cx="3154573" cy="378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检索回来5个文档碎片，总共3000字，AI容易眼花缭乱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50" name="Shape 30"/>
          <p:cNvSpPr/>
          <p:nvPr/>
        </p:nvSpPr>
        <p:spPr>
          <a:xfrm>
            <a:off x="6025395" y="3718279"/>
            <a:ext cx="142098" cy="189464"/>
          </a:xfrm>
          <a:custGeom>
            <a:avLst/>
            <a:gdLst/>
            <a:ahLst/>
            <a:cxnLst/>
            <a:rect l="l" t="t" r="r" b="b"/>
            <a:pathLst>
              <a:path w="142098" h="189464">
                <a:moveTo>
                  <a:pt x="62686" y="185985"/>
                </a:moveTo>
                <a:cubicBezTo>
                  <a:pt x="67311" y="190611"/>
                  <a:pt x="74823" y="190611"/>
                  <a:pt x="79449" y="185985"/>
                </a:cubicBezTo>
                <a:lnTo>
                  <a:pt x="138656" y="126778"/>
                </a:lnTo>
                <a:cubicBezTo>
                  <a:pt x="143282" y="122152"/>
                  <a:pt x="143282" y="114640"/>
                  <a:pt x="138656" y="110015"/>
                </a:cubicBezTo>
                <a:cubicBezTo>
                  <a:pt x="134031" y="105389"/>
                  <a:pt x="126519" y="105389"/>
                  <a:pt x="121893" y="110015"/>
                </a:cubicBezTo>
                <a:lnTo>
                  <a:pt x="82890" y="149018"/>
                </a:lnTo>
                <a:lnTo>
                  <a:pt x="82890" y="11841"/>
                </a:lnTo>
                <a:cubicBezTo>
                  <a:pt x="82890" y="5292"/>
                  <a:pt x="77599" y="0"/>
                  <a:pt x="71049" y="0"/>
                </a:cubicBezTo>
                <a:cubicBezTo>
                  <a:pt x="64499" y="0"/>
                  <a:pt x="59207" y="5292"/>
                  <a:pt x="59207" y="11841"/>
                </a:cubicBezTo>
                <a:lnTo>
                  <a:pt x="59207" y="149018"/>
                </a:lnTo>
                <a:lnTo>
                  <a:pt x="20205" y="110015"/>
                </a:lnTo>
                <a:cubicBezTo>
                  <a:pt x="15579" y="105389"/>
                  <a:pt x="8067" y="105389"/>
                  <a:pt x="3441" y="110015"/>
                </a:cubicBezTo>
                <a:cubicBezTo>
                  <a:pt x="-1184" y="114640"/>
                  <a:pt x="-1184" y="122152"/>
                  <a:pt x="3441" y="126778"/>
                </a:cubicBezTo>
                <a:lnTo>
                  <a:pt x="62649" y="185985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61" name="Shape 31"/>
          <p:cNvSpPr/>
          <p:nvPr/>
        </p:nvSpPr>
        <p:spPr>
          <a:xfrm>
            <a:off x="4440115" y="4007161"/>
            <a:ext cx="3315618" cy="1042051"/>
          </a:xfrm>
          <a:custGeom>
            <a:avLst/>
            <a:gdLst/>
            <a:ahLst/>
            <a:cxnLst/>
            <a:rect l="l" t="t" r="r" b="b"/>
            <a:pathLst>
              <a:path w="3315618" h="1042051">
                <a:moveTo>
                  <a:pt x="75788" y="0"/>
                </a:moveTo>
                <a:lnTo>
                  <a:pt x="3239829" y="0"/>
                </a:lnTo>
                <a:cubicBezTo>
                  <a:pt x="3281658" y="0"/>
                  <a:pt x="3315618" y="33960"/>
                  <a:pt x="3315618" y="75788"/>
                </a:cubicBezTo>
                <a:lnTo>
                  <a:pt x="3315618" y="966263"/>
                </a:lnTo>
                <a:cubicBezTo>
                  <a:pt x="3315618" y="1008120"/>
                  <a:pt x="3281686" y="1042051"/>
                  <a:pt x="3239829" y="1042051"/>
                </a:cubicBezTo>
                <a:lnTo>
                  <a:pt x="75788" y="1042051"/>
                </a:lnTo>
                <a:cubicBezTo>
                  <a:pt x="33960" y="1042051"/>
                  <a:pt x="0" y="1008092"/>
                  <a:pt x="0" y="966263"/>
                </a:cubicBezTo>
                <a:lnTo>
                  <a:pt x="0" y="75788"/>
                </a:lnTo>
                <a:cubicBezTo>
                  <a:pt x="0" y="33960"/>
                  <a:pt x="33960" y="0"/>
                  <a:pt x="75788" y="0"/>
                </a:cubicBezTo>
                <a:close/>
              </a:path>
            </a:pathLst>
          </a:custGeom>
          <a:noFill/>
          <a:ln w="25400">
            <a:solidFill>
              <a:srgbClr val="1A535C"/>
            </a:solidFill>
            <a:prstDash val="solid"/>
          </a:ln>
        </p:spPr>
      </p:sp>
      <p:sp>
        <p:nvSpPr>
          <p:cNvPr id="62" name="Text 32"/>
          <p:cNvSpPr/>
          <p:nvPr/>
        </p:nvSpPr>
        <p:spPr>
          <a:xfrm>
            <a:off x="4582317" y="4088402"/>
            <a:ext cx="3126154" cy="151571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10000"/>
              </a:lnSpc>
            </a:pPr>
            <a:r>
              <a:rPr lang="en-US" sz="895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Prompt指令示例</a:t>
            </a:r>
            <a:endParaRPr lang="en-US" sz="895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3" name="Shape 33"/>
          <p:cNvSpPr/>
          <p:nvPr/>
        </p:nvSpPr>
        <p:spPr>
          <a:xfrm>
            <a:off x="4563267" y="4319776"/>
            <a:ext cx="3069315" cy="606284"/>
          </a:xfrm>
          <a:custGeom>
            <a:avLst/>
            <a:gdLst/>
            <a:ahLst/>
            <a:cxnLst/>
            <a:rect l="l" t="t" r="r" b="b"/>
            <a:pathLst>
              <a:path w="3069315" h="606284">
                <a:moveTo>
                  <a:pt x="37893" y="0"/>
                </a:moveTo>
                <a:lnTo>
                  <a:pt x="3031422" y="0"/>
                </a:lnTo>
                <a:cubicBezTo>
                  <a:pt x="3052350" y="0"/>
                  <a:pt x="3069315" y="16965"/>
                  <a:pt x="3069315" y="37893"/>
                </a:cubicBezTo>
                <a:lnTo>
                  <a:pt x="3069315" y="568392"/>
                </a:lnTo>
                <a:cubicBezTo>
                  <a:pt x="3069315" y="589319"/>
                  <a:pt x="3052350" y="606284"/>
                  <a:pt x="3031422" y="606284"/>
                </a:cubicBezTo>
                <a:lnTo>
                  <a:pt x="37893" y="606284"/>
                </a:lnTo>
                <a:cubicBezTo>
                  <a:pt x="16965" y="606284"/>
                  <a:pt x="0" y="589319"/>
                  <a:pt x="0" y="568392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4" name="Text 34"/>
          <p:cNvSpPr/>
          <p:nvPr/>
        </p:nvSpPr>
        <p:spPr>
          <a:xfrm>
            <a:off x="4563267" y="4319776"/>
            <a:ext cx="3126154" cy="606284"/>
          </a:xfrm>
          <a:prstGeom prst="rect">
            <a:avLst/>
          </a:prstGeom>
          <a:noFill/>
        </p:spPr>
        <p:txBody>
          <a:bodyPr wrap="square" lIns="75786" tIns="75786" rIns="75786" bIns="75786" rtlCol="0" anchor="ctr"/>
          <a:lstStyle/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"请分析以下碎片资料，提取关于'经销商返利政策'的核心条款，忽略重复内容和已作废版本，按【适用条件】【计算标准】【审批流程】三部分结构化输出。"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5" name="Shape 35"/>
          <p:cNvSpPr/>
          <p:nvPr/>
        </p:nvSpPr>
        <p:spPr>
          <a:xfrm>
            <a:off x="4435379" y="5177100"/>
            <a:ext cx="3325091" cy="426294"/>
          </a:xfrm>
          <a:custGeom>
            <a:avLst/>
            <a:gdLst/>
            <a:ahLst/>
            <a:cxnLst/>
            <a:rect l="l" t="t" r="r" b="b"/>
            <a:pathLst>
              <a:path w="3325091" h="426294">
                <a:moveTo>
                  <a:pt x="75786" y="0"/>
                </a:moveTo>
                <a:lnTo>
                  <a:pt x="3249304" y="0"/>
                </a:lnTo>
                <a:cubicBezTo>
                  <a:pt x="3291160" y="0"/>
                  <a:pt x="3325091" y="33931"/>
                  <a:pt x="3325091" y="75786"/>
                </a:cubicBezTo>
                <a:lnTo>
                  <a:pt x="3325091" y="350507"/>
                </a:lnTo>
                <a:cubicBezTo>
                  <a:pt x="3325091" y="392363"/>
                  <a:pt x="3291160" y="426294"/>
                  <a:pt x="3249304" y="426294"/>
                </a:cubicBezTo>
                <a:lnTo>
                  <a:pt x="75786" y="426294"/>
                </a:lnTo>
                <a:cubicBezTo>
                  <a:pt x="33959" y="426294"/>
                  <a:pt x="0" y="392335"/>
                  <a:pt x="0" y="350507"/>
                </a:cubicBezTo>
                <a:lnTo>
                  <a:pt x="0" y="75786"/>
                </a:lnTo>
                <a:cubicBezTo>
                  <a:pt x="0" y="33931"/>
                  <a:pt x="33931" y="0"/>
                  <a:pt x="75786" y="0"/>
                </a:cubicBezTo>
                <a:close/>
              </a:path>
            </a:pathLst>
          </a:custGeom>
          <a:solidFill>
            <a:srgbClr val="F0FDF4"/>
          </a:solidFill>
          <a:ln w="12700">
            <a:solidFill>
              <a:srgbClr val="B9F8CF"/>
            </a:solidFill>
            <a:prstDash val="solid"/>
          </a:ln>
        </p:spPr>
      </p:sp>
      <p:sp>
        <p:nvSpPr>
          <p:cNvPr id="66" name="Shape 36"/>
          <p:cNvSpPr/>
          <p:nvPr/>
        </p:nvSpPr>
        <p:spPr>
          <a:xfrm>
            <a:off x="4572740" y="5323935"/>
            <a:ext cx="132625" cy="132625"/>
          </a:xfrm>
          <a:custGeom>
            <a:avLst/>
            <a:gdLst/>
            <a:ahLst/>
            <a:cxnLst/>
            <a:rect l="l" t="t" r="r" b="b"/>
            <a:pathLst>
              <a:path w="132625" h="132625">
                <a:moveTo>
                  <a:pt x="66312" y="132625"/>
                </a:moveTo>
                <a:cubicBezTo>
                  <a:pt x="102911" y="132625"/>
                  <a:pt x="132625" y="102911"/>
                  <a:pt x="132625" y="66312"/>
                </a:cubicBezTo>
                <a:cubicBezTo>
                  <a:pt x="132625" y="29714"/>
                  <a:pt x="102911" y="0"/>
                  <a:pt x="66312" y="0"/>
                </a:cubicBezTo>
                <a:cubicBezTo>
                  <a:pt x="29714" y="0"/>
                  <a:pt x="0" y="29714"/>
                  <a:pt x="0" y="66312"/>
                </a:cubicBezTo>
                <a:cubicBezTo>
                  <a:pt x="0" y="102911"/>
                  <a:pt x="29714" y="132625"/>
                  <a:pt x="66312" y="132625"/>
                </a:cubicBezTo>
                <a:close/>
                <a:moveTo>
                  <a:pt x="88175" y="55096"/>
                </a:moveTo>
                <a:lnTo>
                  <a:pt x="67452" y="88252"/>
                </a:lnTo>
                <a:cubicBezTo>
                  <a:pt x="66364" y="89988"/>
                  <a:pt x="64499" y="91076"/>
                  <a:pt x="62453" y="91179"/>
                </a:cubicBezTo>
                <a:cubicBezTo>
                  <a:pt x="60406" y="91283"/>
                  <a:pt x="58438" y="90351"/>
                  <a:pt x="57220" y="88693"/>
                </a:cubicBezTo>
                <a:lnTo>
                  <a:pt x="44787" y="72115"/>
                </a:lnTo>
                <a:cubicBezTo>
                  <a:pt x="42714" y="69369"/>
                  <a:pt x="43284" y="65483"/>
                  <a:pt x="46030" y="63411"/>
                </a:cubicBezTo>
                <a:cubicBezTo>
                  <a:pt x="48776" y="61339"/>
                  <a:pt x="52661" y="61909"/>
                  <a:pt x="54734" y="64655"/>
                </a:cubicBezTo>
                <a:lnTo>
                  <a:pt x="61727" y="73980"/>
                </a:lnTo>
                <a:lnTo>
                  <a:pt x="77632" y="48517"/>
                </a:lnTo>
                <a:cubicBezTo>
                  <a:pt x="79445" y="45616"/>
                  <a:pt x="83279" y="44709"/>
                  <a:pt x="86206" y="46548"/>
                </a:cubicBezTo>
                <a:cubicBezTo>
                  <a:pt x="89133" y="48387"/>
                  <a:pt x="90014" y="52195"/>
                  <a:pt x="88175" y="55122"/>
                </a:cubicBezTo>
                <a:close/>
              </a:path>
            </a:pathLst>
          </a:custGeom>
          <a:solidFill>
            <a:srgbClr val="008236"/>
          </a:solidFill>
        </p:spPr>
      </p:sp>
      <p:sp>
        <p:nvSpPr>
          <p:cNvPr id="67" name="Text 37"/>
          <p:cNvSpPr/>
          <p:nvPr/>
        </p:nvSpPr>
        <p:spPr>
          <a:xfrm>
            <a:off x="4780841" y="5295515"/>
            <a:ext cx="2927526" cy="189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b="1" dirty="0">
                <a:solidFill>
                  <a:srgbClr val="008236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价值：</a:t>
            </a:r>
            <a:r>
              <a:rPr lang="en-US" sz="1045" dirty="0">
                <a:solidFill>
                  <a:srgbClr val="008236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将碎片化信息重铸为逻辑清晰的答案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0" name="Shape 40"/>
          <p:cNvSpPr/>
          <p:nvPr/>
        </p:nvSpPr>
        <p:spPr>
          <a:xfrm>
            <a:off x="8292893" y="1743068"/>
            <a:ext cx="530499" cy="530499"/>
          </a:xfrm>
          <a:custGeom>
            <a:avLst/>
            <a:gdLst/>
            <a:ahLst/>
            <a:cxnLst/>
            <a:rect l="l" t="t" r="r" b="b"/>
            <a:pathLst>
              <a:path w="530499" h="530499">
                <a:moveTo>
                  <a:pt x="265249" y="0"/>
                </a:moveTo>
                <a:lnTo>
                  <a:pt x="265249" y="0"/>
                </a:lnTo>
                <a:cubicBezTo>
                  <a:pt x="411645" y="0"/>
                  <a:pt x="530499" y="118854"/>
                  <a:pt x="530499" y="265249"/>
                </a:cubicBezTo>
                <a:lnTo>
                  <a:pt x="530499" y="265249"/>
                </a:lnTo>
                <a:cubicBezTo>
                  <a:pt x="530499" y="411645"/>
                  <a:pt x="411645" y="530499"/>
                  <a:pt x="265249" y="530499"/>
                </a:cubicBezTo>
                <a:lnTo>
                  <a:pt x="265249" y="530499"/>
                </a:lnTo>
                <a:cubicBezTo>
                  <a:pt x="118854" y="530499"/>
                  <a:pt x="0" y="411645"/>
                  <a:pt x="0" y="265249"/>
                </a:cubicBezTo>
                <a:lnTo>
                  <a:pt x="0" y="265249"/>
                </a:lnTo>
                <a:cubicBezTo>
                  <a:pt x="0" y="118854"/>
                  <a:pt x="118854" y="0"/>
                  <a:pt x="265249" y="0"/>
                </a:cubicBezTo>
                <a:close/>
              </a:path>
            </a:pathLst>
          </a:custGeom>
          <a:solidFill>
            <a:srgbClr val="6B7A83"/>
          </a:solidFill>
        </p:spPr>
      </p:sp>
      <p:sp>
        <p:nvSpPr>
          <p:cNvPr id="71" name="Text 41"/>
          <p:cNvSpPr/>
          <p:nvPr/>
        </p:nvSpPr>
        <p:spPr>
          <a:xfrm>
            <a:off x="8491238" y="1856746"/>
            <a:ext cx="246303" cy="3031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3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2" name="Text 42"/>
          <p:cNvSpPr/>
          <p:nvPr/>
        </p:nvSpPr>
        <p:spPr>
          <a:xfrm>
            <a:off x="8937070" y="1875692"/>
            <a:ext cx="1610443" cy="265249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9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明确指定知识范围</a:t>
            </a:r>
            <a:endParaRPr lang="en-US" sz="149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3" name="Text 43"/>
          <p:cNvSpPr/>
          <p:nvPr/>
        </p:nvSpPr>
        <p:spPr>
          <a:xfrm>
            <a:off x="8325278" y="2350843"/>
            <a:ext cx="3400876" cy="189464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Explicit Knowledge Scope</a:t>
            </a:r>
            <a:endParaRPr lang="en-US" sz="16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4" name="Shape 44"/>
          <p:cNvSpPr/>
          <p:nvPr/>
        </p:nvSpPr>
        <p:spPr>
          <a:xfrm>
            <a:off x="8297545" y="2733040"/>
            <a:ext cx="3324860" cy="842645"/>
          </a:xfrm>
          <a:custGeom>
            <a:avLst/>
            <a:gdLst/>
            <a:ahLst/>
            <a:cxnLst/>
            <a:rect l="l" t="t" r="r" b="b"/>
            <a:pathLst>
              <a:path w="3325091" h="653650">
                <a:moveTo>
                  <a:pt x="75784" y="0"/>
                </a:moveTo>
                <a:lnTo>
                  <a:pt x="3249307" y="0"/>
                </a:lnTo>
                <a:cubicBezTo>
                  <a:pt x="3291161" y="0"/>
                  <a:pt x="3325091" y="33930"/>
                  <a:pt x="3325091" y="75784"/>
                </a:cubicBezTo>
                <a:lnTo>
                  <a:pt x="3325091" y="577866"/>
                </a:lnTo>
                <a:cubicBezTo>
                  <a:pt x="3325091" y="619721"/>
                  <a:pt x="3291161" y="653650"/>
                  <a:pt x="3249307" y="653650"/>
                </a:cubicBezTo>
                <a:lnTo>
                  <a:pt x="75784" y="653650"/>
                </a:lnTo>
                <a:cubicBezTo>
                  <a:pt x="33930" y="653650"/>
                  <a:pt x="0" y="619721"/>
                  <a:pt x="0" y="577866"/>
                </a:cubicBezTo>
                <a:lnTo>
                  <a:pt x="0" y="75784"/>
                </a:lnTo>
                <a:cubicBezTo>
                  <a:pt x="0" y="33958"/>
                  <a:pt x="33958" y="0"/>
                  <a:pt x="75784" y="0"/>
                </a:cubicBezTo>
                <a:close/>
              </a:path>
            </a:pathLst>
          </a:custGeom>
          <a:solidFill>
            <a:srgbClr val="FFF7ED"/>
          </a:solidFill>
          <a:ln w="12700">
            <a:solidFill>
              <a:srgbClr val="FFD6A7"/>
            </a:solidFill>
            <a:prstDash val="solid"/>
          </a:ln>
        </p:spPr>
      </p:sp>
      <p:sp>
        <p:nvSpPr>
          <p:cNvPr id="75" name="Shape 45"/>
          <p:cNvSpPr/>
          <p:nvPr/>
        </p:nvSpPr>
        <p:spPr>
          <a:xfrm>
            <a:off x="8434991" y="2879851"/>
            <a:ext cx="132625" cy="132625"/>
          </a:xfrm>
          <a:custGeom>
            <a:avLst/>
            <a:gdLst/>
            <a:ahLst/>
            <a:cxnLst/>
            <a:rect l="l" t="t" r="r" b="b"/>
            <a:pathLst>
              <a:path w="132625" h="132625">
                <a:moveTo>
                  <a:pt x="66312" y="0"/>
                </a:moveTo>
                <a:cubicBezTo>
                  <a:pt x="70120" y="0"/>
                  <a:pt x="73617" y="2098"/>
                  <a:pt x="75430" y="5440"/>
                </a:cubicBezTo>
                <a:lnTo>
                  <a:pt x="131381" y="109053"/>
                </a:lnTo>
                <a:cubicBezTo>
                  <a:pt x="133117" y="112265"/>
                  <a:pt x="133039" y="116150"/>
                  <a:pt x="131174" y="119285"/>
                </a:cubicBezTo>
                <a:cubicBezTo>
                  <a:pt x="129309" y="122419"/>
                  <a:pt x="125916" y="124336"/>
                  <a:pt x="122263" y="124336"/>
                </a:cubicBezTo>
                <a:lnTo>
                  <a:pt x="10361" y="124336"/>
                </a:lnTo>
                <a:cubicBezTo>
                  <a:pt x="6709" y="124336"/>
                  <a:pt x="3342" y="122419"/>
                  <a:pt x="1451" y="119285"/>
                </a:cubicBezTo>
                <a:cubicBezTo>
                  <a:pt x="-440" y="116150"/>
                  <a:pt x="-492" y="112265"/>
                  <a:pt x="1243" y="109053"/>
                </a:cubicBezTo>
                <a:lnTo>
                  <a:pt x="57194" y="5440"/>
                </a:lnTo>
                <a:cubicBezTo>
                  <a:pt x="59008" y="2098"/>
                  <a:pt x="62505" y="0"/>
                  <a:pt x="66312" y="0"/>
                </a:cubicBezTo>
                <a:close/>
                <a:moveTo>
                  <a:pt x="66312" y="43517"/>
                </a:moveTo>
                <a:cubicBezTo>
                  <a:pt x="62867" y="43517"/>
                  <a:pt x="60096" y="46289"/>
                  <a:pt x="60096" y="49734"/>
                </a:cubicBezTo>
                <a:lnTo>
                  <a:pt x="60096" y="78746"/>
                </a:lnTo>
                <a:cubicBezTo>
                  <a:pt x="60096" y="82191"/>
                  <a:pt x="62867" y="84963"/>
                  <a:pt x="66312" y="84963"/>
                </a:cubicBezTo>
                <a:cubicBezTo>
                  <a:pt x="69757" y="84963"/>
                  <a:pt x="72529" y="82191"/>
                  <a:pt x="72529" y="78746"/>
                </a:cubicBezTo>
                <a:lnTo>
                  <a:pt x="72529" y="49734"/>
                </a:lnTo>
                <a:cubicBezTo>
                  <a:pt x="72529" y="46289"/>
                  <a:pt x="69757" y="43517"/>
                  <a:pt x="66312" y="43517"/>
                </a:cubicBezTo>
                <a:close/>
                <a:moveTo>
                  <a:pt x="73229" y="99469"/>
                </a:moveTo>
                <a:cubicBezTo>
                  <a:pt x="73386" y="96901"/>
                  <a:pt x="72106" y="94459"/>
                  <a:pt x="69905" y="93128"/>
                </a:cubicBezTo>
                <a:cubicBezTo>
                  <a:pt x="67704" y="91796"/>
                  <a:pt x="64946" y="91796"/>
                  <a:pt x="62746" y="93128"/>
                </a:cubicBezTo>
                <a:cubicBezTo>
                  <a:pt x="60545" y="94459"/>
                  <a:pt x="59265" y="96901"/>
                  <a:pt x="59422" y="99469"/>
                </a:cubicBezTo>
                <a:cubicBezTo>
                  <a:pt x="59265" y="102036"/>
                  <a:pt x="60545" y="104478"/>
                  <a:pt x="62746" y="105809"/>
                </a:cubicBezTo>
                <a:cubicBezTo>
                  <a:pt x="64946" y="107141"/>
                  <a:pt x="67704" y="107141"/>
                  <a:pt x="69905" y="105809"/>
                </a:cubicBezTo>
                <a:cubicBezTo>
                  <a:pt x="72106" y="104478"/>
                  <a:pt x="73386" y="102036"/>
                  <a:pt x="73229" y="99469"/>
                </a:cubicBezTo>
                <a:close/>
              </a:path>
            </a:pathLst>
          </a:custGeom>
          <a:solidFill>
            <a:srgbClr val="CA3500"/>
          </a:solidFill>
        </p:spPr>
      </p:sp>
      <p:sp>
        <p:nvSpPr>
          <p:cNvPr id="76" name="Text 46"/>
          <p:cNvSpPr/>
          <p:nvPr/>
        </p:nvSpPr>
        <p:spPr>
          <a:xfrm>
            <a:off x="8695948" y="2851431"/>
            <a:ext cx="331562" cy="179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b="1" dirty="0">
                <a:solidFill>
                  <a:srgbClr val="CA350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风险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7" name="Text 47"/>
          <p:cNvSpPr/>
          <p:nvPr/>
        </p:nvSpPr>
        <p:spPr>
          <a:xfrm>
            <a:off x="8416044" y="3078788"/>
            <a:ext cx="3154573" cy="189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AI可能混用新旧版本政策，导致答案不准确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8" name="Shape 48"/>
          <p:cNvSpPr/>
          <p:nvPr/>
        </p:nvSpPr>
        <p:spPr>
          <a:xfrm>
            <a:off x="9887646" y="3718279"/>
            <a:ext cx="142098" cy="189464"/>
          </a:xfrm>
          <a:custGeom>
            <a:avLst/>
            <a:gdLst/>
            <a:ahLst/>
            <a:cxnLst/>
            <a:rect l="l" t="t" r="r" b="b"/>
            <a:pathLst>
              <a:path w="142098" h="189464">
                <a:moveTo>
                  <a:pt x="62686" y="185985"/>
                </a:moveTo>
                <a:cubicBezTo>
                  <a:pt x="67311" y="190611"/>
                  <a:pt x="74823" y="190611"/>
                  <a:pt x="79449" y="185985"/>
                </a:cubicBezTo>
                <a:lnTo>
                  <a:pt x="138656" y="126778"/>
                </a:lnTo>
                <a:cubicBezTo>
                  <a:pt x="143282" y="122152"/>
                  <a:pt x="143282" y="114640"/>
                  <a:pt x="138656" y="110015"/>
                </a:cubicBezTo>
                <a:cubicBezTo>
                  <a:pt x="134031" y="105389"/>
                  <a:pt x="126519" y="105389"/>
                  <a:pt x="121893" y="110015"/>
                </a:cubicBezTo>
                <a:lnTo>
                  <a:pt x="82890" y="149018"/>
                </a:lnTo>
                <a:lnTo>
                  <a:pt x="82890" y="11841"/>
                </a:lnTo>
                <a:cubicBezTo>
                  <a:pt x="82890" y="5292"/>
                  <a:pt x="77599" y="0"/>
                  <a:pt x="71049" y="0"/>
                </a:cubicBezTo>
                <a:cubicBezTo>
                  <a:pt x="64499" y="0"/>
                  <a:pt x="59207" y="5292"/>
                  <a:pt x="59207" y="11841"/>
                </a:cubicBezTo>
                <a:lnTo>
                  <a:pt x="59207" y="149018"/>
                </a:lnTo>
                <a:lnTo>
                  <a:pt x="20205" y="110015"/>
                </a:lnTo>
                <a:cubicBezTo>
                  <a:pt x="15579" y="105389"/>
                  <a:pt x="8067" y="105389"/>
                  <a:pt x="3441" y="110015"/>
                </a:cubicBezTo>
                <a:cubicBezTo>
                  <a:pt x="-1184" y="114640"/>
                  <a:pt x="-1184" y="122152"/>
                  <a:pt x="3441" y="126778"/>
                </a:cubicBezTo>
                <a:lnTo>
                  <a:pt x="62649" y="185985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79" name="Shape 49"/>
          <p:cNvSpPr/>
          <p:nvPr/>
        </p:nvSpPr>
        <p:spPr>
          <a:xfrm>
            <a:off x="8302625" y="4031615"/>
            <a:ext cx="3315335" cy="1012825"/>
          </a:xfrm>
          <a:custGeom>
            <a:avLst/>
            <a:gdLst/>
            <a:ahLst/>
            <a:cxnLst/>
            <a:rect l="l" t="t" r="r" b="b"/>
            <a:pathLst>
              <a:path w="3315618" h="890480">
                <a:moveTo>
                  <a:pt x="75789" y="0"/>
                </a:moveTo>
                <a:lnTo>
                  <a:pt x="3239829" y="0"/>
                </a:lnTo>
                <a:cubicBezTo>
                  <a:pt x="3281658" y="0"/>
                  <a:pt x="3315618" y="33960"/>
                  <a:pt x="3315618" y="75789"/>
                </a:cubicBezTo>
                <a:lnTo>
                  <a:pt x="3315618" y="814691"/>
                </a:lnTo>
                <a:cubicBezTo>
                  <a:pt x="3315618" y="856520"/>
                  <a:pt x="3281658" y="890480"/>
                  <a:pt x="3239829" y="890480"/>
                </a:cubicBezTo>
                <a:lnTo>
                  <a:pt x="75789" y="890480"/>
                </a:lnTo>
                <a:cubicBezTo>
                  <a:pt x="33960" y="890480"/>
                  <a:pt x="0" y="856520"/>
                  <a:pt x="0" y="814691"/>
                </a:cubicBezTo>
                <a:lnTo>
                  <a:pt x="0" y="75789"/>
                </a:lnTo>
                <a:cubicBezTo>
                  <a:pt x="0" y="33932"/>
                  <a:pt x="33932" y="0"/>
                  <a:pt x="75789" y="0"/>
                </a:cubicBezTo>
                <a:close/>
              </a:path>
            </a:pathLst>
          </a:custGeom>
          <a:noFill/>
          <a:ln w="25400">
            <a:solidFill>
              <a:srgbClr val="6B7A83"/>
            </a:solidFill>
            <a:prstDash val="solid"/>
          </a:ln>
        </p:spPr>
      </p:sp>
      <p:sp>
        <p:nvSpPr>
          <p:cNvPr id="80" name="Text 50"/>
          <p:cNvSpPr/>
          <p:nvPr/>
        </p:nvSpPr>
        <p:spPr>
          <a:xfrm>
            <a:off x="8434407" y="4125633"/>
            <a:ext cx="3126154" cy="151571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10000"/>
              </a:lnSpc>
            </a:pPr>
            <a:r>
              <a:rPr lang="en-US" sz="895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Prompt指令示例</a:t>
            </a:r>
            <a:endParaRPr lang="en-US" sz="895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1" name="Shape 51"/>
          <p:cNvSpPr/>
          <p:nvPr/>
        </p:nvSpPr>
        <p:spPr>
          <a:xfrm>
            <a:off x="8425517" y="4466862"/>
            <a:ext cx="3069315" cy="454713"/>
          </a:xfrm>
          <a:custGeom>
            <a:avLst/>
            <a:gdLst/>
            <a:ahLst/>
            <a:cxnLst/>
            <a:rect l="l" t="t" r="r" b="b"/>
            <a:pathLst>
              <a:path w="3069315" h="454713">
                <a:moveTo>
                  <a:pt x="37891" y="0"/>
                </a:moveTo>
                <a:lnTo>
                  <a:pt x="3031423" y="0"/>
                </a:lnTo>
                <a:cubicBezTo>
                  <a:pt x="3052350" y="0"/>
                  <a:pt x="3069315" y="16964"/>
                  <a:pt x="3069315" y="37891"/>
                </a:cubicBezTo>
                <a:lnTo>
                  <a:pt x="3069315" y="416822"/>
                </a:lnTo>
                <a:cubicBezTo>
                  <a:pt x="3069315" y="437749"/>
                  <a:pt x="3052350" y="454713"/>
                  <a:pt x="3031423" y="454713"/>
                </a:cubicBezTo>
                <a:lnTo>
                  <a:pt x="37891" y="454713"/>
                </a:lnTo>
                <a:cubicBezTo>
                  <a:pt x="16964" y="454713"/>
                  <a:pt x="0" y="437749"/>
                  <a:pt x="0" y="416822"/>
                </a:cubicBezTo>
                <a:lnTo>
                  <a:pt x="0" y="37891"/>
                </a:lnTo>
                <a:cubicBezTo>
                  <a:pt x="0" y="16979"/>
                  <a:pt x="16979" y="0"/>
                  <a:pt x="37891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2" name="Text 52"/>
          <p:cNvSpPr/>
          <p:nvPr/>
        </p:nvSpPr>
        <p:spPr>
          <a:xfrm>
            <a:off x="8425517" y="4466862"/>
            <a:ext cx="3126154" cy="454713"/>
          </a:xfrm>
          <a:prstGeom prst="rect">
            <a:avLst/>
          </a:prstGeom>
          <a:noFill/>
        </p:spPr>
        <p:txBody>
          <a:bodyPr wrap="square" lIns="75786" tIns="75786" rIns="75786" bIns="75786" rtlCol="0" anchor="ctr"/>
          <a:lstStyle/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"在'宝马中国经销商政策库'中搜索，仅使用2025年Q1之后更新的文档。"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83" name="Shape 53"/>
          <p:cNvSpPr/>
          <p:nvPr/>
        </p:nvSpPr>
        <p:spPr>
          <a:xfrm>
            <a:off x="8297629" y="5172615"/>
            <a:ext cx="3325091" cy="426294"/>
          </a:xfrm>
          <a:custGeom>
            <a:avLst/>
            <a:gdLst/>
            <a:ahLst/>
            <a:cxnLst/>
            <a:rect l="l" t="t" r="r" b="b"/>
            <a:pathLst>
              <a:path w="3325091" h="426294">
                <a:moveTo>
                  <a:pt x="75786" y="0"/>
                </a:moveTo>
                <a:lnTo>
                  <a:pt x="3249304" y="0"/>
                </a:lnTo>
                <a:cubicBezTo>
                  <a:pt x="3291160" y="0"/>
                  <a:pt x="3325091" y="33931"/>
                  <a:pt x="3325091" y="75786"/>
                </a:cubicBezTo>
                <a:lnTo>
                  <a:pt x="3325091" y="350507"/>
                </a:lnTo>
                <a:cubicBezTo>
                  <a:pt x="3325091" y="392363"/>
                  <a:pt x="3291160" y="426294"/>
                  <a:pt x="3249304" y="426294"/>
                </a:cubicBezTo>
                <a:lnTo>
                  <a:pt x="75786" y="426294"/>
                </a:lnTo>
                <a:cubicBezTo>
                  <a:pt x="33959" y="426294"/>
                  <a:pt x="0" y="392335"/>
                  <a:pt x="0" y="350507"/>
                </a:cubicBezTo>
                <a:lnTo>
                  <a:pt x="0" y="75786"/>
                </a:lnTo>
                <a:cubicBezTo>
                  <a:pt x="0" y="33931"/>
                  <a:pt x="33931" y="0"/>
                  <a:pt x="75786" y="0"/>
                </a:cubicBezTo>
                <a:close/>
              </a:path>
            </a:pathLst>
          </a:custGeom>
          <a:solidFill>
            <a:srgbClr val="F0FDF4"/>
          </a:solidFill>
          <a:ln w="12700">
            <a:solidFill>
              <a:srgbClr val="B9F8CF"/>
            </a:solidFill>
            <a:prstDash val="solid"/>
          </a:ln>
        </p:spPr>
      </p:sp>
      <p:sp>
        <p:nvSpPr>
          <p:cNvPr id="84" name="Shape 54"/>
          <p:cNvSpPr/>
          <p:nvPr/>
        </p:nvSpPr>
        <p:spPr>
          <a:xfrm>
            <a:off x="8434991" y="5319450"/>
            <a:ext cx="132625" cy="132625"/>
          </a:xfrm>
          <a:custGeom>
            <a:avLst/>
            <a:gdLst/>
            <a:ahLst/>
            <a:cxnLst/>
            <a:rect l="l" t="t" r="r" b="b"/>
            <a:pathLst>
              <a:path w="132625" h="132625">
                <a:moveTo>
                  <a:pt x="66312" y="132625"/>
                </a:moveTo>
                <a:cubicBezTo>
                  <a:pt x="102911" y="132625"/>
                  <a:pt x="132625" y="102911"/>
                  <a:pt x="132625" y="66312"/>
                </a:cubicBezTo>
                <a:cubicBezTo>
                  <a:pt x="132625" y="29714"/>
                  <a:pt x="102911" y="0"/>
                  <a:pt x="66312" y="0"/>
                </a:cubicBezTo>
                <a:cubicBezTo>
                  <a:pt x="29714" y="0"/>
                  <a:pt x="0" y="29714"/>
                  <a:pt x="0" y="66312"/>
                </a:cubicBezTo>
                <a:cubicBezTo>
                  <a:pt x="0" y="102911"/>
                  <a:pt x="29714" y="132625"/>
                  <a:pt x="66312" y="132625"/>
                </a:cubicBezTo>
                <a:close/>
                <a:moveTo>
                  <a:pt x="88175" y="55096"/>
                </a:moveTo>
                <a:lnTo>
                  <a:pt x="67452" y="88252"/>
                </a:lnTo>
                <a:cubicBezTo>
                  <a:pt x="66364" y="89988"/>
                  <a:pt x="64499" y="91076"/>
                  <a:pt x="62453" y="91179"/>
                </a:cubicBezTo>
                <a:cubicBezTo>
                  <a:pt x="60406" y="91283"/>
                  <a:pt x="58438" y="90351"/>
                  <a:pt x="57220" y="88693"/>
                </a:cubicBezTo>
                <a:lnTo>
                  <a:pt x="44787" y="72115"/>
                </a:lnTo>
                <a:cubicBezTo>
                  <a:pt x="42714" y="69369"/>
                  <a:pt x="43284" y="65483"/>
                  <a:pt x="46030" y="63411"/>
                </a:cubicBezTo>
                <a:cubicBezTo>
                  <a:pt x="48776" y="61339"/>
                  <a:pt x="52661" y="61909"/>
                  <a:pt x="54734" y="64655"/>
                </a:cubicBezTo>
                <a:lnTo>
                  <a:pt x="61727" y="73980"/>
                </a:lnTo>
                <a:lnTo>
                  <a:pt x="77632" y="48517"/>
                </a:lnTo>
                <a:cubicBezTo>
                  <a:pt x="79445" y="45616"/>
                  <a:pt x="83279" y="44709"/>
                  <a:pt x="86206" y="46548"/>
                </a:cubicBezTo>
                <a:cubicBezTo>
                  <a:pt x="89133" y="48387"/>
                  <a:pt x="90014" y="52195"/>
                  <a:pt x="88175" y="55122"/>
                </a:cubicBezTo>
                <a:close/>
              </a:path>
            </a:pathLst>
          </a:custGeom>
          <a:solidFill>
            <a:srgbClr val="008236"/>
          </a:solidFill>
        </p:spPr>
      </p:sp>
      <p:sp>
        <p:nvSpPr>
          <p:cNvPr id="85" name="Text 55"/>
          <p:cNvSpPr/>
          <p:nvPr/>
        </p:nvSpPr>
        <p:spPr>
          <a:xfrm>
            <a:off x="8643092" y="5291030"/>
            <a:ext cx="2927526" cy="189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b="1" dirty="0">
                <a:solidFill>
                  <a:srgbClr val="008236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价值：</a:t>
            </a:r>
            <a:r>
              <a:rPr lang="en-US" sz="1045" dirty="0">
                <a:solidFill>
                  <a:srgbClr val="008236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避免AI混用新旧版本政策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86" name="Shape 56"/>
          <p:cNvSpPr/>
          <p:nvPr/>
        </p:nvSpPr>
        <p:spPr>
          <a:xfrm>
            <a:off x="378928" y="5949166"/>
            <a:ext cx="11434145" cy="530499"/>
          </a:xfrm>
          <a:custGeom>
            <a:avLst/>
            <a:gdLst/>
            <a:ahLst/>
            <a:cxnLst/>
            <a:rect l="l" t="t" r="r" b="b"/>
            <a:pathLst>
              <a:path w="11434145" h="530499">
                <a:moveTo>
                  <a:pt x="113681" y="0"/>
                </a:moveTo>
                <a:lnTo>
                  <a:pt x="11320464" y="0"/>
                </a:lnTo>
                <a:cubicBezTo>
                  <a:pt x="11383248" y="0"/>
                  <a:pt x="11434145" y="50897"/>
                  <a:pt x="11434145" y="113681"/>
                </a:cubicBezTo>
                <a:lnTo>
                  <a:pt x="11434145" y="416818"/>
                </a:lnTo>
                <a:cubicBezTo>
                  <a:pt x="11434145" y="479602"/>
                  <a:pt x="11383248" y="530499"/>
                  <a:pt x="11320464" y="530499"/>
                </a:cubicBezTo>
                <a:lnTo>
                  <a:pt x="113681" y="530499"/>
                </a:lnTo>
                <a:cubicBezTo>
                  <a:pt x="50939" y="530499"/>
                  <a:pt x="0" y="479560"/>
                  <a:pt x="0" y="416818"/>
                </a:cubicBezTo>
                <a:lnTo>
                  <a:pt x="0" y="113681"/>
                </a:lnTo>
                <a:cubicBezTo>
                  <a:pt x="0" y="50939"/>
                  <a:pt x="50939" y="0"/>
                  <a:pt x="113681" y="0"/>
                </a:cubicBezTo>
                <a:close/>
              </a:path>
            </a:pathLst>
          </a:custGeom>
          <a:gradFill flip="none" rotWithShape="1">
            <a:gsLst>
              <a:gs pos="0">
                <a:srgbClr val="1A535C">
                  <a:alpha val="29000"/>
                </a:srgbClr>
              </a:gs>
              <a:gs pos="100000">
                <a:srgbClr val="4ECDC4">
                  <a:alpha val="17000"/>
                </a:srgbClr>
              </a:gs>
            </a:gsLst>
            <a:lin ang="0" scaled="1"/>
          </a:gradFill>
        </p:spPr>
      </p:sp>
      <p:sp>
        <p:nvSpPr>
          <p:cNvPr id="87" name="Shape 57"/>
          <p:cNvSpPr/>
          <p:nvPr/>
        </p:nvSpPr>
        <p:spPr>
          <a:xfrm>
            <a:off x="549445" y="6138629"/>
            <a:ext cx="151571" cy="151571"/>
          </a:xfrm>
          <a:custGeom>
            <a:avLst/>
            <a:gdLst/>
            <a:ahLst/>
            <a:cxnLst/>
            <a:rect l="l" t="t" r="r" b="b"/>
            <a:pathLst>
              <a:path w="151571" h="151571">
                <a:moveTo>
                  <a:pt x="117971" y="3612"/>
                </a:moveTo>
                <a:lnTo>
                  <a:pt x="91860" y="29722"/>
                </a:lnTo>
                <a:lnTo>
                  <a:pt x="121849" y="59711"/>
                </a:lnTo>
                <a:lnTo>
                  <a:pt x="147959" y="33600"/>
                </a:lnTo>
                <a:cubicBezTo>
                  <a:pt x="150269" y="31262"/>
                  <a:pt x="151571" y="28124"/>
                  <a:pt x="151571" y="24867"/>
                </a:cubicBezTo>
                <a:cubicBezTo>
                  <a:pt x="151571" y="21611"/>
                  <a:pt x="150269" y="18473"/>
                  <a:pt x="147959" y="16134"/>
                </a:cubicBezTo>
                <a:lnTo>
                  <a:pt x="135437" y="3612"/>
                </a:lnTo>
                <a:cubicBezTo>
                  <a:pt x="133098" y="1303"/>
                  <a:pt x="129960" y="0"/>
                  <a:pt x="126704" y="0"/>
                </a:cubicBezTo>
                <a:cubicBezTo>
                  <a:pt x="123448" y="0"/>
                  <a:pt x="120310" y="1303"/>
                  <a:pt x="117971" y="3612"/>
                </a:cubicBezTo>
                <a:close/>
                <a:moveTo>
                  <a:pt x="81825" y="39758"/>
                </a:moveTo>
                <a:lnTo>
                  <a:pt x="3612" y="117971"/>
                </a:lnTo>
                <a:cubicBezTo>
                  <a:pt x="1303" y="120310"/>
                  <a:pt x="0" y="123448"/>
                  <a:pt x="0" y="126704"/>
                </a:cubicBezTo>
                <a:cubicBezTo>
                  <a:pt x="0" y="129960"/>
                  <a:pt x="1303" y="133098"/>
                  <a:pt x="3612" y="135437"/>
                </a:cubicBezTo>
                <a:lnTo>
                  <a:pt x="16134" y="147959"/>
                </a:lnTo>
                <a:cubicBezTo>
                  <a:pt x="18473" y="150269"/>
                  <a:pt x="21611" y="151571"/>
                  <a:pt x="24867" y="151571"/>
                </a:cubicBezTo>
                <a:cubicBezTo>
                  <a:pt x="28124" y="151571"/>
                  <a:pt x="31262" y="150269"/>
                  <a:pt x="33600" y="147959"/>
                </a:cubicBezTo>
                <a:lnTo>
                  <a:pt x="111813" y="69746"/>
                </a:lnTo>
                <a:lnTo>
                  <a:pt x="81825" y="3975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8" name="Text 58"/>
          <p:cNvSpPr/>
          <p:nvPr/>
        </p:nvSpPr>
        <p:spPr>
          <a:xfrm>
            <a:off x="776493" y="6100737"/>
            <a:ext cx="10960794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Prompt工程的核心：</a:t>
            </a:r>
            <a:r>
              <a:rPr lang="en-US" sz="1195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不是让AI更聪明，而是让AI更准确地理解你的需求，从而检索到更精准的信息</a:t>
            </a:r>
            <a:endParaRPr lang="en-US" sz="1600" dirty="0"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9724390" cy="720090"/>
          </a:xfrm>
        </p:spPr>
        <p:txBody>
          <a:bodyPr vert="horz" wrap="square" lIns="0" tIns="0" rIns="0" bIns="0" rtlCol="0" anchor="b">
            <a:normAutofit fontScale="90000"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RAG的"天花板"：为什么有时它像个"断章取义"的实习生？</a:t>
            </a:r>
            <a:endParaRPr lang="zh-CN" altLang="en-US">
              <a:sym typeface="+mn-ea"/>
            </a:endParaRPr>
          </a:p>
        </p:txBody>
      </p:sp>
      <p:sp>
        <p:nvSpPr>
          <p:cNvPr id="16" name="Text 2"/>
          <p:cNvSpPr/>
          <p:nvPr/>
        </p:nvSpPr>
        <p:spPr>
          <a:xfrm>
            <a:off x="355452" y="1030810"/>
            <a:ext cx="11561073" cy="24881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dirty="0"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传统RAG的三大缺陷</a:t>
            </a:r>
            <a:endParaRPr lang="en-US" dirty="0">
              <a:latin typeface="BMWGroupTN Condensed TT Light" charset="0"/>
              <a:ea typeface="BMWGroupTN Condensed TT Light" charset="0"/>
              <a:cs typeface="BMWGroupTN Condensed TT Light" charset="0"/>
              <a:sym typeface="+mn-ea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355452" y="1439580"/>
            <a:ext cx="3732245" cy="4141015"/>
          </a:xfrm>
          <a:custGeom>
            <a:avLst/>
            <a:gdLst/>
            <a:ahLst/>
            <a:cxnLst/>
            <a:rect l="l" t="t" r="r" b="b"/>
            <a:pathLst>
              <a:path w="3732245" h="4141015">
                <a:moveTo>
                  <a:pt x="35545" y="0"/>
                </a:moveTo>
                <a:lnTo>
                  <a:pt x="3696700" y="0"/>
                </a:lnTo>
                <a:cubicBezTo>
                  <a:pt x="3716331" y="0"/>
                  <a:pt x="3732245" y="15914"/>
                  <a:pt x="3732245" y="35545"/>
                </a:cubicBezTo>
                <a:lnTo>
                  <a:pt x="3732245" y="3998816"/>
                </a:lnTo>
                <a:cubicBezTo>
                  <a:pt x="3732245" y="4077350"/>
                  <a:pt x="3668580" y="4141015"/>
                  <a:pt x="3590046" y="4141015"/>
                </a:cubicBezTo>
                <a:lnTo>
                  <a:pt x="142199" y="4141015"/>
                </a:lnTo>
                <a:cubicBezTo>
                  <a:pt x="63664" y="4141015"/>
                  <a:pt x="0" y="4077350"/>
                  <a:pt x="0" y="3998816"/>
                </a:cubicBezTo>
                <a:lnTo>
                  <a:pt x="0" y="35545"/>
                </a:lnTo>
                <a:cubicBezTo>
                  <a:pt x="0" y="15914"/>
                  <a:pt x="15914" y="0"/>
                  <a:pt x="35545" y="0"/>
                </a:cubicBezTo>
                <a:close/>
              </a:path>
            </a:pathLst>
          </a:custGeom>
          <a:noFill/>
          <a:effectLst>
            <a:outerShdw blurRad="222157" dist="17772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5"/>
          <p:cNvSpPr/>
          <p:nvPr/>
        </p:nvSpPr>
        <p:spPr>
          <a:xfrm>
            <a:off x="533178" y="1635079"/>
            <a:ext cx="497633" cy="497633"/>
          </a:xfrm>
          <a:custGeom>
            <a:avLst/>
            <a:gdLst/>
            <a:ahLst/>
            <a:cxnLst/>
            <a:rect l="l" t="t" r="r" b="b"/>
            <a:pathLst>
              <a:path w="497633" h="497633">
                <a:moveTo>
                  <a:pt x="248816" y="0"/>
                </a:moveTo>
                <a:lnTo>
                  <a:pt x="248816" y="0"/>
                </a:lnTo>
                <a:cubicBezTo>
                  <a:pt x="386142" y="0"/>
                  <a:pt x="497633" y="111491"/>
                  <a:pt x="497633" y="248816"/>
                </a:cubicBezTo>
                <a:lnTo>
                  <a:pt x="497633" y="248816"/>
                </a:lnTo>
                <a:cubicBezTo>
                  <a:pt x="497633" y="386142"/>
                  <a:pt x="386142" y="497633"/>
                  <a:pt x="248816" y="497633"/>
                </a:cubicBezTo>
                <a:lnTo>
                  <a:pt x="248816" y="497633"/>
                </a:lnTo>
                <a:cubicBezTo>
                  <a:pt x="111491" y="497633"/>
                  <a:pt x="0" y="386142"/>
                  <a:pt x="0" y="248816"/>
                </a:cubicBezTo>
                <a:lnTo>
                  <a:pt x="0" y="248816"/>
                </a:lnTo>
                <a:cubicBezTo>
                  <a:pt x="0" y="111491"/>
                  <a:pt x="111491" y="0"/>
                  <a:pt x="248816" y="0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20" name="Shape 6"/>
          <p:cNvSpPr/>
          <p:nvPr/>
        </p:nvSpPr>
        <p:spPr>
          <a:xfrm>
            <a:off x="675359" y="1777259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106636" y="0"/>
                </a:moveTo>
                <a:cubicBezTo>
                  <a:pt x="112759" y="0"/>
                  <a:pt x="118382" y="3374"/>
                  <a:pt x="121298" y="8747"/>
                </a:cubicBezTo>
                <a:lnTo>
                  <a:pt x="211272" y="175366"/>
                </a:lnTo>
                <a:cubicBezTo>
                  <a:pt x="214063" y="180531"/>
                  <a:pt x="213938" y="186779"/>
                  <a:pt x="210938" y="191819"/>
                </a:cubicBezTo>
                <a:cubicBezTo>
                  <a:pt x="207939" y="196859"/>
                  <a:pt x="202483" y="199942"/>
                  <a:pt x="196609" y="199942"/>
                </a:cubicBezTo>
                <a:lnTo>
                  <a:pt x="16662" y="199942"/>
                </a:lnTo>
                <a:cubicBezTo>
                  <a:pt x="10789" y="199942"/>
                  <a:pt x="5373" y="196859"/>
                  <a:pt x="2333" y="191819"/>
                </a:cubicBezTo>
                <a:cubicBezTo>
                  <a:pt x="-708" y="186779"/>
                  <a:pt x="-791" y="180531"/>
                  <a:pt x="1999" y="175366"/>
                </a:cubicBezTo>
                <a:lnTo>
                  <a:pt x="91973" y="8747"/>
                </a:lnTo>
                <a:cubicBezTo>
                  <a:pt x="94889" y="3374"/>
                  <a:pt x="100512" y="0"/>
                  <a:pt x="106636" y="0"/>
                </a:cubicBezTo>
                <a:close/>
                <a:moveTo>
                  <a:pt x="106636" y="69980"/>
                </a:moveTo>
                <a:cubicBezTo>
                  <a:pt x="101096" y="69980"/>
                  <a:pt x="96638" y="74437"/>
                  <a:pt x="96638" y="79977"/>
                </a:cubicBezTo>
                <a:lnTo>
                  <a:pt x="96638" y="126630"/>
                </a:lnTo>
                <a:cubicBezTo>
                  <a:pt x="96638" y="132170"/>
                  <a:pt x="101096" y="136627"/>
                  <a:pt x="106636" y="136627"/>
                </a:cubicBezTo>
                <a:cubicBezTo>
                  <a:pt x="112176" y="136627"/>
                  <a:pt x="116633" y="132170"/>
                  <a:pt x="116633" y="126630"/>
                </a:cubicBezTo>
                <a:lnTo>
                  <a:pt x="116633" y="79977"/>
                </a:lnTo>
                <a:cubicBezTo>
                  <a:pt x="116633" y="74437"/>
                  <a:pt x="112176" y="69980"/>
                  <a:pt x="106636" y="69980"/>
                </a:cubicBezTo>
                <a:close/>
                <a:moveTo>
                  <a:pt x="117757" y="159953"/>
                </a:moveTo>
                <a:cubicBezTo>
                  <a:pt x="118010" y="155825"/>
                  <a:pt x="115952" y="151897"/>
                  <a:pt x="112413" y="149757"/>
                </a:cubicBezTo>
                <a:cubicBezTo>
                  <a:pt x="108874" y="147616"/>
                  <a:pt x="104439" y="147616"/>
                  <a:pt x="100900" y="149757"/>
                </a:cubicBezTo>
                <a:cubicBezTo>
                  <a:pt x="97361" y="151897"/>
                  <a:pt x="95302" y="155825"/>
                  <a:pt x="95555" y="159953"/>
                </a:cubicBezTo>
                <a:cubicBezTo>
                  <a:pt x="95302" y="164082"/>
                  <a:pt x="97361" y="168009"/>
                  <a:pt x="100900" y="170150"/>
                </a:cubicBezTo>
                <a:cubicBezTo>
                  <a:pt x="104439" y="172291"/>
                  <a:pt x="108874" y="172291"/>
                  <a:pt x="112413" y="170150"/>
                </a:cubicBezTo>
                <a:cubicBezTo>
                  <a:pt x="115952" y="168009"/>
                  <a:pt x="118010" y="164082"/>
                  <a:pt x="117757" y="15995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Text 7"/>
          <p:cNvSpPr/>
          <p:nvPr/>
        </p:nvSpPr>
        <p:spPr>
          <a:xfrm>
            <a:off x="1137285" y="1759585"/>
            <a:ext cx="1851025" cy="248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缺陷一</a:t>
            </a:r>
            <a:endParaRPr lang="en-US" b="1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2" name="Text 8"/>
          <p:cNvSpPr/>
          <p:nvPr/>
        </p:nvSpPr>
        <p:spPr>
          <a:xfrm>
            <a:off x="533178" y="2274892"/>
            <a:ext cx="3456770" cy="2488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信息孤岛效应</a:t>
            </a:r>
            <a:endParaRPr lang="en-US" sz="1600" b="1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3" name="Text 9"/>
          <p:cNvSpPr/>
          <p:nvPr/>
        </p:nvSpPr>
        <p:spPr>
          <a:xfrm>
            <a:off x="533178" y="2630344"/>
            <a:ext cx="3447883" cy="2132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切片切断语义</a:t>
            </a:r>
            <a:endParaRPr lang="en-US" sz="1400" b="1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0" name="Shape 10"/>
          <p:cNvSpPr/>
          <p:nvPr/>
        </p:nvSpPr>
        <p:spPr>
          <a:xfrm>
            <a:off x="533178" y="2950251"/>
            <a:ext cx="3376793" cy="639813"/>
          </a:xfrm>
          <a:custGeom>
            <a:avLst/>
            <a:gdLst/>
            <a:ahLst/>
            <a:cxnLst/>
            <a:rect l="l" t="t" r="r" b="b"/>
            <a:pathLst>
              <a:path w="3376793" h="639813">
                <a:moveTo>
                  <a:pt x="71090" y="0"/>
                </a:moveTo>
                <a:lnTo>
                  <a:pt x="3305703" y="0"/>
                </a:lnTo>
                <a:cubicBezTo>
                  <a:pt x="3344965" y="0"/>
                  <a:pt x="3376793" y="31828"/>
                  <a:pt x="3376793" y="71090"/>
                </a:cubicBezTo>
                <a:lnTo>
                  <a:pt x="3376793" y="568724"/>
                </a:lnTo>
                <a:cubicBezTo>
                  <a:pt x="3376793" y="607985"/>
                  <a:pt x="3344965" y="639813"/>
                  <a:pt x="3305703" y="639813"/>
                </a:cubicBezTo>
                <a:lnTo>
                  <a:pt x="71090" y="639813"/>
                </a:lnTo>
                <a:cubicBezTo>
                  <a:pt x="31828" y="639813"/>
                  <a:pt x="0" y="607985"/>
                  <a:pt x="0" y="568724"/>
                </a:cubicBezTo>
                <a:lnTo>
                  <a:pt x="0" y="71090"/>
                </a:lnTo>
                <a:cubicBezTo>
                  <a:pt x="0" y="31854"/>
                  <a:pt x="31854" y="0"/>
                  <a:pt x="71090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31" name="Text 11"/>
          <p:cNvSpPr/>
          <p:nvPr/>
        </p:nvSpPr>
        <p:spPr>
          <a:xfrm>
            <a:off x="640080" y="3056890"/>
            <a:ext cx="3225800" cy="495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本质原因：</a:t>
            </a:r>
            <a:r>
              <a:rPr lang="en-US" sz="1200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无论哪种切片方式，本质上都是在"切"，一旦切就难免丢失上下文</a:t>
            </a:r>
            <a:endParaRPr lang="en-US" sz="1200" dirty="0">
              <a:solidFill>
                <a:srgbClr val="1E293B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2" name="Shape 12"/>
          <p:cNvSpPr/>
          <p:nvPr/>
        </p:nvSpPr>
        <p:spPr>
          <a:xfrm>
            <a:off x="533400" y="3696970"/>
            <a:ext cx="3376930" cy="1730375"/>
          </a:xfrm>
          <a:custGeom>
            <a:avLst/>
            <a:gdLst/>
            <a:ahLst/>
            <a:cxnLst/>
            <a:rect l="l" t="t" r="r" b="b"/>
            <a:pathLst>
              <a:path w="3376793" h="1244082">
                <a:moveTo>
                  <a:pt x="71087" y="0"/>
                </a:moveTo>
                <a:lnTo>
                  <a:pt x="3305706" y="0"/>
                </a:lnTo>
                <a:cubicBezTo>
                  <a:pt x="3344966" y="0"/>
                  <a:pt x="3376793" y="31827"/>
                  <a:pt x="3376793" y="71087"/>
                </a:cubicBezTo>
                <a:lnTo>
                  <a:pt x="3376793" y="1172995"/>
                </a:lnTo>
                <a:cubicBezTo>
                  <a:pt x="3376793" y="1212255"/>
                  <a:pt x="3344966" y="1244082"/>
                  <a:pt x="3305706" y="1244082"/>
                </a:cubicBezTo>
                <a:lnTo>
                  <a:pt x="71087" y="1244082"/>
                </a:lnTo>
                <a:cubicBezTo>
                  <a:pt x="31827" y="1244082"/>
                  <a:pt x="0" y="1212255"/>
                  <a:pt x="0" y="1172995"/>
                </a:cubicBezTo>
                <a:lnTo>
                  <a:pt x="0" y="71087"/>
                </a:lnTo>
                <a:cubicBezTo>
                  <a:pt x="0" y="31853"/>
                  <a:pt x="31853" y="0"/>
                  <a:pt x="71087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33" name="Text 13"/>
          <p:cNvSpPr/>
          <p:nvPr/>
        </p:nvSpPr>
        <p:spPr>
          <a:xfrm>
            <a:off x="639813" y="3803335"/>
            <a:ext cx="3225726" cy="1777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1A53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宝马场景示例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639813" y="4052152"/>
            <a:ext cx="3225726" cy="355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"注意：上述自适应巡航功能在车速低于30km/h时自动解除。在拥堵路段请谨慎使用。"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639813" y="4478694"/>
            <a:ext cx="3225726" cy="355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E7000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→ 如果切片时把前半句和后半句分开，AI可能只输出"自动解除"而遗漏安全提醒"谨慎使用"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8" name="Shape 18"/>
          <p:cNvSpPr/>
          <p:nvPr/>
        </p:nvSpPr>
        <p:spPr>
          <a:xfrm>
            <a:off x="4408853" y="1635079"/>
            <a:ext cx="497633" cy="497633"/>
          </a:xfrm>
          <a:custGeom>
            <a:avLst/>
            <a:gdLst/>
            <a:ahLst/>
            <a:cxnLst/>
            <a:rect l="l" t="t" r="r" b="b"/>
            <a:pathLst>
              <a:path w="497633" h="497633">
                <a:moveTo>
                  <a:pt x="248816" y="0"/>
                </a:moveTo>
                <a:lnTo>
                  <a:pt x="248816" y="0"/>
                </a:lnTo>
                <a:cubicBezTo>
                  <a:pt x="386142" y="0"/>
                  <a:pt x="497633" y="111491"/>
                  <a:pt x="497633" y="248816"/>
                </a:cubicBezTo>
                <a:lnTo>
                  <a:pt x="497633" y="248816"/>
                </a:lnTo>
                <a:cubicBezTo>
                  <a:pt x="497633" y="386142"/>
                  <a:pt x="386142" y="497633"/>
                  <a:pt x="248816" y="497633"/>
                </a:cubicBezTo>
                <a:lnTo>
                  <a:pt x="248816" y="497633"/>
                </a:lnTo>
                <a:cubicBezTo>
                  <a:pt x="111491" y="497633"/>
                  <a:pt x="0" y="386142"/>
                  <a:pt x="0" y="248816"/>
                </a:cubicBezTo>
                <a:lnTo>
                  <a:pt x="0" y="248816"/>
                </a:lnTo>
                <a:cubicBezTo>
                  <a:pt x="0" y="111491"/>
                  <a:pt x="111491" y="0"/>
                  <a:pt x="248816" y="0"/>
                </a:cubicBezTo>
                <a:close/>
              </a:path>
            </a:pathLst>
          </a:custGeom>
          <a:solidFill>
            <a:srgbClr val="FF6900"/>
          </a:solidFill>
        </p:spPr>
      </p:sp>
      <p:sp>
        <p:nvSpPr>
          <p:cNvPr id="39" name="Shape 19"/>
          <p:cNvSpPr/>
          <p:nvPr/>
        </p:nvSpPr>
        <p:spPr>
          <a:xfrm>
            <a:off x="4551034" y="1777259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93306" y="0"/>
                </a:moveTo>
                <a:cubicBezTo>
                  <a:pt x="108010" y="0"/>
                  <a:pt x="119965" y="8956"/>
                  <a:pt x="119965" y="19994"/>
                </a:cubicBezTo>
                <a:cubicBezTo>
                  <a:pt x="119965" y="24326"/>
                  <a:pt x="118132" y="28325"/>
                  <a:pt x="114966" y="31616"/>
                </a:cubicBezTo>
                <a:cubicBezTo>
                  <a:pt x="112217" y="34490"/>
                  <a:pt x="109968" y="37989"/>
                  <a:pt x="109968" y="41988"/>
                </a:cubicBezTo>
                <a:cubicBezTo>
                  <a:pt x="109968" y="48236"/>
                  <a:pt x="115050" y="53318"/>
                  <a:pt x="121298" y="53318"/>
                </a:cubicBezTo>
                <a:lnTo>
                  <a:pt x="139959" y="53318"/>
                </a:lnTo>
                <a:cubicBezTo>
                  <a:pt x="150998" y="53318"/>
                  <a:pt x="159953" y="62274"/>
                  <a:pt x="159953" y="73312"/>
                </a:cubicBezTo>
                <a:lnTo>
                  <a:pt x="159953" y="91973"/>
                </a:lnTo>
                <a:cubicBezTo>
                  <a:pt x="159953" y="98221"/>
                  <a:pt x="165035" y="103303"/>
                  <a:pt x="171283" y="103303"/>
                </a:cubicBezTo>
                <a:cubicBezTo>
                  <a:pt x="175241" y="103303"/>
                  <a:pt x="178781" y="101054"/>
                  <a:pt x="181655" y="98305"/>
                </a:cubicBezTo>
                <a:cubicBezTo>
                  <a:pt x="184946" y="95181"/>
                  <a:pt x="188945" y="93306"/>
                  <a:pt x="193277" y="93306"/>
                </a:cubicBezTo>
                <a:cubicBezTo>
                  <a:pt x="204315" y="93306"/>
                  <a:pt x="213271" y="105261"/>
                  <a:pt x="213271" y="119965"/>
                </a:cubicBezTo>
                <a:cubicBezTo>
                  <a:pt x="213271" y="134669"/>
                  <a:pt x="204315" y="146624"/>
                  <a:pt x="193277" y="146624"/>
                </a:cubicBezTo>
                <a:cubicBezTo>
                  <a:pt x="188945" y="146624"/>
                  <a:pt x="184904" y="144791"/>
                  <a:pt x="181655" y="141625"/>
                </a:cubicBezTo>
                <a:cubicBezTo>
                  <a:pt x="178781" y="138876"/>
                  <a:pt x="175282" y="136627"/>
                  <a:pt x="171283" y="136627"/>
                </a:cubicBezTo>
                <a:cubicBezTo>
                  <a:pt x="165035" y="136627"/>
                  <a:pt x="159953" y="141709"/>
                  <a:pt x="159953" y="147957"/>
                </a:cubicBezTo>
                <a:lnTo>
                  <a:pt x="159953" y="193277"/>
                </a:lnTo>
                <a:cubicBezTo>
                  <a:pt x="159953" y="204315"/>
                  <a:pt x="150998" y="213271"/>
                  <a:pt x="139959" y="213271"/>
                </a:cubicBezTo>
                <a:lnTo>
                  <a:pt x="116299" y="213271"/>
                </a:lnTo>
                <a:cubicBezTo>
                  <a:pt x="110968" y="213271"/>
                  <a:pt x="106636" y="208939"/>
                  <a:pt x="106636" y="203607"/>
                </a:cubicBezTo>
                <a:cubicBezTo>
                  <a:pt x="106636" y="199775"/>
                  <a:pt x="109052" y="196401"/>
                  <a:pt x="112134" y="194110"/>
                </a:cubicBezTo>
                <a:cubicBezTo>
                  <a:pt x="116966" y="190486"/>
                  <a:pt x="119965" y="185488"/>
                  <a:pt x="119965" y="179948"/>
                </a:cubicBezTo>
                <a:cubicBezTo>
                  <a:pt x="119965" y="168909"/>
                  <a:pt x="108010" y="159953"/>
                  <a:pt x="93306" y="159953"/>
                </a:cubicBezTo>
                <a:cubicBezTo>
                  <a:pt x="78602" y="159953"/>
                  <a:pt x="66647" y="168909"/>
                  <a:pt x="66647" y="179948"/>
                </a:cubicBezTo>
                <a:cubicBezTo>
                  <a:pt x="66647" y="185488"/>
                  <a:pt x="69646" y="190486"/>
                  <a:pt x="74478" y="194110"/>
                </a:cubicBezTo>
                <a:cubicBezTo>
                  <a:pt x="77561" y="196401"/>
                  <a:pt x="79977" y="199733"/>
                  <a:pt x="79977" y="203607"/>
                </a:cubicBezTo>
                <a:cubicBezTo>
                  <a:pt x="79977" y="208939"/>
                  <a:pt x="75645" y="213271"/>
                  <a:pt x="70313" y="213271"/>
                </a:cubicBezTo>
                <a:lnTo>
                  <a:pt x="19994" y="213271"/>
                </a:lnTo>
                <a:cubicBezTo>
                  <a:pt x="8956" y="213271"/>
                  <a:pt x="0" y="204315"/>
                  <a:pt x="0" y="193277"/>
                </a:cubicBezTo>
                <a:lnTo>
                  <a:pt x="0" y="142958"/>
                </a:lnTo>
                <a:cubicBezTo>
                  <a:pt x="0" y="137627"/>
                  <a:pt x="4332" y="133294"/>
                  <a:pt x="9664" y="133294"/>
                </a:cubicBezTo>
                <a:cubicBezTo>
                  <a:pt x="13496" y="133294"/>
                  <a:pt x="16870" y="135710"/>
                  <a:pt x="19161" y="138793"/>
                </a:cubicBezTo>
                <a:cubicBezTo>
                  <a:pt x="22785" y="143625"/>
                  <a:pt x="27784" y="146624"/>
                  <a:pt x="33324" y="146624"/>
                </a:cubicBezTo>
                <a:cubicBezTo>
                  <a:pt x="44362" y="146624"/>
                  <a:pt x="53318" y="134669"/>
                  <a:pt x="53318" y="119965"/>
                </a:cubicBezTo>
                <a:cubicBezTo>
                  <a:pt x="53318" y="105261"/>
                  <a:pt x="44362" y="93306"/>
                  <a:pt x="33324" y="93306"/>
                </a:cubicBezTo>
                <a:cubicBezTo>
                  <a:pt x="27784" y="93306"/>
                  <a:pt x="22785" y="96305"/>
                  <a:pt x="19161" y="101137"/>
                </a:cubicBezTo>
                <a:cubicBezTo>
                  <a:pt x="16870" y="104220"/>
                  <a:pt x="13538" y="106636"/>
                  <a:pt x="9664" y="106636"/>
                </a:cubicBezTo>
                <a:cubicBezTo>
                  <a:pt x="4332" y="106636"/>
                  <a:pt x="0" y="102303"/>
                  <a:pt x="0" y="96972"/>
                </a:cubicBezTo>
                <a:lnTo>
                  <a:pt x="0" y="73312"/>
                </a:lnTo>
                <a:cubicBezTo>
                  <a:pt x="0" y="62274"/>
                  <a:pt x="8956" y="53318"/>
                  <a:pt x="19994" y="53318"/>
                </a:cubicBezTo>
                <a:lnTo>
                  <a:pt x="65314" y="53318"/>
                </a:lnTo>
                <a:cubicBezTo>
                  <a:pt x="71562" y="53318"/>
                  <a:pt x="76644" y="48236"/>
                  <a:pt x="76644" y="41988"/>
                </a:cubicBezTo>
                <a:cubicBezTo>
                  <a:pt x="76644" y="38031"/>
                  <a:pt x="74395" y="34490"/>
                  <a:pt x="71646" y="31616"/>
                </a:cubicBezTo>
                <a:cubicBezTo>
                  <a:pt x="68522" y="28325"/>
                  <a:pt x="66647" y="24326"/>
                  <a:pt x="66647" y="19994"/>
                </a:cubicBezTo>
                <a:cubicBezTo>
                  <a:pt x="66647" y="8956"/>
                  <a:pt x="78602" y="0"/>
                  <a:pt x="93306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0" name="Text 20"/>
          <p:cNvSpPr/>
          <p:nvPr/>
        </p:nvSpPr>
        <p:spPr>
          <a:xfrm>
            <a:off x="5013325" y="1759585"/>
            <a:ext cx="1851025" cy="248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缺陷二</a:t>
            </a:r>
            <a:endParaRPr lang="en-US" b="1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1" name="Text 21"/>
          <p:cNvSpPr/>
          <p:nvPr/>
        </p:nvSpPr>
        <p:spPr>
          <a:xfrm>
            <a:off x="4408853" y="2274892"/>
            <a:ext cx="3456770" cy="2488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碎片堆叠</a:t>
            </a:r>
            <a:endParaRPr lang="en-US" sz="1600" b="1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2" name="Text 22"/>
          <p:cNvSpPr/>
          <p:nvPr/>
        </p:nvSpPr>
        <p:spPr>
          <a:xfrm>
            <a:off x="4408853" y="2630344"/>
            <a:ext cx="3447883" cy="2132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缺乏权重与因果</a:t>
            </a:r>
            <a:endParaRPr lang="en-US" sz="1400" b="1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3" name="Shape 23"/>
          <p:cNvSpPr/>
          <p:nvPr/>
        </p:nvSpPr>
        <p:spPr>
          <a:xfrm>
            <a:off x="4408853" y="2950251"/>
            <a:ext cx="3376793" cy="639813"/>
          </a:xfrm>
          <a:custGeom>
            <a:avLst/>
            <a:gdLst/>
            <a:ahLst/>
            <a:cxnLst/>
            <a:rect l="l" t="t" r="r" b="b"/>
            <a:pathLst>
              <a:path w="3376793" h="639813">
                <a:moveTo>
                  <a:pt x="71090" y="0"/>
                </a:moveTo>
                <a:lnTo>
                  <a:pt x="3305703" y="0"/>
                </a:lnTo>
                <a:cubicBezTo>
                  <a:pt x="3344965" y="0"/>
                  <a:pt x="3376793" y="31828"/>
                  <a:pt x="3376793" y="71090"/>
                </a:cubicBezTo>
                <a:lnTo>
                  <a:pt x="3376793" y="568724"/>
                </a:lnTo>
                <a:cubicBezTo>
                  <a:pt x="3376793" y="607985"/>
                  <a:pt x="3344965" y="639813"/>
                  <a:pt x="3305703" y="639813"/>
                </a:cubicBezTo>
                <a:lnTo>
                  <a:pt x="71090" y="639813"/>
                </a:lnTo>
                <a:cubicBezTo>
                  <a:pt x="31828" y="639813"/>
                  <a:pt x="0" y="607985"/>
                  <a:pt x="0" y="568724"/>
                </a:cubicBezTo>
                <a:lnTo>
                  <a:pt x="0" y="71090"/>
                </a:lnTo>
                <a:cubicBezTo>
                  <a:pt x="0" y="31854"/>
                  <a:pt x="31854" y="0"/>
                  <a:pt x="71090" y="0"/>
                </a:cubicBezTo>
                <a:close/>
              </a:path>
            </a:pathLst>
          </a:custGeom>
          <a:solidFill>
            <a:srgbClr val="FFF7ED"/>
          </a:solidFill>
        </p:spPr>
      </p:sp>
      <p:sp>
        <p:nvSpPr>
          <p:cNvPr id="44" name="Text 24"/>
          <p:cNvSpPr/>
          <p:nvPr/>
        </p:nvSpPr>
        <p:spPr>
          <a:xfrm>
            <a:off x="4515485" y="3056890"/>
            <a:ext cx="3225800" cy="495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本质原因：</a:t>
            </a:r>
            <a:r>
              <a:rPr lang="en-US" sz="1200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传统RAG基于向量相似度返回Top K个片段，但向量相似 ≠ 逻辑重要</a:t>
            </a:r>
            <a:endParaRPr lang="en-US" sz="1200" dirty="0">
              <a:solidFill>
                <a:srgbClr val="1E293B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5" name="Shape 25"/>
          <p:cNvSpPr/>
          <p:nvPr/>
        </p:nvSpPr>
        <p:spPr>
          <a:xfrm>
            <a:off x="4408805" y="3696970"/>
            <a:ext cx="3376930" cy="1739265"/>
          </a:xfrm>
          <a:custGeom>
            <a:avLst/>
            <a:gdLst/>
            <a:ahLst/>
            <a:cxnLst/>
            <a:rect l="l" t="t" r="r" b="b"/>
            <a:pathLst>
              <a:path w="3376793" h="1706169">
                <a:moveTo>
                  <a:pt x="71096" y="0"/>
                </a:moveTo>
                <a:lnTo>
                  <a:pt x="3305697" y="0"/>
                </a:lnTo>
                <a:cubicBezTo>
                  <a:pt x="3344962" y="0"/>
                  <a:pt x="3376793" y="31831"/>
                  <a:pt x="3376793" y="71096"/>
                </a:cubicBezTo>
                <a:lnTo>
                  <a:pt x="3376793" y="1635073"/>
                </a:lnTo>
                <a:cubicBezTo>
                  <a:pt x="3376793" y="1674338"/>
                  <a:pt x="3344962" y="1706169"/>
                  <a:pt x="3305697" y="1706169"/>
                </a:cubicBezTo>
                <a:lnTo>
                  <a:pt x="71096" y="1706169"/>
                </a:lnTo>
                <a:cubicBezTo>
                  <a:pt x="31831" y="1706169"/>
                  <a:pt x="0" y="1674338"/>
                  <a:pt x="0" y="1635073"/>
                </a:cubicBezTo>
                <a:lnTo>
                  <a:pt x="0" y="71096"/>
                </a:lnTo>
                <a:cubicBezTo>
                  <a:pt x="0" y="31831"/>
                  <a:pt x="31831" y="0"/>
                  <a:pt x="71096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46" name="Text 26"/>
          <p:cNvSpPr/>
          <p:nvPr/>
        </p:nvSpPr>
        <p:spPr>
          <a:xfrm>
            <a:off x="4515489" y="3803335"/>
            <a:ext cx="3225726" cy="1777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1A53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宝马场景示例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7" name="Text 27"/>
          <p:cNvSpPr/>
          <p:nvPr/>
        </p:nvSpPr>
        <p:spPr>
          <a:xfrm>
            <a:off x="4515489" y="4052152"/>
            <a:ext cx="3225726" cy="1777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检索"X5配置"时，可能同时召回：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8" name="Text 28"/>
          <p:cNvSpPr/>
          <p:nvPr/>
        </p:nvSpPr>
        <p:spPr>
          <a:xfrm>
            <a:off x="4515489" y="4265423"/>
            <a:ext cx="3225726" cy="6042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98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2022年老款配置表</a:t>
            </a:r>
            <a:endParaRPr lang="en-US" sz="1600" dirty="0">
              <a:cs typeface="BMWGroupTN Condensed TT Light" charset="0"/>
            </a:endParaRPr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98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2025新款配置表</a:t>
            </a:r>
            <a:endParaRPr lang="en-US" sz="1600" dirty="0">
              <a:cs typeface="BMWGroupTN Condensed TT Light" charset="0"/>
            </a:endParaRPr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98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临时配置调整通告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9" name="Text 29"/>
          <p:cNvSpPr/>
          <p:nvPr/>
        </p:nvSpPr>
        <p:spPr>
          <a:xfrm>
            <a:off x="4515489" y="4940781"/>
            <a:ext cx="3225726" cy="355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F5490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→ AI看到多个版本，却不知道哪个是最新、最权威、最高优先级的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2" name="Shape 32"/>
          <p:cNvSpPr/>
          <p:nvPr/>
        </p:nvSpPr>
        <p:spPr>
          <a:xfrm>
            <a:off x="8284528" y="1635079"/>
            <a:ext cx="497633" cy="497633"/>
          </a:xfrm>
          <a:custGeom>
            <a:avLst/>
            <a:gdLst/>
            <a:ahLst/>
            <a:cxnLst/>
            <a:rect l="l" t="t" r="r" b="b"/>
            <a:pathLst>
              <a:path w="497633" h="497633">
                <a:moveTo>
                  <a:pt x="248816" y="0"/>
                </a:moveTo>
                <a:lnTo>
                  <a:pt x="248816" y="0"/>
                </a:lnTo>
                <a:cubicBezTo>
                  <a:pt x="386142" y="0"/>
                  <a:pt x="497633" y="111491"/>
                  <a:pt x="497633" y="248816"/>
                </a:cubicBezTo>
                <a:lnTo>
                  <a:pt x="497633" y="248816"/>
                </a:lnTo>
                <a:cubicBezTo>
                  <a:pt x="497633" y="386142"/>
                  <a:pt x="386142" y="497633"/>
                  <a:pt x="248816" y="497633"/>
                </a:cubicBezTo>
                <a:lnTo>
                  <a:pt x="248816" y="497633"/>
                </a:lnTo>
                <a:cubicBezTo>
                  <a:pt x="111491" y="497633"/>
                  <a:pt x="0" y="386142"/>
                  <a:pt x="0" y="248816"/>
                </a:cubicBezTo>
                <a:lnTo>
                  <a:pt x="0" y="248816"/>
                </a:lnTo>
                <a:cubicBezTo>
                  <a:pt x="0" y="111491"/>
                  <a:pt x="111491" y="0"/>
                  <a:pt x="248816" y="0"/>
                </a:cubicBezTo>
                <a:close/>
              </a:path>
            </a:pathLst>
          </a:custGeom>
          <a:solidFill>
            <a:srgbClr val="F0B100"/>
          </a:solidFill>
        </p:spPr>
      </p:sp>
      <p:sp>
        <p:nvSpPr>
          <p:cNvPr id="63" name="Shape 33"/>
          <p:cNvSpPr/>
          <p:nvPr/>
        </p:nvSpPr>
        <p:spPr>
          <a:xfrm>
            <a:off x="8426709" y="1777259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49985" y="23327"/>
                </a:moveTo>
                <a:cubicBezTo>
                  <a:pt x="49985" y="10455"/>
                  <a:pt x="60441" y="0"/>
                  <a:pt x="73312" y="0"/>
                </a:cubicBezTo>
                <a:lnTo>
                  <a:pt x="83309" y="0"/>
                </a:lnTo>
                <a:cubicBezTo>
                  <a:pt x="90682" y="0"/>
                  <a:pt x="96638" y="5957"/>
                  <a:pt x="96638" y="13329"/>
                </a:cubicBezTo>
                <a:lnTo>
                  <a:pt x="96638" y="199942"/>
                </a:lnTo>
                <a:cubicBezTo>
                  <a:pt x="96638" y="207315"/>
                  <a:pt x="90682" y="213271"/>
                  <a:pt x="83309" y="213271"/>
                </a:cubicBezTo>
                <a:lnTo>
                  <a:pt x="69980" y="213271"/>
                </a:lnTo>
                <a:cubicBezTo>
                  <a:pt x="57567" y="213271"/>
                  <a:pt x="47111" y="204774"/>
                  <a:pt x="44154" y="193277"/>
                </a:cubicBezTo>
                <a:cubicBezTo>
                  <a:pt x="43862" y="193277"/>
                  <a:pt x="43612" y="193277"/>
                  <a:pt x="43321" y="193277"/>
                </a:cubicBezTo>
                <a:cubicBezTo>
                  <a:pt x="24909" y="193277"/>
                  <a:pt x="9997" y="178365"/>
                  <a:pt x="9997" y="159953"/>
                </a:cubicBezTo>
                <a:cubicBezTo>
                  <a:pt x="9997" y="152456"/>
                  <a:pt x="12496" y="145541"/>
                  <a:pt x="16662" y="139959"/>
                </a:cubicBezTo>
                <a:cubicBezTo>
                  <a:pt x="8581" y="133878"/>
                  <a:pt x="3332" y="124214"/>
                  <a:pt x="3332" y="113300"/>
                </a:cubicBezTo>
                <a:cubicBezTo>
                  <a:pt x="3332" y="100429"/>
                  <a:pt x="10664" y="89224"/>
                  <a:pt x="21327" y="83684"/>
                </a:cubicBezTo>
                <a:cubicBezTo>
                  <a:pt x="18370" y="78685"/>
                  <a:pt x="16662" y="72854"/>
                  <a:pt x="16662" y="66647"/>
                </a:cubicBezTo>
                <a:cubicBezTo>
                  <a:pt x="16662" y="48236"/>
                  <a:pt x="31574" y="33324"/>
                  <a:pt x="49985" y="33324"/>
                </a:cubicBezTo>
                <a:lnTo>
                  <a:pt x="49985" y="23327"/>
                </a:lnTo>
                <a:close/>
                <a:moveTo>
                  <a:pt x="163286" y="23327"/>
                </a:moveTo>
                <a:lnTo>
                  <a:pt x="163286" y="33324"/>
                </a:lnTo>
                <a:cubicBezTo>
                  <a:pt x="181697" y="33324"/>
                  <a:pt x="196609" y="48236"/>
                  <a:pt x="196609" y="66647"/>
                </a:cubicBezTo>
                <a:cubicBezTo>
                  <a:pt x="196609" y="72895"/>
                  <a:pt x="194901" y="78727"/>
                  <a:pt x="191944" y="83684"/>
                </a:cubicBezTo>
                <a:cubicBezTo>
                  <a:pt x="202649" y="89224"/>
                  <a:pt x="209939" y="100387"/>
                  <a:pt x="209939" y="113300"/>
                </a:cubicBezTo>
                <a:cubicBezTo>
                  <a:pt x="209939" y="124214"/>
                  <a:pt x="204690" y="133878"/>
                  <a:pt x="196609" y="139959"/>
                </a:cubicBezTo>
                <a:cubicBezTo>
                  <a:pt x="200775" y="145541"/>
                  <a:pt x="203274" y="152456"/>
                  <a:pt x="203274" y="159953"/>
                </a:cubicBezTo>
                <a:cubicBezTo>
                  <a:pt x="203274" y="178365"/>
                  <a:pt x="188362" y="193277"/>
                  <a:pt x="169950" y="193277"/>
                </a:cubicBezTo>
                <a:cubicBezTo>
                  <a:pt x="169659" y="193277"/>
                  <a:pt x="169409" y="193277"/>
                  <a:pt x="169117" y="193277"/>
                </a:cubicBezTo>
                <a:cubicBezTo>
                  <a:pt x="166160" y="204774"/>
                  <a:pt x="155705" y="213271"/>
                  <a:pt x="143292" y="213271"/>
                </a:cubicBezTo>
                <a:lnTo>
                  <a:pt x="129962" y="213271"/>
                </a:lnTo>
                <a:cubicBezTo>
                  <a:pt x="122589" y="213271"/>
                  <a:pt x="116633" y="207315"/>
                  <a:pt x="116633" y="199942"/>
                </a:cubicBezTo>
                <a:lnTo>
                  <a:pt x="116633" y="13329"/>
                </a:lnTo>
                <a:cubicBezTo>
                  <a:pt x="116633" y="5957"/>
                  <a:pt x="122589" y="0"/>
                  <a:pt x="129962" y="0"/>
                </a:cubicBezTo>
                <a:lnTo>
                  <a:pt x="139959" y="0"/>
                </a:lnTo>
                <a:cubicBezTo>
                  <a:pt x="152830" y="0"/>
                  <a:pt x="163286" y="10455"/>
                  <a:pt x="163286" y="2332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4" name="Text 34"/>
          <p:cNvSpPr/>
          <p:nvPr/>
        </p:nvSpPr>
        <p:spPr>
          <a:xfrm>
            <a:off x="8888730" y="1759585"/>
            <a:ext cx="1851025" cy="248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缺陷三</a:t>
            </a:r>
            <a:endParaRPr lang="en-US" b="1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5" name="Text 35"/>
          <p:cNvSpPr/>
          <p:nvPr/>
        </p:nvSpPr>
        <p:spPr>
          <a:xfrm>
            <a:off x="8284528" y="2274892"/>
            <a:ext cx="3456770" cy="2488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幻觉放大器</a:t>
            </a:r>
            <a:endParaRPr lang="en-US" sz="1600" b="1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6" name="Text 36"/>
          <p:cNvSpPr/>
          <p:nvPr/>
        </p:nvSpPr>
        <p:spPr>
          <a:xfrm>
            <a:off x="8284528" y="2630344"/>
            <a:ext cx="3447883" cy="2132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AI"脑补"缺失逻辑</a:t>
            </a:r>
            <a:endParaRPr lang="en-US" sz="1400" b="1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7" name="Shape 37"/>
          <p:cNvSpPr/>
          <p:nvPr/>
        </p:nvSpPr>
        <p:spPr>
          <a:xfrm>
            <a:off x="8284528" y="2950251"/>
            <a:ext cx="3376793" cy="639813"/>
          </a:xfrm>
          <a:custGeom>
            <a:avLst/>
            <a:gdLst/>
            <a:ahLst/>
            <a:cxnLst/>
            <a:rect l="l" t="t" r="r" b="b"/>
            <a:pathLst>
              <a:path w="3376793" h="639813">
                <a:moveTo>
                  <a:pt x="71090" y="0"/>
                </a:moveTo>
                <a:lnTo>
                  <a:pt x="3305703" y="0"/>
                </a:lnTo>
                <a:cubicBezTo>
                  <a:pt x="3344965" y="0"/>
                  <a:pt x="3376793" y="31828"/>
                  <a:pt x="3376793" y="71090"/>
                </a:cubicBezTo>
                <a:lnTo>
                  <a:pt x="3376793" y="568724"/>
                </a:lnTo>
                <a:cubicBezTo>
                  <a:pt x="3376793" y="607985"/>
                  <a:pt x="3344965" y="639813"/>
                  <a:pt x="3305703" y="639813"/>
                </a:cubicBezTo>
                <a:lnTo>
                  <a:pt x="71090" y="639813"/>
                </a:lnTo>
                <a:cubicBezTo>
                  <a:pt x="31828" y="639813"/>
                  <a:pt x="0" y="607985"/>
                  <a:pt x="0" y="568724"/>
                </a:cubicBezTo>
                <a:lnTo>
                  <a:pt x="0" y="71090"/>
                </a:lnTo>
                <a:cubicBezTo>
                  <a:pt x="0" y="31854"/>
                  <a:pt x="31854" y="0"/>
                  <a:pt x="71090" y="0"/>
                </a:cubicBezTo>
                <a:close/>
              </a:path>
            </a:pathLst>
          </a:custGeom>
          <a:solidFill>
            <a:srgbClr val="FEFCE8"/>
          </a:solidFill>
        </p:spPr>
      </p:sp>
      <p:sp>
        <p:nvSpPr>
          <p:cNvPr id="68" name="Text 38"/>
          <p:cNvSpPr/>
          <p:nvPr/>
        </p:nvSpPr>
        <p:spPr>
          <a:xfrm>
            <a:off x="8390890" y="3026410"/>
            <a:ext cx="3225800" cy="495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本质原因：</a:t>
            </a:r>
            <a:r>
              <a:rPr lang="en-US" sz="1200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AI检索到的信息碎片不足以支撑完整回答时，大模型会"脑补"中间缺失的逻辑，从而编造内容</a:t>
            </a:r>
            <a:endParaRPr lang="en-US" sz="1200" dirty="0">
              <a:solidFill>
                <a:srgbClr val="1E293B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9" name="Shape 39"/>
          <p:cNvSpPr/>
          <p:nvPr/>
        </p:nvSpPr>
        <p:spPr>
          <a:xfrm>
            <a:off x="8284845" y="3696970"/>
            <a:ext cx="3376930" cy="1743075"/>
          </a:xfrm>
          <a:custGeom>
            <a:avLst/>
            <a:gdLst/>
            <a:ahLst/>
            <a:cxnLst/>
            <a:rect l="l" t="t" r="r" b="b"/>
            <a:pathLst>
              <a:path w="3376793" h="1421808">
                <a:moveTo>
                  <a:pt x="71090" y="0"/>
                </a:moveTo>
                <a:lnTo>
                  <a:pt x="3305703" y="0"/>
                </a:lnTo>
                <a:cubicBezTo>
                  <a:pt x="3344965" y="0"/>
                  <a:pt x="3376793" y="31828"/>
                  <a:pt x="3376793" y="71090"/>
                </a:cubicBezTo>
                <a:lnTo>
                  <a:pt x="3376793" y="1350717"/>
                </a:lnTo>
                <a:cubicBezTo>
                  <a:pt x="3376793" y="1389979"/>
                  <a:pt x="3344965" y="1421808"/>
                  <a:pt x="3305703" y="1421808"/>
                </a:cubicBezTo>
                <a:lnTo>
                  <a:pt x="71090" y="1421808"/>
                </a:lnTo>
                <a:cubicBezTo>
                  <a:pt x="31828" y="1421808"/>
                  <a:pt x="0" y="1389979"/>
                  <a:pt x="0" y="1350717"/>
                </a:cubicBezTo>
                <a:lnTo>
                  <a:pt x="0" y="71090"/>
                </a:lnTo>
                <a:cubicBezTo>
                  <a:pt x="0" y="31855"/>
                  <a:pt x="31855" y="0"/>
                  <a:pt x="71090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70" name="Text 40"/>
          <p:cNvSpPr/>
          <p:nvPr/>
        </p:nvSpPr>
        <p:spPr>
          <a:xfrm>
            <a:off x="8391164" y="3803335"/>
            <a:ext cx="3225726" cy="1777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1A53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宝马场景示例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1" name="Text 41"/>
          <p:cNvSpPr/>
          <p:nvPr/>
        </p:nvSpPr>
        <p:spPr>
          <a:xfrm>
            <a:off x="8391164" y="4052152"/>
            <a:ext cx="3225726" cy="355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文档只说："B48发动机冷车启动抖动可能与高压油泵相关"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2" name="Text 42"/>
          <p:cNvSpPr/>
          <p:nvPr/>
        </p:nvSpPr>
        <p:spPr>
          <a:xfrm>
            <a:off x="8391164" y="4478694"/>
            <a:ext cx="3225726" cy="533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D0870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→ AI可能"补充"为"建议更换高压油泵"，而原文档的完整诊断流程其实包含先检查软件版本、再测油压等多个前置步骤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3" name="Shape 43"/>
          <p:cNvSpPr/>
          <p:nvPr/>
        </p:nvSpPr>
        <p:spPr>
          <a:xfrm>
            <a:off x="355452" y="5722776"/>
            <a:ext cx="11481096" cy="781994"/>
          </a:xfrm>
          <a:custGeom>
            <a:avLst/>
            <a:gdLst/>
            <a:ahLst/>
            <a:cxnLst/>
            <a:rect l="l" t="t" r="r" b="b"/>
            <a:pathLst>
              <a:path w="11481096" h="781994">
                <a:moveTo>
                  <a:pt x="106633" y="0"/>
                </a:moveTo>
                <a:lnTo>
                  <a:pt x="11374463" y="0"/>
                </a:lnTo>
                <a:cubicBezTo>
                  <a:pt x="11433355" y="0"/>
                  <a:pt x="11481096" y="47741"/>
                  <a:pt x="11481096" y="106633"/>
                </a:cubicBezTo>
                <a:lnTo>
                  <a:pt x="11481096" y="675361"/>
                </a:lnTo>
                <a:cubicBezTo>
                  <a:pt x="11481096" y="734253"/>
                  <a:pt x="11433355" y="781994"/>
                  <a:pt x="11374463" y="781994"/>
                </a:cubicBezTo>
                <a:lnTo>
                  <a:pt x="106633" y="781994"/>
                </a:lnTo>
                <a:cubicBezTo>
                  <a:pt x="47741" y="781994"/>
                  <a:pt x="0" y="734253"/>
                  <a:pt x="0" y="675361"/>
                </a:cubicBezTo>
                <a:lnTo>
                  <a:pt x="0" y="106633"/>
                </a:lnTo>
                <a:cubicBezTo>
                  <a:pt x="0" y="47781"/>
                  <a:pt x="47781" y="0"/>
                  <a:pt x="106633" y="0"/>
                </a:cubicBezTo>
                <a:close/>
              </a:path>
            </a:pathLst>
          </a:custGeom>
          <a:noFill/>
        </p:spPr>
      </p:sp>
      <p:sp>
        <p:nvSpPr>
          <p:cNvPr id="74" name="Shape 44"/>
          <p:cNvSpPr/>
          <p:nvPr/>
        </p:nvSpPr>
        <p:spPr>
          <a:xfrm>
            <a:off x="577609" y="5953819"/>
            <a:ext cx="239930" cy="319907"/>
          </a:xfrm>
          <a:custGeom>
            <a:avLst/>
            <a:gdLst/>
            <a:ahLst/>
            <a:cxnLst/>
            <a:rect l="l" t="t" r="r" b="b"/>
            <a:pathLst>
              <a:path w="239930" h="319907">
                <a:moveTo>
                  <a:pt x="183009" y="239930"/>
                </a:moveTo>
                <a:cubicBezTo>
                  <a:pt x="187570" y="225997"/>
                  <a:pt x="196693" y="213375"/>
                  <a:pt x="207002" y="202503"/>
                </a:cubicBezTo>
                <a:cubicBezTo>
                  <a:pt x="227434" y="181010"/>
                  <a:pt x="239930" y="151956"/>
                  <a:pt x="239930" y="119965"/>
                </a:cubicBezTo>
                <a:cubicBezTo>
                  <a:pt x="239930" y="53734"/>
                  <a:pt x="186196" y="0"/>
                  <a:pt x="119965" y="0"/>
                </a:cubicBezTo>
                <a:cubicBezTo>
                  <a:pt x="53734" y="0"/>
                  <a:pt x="0" y="53734"/>
                  <a:pt x="0" y="119965"/>
                </a:cubicBezTo>
                <a:cubicBezTo>
                  <a:pt x="0" y="151956"/>
                  <a:pt x="12496" y="181010"/>
                  <a:pt x="32928" y="202503"/>
                </a:cubicBezTo>
                <a:cubicBezTo>
                  <a:pt x="43237" y="213375"/>
                  <a:pt x="52422" y="225997"/>
                  <a:pt x="56921" y="239930"/>
                </a:cubicBezTo>
                <a:lnTo>
                  <a:pt x="182947" y="239930"/>
                </a:lnTo>
                <a:close/>
                <a:moveTo>
                  <a:pt x="179948" y="269921"/>
                </a:moveTo>
                <a:lnTo>
                  <a:pt x="59983" y="269921"/>
                </a:lnTo>
                <a:lnTo>
                  <a:pt x="59983" y="279918"/>
                </a:lnTo>
                <a:cubicBezTo>
                  <a:pt x="59983" y="307535"/>
                  <a:pt x="82351" y="329904"/>
                  <a:pt x="109968" y="329904"/>
                </a:cubicBezTo>
                <a:lnTo>
                  <a:pt x="129962" y="329904"/>
                </a:lnTo>
                <a:cubicBezTo>
                  <a:pt x="157579" y="329904"/>
                  <a:pt x="179948" y="307535"/>
                  <a:pt x="179948" y="279918"/>
                </a:cubicBezTo>
                <a:lnTo>
                  <a:pt x="179948" y="269921"/>
                </a:lnTo>
                <a:close/>
                <a:moveTo>
                  <a:pt x="114966" y="69980"/>
                </a:moveTo>
                <a:cubicBezTo>
                  <a:pt x="90099" y="69980"/>
                  <a:pt x="69980" y="90099"/>
                  <a:pt x="69980" y="114966"/>
                </a:cubicBezTo>
                <a:cubicBezTo>
                  <a:pt x="69980" y="123277"/>
                  <a:pt x="63294" y="129962"/>
                  <a:pt x="54984" y="129962"/>
                </a:cubicBezTo>
                <a:cubicBezTo>
                  <a:pt x="46674" y="129962"/>
                  <a:pt x="39988" y="123277"/>
                  <a:pt x="39988" y="114966"/>
                </a:cubicBezTo>
                <a:cubicBezTo>
                  <a:pt x="39988" y="73541"/>
                  <a:pt x="73541" y="39988"/>
                  <a:pt x="114966" y="39988"/>
                </a:cubicBezTo>
                <a:cubicBezTo>
                  <a:pt x="123277" y="39988"/>
                  <a:pt x="129962" y="46674"/>
                  <a:pt x="129962" y="54984"/>
                </a:cubicBezTo>
                <a:cubicBezTo>
                  <a:pt x="129962" y="63294"/>
                  <a:pt x="123277" y="69980"/>
                  <a:pt x="114966" y="6998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5" name="Text 45"/>
          <p:cNvSpPr/>
          <p:nvPr/>
        </p:nvSpPr>
        <p:spPr>
          <a:xfrm>
            <a:off x="1039697" y="5864956"/>
            <a:ext cx="7393399" cy="2488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本页小结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6" name="Text 46"/>
          <p:cNvSpPr/>
          <p:nvPr/>
        </p:nvSpPr>
        <p:spPr>
          <a:xfrm>
            <a:off x="1039697" y="6149318"/>
            <a:ext cx="7375627" cy="2132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传统RAG本质是</a:t>
            </a:r>
            <a:r>
              <a:rPr lang="en-US" sz="112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"相似片段召回"</a:t>
            </a:r>
            <a:r>
              <a:rPr lang="en-US" sz="1120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，而非</a:t>
            </a:r>
            <a:r>
              <a:rPr lang="en-US" sz="112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"逻辑推理"</a:t>
            </a:r>
            <a:r>
              <a:rPr lang="en-US" sz="1120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。这对单步事实查询足够，但对需要关联多个信息点的问题力不从心</a:t>
            </a:r>
            <a:endParaRPr lang="en-US" sz="1600" dirty="0"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知识库的"多跳推理"：当答案藏在不同文档中</a:t>
            </a:r>
            <a:endParaRPr lang="zh-CN" altLang="en-US">
              <a:sym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9842" y="1014542"/>
            <a:ext cx="11571030" cy="2448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altLang="zh-CN" dirty="0"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需要通过语义关联而非表关联来找到并整合答案</a:t>
            </a:r>
            <a:endParaRPr lang="en-US" altLang="zh-CN" dirty="0">
              <a:latin typeface="BMWGroupTN Condensed TT Light" charset="0"/>
              <a:ea typeface="BMWGroupTN Condensed TT Light" charset="0"/>
              <a:cs typeface="BMWGroupTN Condensed TT Light" charset="0"/>
              <a:sym typeface="+mn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24763" y="1574290"/>
            <a:ext cx="489779" cy="489779"/>
          </a:xfrm>
          <a:custGeom>
            <a:avLst/>
            <a:gdLst/>
            <a:ahLst/>
            <a:cxnLst/>
            <a:rect l="l" t="t" r="r" b="b"/>
            <a:pathLst>
              <a:path w="489779" h="489779">
                <a:moveTo>
                  <a:pt x="244890" y="0"/>
                </a:moveTo>
                <a:lnTo>
                  <a:pt x="244890" y="0"/>
                </a:lnTo>
                <a:cubicBezTo>
                  <a:pt x="380048" y="0"/>
                  <a:pt x="489779" y="109731"/>
                  <a:pt x="489779" y="244890"/>
                </a:cubicBezTo>
                <a:lnTo>
                  <a:pt x="489779" y="244890"/>
                </a:lnTo>
                <a:cubicBezTo>
                  <a:pt x="489779" y="380048"/>
                  <a:pt x="380048" y="489779"/>
                  <a:pt x="244890" y="489779"/>
                </a:cubicBezTo>
                <a:lnTo>
                  <a:pt x="244890" y="489779"/>
                </a:lnTo>
                <a:cubicBezTo>
                  <a:pt x="109731" y="489779"/>
                  <a:pt x="0" y="380048"/>
                  <a:pt x="0" y="244890"/>
                </a:cubicBezTo>
                <a:lnTo>
                  <a:pt x="0" y="244890"/>
                </a:lnTo>
                <a:cubicBezTo>
                  <a:pt x="0" y="109731"/>
                  <a:pt x="109731" y="0"/>
                  <a:pt x="244890" y="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2" name="Shape 5"/>
          <p:cNvSpPr/>
          <p:nvPr/>
        </p:nvSpPr>
        <p:spPr>
          <a:xfrm>
            <a:off x="690938" y="1714227"/>
            <a:ext cx="157429" cy="209905"/>
          </a:xfrm>
          <a:custGeom>
            <a:avLst/>
            <a:gdLst/>
            <a:ahLst/>
            <a:cxnLst/>
            <a:rect l="l" t="t" r="r" b="b"/>
            <a:pathLst>
              <a:path w="157429" h="209905">
                <a:moveTo>
                  <a:pt x="120081" y="157429"/>
                </a:moveTo>
                <a:cubicBezTo>
                  <a:pt x="123073" y="148287"/>
                  <a:pt x="129059" y="140005"/>
                  <a:pt x="135823" y="132872"/>
                </a:cubicBezTo>
                <a:cubicBezTo>
                  <a:pt x="149230" y="118769"/>
                  <a:pt x="157429" y="99705"/>
                  <a:pt x="157429" y="78714"/>
                </a:cubicBezTo>
                <a:cubicBezTo>
                  <a:pt x="157429" y="35258"/>
                  <a:pt x="122171" y="0"/>
                  <a:pt x="78714" y="0"/>
                </a:cubicBezTo>
                <a:cubicBezTo>
                  <a:pt x="35258" y="0"/>
                  <a:pt x="0" y="35258"/>
                  <a:pt x="0" y="78714"/>
                </a:cubicBezTo>
                <a:cubicBezTo>
                  <a:pt x="0" y="99705"/>
                  <a:pt x="8199" y="118769"/>
                  <a:pt x="21605" y="132872"/>
                </a:cubicBezTo>
                <a:cubicBezTo>
                  <a:pt x="28370" y="140005"/>
                  <a:pt x="34397" y="148287"/>
                  <a:pt x="37348" y="157429"/>
                </a:cubicBezTo>
                <a:lnTo>
                  <a:pt x="120040" y="157429"/>
                </a:lnTo>
                <a:close/>
                <a:moveTo>
                  <a:pt x="118072" y="177108"/>
                </a:moveTo>
                <a:lnTo>
                  <a:pt x="39357" y="177108"/>
                </a:lnTo>
                <a:lnTo>
                  <a:pt x="39357" y="183667"/>
                </a:lnTo>
                <a:cubicBezTo>
                  <a:pt x="39357" y="201788"/>
                  <a:pt x="54034" y="216465"/>
                  <a:pt x="72155" y="216465"/>
                </a:cubicBezTo>
                <a:lnTo>
                  <a:pt x="85274" y="216465"/>
                </a:lnTo>
                <a:cubicBezTo>
                  <a:pt x="103395" y="216465"/>
                  <a:pt x="118072" y="201788"/>
                  <a:pt x="118072" y="183667"/>
                </a:cubicBezTo>
                <a:lnTo>
                  <a:pt x="118072" y="177108"/>
                </a:lnTo>
                <a:close/>
                <a:moveTo>
                  <a:pt x="75435" y="45917"/>
                </a:moveTo>
                <a:cubicBezTo>
                  <a:pt x="59118" y="45917"/>
                  <a:pt x="45917" y="59118"/>
                  <a:pt x="45917" y="75435"/>
                </a:cubicBezTo>
                <a:cubicBezTo>
                  <a:pt x="45917" y="80887"/>
                  <a:pt x="41530" y="85274"/>
                  <a:pt x="36077" y="85274"/>
                </a:cubicBezTo>
                <a:cubicBezTo>
                  <a:pt x="30625" y="85274"/>
                  <a:pt x="26238" y="80887"/>
                  <a:pt x="26238" y="75435"/>
                </a:cubicBezTo>
                <a:cubicBezTo>
                  <a:pt x="26238" y="48254"/>
                  <a:pt x="48254" y="26238"/>
                  <a:pt x="75435" y="26238"/>
                </a:cubicBezTo>
                <a:cubicBezTo>
                  <a:pt x="80887" y="26238"/>
                  <a:pt x="85274" y="30625"/>
                  <a:pt x="85274" y="36077"/>
                </a:cubicBezTo>
                <a:cubicBezTo>
                  <a:pt x="85274" y="41530"/>
                  <a:pt x="80887" y="45917"/>
                  <a:pt x="75435" y="4591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119495" y="1591782"/>
            <a:ext cx="1364385" cy="2798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5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核心概念澄清</a:t>
            </a:r>
            <a:endParaRPr lang="en-US" sz="1655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19495" y="1871656"/>
            <a:ext cx="1320654" cy="1749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5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这不是数据库查询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24763" y="2204006"/>
            <a:ext cx="5326347" cy="664700"/>
          </a:xfrm>
          <a:custGeom>
            <a:avLst/>
            <a:gdLst/>
            <a:ahLst/>
            <a:cxnLst/>
            <a:rect l="l" t="t" r="r" b="b"/>
            <a:pathLst>
              <a:path w="5326347" h="664700">
                <a:moveTo>
                  <a:pt x="69966" y="0"/>
                </a:moveTo>
                <a:lnTo>
                  <a:pt x="5256381" y="0"/>
                </a:lnTo>
                <a:cubicBezTo>
                  <a:pt x="5295022" y="0"/>
                  <a:pt x="5326347" y="31325"/>
                  <a:pt x="5326347" y="69966"/>
                </a:cubicBezTo>
                <a:lnTo>
                  <a:pt x="5326347" y="594734"/>
                </a:lnTo>
                <a:cubicBezTo>
                  <a:pt x="5326347" y="633375"/>
                  <a:pt x="5295022" y="664700"/>
                  <a:pt x="5256381" y="664700"/>
                </a:cubicBezTo>
                <a:lnTo>
                  <a:pt x="69966" y="664700"/>
                </a:lnTo>
                <a:cubicBezTo>
                  <a:pt x="31325" y="664700"/>
                  <a:pt x="0" y="633375"/>
                  <a:pt x="0" y="594734"/>
                </a:cubicBezTo>
                <a:lnTo>
                  <a:pt x="0" y="69966"/>
                </a:lnTo>
                <a:cubicBezTo>
                  <a:pt x="0" y="31351"/>
                  <a:pt x="31351" y="0"/>
                  <a:pt x="69966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9716" y="2317704"/>
            <a:ext cx="2169022" cy="1924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多跳问答在知识库场景中的定义：</a:t>
            </a:r>
            <a:endParaRPr lang="en-US" sz="110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9716" y="2588832"/>
            <a:ext cx="5177664" cy="1749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5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答案的各个组成部分</a:t>
            </a:r>
            <a:r>
              <a:rPr lang="en-US" sz="965" b="1" dirty="0">
                <a:solidFill>
                  <a:srgbClr val="FF000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分散在不同文档</a:t>
            </a:r>
            <a:r>
              <a:rPr lang="en-US" sz="965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中，需要通过</a:t>
            </a:r>
            <a:r>
              <a:rPr lang="en-US" sz="965" b="1" dirty="0">
                <a:solidFill>
                  <a:srgbClr val="FF000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语义关联</a:t>
            </a:r>
            <a:r>
              <a:rPr lang="en-US" sz="965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而不是表关联来找到并整合它们</a:t>
            </a:r>
            <a:endParaRPr lang="en-US" sz="965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9428" y="3673665"/>
            <a:ext cx="139937" cy="139937"/>
          </a:xfrm>
          <a:custGeom>
            <a:avLst/>
            <a:gdLst/>
            <a:ahLst/>
            <a:cxnLst/>
            <a:rect l="l" t="t" r="r" b="b"/>
            <a:pathLst>
              <a:path w="139937" h="139937">
                <a:moveTo>
                  <a:pt x="137368" y="41161"/>
                </a:moveTo>
                <a:lnTo>
                  <a:pt x="111130" y="67399"/>
                </a:lnTo>
                <a:cubicBezTo>
                  <a:pt x="108615" y="69914"/>
                  <a:pt x="104871" y="70652"/>
                  <a:pt x="101591" y="69285"/>
                </a:cubicBezTo>
                <a:cubicBezTo>
                  <a:pt x="98311" y="67919"/>
                  <a:pt x="96207" y="64748"/>
                  <a:pt x="96207" y="61222"/>
                </a:cubicBezTo>
                <a:lnTo>
                  <a:pt x="96207" y="43730"/>
                </a:lnTo>
                <a:lnTo>
                  <a:pt x="8746" y="43730"/>
                </a:lnTo>
                <a:cubicBezTo>
                  <a:pt x="3908" y="43730"/>
                  <a:pt x="0" y="39822"/>
                  <a:pt x="0" y="34984"/>
                </a:cubicBezTo>
                <a:cubicBezTo>
                  <a:pt x="0" y="30147"/>
                  <a:pt x="3908" y="26238"/>
                  <a:pt x="8746" y="26238"/>
                </a:cubicBezTo>
                <a:lnTo>
                  <a:pt x="96207" y="26238"/>
                </a:lnTo>
                <a:lnTo>
                  <a:pt x="96207" y="8746"/>
                </a:lnTo>
                <a:cubicBezTo>
                  <a:pt x="96207" y="5220"/>
                  <a:pt x="98338" y="2023"/>
                  <a:pt x="101618" y="656"/>
                </a:cubicBezTo>
                <a:cubicBezTo>
                  <a:pt x="104898" y="-711"/>
                  <a:pt x="108642" y="55"/>
                  <a:pt x="111157" y="2542"/>
                </a:cubicBezTo>
                <a:lnTo>
                  <a:pt x="137395" y="28780"/>
                </a:lnTo>
                <a:cubicBezTo>
                  <a:pt x="140811" y="32196"/>
                  <a:pt x="140811" y="37745"/>
                  <a:pt x="137395" y="41161"/>
                </a:cubicBezTo>
                <a:close/>
                <a:moveTo>
                  <a:pt x="28780" y="137368"/>
                </a:moveTo>
                <a:lnTo>
                  <a:pt x="2542" y="111130"/>
                </a:lnTo>
                <a:cubicBezTo>
                  <a:pt x="-875" y="107713"/>
                  <a:pt x="-875" y="102165"/>
                  <a:pt x="2542" y="98748"/>
                </a:cubicBezTo>
                <a:lnTo>
                  <a:pt x="28780" y="72510"/>
                </a:lnTo>
                <a:cubicBezTo>
                  <a:pt x="31294" y="69996"/>
                  <a:pt x="35039" y="69258"/>
                  <a:pt x="38319" y="70624"/>
                </a:cubicBezTo>
                <a:cubicBezTo>
                  <a:pt x="41598" y="71991"/>
                  <a:pt x="43730" y="75189"/>
                  <a:pt x="43730" y="78714"/>
                </a:cubicBezTo>
                <a:lnTo>
                  <a:pt x="43730" y="96207"/>
                </a:lnTo>
                <a:lnTo>
                  <a:pt x="131191" y="96207"/>
                </a:lnTo>
                <a:cubicBezTo>
                  <a:pt x="136028" y="96207"/>
                  <a:pt x="139937" y="100115"/>
                  <a:pt x="139937" y="104953"/>
                </a:cubicBezTo>
                <a:cubicBezTo>
                  <a:pt x="139937" y="109790"/>
                  <a:pt x="136028" y="113699"/>
                  <a:pt x="131191" y="113699"/>
                </a:cubicBezTo>
                <a:lnTo>
                  <a:pt x="43730" y="113699"/>
                </a:lnTo>
                <a:lnTo>
                  <a:pt x="43730" y="131191"/>
                </a:lnTo>
                <a:cubicBezTo>
                  <a:pt x="43730" y="134717"/>
                  <a:pt x="41598" y="137914"/>
                  <a:pt x="38319" y="139281"/>
                </a:cubicBezTo>
                <a:cubicBezTo>
                  <a:pt x="35039" y="140647"/>
                  <a:pt x="31294" y="139882"/>
                  <a:pt x="28780" y="13739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835042" y="3638681"/>
            <a:ext cx="4963304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与数据库的本质区别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1936" y="3918555"/>
            <a:ext cx="2501372" cy="489779"/>
          </a:xfrm>
          <a:custGeom>
            <a:avLst/>
            <a:gdLst/>
            <a:ahLst/>
            <a:cxnLst/>
            <a:rect l="l" t="t" r="r" b="b"/>
            <a:pathLst>
              <a:path w="2501372" h="489779">
                <a:moveTo>
                  <a:pt x="69970" y="0"/>
                </a:moveTo>
                <a:lnTo>
                  <a:pt x="2431402" y="0"/>
                </a:lnTo>
                <a:cubicBezTo>
                  <a:pt x="2470045" y="0"/>
                  <a:pt x="2501372" y="31327"/>
                  <a:pt x="2501372" y="69970"/>
                </a:cubicBezTo>
                <a:lnTo>
                  <a:pt x="2501372" y="419809"/>
                </a:lnTo>
                <a:cubicBezTo>
                  <a:pt x="2501372" y="458452"/>
                  <a:pt x="2470045" y="489779"/>
                  <a:pt x="2431402" y="489779"/>
                </a:cubicBezTo>
                <a:lnTo>
                  <a:pt x="69970" y="489779"/>
                </a:lnTo>
                <a:cubicBezTo>
                  <a:pt x="31327" y="489779"/>
                  <a:pt x="0" y="458452"/>
                  <a:pt x="0" y="419809"/>
                </a:cubicBezTo>
                <a:lnTo>
                  <a:pt x="0" y="69970"/>
                </a:lnTo>
                <a:cubicBezTo>
                  <a:pt x="0" y="31327"/>
                  <a:pt x="31327" y="0"/>
                  <a:pt x="69970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904" y="3988523"/>
            <a:ext cx="2422657" cy="1749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5" b="1" dirty="0">
                <a:solidFill>
                  <a:srgbClr val="FF000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数据库多跳</a:t>
            </a:r>
            <a:endParaRPr lang="en-US" sz="965" b="1" dirty="0">
              <a:solidFill>
                <a:srgbClr val="FF0000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1904" y="4198429"/>
            <a:ext cx="2413911" cy="1399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5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跨表关联已知字段</a:t>
            </a:r>
            <a:endParaRPr lang="en-US" sz="825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22087" y="3918555"/>
            <a:ext cx="2501372" cy="489779"/>
          </a:xfrm>
          <a:custGeom>
            <a:avLst/>
            <a:gdLst/>
            <a:ahLst/>
            <a:cxnLst/>
            <a:rect l="l" t="t" r="r" b="b"/>
            <a:pathLst>
              <a:path w="2501372" h="489779">
                <a:moveTo>
                  <a:pt x="69970" y="0"/>
                </a:moveTo>
                <a:lnTo>
                  <a:pt x="2431402" y="0"/>
                </a:lnTo>
                <a:cubicBezTo>
                  <a:pt x="2470045" y="0"/>
                  <a:pt x="2501372" y="31327"/>
                  <a:pt x="2501372" y="69970"/>
                </a:cubicBezTo>
                <a:lnTo>
                  <a:pt x="2501372" y="419809"/>
                </a:lnTo>
                <a:cubicBezTo>
                  <a:pt x="2501372" y="458452"/>
                  <a:pt x="2470045" y="489779"/>
                  <a:pt x="2431402" y="489779"/>
                </a:cubicBezTo>
                <a:lnTo>
                  <a:pt x="69970" y="489779"/>
                </a:lnTo>
                <a:cubicBezTo>
                  <a:pt x="31327" y="489779"/>
                  <a:pt x="0" y="458452"/>
                  <a:pt x="0" y="419809"/>
                </a:cubicBezTo>
                <a:lnTo>
                  <a:pt x="0" y="69970"/>
                </a:lnTo>
                <a:cubicBezTo>
                  <a:pt x="0" y="31327"/>
                  <a:pt x="31327" y="0"/>
                  <a:pt x="69970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2055" y="3988523"/>
            <a:ext cx="2422657" cy="1749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5" b="1" dirty="0">
                <a:solidFill>
                  <a:srgbClr val="FF000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知识库多跳</a:t>
            </a:r>
            <a:endParaRPr lang="en-US" sz="965" b="1" dirty="0">
              <a:solidFill>
                <a:srgbClr val="FF0000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92055" y="4198429"/>
            <a:ext cx="2413911" cy="1399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5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在非结构化文档之间建立语义链接</a:t>
            </a:r>
            <a:endParaRPr lang="en-US" sz="825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1936" y="4731938"/>
            <a:ext cx="2253339" cy="1924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场景设定（法务+业务协同场景）：</a:t>
            </a:r>
            <a:endParaRPr lang="en-US" sz="110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0682" y="5011812"/>
            <a:ext cx="5098950" cy="647208"/>
          </a:xfrm>
          <a:custGeom>
            <a:avLst/>
            <a:gdLst/>
            <a:ahLst/>
            <a:cxnLst/>
            <a:rect l="l" t="t" r="r" b="b"/>
            <a:pathLst>
              <a:path w="5098950" h="647208">
                <a:moveTo>
                  <a:pt x="69970" y="0"/>
                </a:moveTo>
                <a:lnTo>
                  <a:pt x="5028980" y="0"/>
                </a:lnTo>
                <a:cubicBezTo>
                  <a:pt x="5067623" y="0"/>
                  <a:pt x="5098950" y="31326"/>
                  <a:pt x="5098950" y="69970"/>
                </a:cubicBezTo>
                <a:lnTo>
                  <a:pt x="5098950" y="577238"/>
                </a:lnTo>
                <a:cubicBezTo>
                  <a:pt x="5098950" y="615882"/>
                  <a:pt x="5067623" y="647208"/>
                  <a:pt x="5028980" y="647208"/>
                </a:cubicBezTo>
                <a:lnTo>
                  <a:pt x="69970" y="647208"/>
                </a:lnTo>
                <a:cubicBezTo>
                  <a:pt x="31326" y="647208"/>
                  <a:pt x="0" y="615882"/>
                  <a:pt x="0" y="577238"/>
                </a:cubicBezTo>
                <a:lnTo>
                  <a:pt x="0" y="69970"/>
                </a:lnTo>
                <a:cubicBezTo>
                  <a:pt x="0" y="31352"/>
                  <a:pt x="31352" y="0"/>
                  <a:pt x="69970" y="0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5" name="Text 23"/>
          <p:cNvSpPr/>
          <p:nvPr/>
        </p:nvSpPr>
        <p:spPr>
          <a:xfrm>
            <a:off x="734381" y="5125510"/>
            <a:ext cx="4941521" cy="4198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"我们在上海浦东的新经销商开业典礼上，计划邀请媒体并提供试驾车辆，需要关注哪些合规风险？"</a:t>
            </a:r>
            <a:endParaRPr lang="en-US" sz="1100" b="1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164875" y="1399369"/>
            <a:ext cx="5676189" cy="5107696"/>
          </a:xfrm>
          <a:custGeom>
            <a:avLst/>
            <a:gdLst/>
            <a:ahLst/>
            <a:cxnLst/>
            <a:rect l="l" t="t" r="r" b="b"/>
            <a:pathLst>
              <a:path w="5676189" h="5107696">
                <a:moveTo>
                  <a:pt x="139951" y="0"/>
                </a:moveTo>
                <a:lnTo>
                  <a:pt x="5536239" y="0"/>
                </a:lnTo>
                <a:cubicBezTo>
                  <a:pt x="5613531" y="0"/>
                  <a:pt x="5676189" y="62658"/>
                  <a:pt x="5676189" y="139951"/>
                </a:cubicBezTo>
                <a:lnTo>
                  <a:pt x="5676189" y="4967745"/>
                </a:lnTo>
                <a:cubicBezTo>
                  <a:pt x="5676189" y="5045038"/>
                  <a:pt x="5613531" y="5107696"/>
                  <a:pt x="5536239" y="5107696"/>
                </a:cubicBezTo>
                <a:lnTo>
                  <a:pt x="139951" y="5107696"/>
                </a:lnTo>
                <a:cubicBezTo>
                  <a:pt x="62658" y="5107696"/>
                  <a:pt x="0" y="5045038"/>
                  <a:pt x="0" y="4967745"/>
                </a:cubicBezTo>
                <a:lnTo>
                  <a:pt x="0" y="139951"/>
                </a:lnTo>
                <a:cubicBezTo>
                  <a:pt x="0" y="62710"/>
                  <a:pt x="62710" y="0"/>
                  <a:pt x="139951" y="0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7" name="Shape 25"/>
          <p:cNvSpPr/>
          <p:nvPr/>
        </p:nvSpPr>
        <p:spPr>
          <a:xfrm>
            <a:off x="6339796" y="1574290"/>
            <a:ext cx="489779" cy="489779"/>
          </a:xfrm>
          <a:custGeom>
            <a:avLst/>
            <a:gdLst/>
            <a:ahLst/>
            <a:cxnLst/>
            <a:rect l="l" t="t" r="r" b="b"/>
            <a:pathLst>
              <a:path w="489779" h="489779">
                <a:moveTo>
                  <a:pt x="244890" y="0"/>
                </a:moveTo>
                <a:lnTo>
                  <a:pt x="244890" y="0"/>
                </a:lnTo>
                <a:cubicBezTo>
                  <a:pt x="380048" y="0"/>
                  <a:pt x="489779" y="109731"/>
                  <a:pt x="489779" y="244890"/>
                </a:cubicBezTo>
                <a:lnTo>
                  <a:pt x="489779" y="244890"/>
                </a:lnTo>
                <a:cubicBezTo>
                  <a:pt x="489779" y="380048"/>
                  <a:pt x="380048" y="489779"/>
                  <a:pt x="244890" y="489779"/>
                </a:cubicBezTo>
                <a:lnTo>
                  <a:pt x="244890" y="489779"/>
                </a:lnTo>
                <a:cubicBezTo>
                  <a:pt x="109731" y="489779"/>
                  <a:pt x="0" y="380048"/>
                  <a:pt x="0" y="244890"/>
                </a:cubicBezTo>
                <a:lnTo>
                  <a:pt x="0" y="244890"/>
                </a:lnTo>
                <a:cubicBezTo>
                  <a:pt x="0" y="109731"/>
                  <a:pt x="109731" y="0"/>
                  <a:pt x="24489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Shape 26"/>
          <p:cNvSpPr/>
          <p:nvPr/>
        </p:nvSpPr>
        <p:spPr>
          <a:xfrm>
            <a:off x="6479733" y="1714227"/>
            <a:ext cx="209905" cy="209905"/>
          </a:xfrm>
          <a:custGeom>
            <a:avLst/>
            <a:gdLst/>
            <a:ahLst/>
            <a:cxnLst/>
            <a:rect l="l" t="t" r="r" b="b"/>
            <a:pathLst>
              <a:path w="209905" h="209905">
                <a:moveTo>
                  <a:pt x="209905" y="39357"/>
                </a:moveTo>
                <a:cubicBezTo>
                  <a:pt x="209905" y="59938"/>
                  <a:pt x="185676" y="90645"/>
                  <a:pt x="175222" y="102903"/>
                </a:cubicBezTo>
                <a:cubicBezTo>
                  <a:pt x="173664" y="104707"/>
                  <a:pt x="171368" y="105404"/>
                  <a:pt x="169277" y="104953"/>
                </a:cubicBezTo>
                <a:lnTo>
                  <a:pt x="131191" y="104953"/>
                </a:lnTo>
                <a:cubicBezTo>
                  <a:pt x="123934" y="104953"/>
                  <a:pt x="118072" y="110815"/>
                  <a:pt x="118072" y="118072"/>
                </a:cubicBezTo>
                <a:cubicBezTo>
                  <a:pt x="118072" y="125328"/>
                  <a:pt x="123934" y="131191"/>
                  <a:pt x="131191" y="131191"/>
                </a:cubicBezTo>
                <a:lnTo>
                  <a:pt x="170548" y="131191"/>
                </a:lnTo>
                <a:cubicBezTo>
                  <a:pt x="192277" y="131191"/>
                  <a:pt x="209905" y="148820"/>
                  <a:pt x="209905" y="170548"/>
                </a:cubicBezTo>
                <a:cubicBezTo>
                  <a:pt x="209905" y="192277"/>
                  <a:pt x="192277" y="209905"/>
                  <a:pt x="170548" y="209905"/>
                </a:cubicBezTo>
                <a:lnTo>
                  <a:pt x="57232" y="209905"/>
                </a:lnTo>
                <a:cubicBezTo>
                  <a:pt x="60799" y="205847"/>
                  <a:pt x="65144" y="200640"/>
                  <a:pt x="69531" y="194818"/>
                </a:cubicBezTo>
                <a:cubicBezTo>
                  <a:pt x="72114" y="191375"/>
                  <a:pt x="74779" y="187603"/>
                  <a:pt x="77321" y="183667"/>
                </a:cubicBezTo>
                <a:lnTo>
                  <a:pt x="170548" y="183667"/>
                </a:lnTo>
                <a:cubicBezTo>
                  <a:pt x="177805" y="183667"/>
                  <a:pt x="183667" y="177805"/>
                  <a:pt x="183667" y="170548"/>
                </a:cubicBezTo>
                <a:cubicBezTo>
                  <a:pt x="183667" y="163292"/>
                  <a:pt x="177805" y="157429"/>
                  <a:pt x="170548" y="157429"/>
                </a:cubicBezTo>
                <a:lnTo>
                  <a:pt x="131191" y="157429"/>
                </a:lnTo>
                <a:cubicBezTo>
                  <a:pt x="109462" y="157429"/>
                  <a:pt x="91834" y="139800"/>
                  <a:pt x="91834" y="118072"/>
                </a:cubicBezTo>
                <a:cubicBezTo>
                  <a:pt x="91834" y="96343"/>
                  <a:pt x="109462" y="78714"/>
                  <a:pt x="131191" y="78714"/>
                </a:cubicBezTo>
                <a:lnTo>
                  <a:pt x="147508" y="78714"/>
                </a:lnTo>
                <a:cubicBezTo>
                  <a:pt x="138898" y="65800"/>
                  <a:pt x="131191" y="50959"/>
                  <a:pt x="131191" y="39357"/>
                </a:cubicBezTo>
                <a:cubicBezTo>
                  <a:pt x="131191" y="17629"/>
                  <a:pt x="148820" y="0"/>
                  <a:pt x="170548" y="0"/>
                </a:cubicBezTo>
                <a:cubicBezTo>
                  <a:pt x="192277" y="0"/>
                  <a:pt x="209905" y="17629"/>
                  <a:pt x="209905" y="39357"/>
                </a:cubicBezTo>
                <a:close/>
                <a:moveTo>
                  <a:pt x="48008" y="200517"/>
                </a:moveTo>
                <a:cubicBezTo>
                  <a:pt x="46450" y="202280"/>
                  <a:pt x="45056" y="203838"/>
                  <a:pt x="43867" y="205150"/>
                </a:cubicBezTo>
                <a:lnTo>
                  <a:pt x="43129" y="205970"/>
                </a:lnTo>
                <a:lnTo>
                  <a:pt x="43047" y="205888"/>
                </a:lnTo>
                <a:cubicBezTo>
                  <a:pt x="40587" y="207773"/>
                  <a:pt x="37061" y="207527"/>
                  <a:pt x="34848" y="205150"/>
                </a:cubicBezTo>
                <a:cubicBezTo>
                  <a:pt x="24516" y="193916"/>
                  <a:pt x="0" y="165013"/>
                  <a:pt x="0" y="144310"/>
                </a:cubicBezTo>
                <a:cubicBezTo>
                  <a:pt x="0" y="122581"/>
                  <a:pt x="17629" y="104953"/>
                  <a:pt x="39357" y="104953"/>
                </a:cubicBezTo>
                <a:cubicBezTo>
                  <a:pt x="61086" y="104953"/>
                  <a:pt x="78714" y="122581"/>
                  <a:pt x="78714" y="144310"/>
                </a:cubicBezTo>
                <a:cubicBezTo>
                  <a:pt x="78714" y="156609"/>
                  <a:pt x="70064" y="171778"/>
                  <a:pt x="60881" y="184446"/>
                </a:cubicBezTo>
                <a:cubicBezTo>
                  <a:pt x="56494" y="190473"/>
                  <a:pt x="51984" y="195925"/>
                  <a:pt x="48254" y="200230"/>
                </a:cubicBezTo>
                <a:lnTo>
                  <a:pt x="48008" y="200517"/>
                </a:lnTo>
                <a:close/>
                <a:moveTo>
                  <a:pt x="52476" y="144310"/>
                </a:moveTo>
                <a:cubicBezTo>
                  <a:pt x="52476" y="137069"/>
                  <a:pt x="46598" y="131191"/>
                  <a:pt x="39357" y="131191"/>
                </a:cubicBezTo>
                <a:cubicBezTo>
                  <a:pt x="32117" y="131191"/>
                  <a:pt x="26238" y="137069"/>
                  <a:pt x="26238" y="144310"/>
                </a:cubicBezTo>
                <a:cubicBezTo>
                  <a:pt x="26238" y="151551"/>
                  <a:pt x="32117" y="157429"/>
                  <a:pt x="39357" y="157429"/>
                </a:cubicBezTo>
                <a:cubicBezTo>
                  <a:pt x="46598" y="157429"/>
                  <a:pt x="52476" y="151551"/>
                  <a:pt x="52476" y="144310"/>
                </a:cubicBezTo>
                <a:close/>
                <a:moveTo>
                  <a:pt x="170548" y="52476"/>
                </a:moveTo>
                <a:cubicBezTo>
                  <a:pt x="177789" y="52476"/>
                  <a:pt x="183667" y="46598"/>
                  <a:pt x="183667" y="39357"/>
                </a:cubicBezTo>
                <a:cubicBezTo>
                  <a:pt x="183667" y="32117"/>
                  <a:pt x="177789" y="26238"/>
                  <a:pt x="170548" y="26238"/>
                </a:cubicBezTo>
                <a:cubicBezTo>
                  <a:pt x="163307" y="26238"/>
                  <a:pt x="157429" y="32117"/>
                  <a:pt x="157429" y="39357"/>
                </a:cubicBezTo>
                <a:cubicBezTo>
                  <a:pt x="157429" y="46598"/>
                  <a:pt x="163307" y="52476"/>
                  <a:pt x="170548" y="52476"/>
                </a:cubicBezTo>
                <a:close/>
              </a:path>
            </a:pathLst>
          </a:custGeom>
          <a:solidFill>
            <a:srgbClr val="1A535C"/>
          </a:solidFill>
        </p:spPr>
      </p:sp>
      <p:sp>
        <p:nvSpPr>
          <p:cNvPr id="29" name="Text 27"/>
          <p:cNvSpPr/>
          <p:nvPr/>
        </p:nvSpPr>
        <p:spPr>
          <a:xfrm>
            <a:off x="6934528" y="1591782"/>
            <a:ext cx="1206956" cy="2798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5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推理链条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34528" y="1871656"/>
            <a:ext cx="1163225" cy="1749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5" dirty="0">
                <a:solidFill>
                  <a:srgbClr val="FFFFFF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需要多文档语义关联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44749" y="2308958"/>
            <a:ext cx="279874" cy="279874"/>
          </a:xfrm>
          <a:custGeom>
            <a:avLst/>
            <a:gdLst/>
            <a:ahLst/>
            <a:cxnLst/>
            <a:rect l="l" t="t" r="r" b="b"/>
            <a:pathLst>
              <a:path w="279874" h="279874">
                <a:moveTo>
                  <a:pt x="139937" y="0"/>
                </a:moveTo>
                <a:lnTo>
                  <a:pt x="139937" y="0"/>
                </a:lnTo>
                <a:cubicBezTo>
                  <a:pt x="217170" y="0"/>
                  <a:pt x="279874" y="62704"/>
                  <a:pt x="279874" y="139937"/>
                </a:cubicBezTo>
                <a:lnTo>
                  <a:pt x="279874" y="139937"/>
                </a:lnTo>
                <a:cubicBezTo>
                  <a:pt x="279874" y="217170"/>
                  <a:pt x="217170" y="279874"/>
                  <a:pt x="139937" y="279874"/>
                </a:cubicBezTo>
                <a:lnTo>
                  <a:pt x="139937" y="279874"/>
                </a:lnTo>
                <a:cubicBezTo>
                  <a:pt x="62704" y="279874"/>
                  <a:pt x="0" y="217170"/>
                  <a:pt x="0" y="139937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40" name="Text 31"/>
          <p:cNvSpPr/>
          <p:nvPr/>
        </p:nvSpPr>
        <p:spPr>
          <a:xfrm>
            <a:off x="6414138" y="2308958"/>
            <a:ext cx="341096" cy="2798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5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1" name="Text 32"/>
          <p:cNvSpPr/>
          <p:nvPr/>
        </p:nvSpPr>
        <p:spPr>
          <a:xfrm>
            <a:off x="6794591" y="2343943"/>
            <a:ext cx="489779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第一跳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4" name="Text 33"/>
          <p:cNvSpPr/>
          <p:nvPr/>
        </p:nvSpPr>
        <p:spPr>
          <a:xfrm>
            <a:off x="6444749" y="2658801"/>
            <a:ext cx="5177664" cy="1749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5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检索"试驾活动 合规要求"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5" name="Text 34"/>
          <p:cNvSpPr/>
          <p:nvPr/>
        </p:nvSpPr>
        <p:spPr>
          <a:xfrm>
            <a:off x="6444749" y="2868706"/>
            <a:ext cx="5168918" cy="1399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→ 召回《试驾安全管理规范》：试驾前必须签署试驾协议、检查驾照、购买活动保险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6" name="Shape 35"/>
          <p:cNvSpPr/>
          <p:nvPr/>
        </p:nvSpPr>
        <p:spPr>
          <a:xfrm>
            <a:off x="8923709" y="3183564"/>
            <a:ext cx="157429" cy="209905"/>
          </a:xfrm>
          <a:custGeom>
            <a:avLst/>
            <a:gdLst/>
            <a:ahLst/>
            <a:cxnLst/>
            <a:rect l="l" t="t" r="r" b="b"/>
            <a:pathLst>
              <a:path w="157429" h="209905">
                <a:moveTo>
                  <a:pt x="69449" y="206052"/>
                </a:moveTo>
                <a:cubicBezTo>
                  <a:pt x="74574" y="211176"/>
                  <a:pt x="82896" y="211176"/>
                  <a:pt x="88021" y="206052"/>
                </a:cubicBezTo>
                <a:lnTo>
                  <a:pt x="153616" y="140456"/>
                </a:lnTo>
                <a:cubicBezTo>
                  <a:pt x="158741" y="135332"/>
                  <a:pt x="158741" y="127009"/>
                  <a:pt x="153616" y="121884"/>
                </a:cubicBezTo>
                <a:cubicBezTo>
                  <a:pt x="148492" y="116760"/>
                  <a:pt x="140169" y="116760"/>
                  <a:pt x="135045" y="121884"/>
                </a:cubicBezTo>
                <a:lnTo>
                  <a:pt x="91834" y="165095"/>
                </a:lnTo>
                <a:lnTo>
                  <a:pt x="91834" y="13119"/>
                </a:lnTo>
                <a:cubicBezTo>
                  <a:pt x="91834" y="5863"/>
                  <a:pt x="85971" y="0"/>
                  <a:pt x="78714" y="0"/>
                </a:cubicBezTo>
                <a:cubicBezTo>
                  <a:pt x="71458" y="0"/>
                  <a:pt x="65595" y="5863"/>
                  <a:pt x="65595" y="13119"/>
                </a:cubicBezTo>
                <a:lnTo>
                  <a:pt x="65595" y="165095"/>
                </a:lnTo>
                <a:lnTo>
                  <a:pt x="22384" y="121884"/>
                </a:lnTo>
                <a:cubicBezTo>
                  <a:pt x="17260" y="116760"/>
                  <a:pt x="8937" y="116760"/>
                  <a:pt x="3813" y="121884"/>
                </a:cubicBezTo>
                <a:cubicBezTo>
                  <a:pt x="-1312" y="127009"/>
                  <a:pt x="-1312" y="135332"/>
                  <a:pt x="3813" y="140456"/>
                </a:cubicBezTo>
                <a:lnTo>
                  <a:pt x="69408" y="20605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52" name="Shape 37"/>
          <p:cNvSpPr/>
          <p:nvPr/>
        </p:nvSpPr>
        <p:spPr>
          <a:xfrm>
            <a:off x="6444749" y="3568390"/>
            <a:ext cx="279874" cy="279874"/>
          </a:xfrm>
          <a:custGeom>
            <a:avLst/>
            <a:gdLst/>
            <a:ahLst/>
            <a:cxnLst/>
            <a:rect l="l" t="t" r="r" b="b"/>
            <a:pathLst>
              <a:path w="279874" h="279874">
                <a:moveTo>
                  <a:pt x="139937" y="0"/>
                </a:moveTo>
                <a:lnTo>
                  <a:pt x="139937" y="0"/>
                </a:lnTo>
                <a:cubicBezTo>
                  <a:pt x="217170" y="0"/>
                  <a:pt x="279874" y="62704"/>
                  <a:pt x="279874" y="139937"/>
                </a:cubicBezTo>
                <a:lnTo>
                  <a:pt x="279874" y="139937"/>
                </a:lnTo>
                <a:cubicBezTo>
                  <a:pt x="279874" y="217170"/>
                  <a:pt x="217170" y="279874"/>
                  <a:pt x="139937" y="279874"/>
                </a:cubicBezTo>
                <a:lnTo>
                  <a:pt x="139937" y="279874"/>
                </a:lnTo>
                <a:cubicBezTo>
                  <a:pt x="62704" y="279874"/>
                  <a:pt x="0" y="217170"/>
                  <a:pt x="0" y="139937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58" name="Text 38"/>
          <p:cNvSpPr/>
          <p:nvPr/>
        </p:nvSpPr>
        <p:spPr>
          <a:xfrm>
            <a:off x="6414138" y="3568390"/>
            <a:ext cx="341096" cy="2798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5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2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59" name="Text 39"/>
          <p:cNvSpPr/>
          <p:nvPr/>
        </p:nvSpPr>
        <p:spPr>
          <a:xfrm>
            <a:off x="6794591" y="3603374"/>
            <a:ext cx="489779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第二跳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0" name="Text 40"/>
          <p:cNvSpPr/>
          <p:nvPr/>
        </p:nvSpPr>
        <p:spPr>
          <a:xfrm>
            <a:off x="6444749" y="3918232"/>
            <a:ext cx="5177664" cy="1749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5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检索"经销商开业 营销活动 广告法"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1" name="Text 41"/>
          <p:cNvSpPr/>
          <p:nvPr/>
        </p:nvSpPr>
        <p:spPr>
          <a:xfrm>
            <a:off x="6444749" y="4128138"/>
            <a:ext cx="5168918" cy="1399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→ 召回《市场营销合规指引》：开业促销宣传中不得使用"最""第一"等绝对化用语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2" name="Shape 42"/>
          <p:cNvSpPr/>
          <p:nvPr/>
        </p:nvSpPr>
        <p:spPr>
          <a:xfrm>
            <a:off x="8923709" y="4442996"/>
            <a:ext cx="157429" cy="209905"/>
          </a:xfrm>
          <a:custGeom>
            <a:avLst/>
            <a:gdLst/>
            <a:ahLst/>
            <a:cxnLst/>
            <a:rect l="l" t="t" r="r" b="b"/>
            <a:pathLst>
              <a:path w="157429" h="209905">
                <a:moveTo>
                  <a:pt x="69449" y="206052"/>
                </a:moveTo>
                <a:cubicBezTo>
                  <a:pt x="74574" y="211176"/>
                  <a:pt x="82896" y="211176"/>
                  <a:pt x="88021" y="206052"/>
                </a:cubicBezTo>
                <a:lnTo>
                  <a:pt x="153616" y="140456"/>
                </a:lnTo>
                <a:cubicBezTo>
                  <a:pt x="158741" y="135332"/>
                  <a:pt x="158741" y="127009"/>
                  <a:pt x="153616" y="121884"/>
                </a:cubicBezTo>
                <a:cubicBezTo>
                  <a:pt x="148492" y="116760"/>
                  <a:pt x="140169" y="116760"/>
                  <a:pt x="135045" y="121884"/>
                </a:cubicBezTo>
                <a:lnTo>
                  <a:pt x="91834" y="165095"/>
                </a:lnTo>
                <a:lnTo>
                  <a:pt x="91834" y="13119"/>
                </a:lnTo>
                <a:cubicBezTo>
                  <a:pt x="91834" y="5863"/>
                  <a:pt x="85971" y="0"/>
                  <a:pt x="78714" y="0"/>
                </a:cubicBezTo>
                <a:cubicBezTo>
                  <a:pt x="71458" y="0"/>
                  <a:pt x="65595" y="5863"/>
                  <a:pt x="65595" y="13119"/>
                </a:cubicBezTo>
                <a:lnTo>
                  <a:pt x="65595" y="165095"/>
                </a:lnTo>
                <a:lnTo>
                  <a:pt x="22384" y="121884"/>
                </a:lnTo>
                <a:cubicBezTo>
                  <a:pt x="17260" y="116760"/>
                  <a:pt x="8937" y="116760"/>
                  <a:pt x="3813" y="121884"/>
                </a:cubicBezTo>
                <a:cubicBezTo>
                  <a:pt x="-1312" y="127009"/>
                  <a:pt x="-1312" y="135332"/>
                  <a:pt x="3813" y="140456"/>
                </a:cubicBezTo>
                <a:lnTo>
                  <a:pt x="69408" y="20605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65" name="Shape 44"/>
          <p:cNvSpPr/>
          <p:nvPr/>
        </p:nvSpPr>
        <p:spPr>
          <a:xfrm>
            <a:off x="6444749" y="4827822"/>
            <a:ext cx="279874" cy="279874"/>
          </a:xfrm>
          <a:custGeom>
            <a:avLst/>
            <a:gdLst/>
            <a:ahLst/>
            <a:cxnLst/>
            <a:rect l="l" t="t" r="r" b="b"/>
            <a:pathLst>
              <a:path w="279874" h="279874">
                <a:moveTo>
                  <a:pt x="139937" y="0"/>
                </a:moveTo>
                <a:lnTo>
                  <a:pt x="139937" y="0"/>
                </a:lnTo>
                <a:cubicBezTo>
                  <a:pt x="217170" y="0"/>
                  <a:pt x="279874" y="62704"/>
                  <a:pt x="279874" y="139937"/>
                </a:cubicBezTo>
                <a:lnTo>
                  <a:pt x="279874" y="139937"/>
                </a:lnTo>
                <a:cubicBezTo>
                  <a:pt x="279874" y="217170"/>
                  <a:pt x="217170" y="279874"/>
                  <a:pt x="139937" y="279874"/>
                </a:cubicBezTo>
                <a:lnTo>
                  <a:pt x="139937" y="279874"/>
                </a:lnTo>
                <a:cubicBezTo>
                  <a:pt x="62704" y="279874"/>
                  <a:pt x="0" y="217170"/>
                  <a:pt x="0" y="139937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66" name="Text 45"/>
          <p:cNvSpPr/>
          <p:nvPr/>
        </p:nvSpPr>
        <p:spPr>
          <a:xfrm>
            <a:off x="6414138" y="4827822"/>
            <a:ext cx="341096" cy="2798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5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3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7" name="Text 46"/>
          <p:cNvSpPr/>
          <p:nvPr/>
        </p:nvSpPr>
        <p:spPr>
          <a:xfrm>
            <a:off x="6794591" y="4862806"/>
            <a:ext cx="489779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第三跳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8" name="Text 47"/>
          <p:cNvSpPr/>
          <p:nvPr/>
        </p:nvSpPr>
        <p:spPr>
          <a:xfrm>
            <a:off x="6444749" y="5177664"/>
            <a:ext cx="5177664" cy="1749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5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检索"浦东 大型活动 审批"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0" name="Text 48"/>
          <p:cNvSpPr/>
          <p:nvPr/>
        </p:nvSpPr>
        <p:spPr>
          <a:xfrm>
            <a:off x="6444749" y="5387570"/>
            <a:ext cx="5168918" cy="1399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→ 召回《经销商活动行政管理指南》：特定区域的大型户外活动可能需要向当地公安/城管报备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2" name="Shape 50"/>
          <p:cNvSpPr/>
          <p:nvPr/>
        </p:nvSpPr>
        <p:spPr>
          <a:xfrm>
            <a:off x="6462241" y="5842364"/>
            <a:ext cx="139937" cy="139937"/>
          </a:xfrm>
          <a:custGeom>
            <a:avLst/>
            <a:gdLst/>
            <a:ahLst/>
            <a:cxnLst/>
            <a:rect l="l" t="t" r="r" b="b"/>
            <a:pathLst>
              <a:path w="139937" h="139937">
                <a:moveTo>
                  <a:pt x="69968" y="139937"/>
                </a:moveTo>
                <a:cubicBezTo>
                  <a:pt x="108585" y="139937"/>
                  <a:pt x="139937" y="108585"/>
                  <a:pt x="139937" y="69968"/>
                </a:cubicBezTo>
                <a:cubicBezTo>
                  <a:pt x="139937" y="31352"/>
                  <a:pt x="108585" y="0"/>
                  <a:pt x="69968" y="0"/>
                </a:cubicBezTo>
                <a:cubicBezTo>
                  <a:pt x="31352" y="0"/>
                  <a:pt x="0" y="31352"/>
                  <a:pt x="0" y="69968"/>
                </a:cubicBezTo>
                <a:cubicBezTo>
                  <a:pt x="0" y="108585"/>
                  <a:pt x="31352" y="139937"/>
                  <a:pt x="69968" y="139937"/>
                </a:cubicBezTo>
                <a:close/>
                <a:moveTo>
                  <a:pt x="93036" y="58134"/>
                </a:moveTo>
                <a:lnTo>
                  <a:pt x="71171" y="93118"/>
                </a:lnTo>
                <a:cubicBezTo>
                  <a:pt x="70023" y="94949"/>
                  <a:pt x="68055" y="96097"/>
                  <a:pt x="65896" y="96207"/>
                </a:cubicBezTo>
                <a:cubicBezTo>
                  <a:pt x="63737" y="96316"/>
                  <a:pt x="61660" y="95332"/>
                  <a:pt x="60375" y="93583"/>
                </a:cubicBezTo>
                <a:lnTo>
                  <a:pt x="47256" y="76091"/>
                </a:lnTo>
                <a:cubicBezTo>
                  <a:pt x="45070" y="73194"/>
                  <a:pt x="45671" y="69094"/>
                  <a:pt x="48568" y="66907"/>
                </a:cubicBezTo>
                <a:cubicBezTo>
                  <a:pt x="51465" y="64721"/>
                  <a:pt x="55565" y="65322"/>
                  <a:pt x="57751" y="68219"/>
                </a:cubicBezTo>
                <a:lnTo>
                  <a:pt x="65131" y="78059"/>
                </a:lnTo>
                <a:lnTo>
                  <a:pt x="81912" y="51192"/>
                </a:lnTo>
                <a:cubicBezTo>
                  <a:pt x="83825" y="48131"/>
                  <a:pt x="87871" y="47174"/>
                  <a:pt x="90959" y="49115"/>
                </a:cubicBezTo>
                <a:cubicBezTo>
                  <a:pt x="94047" y="51055"/>
                  <a:pt x="94977" y="55073"/>
                  <a:pt x="93036" y="58161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73" name="Text 51"/>
          <p:cNvSpPr/>
          <p:nvPr/>
        </p:nvSpPr>
        <p:spPr>
          <a:xfrm>
            <a:off x="6667855" y="5807380"/>
            <a:ext cx="4963304" cy="4198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综合回答：GAIA需将以上三个分散文档中的信息点整合成一个完整的"开业试驾活动合规检查清单"</a:t>
            </a:r>
            <a:endParaRPr lang="en-US" sz="110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PART ONE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2494280" y="3180080"/>
            <a:ext cx="7190740" cy="1405255"/>
          </a:xfrm>
        </p:spPr>
        <p:txBody>
          <a:bodyPr>
            <a:normAutofit/>
          </a:bodyPr>
          <a:lstStyle/>
          <a:p>
            <a:r>
              <a:t>复杂推理检索</a:t>
            </a:r>
            <a:r>
              <a:t>演示</a:t>
            </a:r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演示</a:t>
            </a:r>
            <a:endParaRPr lang="zh-CN" altLang="en-US"/>
          </a:p>
        </p:txBody>
      </p:sp>
      <p:sp>
        <p:nvSpPr>
          <p:cNvPr id="43" name="Shape 12"/>
          <p:cNvSpPr/>
          <p:nvPr/>
        </p:nvSpPr>
        <p:spPr>
          <a:xfrm>
            <a:off x="2131060" y="2038350"/>
            <a:ext cx="7929245" cy="2781300"/>
          </a:xfrm>
          <a:prstGeom prst="roundRect">
            <a:avLst>
              <a:gd name="adj" fmla="val 6043"/>
            </a:avLst>
          </a:pr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>
              <a:cs typeface="BMWGroupTN Condensed TT Light" charset="0"/>
            </a:endParaRPr>
          </a:p>
        </p:txBody>
      </p:sp>
      <p:sp>
        <p:nvSpPr>
          <p:cNvPr id="47" name="Text 13"/>
          <p:cNvSpPr/>
          <p:nvPr/>
        </p:nvSpPr>
        <p:spPr>
          <a:xfrm>
            <a:off x="3428365" y="3263900"/>
            <a:ext cx="5334000" cy="406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使用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GAIA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演示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新店返利核算的多源信息整合</a:t>
            </a:r>
            <a:endParaRPr lang="en-US" altLang="zh-CN" sz="3200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latin typeface="BMWGroupTN Condensed TT Light" charset="0"/>
              <a:ea typeface="BMWGroupTN Condensed TT Light" charset="0"/>
              <a:cs typeface="BMWGroupTN Condensed TT Light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场景</a:t>
            </a:r>
            <a:r>
              <a:rPr lang="zh-CN" altLang="en-US">
                <a:sym typeface="+mn-ea"/>
              </a:rPr>
              <a:t>二 | 新店返利核算的多源信息整合</a:t>
            </a:r>
            <a:endParaRPr lang="zh-CN" altLang="en-US">
              <a:sym typeface="+mn-ea"/>
            </a:endParaRPr>
          </a:p>
        </p:txBody>
      </p:sp>
      <p:sp>
        <p:nvSpPr>
          <p:cNvPr id="14" name="Text 2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dirty="0"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从"查三次文档+人工比对规则"变为"一次提问，系统自动跨文档比对"</a:t>
            </a:r>
            <a:endParaRPr lang="en-US" dirty="0">
              <a:latin typeface="BMWGroupTN Condensed TT Light" charset="0"/>
              <a:ea typeface="BMWGroupTN Condensed TT Light" charset="0"/>
              <a:cs typeface="BMWGroupTN Condensed TT Light" charset="0"/>
              <a:sym typeface="+mn-ea"/>
            </a:endParaRPr>
          </a:p>
        </p:txBody>
      </p:sp>
      <p:sp>
        <p:nvSpPr>
          <p:cNvPr id="16" name="Shape 4"/>
          <p:cNvSpPr/>
          <p:nvPr/>
        </p:nvSpPr>
        <p:spPr>
          <a:xfrm>
            <a:off x="533400" y="17621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18" name="Shape 5"/>
          <p:cNvSpPr/>
          <p:nvPr/>
        </p:nvSpPr>
        <p:spPr>
          <a:xfrm>
            <a:off x="685800" y="19145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3707" y="32281"/>
                </a:moveTo>
                <a:cubicBezTo>
                  <a:pt x="16788" y="21610"/>
                  <a:pt x="26566" y="14288"/>
                  <a:pt x="37683" y="14288"/>
                </a:cubicBezTo>
                <a:lnTo>
                  <a:pt x="191274" y="14288"/>
                </a:lnTo>
                <a:cubicBezTo>
                  <a:pt x="202391" y="14288"/>
                  <a:pt x="212169" y="21610"/>
                  <a:pt x="215295" y="32281"/>
                </a:cubicBezTo>
                <a:lnTo>
                  <a:pt x="225743" y="68089"/>
                </a:lnTo>
                <a:cubicBezTo>
                  <a:pt x="231458" y="87600"/>
                  <a:pt x="216768" y="107156"/>
                  <a:pt x="196453" y="107156"/>
                </a:cubicBezTo>
                <a:cubicBezTo>
                  <a:pt x="184711" y="107156"/>
                  <a:pt x="174397" y="100504"/>
                  <a:pt x="169307" y="90592"/>
                </a:cubicBezTo>
                <a:cubicBezTo>
                  <a:pt x="164128" y="100370"/>
                  <a:pt x="153859" y="107156"/>
                  <a:pt x="141893" y="107156"/>
                </a:cubicBezTo>
                <a:cubicBezTo>
                  <a:pt x="130016" y="107156"/>
                  <a:pt x="119702" y="100459"/>
                  <a:pt x="114523" y="90636"/>
                </a:cubicBezTo>
                <a:cubicBezTo>
                  <a:pt x="109344" y="100459"/>
                  <a:pt x="99030" y="107156"/>
                  <a:pt x="87154" y="107156"/>
                </a:cubicBezTo>
                <a:cubicBezTo>
                  <a:pt x="75188" y="107156"/>
                  <a:pt x="64919" y="100414"/>
                  <a:pt x="59740" y="90592"/>
                </a:cubicBezTo>
                <a:cubicBezTo>
                  <a:pt x="54650" y="100459"/>
                  <a:pt x="44336" y="107156"/>
                  <a:pt x="32593" y="107156"/>
                </a:cubicBezTo>
                <a:cubicBezTo>
                  <a:pt x="12234" y="107156"/>
                  <a:pt x="-2411" y="87645"/>
                  <a:pt x="3304" y="68089"/>
                </a:cubicBezTo>
                <a:lnTo>
                  <a:pt x="13707" y="32281"/>
                </a:lnTo>
                <a:close/>
                <a:moveTo>
                  <a:pt x="43041" y="157163"/>
                </a:moveTo>
                <a:lnTo>
                  <a:pt x="185916" y="157163"/>
                </a:lnTo>
                <a:lnTo>
                  <a:pt x="185916" y="127516"/>
                </a:lnTo>
                <a:cubicBezTo>
                  <a:pt x="189309" y="128230"/>
                  <a:pt x="192837" y="128588"/>
                  <a:pt x="196408" y="128588"/>
                </a:cubicBezTo>
                <a:cubicBezTo>
                  <a:pt x="202793" y="128588"/>
                  <a:pt x="208910" y="127427"/>
                  <a:pt x="214491" y="125373"/>
                </a:cubicBezTo>
                <a:lnTo>
                  <a:pt x="214491" y="192881"/>
                </a:lnTo>
                <a:cubicBezTo>
                  <a:pt x="214491" y="204713"/>
                  <a:pt x="204892" y="214313"/>
                  <a:pt x="193060" y="214313"/>
                </a:cubicBezTo>
                <a:lnTo>
                  <a:pt x="35897" y="214313"/>
                </a:lnTo>
                <a:cubicBezTo>
                  <a:pt x="24066" y="214313"/>
                  <a:pt x="14466" y="204713"/>
                  <a:pt x="14466" y="192881"/>
                </a:cubicBezTo>
                <a:lnTo>
                  <a:pt x="14466" y="125373"/>
                </a:lnTo>
                <a:cubicBezTo>
                  <a:pt x="20047" y="127427"/>
                  <a:pt x="26119" y="128588"/>
                  <a:pt x="32549" y="128588"/>
                </a:cubicBezTo>
                <a:cubicBezTo>
                  <a:pt x="36165" y="128588"/>
                  <a:pt x="39648" y="128230"/>
                  <a:pt x="43041" y="127516"/>
                </a:cubicBezTo>
                <a:lnTo>
                  <a:pt x="43041" y="157163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9" name="Text 6"/>
          <p:cNvSpPr/>
          <p:nvPr/>
        </p:nvSpPr>
        <p:spPr>
          <a:xfrm>
            <a:off x="1181100" y="1781175"/>
            <a:ext cx="10477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场景背景</a:t>
            </a:r>
            <a:endParaRPr lang="en-US" sz="180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0" name="Text 7"/>
          <p:cNvSpPr/>
          <p:nvPr/>
        </p:nvSpPr>
        <p:spPr>
          <a:xfrm>
            <a:off x="1181100" y="2085975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3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财务与销售协同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1" name="Shape 8"/>
          <p:cNvSpPr/>
          <p:nvPr/>
        </p:nvSpPr>
        <p:spPr>
          <a:xfrm>
            <a:off x="533400" y="2371725"/>
            <a:ext cx="5334000" cy="1295400"/>
          </a:xfrm>
          <a:custGeom>
            <a:avLst/>
            <a:gdLst/>
            <a:ahLst/>
            <a:cxnLst/>
            <a:rect l="l" t="t" r="r" b="b"/>
            <a:pathLst>
              <a:path w="5334000" h="1295400">
                <a:moveTo>
                  <a:pt x="76195" y="0"/>
                </a:moveTo>
                <a:lnTo>
                  <a:pt x="5257805" y="0"/>
                </a:lnTo>
                <a:cubicBezTo>
                  <a:pt x="5299858" y="0"/>
                  <a:pt x="5334000" y="34142"/>
                  <a:pt x="5334000" y="76195"/>
                </a:cubicBezTo>
                <a:lnTo>
                  <a:pt x="5334000" y="1219205"/>
                </a:lnTo>
                <a:cubicBezTo>
                  <a:pt x="5334000" y="1261286"/>
                  <a:pt x="5299886" y="1295400"/>
                  <a:pt x="5257805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Text 9"/>
          <p:cNvSpPr/>
          <p:nvPr/>
        </p:nvSpPr>
        <p:spPr>
          <a:xfrm>
            <a:off x="609600" y="2457450"/>
            <a:ext cx="8382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业务场景：</a:t>
            </a:r>
            <a:endParaRPr lang="en-US" sz="120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3" name="Text 10"/>
          <p:cNvSpPr/>
          <p:nvPr/>
        </p:nvSpPr>
        <p:spPr>
          <a:xfrm>
            <a:off x="609600" y="2714625"/>
            <a:ext cx="5248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某经销商2025年Q2同时享受三项政策：</a:t>
            </a:r>
            <a:endParaRPr lang="en-US" sz="105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609600" y="2943225"/>
            <a:ext cx="5248275" cy="647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新店建店补贴</a:t>
            </a:r>
            <a:endParaRPr lang="en-US" sz="1600" dirty="0">
              <a:solidFill>
                <a:schemeClr val="tx1"/>
              </a:solidFill>
              <a:cs typeface="BMWGroupTN Condensed TT Light" charset="0"/>
            </a:endParaRPr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季度销量达成奖励</a:t>
            </a:r>
            <a:endParaRPr lang="en-US" sz="1600" dirty="0">
              <a:solidFill>
                <a:schemeClr val="tx1"/>
              </a:solidFill>
              <a:cs typeface="BMWGroupTN Condensed TT Light" charset="0"/>
            </a:endParaRPr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新能源车型专项返款</a:t>
            </a:r>
            <a:endParaRPr lang="en-US" sz="105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5" name="Shape 12"/>
          <p:cNvSpPr/>
          <p:nvPr/>
        </p:nvSpPr>
        <p:spPr>
          <a:xfrm>
            <a:off x="533400" y="3743325"/>
            <a:ext cx="5334000" cy="609600"/>
          </a:xfrm>
          <a:custGeom>
            <a:avLst/>
            <a:gdLst/>
            <a:ahLst/>
            <a:cxnLst/>
            <a:rect l="l" t="t" r="r" b="b"/>
            <a:pathLst>
              <a:path w="5334000" h="609600">
                <a:moveTo>
                  <a:pt x="76200" y="0"/>
                </a:moveTo>
                <a:lnTo>
                  <a:pt x="5257800" y="0"/>
                </a:lnTo>
                <a:cubicBezTo>
                  <a:pt x="5299856" y="0"/>
                  <a:pt x="5334000" y="34144"/>
                  <a:pt x="5334000" y="76200"/>
                </a:cubicBezTo>
                <a:lnTo>
                  <a:pt x="5334000" y="533400"/>
                </a:lnTo>
                <a:cubicBezTo>
                  <a:pt x="5334000" y="575456"/>
                  <a:pt x="5299856" y="609600"/>
                  <a:pt x="52578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Text 13"/>
          <p:cNvSpPr/>
          <p:nvPr/>
        </p:nvSpPr>
        <p:spPr>
          <a:xfrm>
            <a:off x="609600" y="3829050"/>
            <a:ext cx="8382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核算需求：</a:t>
            </a:r>
            <a:endParaRPr lang="en-US" sz="120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7" name="Text 14"/>
          <p:cNvSpPr/>
          <p:nvPr/>
        </p:nvSpPr>
        <p:spPr>
          <a:xfrm>
            <a:off x="609600" y="4086225"/>
            <a:ext cx="5248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财务人员需要核算其实际应得返利总额，并确认每项政策是否有互斥条款</a:t>
            </a:r>
            <a:endParaRPr lang="en-US" sz="105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8" name="Shape 15"/>
          <p:cNvSpPr/>
          <p:nvPr/>
        </p:nvSpPr>
        <p:spPr>
          <a:xfrm>
            <a:off x="542608" y="4642803"/>
            <a:ext cx="5324475" cy="809625"/>
          </a:xfrm>
          <a:custGeom>
            <a:avLst/>
            <a:gdLst/>
            <a:ahLst/>
            <a:cxnLst/>
            <a:rect l="l" t="t" r="r" b="b"/>
            <a:pathLst>
              <a:path w="5324475" h="809625">
                <a:moveTo>
                  <a:pt x="76202" y="0"/>
                </a:moveTo>
                <a:lnTo>
                  <a:pt x="5248273" y="0"/>
                </a:lnTo>
                <a:cubicBezTo>
                  <a:pt x="5290358" y="0"/>
                  <a:pt x="5324475" y="34117"/>
                  <a:pt x="5324475" y="76202"/>
                </a:cubicBezTo>
                <a:lnTo>
                  <a:pt x="5324475" y="733423"/>
                </a:lnTo>
                <a:cubicBezTo>
                  <a:pt x="5324475" y="775508"/>
                  <a:pt x="5290358" y="809625"/>
                  <a:pt x="5248273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EF2F2"/>
          </a:solidFill>
          <a:ln w="12700">
            <a:solidFill>
              <a:srgbClr val="FFC9C9"/>
            </a:solidFill>
            <a:prstDash val="solid"/>
          </a:ln>
        </p:spPr>
      </p:sp>
      <p:sp>
        <p:nvSpPr>
          <p:cNvPr id="29" name="Shape 16"/>
          <p:cNvSpPr/>
          <p:nvPr/>
        </p:nvSpPr>
        <p:spPr>
          <a:xfrm>
            <a:off x="642620" y="476186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C10007"/>
          </a:solidFill>
        </p:spPr>
      </p:sp>
      <p:sp>
        <p:nvSpPr>
          <p:cNvPr id="30" name="Text 17"/>
          <p:cNvSpPr/>
          <p:nvPr/>
        </p:nvSpPr>
        <p:spPr>
          <a:xfrm>
            <a:off x="871220" y="4723765"/>
            <a:ext cx="4991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1000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工作困难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1" name="Text 18"/>
          <p:cNvSpPr/>
          <p:nvPr/>
        </p:nvSpPr>
        <p:spPr>
          <a:xfrm>
            <a:off x="623570" y="4990465"/>
            <a:ext cx="52292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三项政策分布在三个不同的文档中，且存在"部分政策不可叠加"的互斥规则。财务人员需先分别找到每项政策的条款，再人工判断互斥关系，工作量大且易遗漏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2" name="Shape 19"/>
          <p:cNvSpPr/>
          <p:nvPr/>
        </p:nvSpPr>
        <p:spPr>
          <a:xfrm>
            <a:off x="6172200" y="1447800"/>
            <a:ext cx="5638800" cy="5029200"/>
          </a:xfrm>
          <a:custGeom>
            <a:avLst/>
            <a:gdLst/>
            <a:ahLst/>
            <a:cxnLst/>
            <a:rect l="l" t="t" r="r" b="b"/>
            <a:pathLst>
              <a:path w="5638800" h="5029200">
                <a:moveTo>
                  <a:pt x="152385" y="0"/>
                </a:moveTo>
                <a:lnTo>
                  <a:pt x="5486415" y="0"/>
                </a:lnTo>
                <a:cubicBezTo>
                  <a:pt x="5570575" y="0"/>
                  <a:pt x="5638800" y="68225"/>
                  <a:pt x="5638800" y="152385"/>
                </a:cubicBezTo>
                <a:lnTo>
                  <a:pt x="5638800" y="4876815"/>
                </a:lnTo>
                <a:cubicBezTo>
                  <a:pt x="5638800" y="4960975"/>
                  <a:pt x="5570575" y="5029200"/>
                  <a:pt x="5486415" y="5029200"/>
                </a:cubicBezTo>
                <a:lnTo>
                  <a:pt x="152385" y="5029200"/>
                </a:lnTo>
                <a:cubicBezTo>
                  <a:pt x="68225" y="5029200"/>
                  <a:pt x="0" y="4960975"/>
                  <a:pt x="0" y="4876815"/>
                </a:cubicBezTo>
                <a:lnTo>
                  <a:pt x="0" y="152385"/>
                </a:lnTo>
                <a:cubicBezTo>
                  <a:pt x="0" y="68281"/>
                  <a:pt x="68281" y="0"/>
                  <a:pt x="152385" y="0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3" name="Shape 20"/>
          <p:cNvSpPr/>
          <p:nvPr/>
        </p:nvSpPr>
        <p:spPr>
          <a:xfrm>
            <a:off x="63246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4" name="Shape 21"/>
          <p:cNvSpPr/>
          <p:nvPr/>
        </p:nvSpPr>
        <p:spPr>
          <a:xfrm>
            <a:off x="6448425" y="17526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1A535C"/>
          </a:solidFill>
        </p:spPr>
      </p:sp>
      <p:sp>
        <p:nvSpPr>
          <p:cNvPr id="35" name="Text 22"/>
          <p:cNvSpPr/>
          <p:nvPr/>
        </p:nvSpPr>
        <p:spPr>
          <a:xfrm>
            <a:off x="6972300" y="1619250"/>
            <a:ext cx="2247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GAIA Agent解决流程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6" name="Text 23"/>
          <p:cNvSpPr/>
          <p:nvPr/>
        </p:nvSpPr>
        <p:spPr>
          <a:xfrm>
            <a:off x="6972300" y="1924050"/>
            <a:ext cx="2200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多轮检索+综合推理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8" name="Shape 25"/>
          <p:cNvSpPr/>
          <p:nvPr/>
        </p:nvSpPr>
        <p:spPr>
          <a:xfrm>
            <a:off x="6400800" y="2286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39" name="Text 26"/>
          <p:cNvSpPr/>
          <p:nvPr/>
        </p:nvSpPr>
        <p:spPr>
          <a:xfrm>
            <a:off x="6372225" y="2286000"/>
            <a:ext cx="285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0" name="Text 27"/>
          <p:cNvSpPr/>
          <p:nvPr/>
        </p:nvSpPr>
        <p:spPr>
          <a:xfrm>
            <a:off x="6705600" y="2286000"/>
            <a:ext cx="438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检索1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1" name="Text 28"/>
          <p:cNvSpPr/>
          <p:nvPr/>
        </p:nvSpPr>
        <p:spPr>
          <a:xfrm>
            <a:off x="6705600" y="2514600"/>
            <a:ext cx="494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查"新店建店补贴政策2025" → 获得补贴标准和适用条件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3" name="Shape 30"/>
          <p:cNvSpPr/>
          <p:nvPr/>
        </p:nvSpPr>
        <p:spPr>
          <a:xfrm>
            <a:off x="6400800" y="2895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44" name="Text 31"/>
          <p:cNvSpPr/>
          <p:nvPr/>
        </p:nvSpPr>
        <p:spPr>
          <a:xfrm>
            <a:off x="6372225" y="2895600"/>
            <a:ext cx="285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2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5" name="Text 32"/>
          <p:cNvSpPr/>
          <p:nvPr/>
        </p:nvSpPr>
        <p:spPr>
          <a:xfrm>
            <a:off x="6705600" y="2895600"/>
            <a:ext cx="466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检索2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6" name="Text 33"/>
          <p:cNvSpPr/>
          <p:nvPr/>
        </p:nvSpPr>
        <p:spPr>
          <a:xfrm>
            <a:off x="6705600" y="3124200"/>
            <a:ext cx="494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查"季度销量达成奖励规则" → 获得阶梯奖励标准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8" name="Shape 35"/>
          <p:cNvSpPr/>
          <p:nvPr/>
        </p:nvSpPr>
        <p:spPr>
          <a:xfrm>
            <a:off x="6400800" y="3505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49" name="Text 36"/>
          <p:cNvSpPr/>
          <p:nvPr/>
        </p:nvSpPr>
        <p:spPr>
          <a:xfrm>
            <a:off x="6372225" y="3505200"/>
            <a:ext cx="285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3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50" name="Text 37"/>
          <p:cNvSpPr/>
          <p:nvPr/>
        </p:nvSpPr>
        <p:spPr>
          <a:xfrm>
            <a:off x="6705600" y="3505200"/>
            <a:ext cx="466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检索3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52" name="Text 38"/>
          <p:cNvSpPr/>
          <p:nvPr/>
        </p:nvSpPr>
        <p:spPr>
          <a:xfrm>
            <a:off x="6705600" y="3733800"/>
            <a:ext cx="494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查"新能源车型专项返款政策" → 获得专项返款标准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54" name="Shape 40"/>
          <p:cNvSpPr/>
          <p:nvPr/>
        </p:nvSpPr>
        <p:spPr>
          <a:xfrm>
            <a:off x="6400800" y="4114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55" name="Text 41"/>
          <p:cNvSpPr/>
          <p:nvPr/>
        </p:nvSpPr>
        <p:spPr>
          <a:xfrm>
            <a:off x="6372225" y="4114800"/>
            <a:ext cx="285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4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56" name="Text 42"/>
          <p:cNvSpPr/>
          <p:nvPr/>
        </p:nvSpPr>
        <p:spPr>
          <a:xfrm>
            <a:off x="6705600" y="4114800"/>
            <a:ext cx="466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检索4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57" name="Text 43"/>
          <p:cNvSpPr/>
          <p:nvPr/>
        </p:nvSpPr>
        <p:spPr>
          <a:xfrm>
            <a:off x="6705600" y="4343400"/>
            <a:ext cx="49434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查"返利政策互斥条款总览" → 发现"新店建店补贴与季度销量达成奖励不可叠加，取高者"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59" name="Shape 45"/>
          <p:cNvSpPr/>
          <p:nvPr/>
        </p:nvSpPr>
        <p:spPr>
          <a:xfrm>
            <a:off x="6443663" y="4953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60" name="Text 46"/>
          <p:cNvSpPr/>
          <p:nvPr/>
        </p:nvSpPr>
        <p:spPr>
          <a:xfrm>
            <a:off x="6734175" y="4933950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综合推理输出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1" name="Text 47"/>
          <p:cNvSpPr/>
          <p:nvPr/>
        </p:nvSpPr>
        <p:spPr>
          <a:xfrm>
            <a:off x="6724650" y="5162550"/>
            <a:ext cx="49053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GAIA对比三项政策的金额，按互斥规则取最高者，给出最终返利核算结果及计算依据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3" name="Shape 49"/>
          <p:cNvSpPr/>
          <p:nvPr/>
        </p:nvSpPr>
        <p:spPr>
          <a:xfrm>
            <a:off x="6419850" y="5829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FF0000"/>
          </a:solidFill>
        </p:spPr>
      </p:sp>
      <p:sp>
        <p:nvSpPr>
          <p:cNvPr id="64" name="Text 50"/>
          <p:cNvSpPr/>
          <p:nvPr/>
        </p:nvSpPr>
        <p:spPr>
          <a:xfrm>
            <a:off x="6648450" y="5791200"/>
            <a:ext cx="50101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000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核心价值：从"查三次文档+人工比对规则"变为"一次提问，系统自动跨文档比对"</a:t>
            </a:r>
            <a:endParaRPr lang="en-US" sz="1200" b="1" dirty="0">
              <a:solidFill>
                <a:srgbClr val="FF0000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102735" y="410210"/>
            <a:ext cx="4203065" cy="720090"/>
          </a:xfrm>
        </p:spPr>
        <p:txBody>
          <a:bodyPr>
            <a:normAutofit/>
          </a:bodyPr>
          <a:lstStyle/>
          <a:p>
            <a:r>
              <a:rPr lang="zh-CN" altLang="en-US"/>
              <a:t>课后任务与实践指导</a:t>
            </a:r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381000" y="1314450"/>
            <a:ext cx="11515725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dirty="0"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三步进阶，逐步掌握AI知识库的强大能力</a:t>
            </a:r>
            <a:endParaRPr lang="en-US" dirty="0">
              <a:latin typeface="BMWGroupTN Condensed TT Light" charset="0"/>
              <a:ea typeface="BMWGroupTN Condensed TT Light" charset="0"/>
              <a:cs typeface="BMWGroupTN Condensed TT Light" charset="0"/>
              <a:sym typeface="+mn-ea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90525" y="1743075"/>
            <a:ext cx="3686175" cy="3448050"/>
          </a:xfrm>
          <a:custGeom>
            <a:avLst/>
            <a:gdLst/>
            <a:ahLst/>
            <a:cxnLst/>
            <a:rect l="l" t="t" r="r" b="b"/>
            <a:pathLst>
              <a:path w="3686175" h="3448050">
                <a:moveTo>
                  <a:pt x="152404" y="0"/>
                </a:moveTo>
                <a:lnTo>
                  <a:pt x="3533771" y="0"/>
                </a:lnTo>
                <a:cubicBezTo>
                  <a:pt x="3617941" y="0"/>
                  <a:pt x="3686175" y="68234"/>
                  <a:pt x="3686175" y="152404"/>
                </a:cubicBezTo>
                <a:lnTo>
                  <a:pt x="3686175" y="3295646"/>
                </a:lnTo>
                <a:cubicBezTo>
                  <a:pt x="3686175" y="3379816"/>
                  <a:pt x="3617941" y="3448050"/>
                  <a:pt x="3533771" y="3448050"/>
                </a:cubicBezTo>
                <a:lnTo>
                  <a:pt x="152404" y="3448050"/>
                </a:lnTo>
                <a:cubicBezTo>
                  <a:pt x="68234" y="3448050"/>
                  <a:pt x="0" y="3379816"/>
                  <a:pt x="0" y="329564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" name="Shape 4"/>
          <p:cNvSpPr/>
          <p:nvPr/>
        </p:nvSpPr>
        <p:spPr>
          <a:xfrm>
            <a:off x="552450" y="1905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12" name="Text 5"/>
          <p:cNvSpPr/>
          <p:nvPr/>
        </p:nvSpPr>
        <p:spPr>
          <a:xfrm>
            <a:off x="774204" y="2019300"/>
            <a:ext cx="2000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3" name="Text 6"/>
          <p:cNvSpPr/>
          <p:nvPr/>
        </p:nvSpPr>
        <p:spPr>
          <a:xfrm>
            <a:off x="1200150" y="194310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初级任务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4" name="Text 7"/>
          <p:cNvSpPr/>
          <p:nvPr/>
        </p:nvSpPr>
        <p:spPr>
          <a:xfrm>
            <a:off x="1200150" y="2209800"/>
            <a:ext cx="828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全员适用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5" name="Text 8"/>
          <p:cNvSpPr/>
          <p:nvPr/>
        </p:nvSpPr>
        <p:spPr>
          <a:xfrm>
            <a:off x="552450" y="2552700"/>
            <a:ext cx="344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打造个人专属"技能包"</a:t>
            </a:r>
            <a:endParaRPr lang="en-US" sz="135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7" name="Shape 10"/>
          <p:cNvSpPr/>
          <p:nvPr/>
        </p:nvSpPr>
        <p:spPr>
          <a:xfrm>
            <a:off x="647700" y="30003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4848" y="9454"/>
                </a:moveTo>
                <a:cubicBezTo>
                  <a:pt x="37687" y="11434"/>
                  <a:pt x="38364" y="15340"/>
                  <a:pt x="36385" y="18153"/>
                </a:cubicBezTo>
                <a:lnTo>
                  <a:pt x="21800" y="38989"/>
                </a:lnTo>
                <a:cubicBezTo>
                  <a:pt x="20732" y="40500"/>
                  <a:pt x="19065" y="41464"/>
                  <a:pt x="17216" y="41620"/>
                </a:cubicBezTo>
                <a:cubicBezTo>
                  <a:pt x="15367" y="41776"/>
                  <a:pt x="13543" y="41151"/>
                  <a:pt x="12241" y="39849"/>
                </a:cubicBezTo>
                <a:lnTo>
                  <a:pt x="1823" y="29431"/>
                </a:lnTo>
                <a:cubicBezTo>
                  <a:pt x="-599" y="26983"/>
                  <a:pt x="-599" y="23024"/>
                  <a:pt x="1823" y="20575"/>
                </a:cubicBezTo>
                <a:cubicBezTo>
                  <a:pt x="4245" y="18127"/>
                  <a:pt x="8230" y="18153"/>
                  <a:pt x="10678" y="20575"/>
                </a:cubicBezTo>
                <a:lnTo>
                  <a:pt x="15835" y="25732"/>
                </a:lnTo>
                <a:lnTo>
                  <a:pt x="26149" y="10991"/>
                </a:lnTo>
                <a:cubicBezTo>
                  <a:pt x="28129" y="8152"/>
                  <a:pt x="32035" y="7475"/>
                  <a:pt x="34848" y="9454"/>
                </a:cubicBezTo>
                <a:close/>
                <a:moveTo>
                  <a:pt x="34848" y="51126"/>
                </a:moveTo>
                <a:cubicBezTo>
                  <a:pt x="37687" y="53106"/>
                  <a:pt x="38364" y="57012"/>
                  <a:pt x="36385" y="59825"/>
                </a:cubicBezTo>
                <a:lnTo>
                  <a:pt x="21800" y="80661"/>
                </a:lnTo>
                <a:cubicBezTo>
                  <a:pt x="20732" y="82172"/>
                  <a:pt x="19065" y="83135"/>
                  <a:pt x="17216" y="83292"/>
                </a:cubicBezTo>
                <a:cubicBezTo>
                  <a:pt x="15367" y="83448"/>
                  <a:pt x="13543" y="82823"/>
                  <a:pt x="12241" y="81521"/>
                </a:cubicBezTo>
                <a:lnTo>
                  <a:pt x="1823" y="71103"/>
                </a:lnTo>
                <a:cubicBezTo>
                  <a:pt x="-625" y="68654"/>
                  <a:pt x="-625" y="64696"/>
                  <a:pt x="1823" y="62273"/>
                </a:cubicBezTo>
                <a:cubicBezTo>
                  <a:pt x="4271" y="59851"/>
                  <a:pt x="8230" y="59825"/>
                  <a:pt x="10652" y="62273"/>
                </a:cubicBezTo>
                <a:lnTo>
                  <a:pt x="15809" y="67430"/>
                </a:lnTo>
                <a:lnTo>
                  <a:pt x="26123" y="52689"/>
                </a:lnTo>
                <a:cubicBezTo>
                  <a:pt x="28102" y="49850"/>
                  <a:pt x="32009" y="49173"/>
                  <a:pt x="34822" y="51152"/>
                </a:cubicBezTo>
                <a:close/>
                <a:moveTo>
                  <a:pt x="58341" y="25003"/>
                </a:moveTo>
                <a:cubicBezTo>
                  <a:pt x="58341" y="20393"/>
                  <a:pt x="62065" y="16669"/>
                  <a:pt x="66675" y="16669"/>
                </a:cubicBezTo>
                <a:lnTo>
                  <a:pt x="125016" y="16669"/>
                </a:lnTo>
                <a:cubicBezTo>
                  <a:pt x="129626" y="16669"/>
                  <a:pt x="133350" y="20393"/>
                  <a:pt x="133350" y="25003"/>
                </a:cubicBezTo>
                <a:cubicBezTo>
                  <a:pt x="133350" y="29613"/>
                  <a:pt x="129626" y="33337"/>
                  <a:pt x="125016" y="33337"/>
                </a:cubicBezTo>
                <a:lnTo>
                  <a:pt x="66675" y="33337"/>
                </a:lnTo>
                <a:cubicBezTo>
                  <a:pt x="62065" y="33337"/>
                  <a:pt x="58341" y="29613"/>
                  <a:pt x="58341" y="25003"/>
                </a:cubicBezTo>
                <a:close/>
                <a:moveTo>
                  <a:pt x="58341" y="66675"/>
                </a:moveTo>
                <a:cubicBezTo>
                  <a:pt x="58341" y="62065"/>
                  <a:pt x="62065" y="58341"/>
                  <a:pt x="66675" y="58341"/>
                </a:cubicBezTo>
                <a:lnTo>
                  <a:pt x="125016" y="58341"/>
                </a:lnTo>
                <a:cubicBezTo>
                  <a:pt x="129626" y="58341"/>
                  <a:pt x="133350" y="62065"/>
                  <a:pt x="133350" y="66675"/>
                </a:cubicBezTo>
                <a:cubicBezTo>
                  <a:pt x="133350" y="71285"/>
                  <a:pt x="129626" y="75009"/>
                  <a:pt x="125016" y="75009"/>
                </a:cubicBezTo>
                <a:lnTo>
                  <a:pt x="66675" y="75009"/>
                </a:lnTo>
                <a:cubicBezTo>
                  <a:pt x="62065" y="75009"/>
                  <a:pt x="58341" y="71285"/>
                  <a:pt x="58341" y="66675"/>
                </a:cubicBezTo>
                <a:close/>
                <a:moveTo>
                  <a:pt x="41672" y="108347"/>
                </a:moveTo>
                <a:cubicBezTo>
                  <a:pt x="41672" y="103737"/>
                  <a:pt x="45396" y="100013"/>
                  <a:pt x="50006" y="100013"/>
                </a:cubicBezTo>
                <a:lnTo>
                  <a:pt x="125016" y="100013"/>
                </a:lnTo>
                <a:cubicBezTo>
                  <a:pt x="129626" y="100013"/>
                  <a:pt x="133350" y="103737"/>
                  <a:pt x="133350" y="108347"/>
                </a:cubicBezTo>
                <a:cubicBezTo>
                  <a:pt x="133350" y="112957"/>
                  <a:pt x="129626" y="116681"/>
                  <a:pt x="125016" y="116681"/>
                </a:cubicBezTo>
                <a:lnTo>
                  <a:pt x="50006" y="116681"/>
                </a:lnTo>
                <a:cubicBezTo>
                  <a:pt x="45396" y="116681"/>
                  <a:pt x="41672" y="112957"/>
                  <a:pt x="41672" y="108347"/>
                </a:cubicBezTo>
                <a:close/>
                <a:moveTo>
                  <a:pt x="16669" y="97929"/>
                </a:moveTo>
                <a:cubicBezTo>
                  <a:pt x="22419" y="97929"/>
                  <a:pt x="27087" y="102597"/>
                  <a:pt x="27087" y="108347"/>
                </a:cubicBezTo>
                <a:cubicBezTo>
                  <a:pt x="27087" y="114097"/>
                  <a:pt x="22419" y="118765"/>
                  <a:pt x="16669" y="118765"/>
                </a:cubicBezTo>
                <a:cubicBezTo>
                  <a:pt x="10919" y="118765"/>
                  <a:pt x="6251" y="114097"/>
                  <a:pt x="6251" y="108347"/>
                </a:cubicBezTo>
                <a:cubicBezTo>
                  <a:pt x="6251" y="102597"/>
                  <a:pt x="10919" y="97929"/>
                  <a:pt x="16669" y="9792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Text 11"/>
          <p:cNvSpPr/>
          <p:nvPr/>
        </p:nvSpPr>
        <p:spPr>
          <a:xfrm>
            <a:off x="857250" y="2971800"/>
            <a:ext cx="3048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行动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628650" y="3200400"/>
            <a:ext cx="32670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找出你电脑里最常翻阅的那份PDF或Word文档，上传至GAIA个人知识库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1" name="Shape 14"/>
          <p:cNvSpPr/>
          <p:nvPr/>
        </p:nvSpPr>
        <p:spPr>
          <a:xfrm>
            <a:off x="647700" y="37242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16681" y="66675"/>
                </a:moveTo>
                <a:cubicBezTo>
                  <a:pt x="116681" y="39076"/>
                  <a:pt x="94274" y="16669"/>
                  <a:pt x="66675" y="16669"/>
                </a:cubicBezTo>
                <a:cubicBezTo>
                  <a:pt x="39076" y="16669"/>
                  <a:pt x="16669" y="39076"/>
                  <a:pt x="16669" y="66675"/>
                </a:cubicBezTo>
                <a:cubicBezTo>
                  <a:pt x="16669" y="94274"/>
                  <a:pt x="39076" y="116681"/>
                  <a:pt x="66675" y="116681"/>
                </a:cubicBezTo>
                <a:cubicBezTo>
                  <a:pt x="94274" y="116681"/>
                  <a:pt x="116681" y="94274"/>
                  <a:pt x="116681" y="66675"/>
                </a:cubicBezTo>
                <a:close/>
                <a:moveTo>
                  <a:pt x="0" y="66675"/>
                </a:moveTo>
                <a:cubicBezTo>
                  <a:pt x="0" y="29876"/>
                  <a:pt x="29876" y="0"/>
                  <a:pt x="66675" y="0"/>
                </a:cubicBez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lose/>
                <a:moveTo>
                  <a:pt x="66675" y="87511"/>
                </a:moveTo>
                <a:cubicBezTo>
                  <a:pt x="78175" y="87511"/>
                  <a:pt x="87511" y="78175"/>
                  <a:pt x="87511" y="66675"/>
                </a:cubicBezTo>
                <a:cubicBezTo>
                  <a:pt x="87511" y="55175"/>
                  <a:pt x="78175" y="45839"/>
                  <a:pt x="66675" y="45839"/>
                </a:cubicBezTo>
                <a:cubicBezTo>
                  <a:pt x="55175" y="45839"/>
                  <a:pt x="45839" y="55175"/>
                  <a:pt x="45839" y="66675"/>
                </a:cubicBezTo>
                <a:cubicBezTo>
                  <a:pt x="45839" y="78175"/>
                  <a:pt x="55175" y="87511"/>
                  <a:pt x="66675" y="87511"/>
                </a:cubicBezTo>
                <a:close/>
                <a:moveTo>
                  <a:pt x="66675" y="29170"/>
                </a:moveTo>
                <a:cubicBezTo>
                  <a:pt x="87374" y="29170"/>
                  <a:pt x="104180" y="45976"/>
                  <a:pt x="104180" y="66675"/>
                </a:cubicBezTo>
                <a:cubicBezTo>
                  <a:pt x="104180" y="87374"/>
                  <a:pt x="87374" y="104180"/>
                  <a:pt x="66675" y="104180"/>
                </a:cubicBezTo>
                <a:cubicBezTo>
                  <a:pt x="45976" y="104180"/>
                  <a:pt x="29170" y="87374"/>
                  <a:pt x="29170" y="66675"/>
                </a:cubicBezTo>
                <a:cubicBezTo>
                  <a:pt x="29170" y="45976"/>
                  <a:pt x="45976" y="29170"/>
                  <a:pt x="66675" y="29170"/>
                </a:cubicBezTo>
                <a:close/>
                <a:moveTo>
                  <a:pt x="58341" y="66675"/>
                </a:moveTo>
                <a:cubicBezTo>
                  <a:pt x="58341" y="62075"/>
                  <a:pt x="62075" y="58341"/>
                  <a:pt x="66675" y="58341"/>
                </a:cubicBezTo>
                <a:cubicBezTo>
                  <a:pt x="71275" y="58341"/>
                  <a:pt x="75009" y="62075"/>
                  <a:pt x="75009" y="66675"/>
                </a:cubicBezTo>
                <a:cubicBezTo>
                  <a:pt x="75009" y="71275"/>
                  <a:pt x="71275" y="75009"/>
                  <a:pt x="66675" y="75009"/>
                </a:cubicBezTo>
                <a:cubicBezTo>
                  <a:pt x="62075" y="75009"/>
                  <a:pt x="58341" y="71275"/>
                  <a:pt x="58341" y="6667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2" name="Text 15"/>
          <p:cNvSpPr/>
          <p:nvPr/>
        </p:nvSpPr>
        <p:spPr>
          <a:xfrm>
            <a:off x="857250" y="3695700"/>
            <a:ext cx="3048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目标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628650" y="3924300"/>
            <a:ext cx="32670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尝试用自然语言向GAIA提问，替代以往的Ctrl+F查找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5" name="Shape 18"/>
          <p:cNvSpPr/>
          <p:nvPr/>
        </p:nvSpPr>
        <p:spPr>
          <a:xfrm>
            <a:off x="647700" y="42957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6" name="Text 19"/>
          <p:cNvSpPr/>
          <p:nvPr/>
        </p:nvSpPr>
        <p:spPr>
          <a:xfrm>
            <a:off x="857250" y="4267200"/>
            <a:ext cx="3048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指标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7" name="Text 20"/>
          <p:cNvSpPr/>
          <p:nvPr/>
        </p:nvSpPr>
        <p:spPr>
          <a:xfrm>
            <a:off x="628650" y="4495800"/>
            <a:ext cx="32670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记录一次"秒查"节省的时间，感受从"翻文档"到"问AI"的效率变化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8" name="Shape 21"/>
          <p:cNvSpPr/>
          <p:nvPr/>
        </p:nvSpPr>
        <p:spPr>
          <a:xfrm>
            <a:off x="4251275" y="1743075"/>
            <a:ext cx="3686175" cy="3448050"/>
          </a:xfrm>
          <a:custGeom>
            <a:avLst/>
            <a:gdLst/>
            <a:ahLst/>
            <a:cxnLst/>
            <a:rect l="l" t="t" r="r" b="b"/>
            <a:pathLst>
              <a:path w="3686175" h="3448050">
                <a:moveTo>
                  <a:pt x="152404" y="0"/>
                </a:moveTo>
                <a:lnTo>
                  <a:pt x="3533771" y="0"/>
                </a:lnTo>
                <a:cubicBezTo>
                  <a:pt x="3617941" y="0"/>
                  <a:pt x="3686175" y="68234"/>
                  <a:pt x="3686175" y="152404"/>
                </a:cubicBezTo>
                <a:lnTo>
                  <a:pt x="3686175" y="3295646"/>
                </a:lnTo>
                <a:cubicBezTo>
                  <a:pt x="3686175" y="3379816"/>
                  <a:pt x="3617941" y="3448050"/>
                  <a:pt x="3533771" y="3448050"/>
                </a:cubicBezTo>
                <a:lnTo>
                  <a:pt x="152404" y="3448050"/>
                </a:lnTo>
                <a:cubicBezTo>
                  <a:pt x="68234" y="3448050"/>
                  <a:pt x="0" y="3379816"/>
                  <a:pt x="0" y="329564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9" name="Shape 22"/>
          <p:cNvSpPr/>
          <p:nvPr/>
        </p:nvSpPr>
        <p:spPr>
          <a:xfrm>
            <a:off x="4413200" y="1905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40" name="Text 23"/>
          <p:cNvSpPr/>
          <p:nvPr/>
        </p:nvSpPr>
        <p:spPr>
          <a:xfrm>
            <a:off x="4615607" y="2019300"/>
            <a:ext cx="2476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2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1" name="Text 24"/>
          <p:cNvSpPr/>
          <p:nvPr/>
        </p:nvSpPr>
        <p:spPr>
          <a:xfrm>
            <a:off x="5060900" y="194310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中级任务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2" name="Text 25"/>
          <p:cNvSpPr/>
          <p:nvPr/>
        </p:nvSpPr>
        <p:spPr>
          <a:xfrm>
            <a:off x="5060900" y="2209800"/>
            <a:ext cx="828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业务骨干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3" name="Text 26"/>
          <p:cNvSpPr/>
          <p:nvPr/>
        </p:nvSpPr>
        <p:spPr>
          <a:xfrm>
            <a:off x="4413200" y="2552700"/>
            <a:ext cx="344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解决跨文档"组合问题"</a:t>
            </a:r>
            <a:endParaRPr lang="en-US" sz="135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5" name="Shape 28"/>
          <p:cNvSpPr/>
          <p:nvPr/>
        </p:nvSpPr>
        <p:spPr>
          <a:xfrm>
            <a:off x="4508450" y="30003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4848" y="9454"/>
                </a:moveTo>
                <a:cubicBezTo>
                  <a:pt x="37687" y="11434"/>
                  <a:pt x="38364" y="15340"/>
                  <a:pt x="36385" y="18153"/>
                </a:cubicBezTo>
                <a:lnTo>
                  <a:pt x="21800" y="38989"/>
                </a:lnTo>
                <a:cubicBezTo>
                  <a:pt x="20732" y="40500"/>
                  <a:pt x="19065" y="41464"/>
                  <a:pt x="17216" y="41620"/>
                </a:cubicBezTo>
                <a:cubicBezTo>
                  <a:pt x="15367" y="41776"/>
                  <a:pt x="13543" y="41151"/>
                  <a:pt x="12241" y="39849"/>
                </a:cubicBezTo>
                <a:lnTo>
                  <a:pt x="1823" y="29431"/>
                </a:lnTo>
                <a:cubicBezTo>
                  <a:pt x="-599" y="26983"/>
                  <a:pt x="-599" y="23024"/>
                  <a:pt x="1823" y="20575"/>
                </a:cubicBezTo>
                <a:cubicBezTo>
                  <a:pt x="4245" y="18127"/>
                  <a:pt x="8230" y="18153"/>
                  <a:pt x="10678" y="20575"/>
                </a:cubicBezTo>
                <a:lnTo>
                  <a:pt x="15835" y="25732"/>
                </a:lnTo>
                <a:lnTo>
                  <a:pt x="26149" y="10991"/>
                </a:lnTo>
                <a:cubicBezTo>
                  <a:pt x="28129" y="8152"/>
                  <a:pt x="32035" y="7475"/>
                  <a:pt x="34848" y="9454"/>
                </a:cubicBezTo>
                <a:close/>
                <a:moveTo>
                  <a:pt x="34848" y="51126"/>
                </a:moveTo>
                <a:cubicBezTo>
                  <a:pt x="37687" y="53106"/>
                  <a:pt x="38364" y="57012"/>
                  <a:pt x="36385" y="59825"/>
                </a:cubicBezTo>
                <a:lnTo>
                  <a:pt x="21800" y="80661"/>
                </a:lnTo>
                <a:cubicBezTo>
                  <a:pt x="20732" y="82172"/>
                  <a:pt x="19065" y="83135"/>
                  <a:pt x="17216" y="83292"/>
                </a:cubicBezTo>
                <a:cubicBezTo>
                  <a:pt x="15367" y="83448"/>
                  <a:pt x="13543" y="82823"/>
                  <a:pt x="12241" y="81521"/>
                </a:cubicBezTo>
                <a:lnTo>
                  <a:pt x="1823" y="71103"/>
                </a:lnTo>
                <a:cubicBezTo>
                  <a:pt x="-625" y="68654"/>
                  <a:pt x="-625" y="64696"/>
                  <a:pt x="1823" y="62273"/>
                </a:cubicBezTo>
                <a:cubicBezTo>
                  <a:pt x="4271" y="59851"/>
                  <a:pt x="8230" y="59825"/>
                  <a:pt x="10652" y="62273"/>
                </a:cubicBezTo>
                <a:lnTo>
                  <a:pt x="15809" y="67430"/>
                </a:lnTo>
                <a:lnTo>
                  <a:pt x="26123" y="52689"/>
                </a:lnTo>
                <a:cubicBezTo>
                  <a:pt x="28102" y="49850"/>
                  <a:pt x="32009" y="49173"/>
                  <a:pt x="34822" y="51152"/>
                </a:cubicBezTo>
                <a:close/>
                <a:moveTo>
                  <a:pt x="58341" y="25003"/>
                </a:moveTo>
                <a:cubicBezTo>
                  <a:pt x="58341" y="20393"/>
                  <a:pt x="62065" y="16669"/>
                  <a:pt x="66675" y="16669"/>
                </a:cubicBezTo>
                <a:lnTo>
                  <a:pt x="125016" y="16669"/>
                </a:lnTo>
                <a:cubicBezTo>
                  <a:pt x="129626" y="16669"/>
                  <a:pt x="133350" y="20393"/>
                  <a:pt x="133350" y="25003"/>
                </a:cubicBezTo>
                <a:cubicBezTo>
                  <a:pt x="133350" y="29613"/>
                  <a:pt x="129626" y="33337"/>
                  <a:pt x="125016" y="33337"/>
                </a:cubicBezTo>
                <a:lnTo>
                  <a:pt x="66675" y="33337"/>
                </a:lnTo>
                <a:cubicBezTo>
                  <a:pt x="62065" y="33337"/>
                  <a:pt x="58341" y="29613"/>
                  <a:pt x="58341" y="25003"/>
                </a:cubicBezTo>
                <a:close/>
                <a:moveTo>
                  <a:pt x="58341" y="66675"/>
                </a:moveTo>
                <a:cubicBezTo>
                  <a:pt x="58341" y="62065"/>
                  <a:pt x="62065" y="58341"/>
                  <a:pt x="66675" y="58341"/>
                </a:cubicBezTo>
                <a:lnTo>
                  <a:pt x="125016" y="58341"/>
                </a:lnTo>
                <a:cubicBezTo>
                  <a:pt x="129626" y="58341"/>
                  <a:pt x="133350" y="62065"/>
                  <a:pt x="133350" y="66675"/>
                </a:cubicBezTo>
                <a:cubicBezTo>
                  <a:pt x="133350" y="71285"/>
                  <a:pt x="129626" y="75009"/>
                  <a:pt x="125016" y="75009"/>
                </a:cubicBezTo>
                <a:lnTo>
                  <a:pt x="66675" y="75009"/>
                </a:lnTo>
                <a:cubicBezTo>
                  <a:pt x="62065" y="75009"/>
                  <a:pt x="58341" y="71285"/>
                  <a:pt x="58341" y="66675"/>
                </a:cubicBezTo>
                <a:close/>
                <a:moveTo>
                  <a:pt x="41672" y="108347"/>
                </a:moveTo>
                <a:cubicBezTo>
                  <a:pt x="41672" y="103737"/>
                  <a:pt x="45396" y="100013"/>
                  <a:pt x="50006" y="100013"/>
                </a:cubicBezTo>
                <a:lnTo>
                  <a:pt x="125016" y="100013"/>
                </a:lnTo>
                <a:cubicBezTo>
                  <a:pt x="129626" y="100013"/>
                  <a:pt x="133350" y="103737"/>
                  <a:pt x="133350" y="108347"/>
                </a:cubicBezTo>
                <a:cubicBezTo>
                  <a:pt x="133350" y="112957"/>
                  <a:pt x="129626" y="116681"/>
                  <a:pt x="125016" y="116681"/>
                </a:cubicBezTo>
                <a:lnTo>
                  <a:pt x="50006" y="116681"/>
                </a:lnTo>
                <a:cubicBezTo>
                  <a:pt x="45396" y="116681"/>
                  <a:pt x="41672" y="112957"/>
                  <a:pt x="41672" y="108347"/>
                </a:cubicBezTo>
                <a:close/>
                <a:moveTo>
                  <a:pt x="16669" y="97929"/>
                </a:moveTo>
                <a:cubicBezTo>
                  <a:pt x="22419" y="97929"/>
                  <a:pt x="27087" y="102597"/>
                  <a:pt x="27087" y="108347"/>
                </a:cubicBezTo>
                <a:cubicBezTo>
                  <a:pt x="27087" y="114097"/>
                  <a:pt x="22419" y="118765"/>
                  <a:pt x="16669" y="118765"/>
                </a:cubicBezTo>
                <a:cubicBezTo>
                  <a:pt x="10919" y="118765"/>
                  <a:pt x="6251" y="114097"/>
                  <a:pt x="6251" y="108347"/>
                </a:cubicBezTo>
                <a:cubicBezTo>
                  <a:pt x="6251" y="102597"/>
                  <a:pt x="10919" y="97929"/>
                  <a:pt x="16669" y="9792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6" name="Text 29"/>
          <p:cNvSpPr/>
          <p:nvPr/>
        </p:nvSpPr>
        <p:spPr>
          <a:xfrm>
            <a:off x="4718000" y="2971800"/>
            <a:ext cx="3048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行动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7" name="Text 30"/>
          <p:cNvSpPr/>
          <p:nvPr/>
        </p:nvSpPr>
        <p:spPr>
          <a:xfrm>
            <a:off x="4489400" y="3200400"/>
            <a:ext cx="32670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回想一个需要查阅两份以上文档才能回答的问题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9" name="Shape 32"/>
          <p:cNvSpPr/>
          <p:nvPr/>
        </p:nvSpPr>
        <p:spPr>
          <a:xfrm>
            <a:off x="4508450" y="3571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16681" y="66675"/>
                </a:moveTo>
                <a:cubicBezTo>
                  <a:pt x="116681" y="39076"/>
                  <a:pt x="94274" y="16669"/>
                  <a:pt x="66675" y="16669"/>
                </a:cubicBezTo>
                <a:cubicBezTo>
                  <a:pt x="39076" y="16669"/>
                  <a:pt x="16669" y="39076"/>
                  <a:pt x="16669" y="66675"/>
                </a:cubicBezTo>
                <a:cubicBezTo>
                  <a:pt x="16669" y="94274"/>
                  <a:pt x="39076" y="116681"/>
                  <a:pt x="66675" y="116681"/>
                </a:cubicBezTo>
                <a:cubicBezTo>
                  <a:pt x="94274" y="116681"/>
                  <a:pt x="116681" y="94274"/>
                  <a:pt x="116681" y="66675"/>
                </a:cubicBezTo>
                <a:close/>
                <a:moveTo>
                  <a:pt x="0" y="66675"/>
                </a:moveTo>
                <a:cubicBezTo>
                  <a:pt x="0" y="29876"/>
                  <a:pt x="29876" y="0"/>
                  <a:pt x="66675" y="0"/>
                </a:cubicBez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lose/>
                <a:moveTo>
                  <a:pt x="66675" y="87511"/>
                </a:moveTo>
                <a:cubicBezTo>
                  <a:pt x="78175" y="87511"/>
                  <a:pt x="87511" y="78175"/>
                  <a:pt x="87511" y="66675"/>
                </a:cubicBezTo>
                <a:cubicBezTo>
                  <a:pt x="87511" y="55175"/>
                  <a:pt x="78175" y="45839"/>
                  <a:pt x="66675" y="45839"/>
                </a:cubicBezTo>
                <a:cubicBezTo>
                  <a:pt x="55175" y="45839"/>
                  <a:pt x="45839" y="55175"/>
                  <a:pt x="45839" y="66675"/>
                </a:cubicBezTo>
                <a:cubicBezTo>
                  <a:pt x="45839" y="78175"/>
                  <a:pt x="55175" y="87511"/>
                  <a:pt x="66675" y="87511"/>
                </a:cubicBezTo>
                <a:close/>
                <a:moveTo>
                  <a:pt x="66675" y="29170"/>
                </a:moveTo>
                <a:cubicBezTo>
                  <a:pt x="87374" y="29170"/>
                  <a:pt x="104180" y="45976"/>
                  <a:pt x="104180" y="66675"/>
                </a:cubicBezTo>
                <a:cubicBezTo>
                  <a:pt x="104180" y="87374"/>
                  <a:pt x="87374" y="104180"/>
                  <a:pt x="66675" y="104180"/>
                </a:cubicBezTo>
                <a:cubicBezTo>
                  <a:pt x="45976" y="104180"/>
                  <a:pt x="29170" y="87374"/>
                  <a:pt x="29170" y="66675"/>
                </a:cubicBezTo>
                <a:cubicBezTo>
                  <a:pt x="29170" y="45976"/>
                  <a:pt x="45976" y="29170"/>
                  <a:pt x="66675" y="29170"/>
                </a:cubicBezTo>
                <a:close/>
                <a:moveTo>
                  <a:pt x="58341" y="66675"/>
                </a:moveTo>
                <a:cubicBezTo>
                  <a:pt x="58341" y="62075"/>
                  <a:pt x="62075" y="58341"/>
                  <a:pt x="66675" y="58341"/>
                </a:cubicBezTo>
                <a:cubicBezTo>
                  <a:pt x="71275" y="58341"/>
                  <a:pt x="75009" y="62075"/>
                  <a:pt x="75009" y="66675"/>
                </a:cubicBezTo>
                <a:cubicBezTo>
                  <a:pt x="75009" y="71275"/>
                  <a:pt x="71275" y="75009"/>
                  <a:pt x="66675" y="75009"/>
                </a:cubicBezTo>
                <a:cubicBezTo>
                  <a:pt x="62075" y="75009"/>
                  <a:pt x="58341" y="71275"/>
                  <a:pt x="58341" y="6667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0" name="Text 33"/>
          <p:cNvSpPr/>
          <p:nvPr/>
        </p:nvSpPr>
        <p:spPr>
          <a:xfrm>
            <a:off x="4718000" y="3543300"/>
            <a:ext cx="3048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目标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52" name="Text 34"/>
          <p:cNvSpPr/>
          <p:nvPr/>
        </p:nvSpPr>
        <p:spPr>
          <a:xfrm>
            <a:off x="4489400" y="3771900"/>
            <a:ext cx="32670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使用GAIA知识库融合模式，尝试获得整合后的答案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54" name="Shape 36"/>
          <p:cNvSpPr/>
          <p:nvPr/>
        </p:nvSpPr>
        <p:spPr>
          <a:xfrm>
            <a:off x="4508450" y="41433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502" y="16669"/>
                </a:moveTo>
                <a:cubicBezTo>
                  <a:pt x="5600" y="16669"/>
                  <a:pt x="0" y="22268"/>
                  <a:pt x="0" y="29170"/>
                </a:cubicBezTo>
                <a:cubicBezTo>
                  <a:pt x="0" y="33103"/>
                  <a:pt x="1849" y="36801"/>
                  <a:pt x="5001" y="39172"/>
                </a:cubicBezTo>
                <a:lnTo>
                  <a:pt x="59174" y="79802"/>
                </a:lnTo>
                <a:cubicBezTo>
                  <a:pt x="63628" y="83135"/>
                  <a:pt x="69722" y="83135"/>
                  <a:pt x="74176" y="79802"/>
                </a:cubicBezTo>
                <a:lnTo>
                  <a:pt x="128349" y="39172"/>
                </a:lnTo>
                <a:cubicBezTo>
                  <a:pt x="131501" y="36801"/>
                  <a:pt x="133350" y="33103"/>
                  <a:pt x="133350" y="29170"/>
                </a:cubicBezTo>
                <a:cubicBezTo>
                  <a:pt x="133350" y="22268"/>
                  <a:pt x="127750" y="16669"/>
                  <a:pt x="120848" y="16669"/>
                </a:cubicBezTo>
                <a:lnTo>
                  <a:pt x="12502" y="16669"/>
                </a:lnTo>
                <a:close/>
                <a:moveTo>
                  <a:pt x="0" y="51048"/>
                </a:moveTo>
                <a:lnTo>
                  <a:pt x="0" y="100013"/>
                </a:lnTo>
                <a:cubicBezTo>
                  <a:pt x="0" y="109206"/>
                  <a:pt x="7475" y="116681"/>
                  <a:pt x="16669" y="116681"/>
                </a:cubicBezTo>
                <a:lnTo>
                  <a:pt x="116681" y="116681"/>
                </a:lnTo>
                <a:cubicBezTo>
                  <a:pt x="125875" y="116681"/>
                  <a:pt x="133350" y="109206"/>
                  <a:pt x="133350" y="100013"/>
                </a:cubicBezTo>
                <a:lnTo>
                  <a:pt x="133350" y="51048"/>
                </a:lnTo>
                <a:lnTo>
                  <a:pt x="81677" y="89803"/>
                </a:lnTo>
                <a:cubicBezTo>
                  <a:pt x="72796" y="96470"/>
                  <a:pt x="60554" y="96470"/>
                  <a:pt x="51673" y="89803"/>
                </a:cubicBezTo>
                <a:lnTo>
                  <a:pt x="0" y="5104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55" name="Text 37"/>
          <p:cNvSpPr/>
          <p:nvPr/>
        </p:nvSpPr>
        <p:spPr>
          <a:xfrm>
            <a:off x="4718000" y="4114800"/>
            <a:ext cx="3048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反馈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56" name="Text 38"/>
          <p:cNvSpPr/>
          <p:nvPr/>
        </p:nvSpPr>
        <p:spPr>
          <a:xfrm>
            <a:off x="4489400" y="4343400"/>
            <a:ext cx="32670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如效果不理想，将问题场景和涉及文档清单发送至AI培训专项邮箱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57" name="Shape 39"/>
          <p:cNvSpPr/>
          <p:nvPr/>
        </p:nvSpPr>
        <p:spPr>
          <a:xfrm>
            <a:off x="8112026" y="1743075"/>
            <a:ext cx="3686175" cy="3448050"/>
          </a:xfrm>
          <a:custGeom>
            <a:avLst/>
            <a:gdLst/>
            <a:ahLst/>
            <a:cxnLst/>
            <a:rect l="l" t="t" r="r" b="b"/>
            <a:pathLst>
              <a:path w="3686175" h="3448050">
                <a:moveTo>
                  <a:pt x="152404" y="0"/>
                </a:moveTo>
                <a:lnTo>
                  <a:pt x="3533771" y="0"/>
                </a:lnTo>
                <a:cubicBezTo>
                  <a:pt x="3617941" y="0"/>
                  <a:pt x="3686175" y="68234"/>
                  <a:pt x="3686175" y="152404"/>
                </a:cubicBezTo>
                <a:lnTo>
                  <a:pt x="3686175" y="3295646"/>
                </a:lnTo>
                <a:cubicBezTo>
                  <a:pt x="3686175" y="3379816"/>
                  <a:pt x="3617941" y="3448050"/>
                  <a:pt x="3533771" y="3448050"/>
                </a:cubicBezTo>
                <a:lnTo>
                  <a:pt x="152404" y="3448050"/>
                </a:lnTo>
                <a:cubicBezTo>
                  <a:pt x="68234" y="3448050"/>
                  <a:pt x="0" y="3379816"/>
                  <a:pt x="0" y="329564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8" name="Shape 40"/>
          <p:cNvSpPr/>
          <p:nvPr/>
        </p:nvSpPr>
        <p:spPr>
          <a:xfrm>
            <a:off x="8273951" y="1905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59" name="Text 41"/>
          <p:cNvSpPr/>
          <p:nvPr/>
        </p:nvSpPr>
        <p:spPr>
          <a:xfrm>
            <a:off x="8473380" y="2019300"/>
            <a:ext cx="2476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3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0" name="Text 42"/>
          <p:cNvSpPr/>
          <p:nvPr/>
        </p:nvSpPr>
        <p:spPr>
          <a:xfrm>
            <a:off x="8921651" y="194310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高级任务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1" name="Text 43"/>
          <p:cNvSpPr/>
          <p:nvPr/>
        </p:nvSpPr>
        <p:spPr>
          <a:xfrm>
            <a:off x="8921651" y="2209800"/>
            <a:ext cx="828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团队Leader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2" name="Text 44"/>
          <p:cNvSpPr/>
          <p:nvPr/>
        </p:nvSpPr>
        <p:spPr>
          <a:xfrm>
            <a:off x="8273951" y="2552700"/>
            <a:ext cx="344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发现"多跳推理"场景</a:t>
            </a:r>
            <a:endParaRPr lang="en-US" sz="135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4" name="Shape 46"/>
          <p:cNvSpPr/>
          <p:nvPr/>
        </p:nvSpPr>
        <p:spPr>
          <a:xfrm>
            <a:off x="8369201" y="30003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4848" y="9454"/>
                </a:moveTo>
                <a:cubicBezTo>
                  <a:pt x="37687" y="11434"/>
                  <a:pt x="38364" y="15340"/>
                  <a:pt x="36385" y="18153"/>
                </a:cubicBezTo>
                <a:lnTo>
                  <a:pt x="21800" y="38989"/>
                </a:lnTo>
                <a:cubicBezTo>
                  <a:pt x="20732" y="40500"/>
                  <a:pt x="19065" y="41464"/>
                  <a:pt x="17216" y="41620"/>
                </a:cubicBezTo>
                <a:cubicBezTo>
                  <a:pt x="15367" y="41776"/>
                  <a:pt x="13543" y="41151"/>
                  <a:pt x="12241" y="39849"/>
                </a:cubicBezTo>
                <a:lnTo>
                  <a:pt x="1823" y="29431"/>
                </a:lnTo>
                <a:cubicBezTo>
                  <a:pt x="-599" y="26983"/>
                  <a:pt x="-599" y="23024"/>
                  <a:pt x="1823" y="20575"/>
                </a:cubicBezTo>
                <a:cubicBezTo>
                  <a:pt x="4245" y="18127"/>
                  <a:pt x="8230" y="18153"/>
                  <a:pt x="10678" y="20575"/>
                </a:cubicBezTo>
                <a:lnTo>
                  <a:pt x="15835" y="25732"/>
                </a:lnTo>
                <a:lnTo>
                  <a:pt x="26149" y="10991"/>
                </a:lnTo>
                <a:cubicBezTo>
                  <a:pt x="28129" y="8152"/>
                  <a:pt x="32035" y="7475"/>
                  <a:pt x="34848" y="9454"/>
                </a:cubicBezTo>
                <a:close/>
                <a:moveTo>
                  <a:pt x="34848" y="51126"/>
                </a:moveTo>
                <a:cubicBezTo>
                  <a:pt x="37687" y="53106"/>
                  <a:pt x="38364" y="57012"/>
                  <a:pt x="36385" y="59825"/>
                </a:cubicBezTo>
                <a:lnTo>
                  <a:pt x="21800" y="80661"/>
                </a:lnTo>
                <a:cubicBezTo>
                  <a:pt x="20732" y="82172"/>
                  <a:pt x="19065" y="83135"/>
                  <a:pt x="17216" y="83292"/>
                </a:cubicBezTo>
                <a:cubicBezTo>
                  <a:pt x="15367" y="83448"/>
                  <a:pt x="13543" y="82823"/>
                  <a:pt x="12241" y="81521"/>
                </a:cubicBezTo>
                <a:lnTo>
                  <a:pt x="1823" y="71103"/>
                </a:lnTo>
                <a:cubicBezTo>
                  <a:pt x="-625" y="68654"/>
                  <a:pt x="-625" y="64696"/>
                  <a:pt x="1823" y="62273"/>
                </a:cubicBezTo>
                <a:cubicBezTo>
                  <a:pt x="4271" y="59851"/>
                  <a:pt x="8230" y="59825"/>
                  <a:pt x="10652" y="62273"/>
                </a:cubicBezTo>
                <a:lnTo>
                  <a:pt x="15809" y="67430"/>
                </a:lnTo>
                <a:lnTo>
                  <a:pt x="26123" y="52689"/>
                </a:lnTo>
                <a:cubicBezTo>
                  <a:pt x="28102" y="49850"/>
                  <a:pt x="32009" y="49173"/>
                  <a:pt x="34822" y="51152"/>
                </a:cubicBezTo>
                <a:close/>
                <a:moveTo>
                  <a:pt x="58341" y="25003"/>
                </a:moveTo>
                <a:cubicBezTo>
                  <a:pt x="58341" y="20393"/>
                  <a:pt x="62065" y="16669"/>
                  <a:pt x="66675" y="16669"/>
                </a:cubicBezTo>
                <a:lnTo>
                  <a:pt x="125016" y="16669"/>
                </a:lnTo>
                <a:cubicBezTo>
                  <a:pt x="129626" y="16669"/>
                  <a:pt x="133350" y="20393"/>
                  <a:pt x="133350" y="25003"/>
                </a:cubicBezTo>
                <a:cubicBezTo>
                  <a:pt x="133350" y="29613"/>
                  <a:pt x="129626" y="33337"/>
                  <a:pt x="125016" y="33337"/>
                </a:cubicBezTo>
                <a:lnTo>
                  <a:pt x="66675" y="33337"/>
                </a:lnTo>
                <a:cubicBezTo>
                  <a:pt x="62065" y="33337"/>
                  <a:pt x="58341" y="29613"/>
                  <a:pt x="58341" y="25003"/>
                </a:cubicBezTo>
                <a:close/>
                <a:moveTo>
                  <a:pt x="58341" y="66675"/>
                </a:moveTo>
                <a:cubicBezTo>
                  <a:pt x="58341" y="62065"/>
                  <a:pt x="62065" y="58341"/>
                  <a:pt x="66675" y="58341"/>
                </a:cubicBezTo>
                <a:lnTo>
                  <a:pt x="125016" y="58341"/>
                </a:lnTo>
                <a:cubicBezTo>
                  <a:pt x="129626" y="58341"/>
                  <a:pt x="133350" y="62065"/>
                  <a:pt x="133350" y="66675"/>
                </a:cubicBezTo>
                <a:cubicBezTo>
                  <a:pt x="133350" y="71285"/>
                  <a:pt x="129626" y="75009"/>
                  <a:pt x="125016" y="75009"/>
                </a:cubicBezTo>
                <a:lnTo>
                  <a:pt x="66675" y="75009"/>
                </a:lnTo>
                <a:cubicBezTo>
                  <a:pt x="62065" y="75009"/>
                  <a:pt x="58341" y="71285"/>
                  <a:pt x="58341" y="66675"/>
                </a:cubicBezTo>
                <a:close/>
                <a:moveTo>
                  <a:pt x="41672" y="108347"/>
                </a:moveTo>
                <a:cubicBezTo>
                  <a:pt x="41672" y="103737"/>
                  <a:pt x="45396" y="100013"/>
                  <a:pt x="50006" y="100013"/>
                </a:cubicBezTo>
                <a:lnTo>
                  <a:pt x="125016" y="100013"/>
                </a:lnTo>
                <a:cubicBezTo>
                  <a:pt x="129626" y="100013"/>
                  <a:pt x="133350" y="103737"/>
                  <a:pt x="133350" y="108347"/>
                </a:cubicBezTo>
                <a:cubicBezTo>
                  <a:pt x="133350" y="112957"/>
                  <a:pt x="129626" y="116681"/>
                  <a:pt x="125016" y="116681"/>
                </a:cubicBezTo>
                <a:lnTo>
                  <a:pt x="50006" y="116681"/>
                </a:lnTo>
                <a:cubicBezTo>
                  <a:pt x="45396" y="116681"/>
                  <a:pt x="41672" y="112957"/>
                  <a:pt x="41672" y="108347"/>
                </a:cubicBezTo>
                <a:close/>
                <a:moveTo>
                  <a:pt x="16669" y="97929"/>
                </a:moveTo>
                <a:cubicBezTo>
                  <a:pt x="22419" y="97929"/>
                  <a:pt x="27087" y="102597"/>
                  <a:pt x="27087" y="108347"/>
                </a:cubicBezTo>
                <a:cubicBezTo>
                  <a:pt x="27087" y="114097"/>
                  <a:pt x="22419" y="118765"/>
                  <a:pt x="16669" y="118765"/>
                </a:cubicBezTo>
                <a:cubicBezTo>
                  <a:pt x="10919" y="118765"/>
                  <a:pt x="6251" y="114097"/>
                  <a:pt x="6251" y="108347"/>
                </a:cubicBezTo>
                <a:cubicBezTo>
                  <a:pt x="6251" y="102597"/>
                  <a:pt x="10919" y="97929"/>
                  <a:pt x="16669" y="9792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5" name="Text 47"/>
          <p:cNvSpPr/>
          <p:nvPr/>
        </p:nvSpPr>
        <p:spPr>
          <a:xfrm>
            <a:off x="8578751" y="2971800"/>
            <a:ext cx="3048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行动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6" name="Text 48"/>
          <p:cNvSpPr/>
          <p:nvPr/>
        </p:nvSpPr>
        <p:spPr>
          <a:xfrm>
            <a:off x="8350151" y="3200400"/>
            <a:ext cx="32670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在你的工作流中，找出一个必须跨越多份不同领域文档才能完成的决策或分析任务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8" name="Shape 50"/>
          <p:cNvSpPr/>
          <p:nvPr/>
        </p:nvSpPr>
        <p:spPr>
          <a:xfrm>
            <a:off x="8369201" y="37242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16681" y="66675"/>
                </a:moveTo>
                <a:cubicBezTo>
                  <a:pt x="116681" y="39076"/>
                  <a:pt x="94274" y="16669"/>
                  <a:pt x="66675" y="16669"/>
                </a:cubicBezTo>
                <a:cubicBezTo>
                  <a:pt x="39076" y="16669"/>
                  <a:pt x="16669" y="39076"/>
                  <a:pt x="16669" y="66675"/>
                </a:cubicBezTo>
                <a:cubicBezTo>
                  <a:pt x="16669" y="94274"/>
                  <a:pt x="39076" y="116681"/>
                  <a:pt x="66675" y="116681"/>
                </a:cubicBezTo>
                <a:cubicBezTo>
                  <a:pt x="94274" y="116681"/>
                  <a:pt x="116681" y="94274"/>
                  <a:pt x="116681" y="66675"/>
                </a:cubicBezTo>
                <a:close/>
                <a:moveTo>
                  <a:pt x="0" y="66675"/>
                </a:moveTo>
                <a:cubicBezTo>
                  <a:pt x="0" y="29876"/>
                  <a:pt x="29876" y="0"/>
                  <a:pt x="66675" y="0"/>
                </a:cubicBez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lose/>
                <a:moveTo>
                  <a:pt x="66675" y="87511"/>
                </a:moveTo>
                <a:cubicBezTo>
                  <a:pt x="78175" y="87511"/>
                  <a:pt x="87511" y="78175"/>
                  <a:pt x="87511" y="66675"/>
                </a:cubicBezTo>
                <a:cubicBezTo>
                  <a:pt x="87511" y="55175"/>
                  <a:pt x="78175" y="45839"/>
                  <a:pt x="66675" y="45839"/>
                </a:cubicBezTo>
                <a:cubicBezTo>
                  <a:pt x="55175" y="45839"/>
                  <a:pt x="45839" y="55175"/>
                  <a:pt x="45839" y="66675"/>
                </a:cubicBezTo>
                <a:cubicBezTo>
                  <a:pt x="45839" y="78175"/>
                  <a:pt x="55175" y="87511"/>
                  <a:pt x="66675" y="87511"/>
                </a:cubicBezTo>
                <a:close/>
                <a:moveTo>
                  <a:pt x="66675" y="29170"/>
                </a:moveTo>
                <a:cubicBezTo>
                  <a:pt x="87374" y="29170"/>
                  <a:pt x="104180" y="45976"/>
                  <a:pt x="104180" y="66675"/>
                </a:cubicBezTo>
                <a:cubicBezTo>
                  <a:pt x="104180" y="87374"/>
                  <a:pt x="87374" y="104180"/>
                  <a:pt x="66675" y="104180"/>
                </a:cubicBezTo>
                <a:cubicBezTo>
                  <a:pt x="45976" y="104180"/>
                  <a:pt x="29170" y="87374"/>
                  <a:pt x="29170" y="66675"/>
                </a:cubicBezTo>
                <a:cubicBezTo>
                  <a:pt x="29170" y="45976"/>
                  <a:pt x="45976" y="29170"/>
                  <a:pt x="66675" y="29170"/>
                </a:cubicBezTo>
                <a:close/>
                <a:moveTo>
                  <a:pt x="58341" y="66675"/>
                </a:moveTo>
                <a:cubicBezTo>
                  <a:pt x="58341" y="62075"/>
                  <a:pt x="62075" y="58341"/>
                  <a:pt x="66675" y="58341"/>
                </a:cubicBezTo>
                <a:cubicBezTo>
                  <a:pt x="71275" y="58341"/>
                  <a:pt x="75009" y="62075"/>
                  <a:pt x="75009" y="66675"/>
                </a:cubicBezTo>
                <a:cubicBezTo>
                  <a:pt x="75009" y="71275"/>
                  <a:pt x="71275" y="75009"/>
                  <a:pt x="66675" y="75009"/>
                </a:cubicBezTo>
                <a:cubicBezTo>
                  <a:pt x="62075" y="75009"/>
                  <a:pt x="58341" y="71275"/>
                  <a:pt x="58341" y="6667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9" name="Text 51"/>
          <p:cNvSpPr/>
          <p:nvPr/>
        </p:nvSpPr>
        <p:spPr>
          <a:xfrm>
            <a:off x="8578751" y="3695700"/>
            <a:ext cx="3048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目标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0" name="Text 52"/>
          <p:cNvSpPr/>
          <p:nvPr/>
        </p:nvSpPr>
        <p:spPr>
          <a:xfrm>
            <a:off x="8350151" y="3924300"/>
            <a:ext cx="32670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用"问题背景+需要查阅的文档类型+期望的输出结果"的格式描述，提交至创新提案平台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2" name="Shape 54"/>
          <p:cNvSpPr/>
          <p:nvPr/>
        </p:nvSpPr>
        <p:spPr>
          <a:xfrm>
            <a:off x="8369201" y="44481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7583" y="0"/>
                </a:moveTo>
                <a:lnTo>
                  <a:pt x="95923" y="0"/>
                </a:lnTo>
                <a:cubicBezTo>
                  <a:pt x="102825" y="0"/>
                  <a:pt x="108451" y="5678"/>
                  <a:pt x="108191" y="12554"/>
                </a:cubicBezTo>
                <a:cubicBezTo>
                  <a:pt x="108139" y="13934"/>
                  <a:pt x="108086" y="15314"/>
                  <a:pt x="108008" y="16669"/>
                </a:cubicBezTo>
                <a:lnTo>
                  <a:pt x="120927" y="16669"/>
                </a:lnTo>
                <a:cubicBezTo>
                  <a:pt x="127724" y="16669"/>
                  <a:pt x="133715" y="22294"/>
                  <a:pt x="133194" y="29639"/>
                </a:cubicBezTo>
                <a:cubicBezTo>
                  <a:pt x="131240" y="56648"/>
                  <a:pt x="117437" y="71493"/>
                  <a:pt x="102461" y="79255"/>
                </a:cubicBezTo>
                <a:cubicBezTo>
                  <a:pt x="98346" y="81390"/>
                  <a:pt x="94152" y="82979"/>
                  <a:pt x="90168" y="84151"/>
                </a:cubicBezTo>
                <a:cubicBezTo>
                  <a:pt x="84906" y="91600"/>
                  <a:pt x="79437" y="95533"/>
                  <a:pt x="75088" y="97642"/>
                </a:cubicBezTo>
                <a:lnTo>
                  <a:pt x="75088" y="116681"/>
                </a:lnTo>
                <a:lnTo>
                  <a:pt x="91756" y="116681"/>
                </a:lnTo>
                <a:cubicBezTo>
                  <a:pt x="96366" y="116681"/>
                  <a:pt x="100091" y="120406"/>
                  <a:pt x="100091" y="125016"/>
                </a:cubicBezTo>
                <a:cubicBezTo>
                  <a:pt x="100091" y="129626"/>
                  <a:pt x="96366" y="133350"/>
                  <a:pt x="91756" y="133350"/>
                </a:cubicBezTo>
                <a:lnTo>
                  <a:pt x="41750" y="133350"/>
                </a:lnTo>
                <a:cubicBezTo>
                  <a:pt x="37140" y="133350"/>
                  <a:pt x="33416" y="129626"/>
                  <a:pt x="33416" y="125016"/>
                </a:cubicBezTo>
                <a:cubicBezTo>
                  <a:pt x="33416" y="120406"/>
                  <a:pt x="37140" y="116681"/>
                  <a:pt x="41750" y="116681"/>
                </a:cubicBezTo>
                <a:lnTo>
                  <a:pt x="58419" y="116681"/>
                </a:lnTo>
                <a:lnTo>
                  <a:pt x="58419" y="97642"/>
                </a:lnTo>
                <a:cubicBezTo>
                  <a:pt x="54252" y="95637"/>
                  <a:pt x="49069" y="91913"/>
                  <a:pt x="44016" y="85063"/>
                </a:cubicBezTo>
                <a:cubicBezTo>
                  <a:pt x="39224" y="83813"/>
                  <a:pt x="34015" y="81911"/>
                  <a:pt x="28936" y="79046"/>
                </a:cubicBezTo>
                <a:cubicBezTo>
                  <a:pt x="14846" y="71155"/>
                  <a:pt x="2136" y="56283"/>
                  <a:pt x="313" y="29587"/>
                </a:cubicBezTo>
                <a:cubicBezTo>
                  <a:pt x="-182" y="22268"/>
                  <a:pt x="5782" y="16643"/>
                  <a:pt x="12580" y="16643"/>
                </a:cubicBezTo>
                <a:lnTo>
                  <a:pt x="25498" y="16643"/>
                </a:lnTo>
                <a:cubicBezTo>
                  <a:pt x="25420" y="15288"/>
                  <a:pt x="25368" y="13934"/>
                  <a:pt x="25316" y="12528"/>
                </a:cubicBezTo>
                <a:cubicBezTo>
                  <a:pt x="25055" y="5626"/>
                  <a:pt x="30681" y="-26"/>
                  <a:pt x="37583" y="-26"/>
                </a:cubicBezTo>
                <a:close/>
                <a:moveTo>
                  <a:pt x="26436" y="29170"/>
                </a:moveTo>
                <a:lnTo>
                  <a:pt x="12788" y="29170"/>
                </a:lnTo>
                <a:cubicBezTo>
                  <a:pt x="14403" y="51230"/>
                  <a:pt x="24534" y="62273"/>
                  <a:pt x="34978" y="68134"/>
                </a:cubicBezTo>
                <a:cubicBezTo>
                  <a:pt x="31228" y="58419"/>
                  <a:pt x="28129" y="45735"/>
                  <a:pt x="26436" y="29170"/>
                </a:cubicBezTo>
                <a:close/>
                <a:moveTo>
                  <a:pt x="98971" y="66883"/>
                </a:moveTo>
                <a:cubicBezTo>
                  <a:pt x="109519" y="60685"/>
                  <a:pt x="119051" y="49668"/>
                  <a:pt x="120666" y="29170"/>
                </a:cubicBezTo>
                <a:lnTo>
                  <a:pt x="107045" y="29170"/>
                </a:lnTo>
                <a:cubicBezTo>
                  <a:pt x="105430" y="45032"/>
                  <a:pt x="102513" y="57351"/>
                  <a:pt x="98971" y="6688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3" name="Text 55"/>
          <p:cNvSpPr/>
          <p:nvPr/>
        </p:nvSpPr>
        <p:spPr>
          <a:xfrm>
            <a:off x="8578751" y="4419600"/>
            <a:ext cx="3048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激励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4" name="Text 56"/>
          <p:cNvSpPr/>
          <p:nvPr/>
        </p:nvSpPr>
        <p:spPr>
          <a:xfrm>
            <a:off x="8350151" y="4648200"/>
            <a:ext cx="32670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入选"最佳Agent场景设计奖"，将获得宝马集团AI Lab的专属交流机会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6" name="Shape 58"/>
          <p:cNvSpPr/>
          <p:nvPr/>
        </p:nvSpPr>
        <p:spPr>
          <a:xfrm>
            <a:off x="608409" y="56864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120551"/>
                </a:moveTo>
                <a:cubicBezTo>
                  <a:pt x="0" y="83548"/>
                  <a:pt x="29970" y="53578"/>
                  <a:pt x="66973" y="53578"/>
                </a:cubicBezTo>
                <a:lnTo>
                  <a:pt x="71438" y="53578"/>
                </a:lnTo>
                <a:cubicBezTo>
                  <a:pt x="81316" y="53578"/>
                  <a:pt x="89297" y="61559"/>
                  <a:pt x="89297" y="71438"/>
                </a:cubicBezTo>
                <a:cubicBezTo>
                  <a:pt x="89297" y="81316"/>
                  <a:pt x="81316" y="89297"/>
                  <a:pt x="71438" y="89297"/>
                </a:cubicBezTo>
                <a:lnTo>
                  <a:pt x="66973" y="89297"/>
                </a:lnTo>
                <a:cubicBezTo>
                  <a:pt x="49727" y="89297"/>
                  <a:pt x="35719" y="103305"/>
                  <a:pt x="35719" y="120551"/>
                </a:cubicBezTo>
                <a:lnTo>
                  <a:pt x="35719" y="125016"/>
                </a:lnTo>
                <a:lnTo>
                  <a:pt x="71438" y="125016"/>
                </a:lnTo>
                <a:cubicBezTo>
                  <a:pt x="91139" y="125016"/>
                  <a:pt x="107156" y="141033"/>
                  <a:pt x="107156" y="160734"/>
                </a:cubicBezTo>
                <a:lnTo>
                  <a:pt x="107156" y="196453"/>
                </a:lnTo>
                <a:cubicBezTo>
                  <a:pt x="107156" y="216154"/>
                  <a:pt x="91139" y="232172"/>
                  <a:pt x="71438" y="232172"/>
                </a:cubicBezTo>
                <a:lnTo>
                  <a:pt x="35719" y="232172"/>
                </a:lnTo>
                <a:cubicBezTo>
                  <a:pt x="16018" y="232172"/>
                  <a:pt x="0" y="216154"/>
                  <a:pt x="0" y="196453"/>
                </a:cubicBezTo>
                <a:lnTo>
                  <a:pt x="0" y="120551"/>
                </a:lnTo>
                <a:close/>
                <a:moveTo>
                  <a:pt x="142875" y="120551"/>
                </a:moveTo>
                <a:cubicBezTo>
                  <a:pt x="142875" y="83548"/>
                  <a:pt x="172845" y="53578"/>
                  <a:pt x="209848" y="53578"/>
                </a:cubicBezTo>
                <a:lnTo>
                  <a:pt x="214313" y="53578"/>
                </a:lnTo>
                <a:cubicBezTo>
                  <a:pt x="224191" y="53578"/>
                  <a:pt x="232172" y="61559"/>
                  <a:pt x="232172" y="71438"/>
                </a:cubicBezTo>
                <a:cubicBezTo>
                  <a:pt x="232172" y="81316"/>
                  <a:pt x="224191" y="89297"/>
                  <a:pt x="214313" y="89297"/>
                </a:cubicBezTo>
                <a:lnTo>
                  <a:pt x="209848" y="89297"/>
                </a:lnTo>
                <a:cubicBezTo>
                  <a:pt x="192602" y="89297"/>
                  <a:pt x="178594" y="103305"/>
                  <a:pt x="178594" y="120551"/>
                </a:cubicBezTo>
                <a:lnTo>
                  <a:pt x="178594" y="125016"/>
                </a:lnTo>
                <a:lnTo>
                  <a:pt x="214313" y="125016"/>
                </a:lnTo>
                <a:cubicBezTo>
                  <a:pt x="234014" y="125016"/>
                  <a:pt x="250031" y="141033"/>
                  <a:pt x="250031" y="160734"/>
                </a:cubicBezTo>
                <a:lnTo>
                  <a:pt x="250031" y="196453"/>
                </a:lnTo>
                <a:cubicBezTo>
                  <a:pt x="250031" y="216154"/>
                  <a:pt x="234014" y="232172"/>
                  <a:pt x="214313" y="232172"/>
                </a:cubicBezTo>
                <a:lnTo>
                  <a:pt x="178594" y="232172"/>
                </a:lnTo>
                <a:cubicBezTo>
                  <a:pt x="158893" y="232172"/>
                  <a:pt x="142875" y="216154"/>
                  <a:pt x="142875" y="196453"/>
                </a:cubicBezTo>
                <a:lnTo>
                  <a:pt x="142875" y="120551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78" name="Text 60"/>
          <p:cNvSpPr/>
          <p:nvPr/>
        </p:nvSpPr>
        <p:spPr>
          <a:xfrm>
            <a:off x="1071880" y="5686425"/>
            <a:ext cx="101536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AI不是替代者，而是每一位宝马人的"知识加速器"。</a:t>
            </a:r>
            <a:r>
              <a:rPr lang="en-US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</a:t>
            </a:r>
            <a:r>
              <a:rPr lang="en-US" dirty="0">
                <a:solidFill>
                  <a:srgbClr val="FFFFFF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你的专业经验决定了加速的方向，GAIA决定了加速的倍数。</a:t>
            </a:r>
            <a:endParaRPr lang="en-US" dirty="0">
              <a:solidFill>
                <a:srgbClr val="FFFFFF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9" name="Shape 61"/>
          <p:cNvSpPr/>
          <p:nvPr/>
        </p:nvSpPr>
        <p:spPr>
          <a:xfrm>
            <a:off x="11338322" y="56864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65199"/>
                </a:moveTo>
                <a:cubicBezTo>
                  <a:pt x="250031" y="202202"/>
                  <a:pt x="220061" y="232172"/>
                  <a:pt x="183059" y="232172"/>
                </a:cubicBezTo>
                <a:lnTo>
                  <a:pt x="178594" y="232172"/>
                </a:lnTo>
                <a:cubicBezTo>
                  <a:pt x="168715" y="232172"/>
                  <a:pt x="160734" y="224191"/>
                  <a:pt x="160734" y="214313"/>
                </a:cubicBezTo>
                <a:cubicBezTo>
                  <a:pt x="160734" y="204434"/>
                  <a:pt x="168715" y="196453"/>
                  <a:pt x="178594" y="196453"/>
                </a:cubicBezTo>
                <a:lnTo>
                  <a:pt x="183059" y="196453"/>
                </a:lnTo>
                <a:cubicBezTo>
                  <a:pt x="200304" y="196453"/>
                  <a:pt x="214313" y="182445"/>
                  <a:pt x="214313" y="165199"/>
                </a:cubicBezTo>
                <a:lnTo>
                  <a:pt x="214313" y="160734"/>
                </a:lnTo>
                <a:lnTo>
                  <a:pt x="178594" y="160734"/>
                </a:lnTo>
                <a:cubicBezTo>
                  <a:pt x="158893" y="160734"/>
                  <a:pt x="142875" y="144717"/>
                  <a:pt x="142875" y="125016"/>
                </a:cubicBezTo>
                <a:lnTo>
                  <a:pt x="142875" y="89297"/>
                </a:lnTo>
                <a:cubicBezTo>
                  <a:pt x="142875" y="69596"/>
                  <a:pt x="158893" y="53578"/>
                  <a:pt x="178594" y="53578"/>
                </a:cubicBezTo>
                <a:lnTo>
                  <a:pt x="214313" y="53578"/>
                </a:lnTo>
                <a:cubicBezTo>
                  <a:pt x="234014" y="53578"/>
                  <a:pt x="250031" y="69596"/>
                  <a:pt x="250031" y="89297"/>
                </a:cubicBezTo>
                <a:lnTo>
                  <a:pt x="250031" y="165199"/>
                </a:lnTo>
                <a:close/>
                <a:moveTo>
                  <a:pt x="107156" y="165199"/>
                </a:moveTo>
                <a:cubicBezTo>
                  <a:pt x="107156" y="202202"/>
                  <a:pt x="77186" y="232172"/>
                  <a:pt x="40184" y="232172"/>
                </a:cubicBezTo>
                <a:lnTo>
                  <a:pt x="35719" y="232172"/>
                </a:lnTo>
                <a:cubicBezTo>
                  <a:pt x="25840" y="232172"/>
                  <a:pt x="17859" y="224191"/>
                  <a:pt x="17859" y="214313"/>
                </a:cubicBezTo>
                <a:cubicBezTo>
                  <a:pt x="17859" y="204434"/>
                  <a:pt x="25840" y="196453"/>
                  <a:pt x="35719" y="196453"/>
                </a:cubicBezTo>
                <a:lnTo>
                  <a:pt x="40184" y="196453"/>
                </a:lnTo>
                <a:cubicBezTo>
                  <a:pt x="57429" y="196453"/>
                  <a:pt x="71438" y="182445"/>
                  <a:pt x="71438" y="165199"/>
                </a:cubicBezTo>
                <a:lnTo>
                  <a:pt x="71438" y="160734"/>
                </a:lnTo>
                <a:lnTo>
                  <a:pt x="35719" y="160734"/>
                </a:lnTo>
                <a:cubicBezTo>
                  <a:pt x="16018" y="160734"/>
                  <a:pt x="0" y="144717"/>
                  <a:pt x="0" y="125016"/>
                </a:cubicBezTo>
                <a:lnTo>
                  <a:pt x="0" y="89297"/>
                </a:lnTo>
                <a:cubicBezTo>
                  <a:pt x="0" y="69596"/>
                  <a:pt x="16018" y="53578"/>
                  <a:pt x="35719" y="53578"/>
                </a:cubicBezTo>
                <a:lnTo>
                  <a:pt x="71438" y="53578"/>
                </a:lnTo>
                <a:cubicBezTo>
                  <a:pt x="91139" y="53578"/>
                  <a:pt x="107156" y="69596"/>
                  <a:pt x="107156" y="89297"/>
                </a:cubicBezTo>
                <a:lnTo>
                  <a:pt x="107156" y="165199"/>
                </a:lnTo>
                <a:close/>
              </a:path>
            </a:pathLst>
          </a:custGeom>
          <a:solidFill>
            <a:srgbClr val="4ECDC4"/>
          </a:solidFill>
        </p:spPr>
      </p:sp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12800" y="205740"/>
            <a:ext cx="4203065" cy="720090"/>
          </a:xfrm>
        </p:spPr>
        <p:txBody>
          <a:bodyPr>
            <a:normAutofit/>
          </a:bodyPr>
          <a:lstStyle/>
          <a:p>
            <a:pPr algn="l"/>
            <a:r>
              <a:rPr lang="zh-CN" altLang="en-US"/>
              <a:t>课后作业</a:t>
            </a:r>
            <a:endParaRPr lang="zh-CN" altLang="en-US"/>
          </a:p>
        </p:txBody>
      </p:sp>
      <p:sp>
        <p:nvSpPr>
          <p:cNvPr id="36" name="Shape 25"/>
          <p:cNvSpPr/>
          <p:nvPr/>
        </p:nvSpPr>
        <p:spPr>
          <a:xfrm>
            <a:off x="1144905" y="1278890"/>
            <a:ext cx="9700260" cy="3511550"/>
          </a:xfrm>
          <a:custGeom>
            <a:avLst/>
            <a:gdLst/>
            <a:ahLst/>
            <a:cxnLst/>
            <a:rect l="l" t="t" r="r" b="b"/>
            <a:pathLst>
              <a:path w="9018377" h="1868911">
                <a:moveTo>
                  <a:pt x="141047" y="0"/>
                </a:moveTo>
                <a:lnTo>
                  <a:pt x="8877331" y="0"/>
                </a:lnTo>
                <a:cubicBezTo>
                  <a:pt x="8955229" y="0"/>
                  <a:pt x="9018377" y="63149"/>
                  <a:pt x="9018377" y="141047"/>
                </a:cubicBezTo>
                <a:lnTo>
                  <a:pt x="9018377" y="1727864"/>
                </a:lnTo>
                <a:cubicBezTo>
                  <a:pt x="9018377" y="1805762"/>
                  <a:pt x="8955229" y="1868911"/>
                  <a:pt x="8877331" y="1868911"/>
                </a:cubicBezTo>
                <a:lnTo>
                  <a:pt x="141047" y="1868911"/>
                </a:lnTo>
                <a:cubicBezTo>
                  <a:pt x="63149" y="1868911"/>
                  <a:pt x="0" y="1805762"/>
                  <a:pt x="0" y="1727864"/>
                </a:cubicBezTo>
                <a:lnTo>
                  <a:pt x="0" y="141047"/>
                </a:lnTo>
                <a:cubicBezTo>
                  <a:pt x="0" y="63201"/>
                  <a:pt x="63201" y="0"/>
                  <a:pt x="141047" y="0"/>
                </a:cubicBezTo>
                <a:close/>
              </a:path>
            </a:pathLst>
          </a:custGeom>
          <a:ln>
            <a:solidFill>
              <a:schemeClr val="accent1">
                <a:alpha val="4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7" name="Shape 26"/>
          <p:cNvSpPr/>
          <p:nvPr/>
        </p:nvSpPr>
        <p:spPr>
          <a:xfrm>
            <a:off x="1789644" y="1551739"/>
            <a:ext cx="264469" cy="264469"/>
          </a:xfrm>
          <a:custGeom>
            <a:avLst/>
            <a:gdLst/>
            <a:ahLst/>
            <a:cxnLst/>
            <a:rect l="l" t="t" r="r" b="b"/>
            <a:pathLst>
              <a:path w="264469" h="264469">
                <a:moveTo>
                  <a:pt x="166068" y="35538"/>
                </a:moveTo>
                <a:cubicBezTo>
                  <a:pt x="169993" y="28875"/>
                  <a:pt x="177122" y="24794"/>
                  <a:pt x="184818" y="24794"/>
                </a:cubicBezTo>
                <a:lnTo>
                  <a:pt x="185954" y="24794"/>
                </a:lnTo>
                <a:cubicBezTo>
                  <a:pt x="197370" y="24794"/>
                  <a:pt x="206616" y="34040"/>
                  <a:pt x="206616" y="45456"/>
                </a:cubicBezTo>
                <a:cubicBezTo>
                  <a:pt x="206616" y="56871"/>
                  <a:pt x="197370" y="66117"/>
                  <a:pt x="185954" y="66117"/>
                </a:cubicBezTo>
                <a:lnTo>
                  <a:pt x="148092" y="66117"/>
                </a:lnTo>
                <a:lnTo>
                  <a:pt x="166068" y="35538"/>
                </a:lnTo>
                <a:close/>
                <a:moveTo>
                  <a:pt x="98401" y="35538"/>
                </a:moveTo>
                <a:lnTo>
                  <a:pt x="116376" y="66117"/>
                </a:lnTo>
                <a:lnTo>
                  <a:pt x="78514" y="66117"/>
                </a:lnTo>
                <a:cubicBezTo>
                  <a:pt x="67099" y="66117"/>
                  <a:pt x="57852" y="56871"/>
                  <a:pt x="57852" y="45456"/>
                </a:cubicBezTo>
                <a:cubicBezTo>
                  <a:pt x="57852" y="34040"/>
                  <a:pt x="67099" y="24794"/>
                  <a:pt x="78514" y="24794"/>
                </a:cubicBezTo>
                <a:lnTo>
                  <a:pt x="79650" y="24794"/>
                </a:lnTo>
                <a:cubicBezTo>
                  <a:pt x="87347" y="24794"/>
                  <a:pt x="94527" y="28875"/>
                  <a:pt x="98401" y="35538"/>
                </a:cubicBezTo>
                <a:close/>
                <a:moveTo>
                  <a:pt x="144683" y="22986"/>
                </a:moveTo>
                <a:lnTo>
                  <a:pt x="132234" y="44164"/>
                </a:lnTo>
                <a:lnTo>
                  <a:pt x="119786" y="22986"/>
                </a:lnTo>
                <a:cubicBezTo>
                  <a:pt x="111418" y="8730"/>
                  <a:pt x="96128" y="0"/>
                  <a:pt x="79650" y="0"/>
                </a:cubicBezTo>
                <a:lnTo>
                  <a:pt x="78514" y="0"/>
                </a:lnTo>
                <a:cubicBezTo>
                  <a:pt x="53410" y="0"/>
                  <a:pt x="33059" y="20352"/>
                  <a:pt x="33059" y="45456"/>
                </a:cubicBezTo>
                <a:cubicBezTo>
                  <a:pt x="33059" y="52894"/>
                  <a:pt x="34866" y="59919"/>
                  <a:pt x="38017" y="66117"/>
                </a:cubicBezTo>
                <a:lnTo>
                  <a:pt x="16529" y="66117"/>
                </a:lnTo>
                <a:cubicBezTo>
                  <a:pt x="7387" y="66117"/>
                  <a:pt x="0" y="73504"/>
                  <a:pt x="0" y="82646"/>
                </a:cubicBezTo>
                <a:lnTo>
                  <a:pt x="0" y="99176"/>
                </a:lnTo>
                <a:cubicBezTo>
                  <a:pt x="0" y="108318"/>
                  <a:pt x="7387" y="115705"/>
                  <a:pt x="16529" y="115705"/>
                </a:cubicBezTo>
                <a:lnTo>
                  <a:pt x="247939" y="115705"/>
                </a:lnTo>
                <a:cubicBezTo>
                  <a:pt x="257082" y="115705"/>
                  <a:pt x="264469" y="108318"/>
                  <a:pt x="264469" y="99176"/>
                </a:cubicBezTo>
                <a:lnTo>
                  <a:pt x="264469" y="82646"/>
                </a:lnTo>
                <a:cubicBezTo>
                  <a:pt x="264469" y="73504"/>
                  <a:pt x="257082" y="66117"/>
                  <a:pt x="247939" y="66117"/>
                </a:cubicBezTo>
                <a:lnTo>
                  <a:pt x="226451" y="66117"/>
                </a:lnTo>
                <a:cubicBezTo>
                  <a:pt x="229602" y="59919"/>
                  <a:pt x="231410" y="52894"/>
                  <a:pt x="231410" y="45456"/>
                </a:cubicBezTo>
                <a:cubicBezTo>
                  <a:pt x="231410" y="20352"/>
                  <a:pt x="211058" y="0"/>
                  <a:pt x="185954" y="0"/>
                </a:cubicBezTo>
                <a:lnTo>
                  <a:pt x="184818" y="0"/>
                </a:lnTo>
                <a:cubicBezTo>
                  <a:pt x="168340" y="0"/>
                  <a:pt x="153051" y="8730"/>
                  <a:pt x="144683" y="22934"/>
                </a:cubicBezTo>
                <a:close/>
                <a:moveTo>
                  <a:pt x="247939" y="140499"/>
                </a:moveTo>
                <a:lnTo>
                  <a:pt x="144631" y="140499"/>
                </a:lnTo>
                <a:lnTo>
                  <a:pt x="144631" y="247939"/>
                </a:lnTo>
                <a:lnTo>
                  <a:pt x="214881" y="247939"/>
                </a:lnTo>
                <a:cubicBezTo>
                  <a:pt x="233115" y="247939"/>
                  <a:pt x="247939" y="233115"/>
                  <a:pt x="247939" y="214881"/>
                </a:cubicBezTo>
                <a:lnTo>
                  <a:pt x="247939" y="140499"/>
                </a:lnTo>
                <a:close/>
                <a:moveTo>
                  <a:pt x="119837" y="140499"/>
                </a:moveTo>
                <a:lnTo>
                  <a:pt x="16529" y="140499"/>
                </a:lnTo>
                <a:lnTo>
                  <a:pt x="16529" y="214881"/>
                </a:lnTo>
                <a:cubicBezTo>
                  <a:pt x="16529" y="233115"/>
                  <a:pt x="31354" y="247939"/>
                  <a:pt x="49588" y="247939"/>
                </a:cubicBezTo>
                <a:lnTo>
                  <a:pt x="119837" y="247939"/>
                </a:lnTo>
                <a:lnTo>
                  <a:pt x="119837" y="140499"/>
                </a:lnTo>
                <a:close/>
              </a:path>
            </a:pathLst>
          </a:custGeom>
          <a:solidFill>
            <a:srgbClr val="C8A45C"/>
          </a:solidFill>
        </p:spPr>
      </p:sp>
      <p:sp>
        <p:nvSpPr>
          <p:cNvPr id="38" name="Text 27"/>
          <p:cNvSpPr/>
          <p:nvPr/>
        </p:nvSpPr>
        <p:spPr>
          <a:xfrm>
            <a:off x="2226017" y="1454767"/>
            <a:ext cx="1216555" cy="24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b="1" dirty="0">
                <a:solidFill>
                  <a:srgbClr val="C8A45C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课后作业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39" name="Text 28"/>
          <p:cNvSpPr/>
          <p:nvPr/>
        </p:nvSpPr>
        <p:spPr>
          <a:xfrm>
            <a:off x="2226017" y="1701604"/>
            <a:ext cx="1198924" cy="211575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极具吸引力的挑战</a:t>
            </a:r>
            <a:endParaRPr lang="en-US" sz="111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718945" y="2032000"/>
            <a:ext cx="8508365" cy="255397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实践任务：</a:t>
            </a:r>
            <a:r>
              <a:rPr lang="en-US" altLang="zh-CN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 </a:t>
            </a:r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用</a:t>
            </a:r>
            <a:r>
              <a:rPr lang="en-US" altLang="zh-CN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 GAIA </a:t>
            </a:r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回答一个</a:t>
            </a:r>
            <a:r>
              <a:rPr lang="en-US" altLang="zh-CN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“</a:t>
            </a:r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老师傅才知道</a:t>
            </a:r>
            <a:r>
              <a:rPr lang="en-US" altLang="zh-CN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”</a:t>
            </a:r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的高频问题</a:t>
            </a:r>
            <a:endParaRPr lang="en-US" altLang="zh-CN" sz="1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BMWGroupTN Condensed TT Medium" charset="0"/>
            </a:endParaRPr>
          </a:p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选一个真实场景（如设备报警、报销特例、质量异常）</a:t>
            </a:r>
            <a:endParaRPr lang="en-US" altLang="zh-CN" sz="1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BMWGroupTN Condensed TT Medium" charset="0"/>
            </a:endParaRPr>
          </a:p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收集</a:t>
            </a:r>
            <a:r>
              <a:rPr lang="en-US" altLang="zh-CN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3</a:t>
            </a:r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份素材：手册节选</a:t>
            </a:r>
            <a:r>
              <a:rPr lang="en-US" altLang="zh-CN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 + </a:t>
            </a:r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老师傅经验</a:t>
            </a:r>
            <a:r>
              <a:rPr lang="en-US" altLang="zh-CN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 + </a:t>
            </a:r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你的踩坑笔记</a:t>
            </a:r>
            <a:endParaRPr lang="en-US" altLang="zh-CN" sz="1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BMWGroupTN Condensed TT Medium" charset="0"/>
            </a:endParaRPr>
          </a:p>
          <a:p>
            <a:pPr indent="0">
              <a:lnSpc>
                <a:spcPct val="140000"/>
              </a:lnSpc>
              <a:buFont typeface="+mj-lt"/>
              <a:buNone/>
            </a:pPr>
            <a:r>
              <a:rPr lang="zh-CN" altLang="en-US" sz="16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对比两个</a:t>
            </a:r>
            <a:r>
              <a:rPr lang="en-US" altLang="zh-CN" sz="16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 Prompt</a:t>
            </a:r>
            <a:r>
              <a:rPr lang="zh-CN" altLang="en-US" sz="16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：</a:t>
            </a:r>
            <a:endParaRPr lang="en-US" altLang="zh-CN" sz="16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BMWGroupTN Condensed TT Medium" charset="0"/>
            </a:endParaRPr>
          </a:p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简单提问：</a:t>
            </a:r>
            <a:r>
              <a:rPr lang="en-US" altLang="zh-CN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“X</a:t>
            </a:r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问题怎么处理？</a:t>
            </a:r>
            <a:r>
              <a:rPr lang="en-US" altLang="zh-CN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”</a:t>
            </a:r>
            <a:endParaRPr lang="en-US" altLang="zh-CN" sz="1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BMWGroupTN Condensed TT Medium" charset="0"/>
            </a:endParaRPr>
          </a:p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课程模板：角色</a:t>
            </a:r>
            <a:r>
              <a:rPr lang="en-US" altLang="zh-CN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+</a:t>
            </a:r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知识库约束</a:t>
            </a:r>
            <a:r>
              <a:rPr lang="en-US" altLang="zh-CN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+</a:t>
            </a:r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分步要求</a:t>
            </a:r>
            <a:r>
              <a:rPr lang="en-US" altLang="zh-CN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+</a:t>
            </a:r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格式指令</a:t>
            </a:r>
            <a:r>
              <a:rPr lang="en-US" altLang="zh-CN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 </a:t>
            </a:r>
            <a:endParaRPr lang="en-US" altLang="zh-CN" sz="1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BMWGroupTN Condensed TT Medium" charset="0"/>
            </a:endParaRPr>
          </a:p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对比分析：传统翻手册</a:t>
            </a:r>
            <a:r>
              <a:rPr lang="en-US" altLang="zh-CN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/</a:t>
            </a:r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问人耗时</a:t>
            </a:r>
            <a:r>
              <a:rPr lang="en-US" altLang="zh-CN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 vs AI </a:t>
            </a:r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MWGroupTN Condensed TT Medium" charset="0"/>
              </a:rPr>
              <a:t>秒回，信息完整度差异</a:t>
            </a:r>
            <a:endParaRPr lang="zh-CN" altLang="en-US" sz="1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BMWGroupTN Condensed TT Medium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4905" y="5003800"/>
            <a:ext cx="9815195" cy="1576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cs typeface="BMWGroupTN Condensed TT Medium" charset="0"/>
              </a:rPr>
              <a:t>按照课程给的模板写一段</a:t>
            </a:r>
            <a:r>
              <a:rPr lang="en-US" altLang="zh-CN">
                <a:cs typeface="BMWGroupTN Condensed TT Medium" charset="0"/>
              </a:rPr>
              <a:t>Prompt</a:t>
            </a:r>
            <a:r>
              <a:rPr lang="zh-CN" altLang="en-US">
                <a:cs typeface="BMWGroupTN Condensed TT Medium" charset="0"/>
              </a:rPr>
              <a:t>，上传</a:t>
            </a:r>
            <a:r>
              <a:rPr lang="en-US" altLang="zh-CN">
                <a:cs typeface="BMWGroupTN Condensed TT Medium" charset="0"/>
              </a:rPr>
              <a:t>(word</a:t>
            </a:r>
            <a:r>
              <a:rPr lang="zh-CN" altLang="en-US">
                <a:cs typeface="BMWGroupTN Condensed TT Medium" charset="0"/>
              </a:rPr>
              <a:t>文档形式</a:t>
            </a:r>
            <a:r>
              <a:rPr lang="en-US" altLang="zh-CN">
                <a:cs typeface="BMWGroupTN Condensed TT Medium" charset="0"/>
              </a:rPr>
              <a:t>)</a:t>
            </a:r>
            <a:endParaRPr lang="en-US" altLang="zh-CN">
              <a:cs typeface="BMWGroupTN Condensed TT Medium" charset="0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zh-CN">
              <a:cs typeface="BMWGroupTN Condensed TT Medium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cs typeface="BMWGroupTN Condensed TT Medium" charset="0"/>
              </a:rPr>
              <a:t>截取创建的知识库截图，以及与</a:t>
            </a:r>
            <a:r>
              <a:rPr lang="en-US" altLang="zh-CN">
                <a:cs typeface="BMWGroupTN Condensed TT Medium" charset="0"/>
              </a:rPr>
              <a:t>GAIA</a:t>
            </a:r>
            <a:r>
              <a:rPr lang="zh-CN" altLang="en-US">
                <a:cs typeface="BMWGroupTN Condensed TT Medium" charset="0"/>
              </a:rPr>
              <a:t>对话的截图</a:t>
            </a:r>
            <a:r>
              <a:rPr lang="en-US" altLang="zh-CN">
                <a:cs typeface="BMWGroupTN Condensed TT Medium" charset="0"/>
              </a:rPr>
              <a:t> </a:t>
            </a:r>
            <a:r>
              <a:rPr lang="zh-CN" altLang="en-US">
                <a:cs typeface="BMWGroupTN Condensed TT Medium" charset="0"/>
              </a:rPr>
              <a:t>（图片形式）</a:t>
            </a:r>
            <a:endParaRPr lang="zh-CN" altLang="en-US">
              <a:cs typeface="BMWGroupTN Condensed TT Medium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2378075" y="2023745"/>
            <a:ext cx="7190740" cy="257619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问题答疑</a:t>
            </a:r>
            <a:br>
              <a:rPr lang="zh-CN" altLang="en-US"/>
            </a:br>
            <a:r>
              <a:rPr lang="en-US" altLang="zh-CN"/>
              <a:t>Q&amp;A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下一课见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2025</a:t>
            </a:r>
            <a:r>
              <a:t>年</a:t>
            </a: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</p:tagLst>
</file>

<file path=ppt/tags/tag8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PRESET_TEXT" val="单击此处编辑母版文本样式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</p:tagLst>
</file>

<file path=ppt/tags/tag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3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</p:tagLst>
</file>

<file path=ppt/tags/tag2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TYPE" val="i"/>
  <p:tag name="KSO_WM_UNIT_INDEX" val="2"/>
</p:tagLst>
</file>

<file path=ppt/tags/tag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3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TYPE" val="i"/>
  <p:tag name="KSO_WM_UNIT_INDEX" val="4"/>
</p:tagLst>
</file>

<file path=ppt/tags/tag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32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3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</p:tagLst>
</file>

<file path=ppt/tags/tag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7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7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UNIT_TYPE" val="i"/>
  <p:tag name="KSO_WM_UNIT_INDEX" val="7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75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3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6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0296"/>
</p:tagLst>
</file>

<file path=ppt/tags/tag87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296"/>
  <p:tag name="KSO_WM_TEMPLATE_THUMBS_INDEX" val="1、9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1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  <p:tag name="KSO_WM_UNIT_PRESET_TEXT" val="单击添加文档标题"/>
  <p:tag name="KSO_WM_UNIT_TEXT_TYPE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202_9*f*1"/>
  <p:tag name="KSO_WM_TEMPLATE_CATEGORY" val="custom"/>
  <p:tag name="KSO_WM_TEMPLATE_INDEX" val="40495202"/>
  <p:tag name="KSO_WM_UNIT_LAYERLEVEL" val="1"/>
  <p:tag name="KSO_WM_TAG_VERSION" val="3.0"/>
  <p:tag name="KSO_WM_BEAUTIFY_FLAG" val="#wm#"/>
  <p:tag name="KSO_WM_UNIT_SUBTYPE" val="b"/>
  <p:tag name="KSO_WM_UNIT_TEXT_LAYER_COUNT" val="1"/>
  <p:tag name="KSO_WM_UNIT_VALUE" val="44"/>
  <p:tag name="KSO_WM_UNIT_TYPE" val="f"/>
  <p:tag name="KSO_WM_UNIT_INDEX" val="1"/>
  <p:tag name="KSO_WM_UNIT_TEXT_TYPE" val="1"/>
  <p:tag name="KSO_WM_UNIT_NOCLEAR" val="0"/>
  <p:tag name="KSO_WM_UNIT_PRESET_TEXT" val="汇报人：WPS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202_9*a*1"/>
  <p:tag name="KSO_WM_TEMPLATE_CATEGORY" val="custom"/>
  <p:tag name="KSO_WM_TEMPLATE_INDEX" val="4049520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TYPE" val="a"/>
  <p:tag name="KSO_WM_UNIT_INDEX" val="1"/>
  <p:tag name="KSO_WM_UNIT_TEXT_TYPE" val="0"/>
  <p:tag name="KSO_WM_UNIT_NOCLEAR" val="0"/>
  <p:tag name="KSO_WM_UNIT_PRESET_TEXT" val="感谢您的观看"/>
</p:tagLst>
</file>

<file path=ppt/tags/tag91.xml><?xml version="1.0" encoding="utf-8"?>
<p:tagLst xmlns:p="http://schemas.openxmlformats.org/presentationml/2006/main">
  <p:tag name="KSO_WM_SLIDE_ID" val="custom20230296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296"/>
  <p:tag name="KSO_WM_SLIDE_LAYOUT" val="a_b_f"/>
  <p:tag name="KSO_WM_SLIDE_LAYOUT_CNT" val="1_1_1"/>
  <p:tag name="KSO_WM_TEMPLATE_THUMBS_INDEX" val="1、9"/>
  <p:tag name="KSO_WM_SLIDE_CONTENT_AREA" val="{&quot;left&quot;:&quot;140.25&quot;,&quot;top&quot;:&quot;121.15&quot;,&quot;width&quot;:&quot;679.5&quot;,&quot;height&quot;:&quot;208.75&quot;}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93.xml><?xml version="1.0" encoding="utf-8"?>
<p:tagLst xmlns:p="http://schemas.openxmlformats.org/presentationml/2006/main">
  <p:tag name="KSO_WM_DIAGRAM_VIRTUALLY_FRAME" val="{&quot;height&quot;:388.8,&quot;left&quot;:55.375,&quot;top&quot;:105.68122047244097,&quot;width&quot;:850.6250393700788}"/>
  <p:tag name="KSO_WM_UNIT_HIGHLIGHT" val="0"/>
  <p:tag name="KSO_WM_UNIT_COMPATIBLE" val="0"/>
  <p:tag name="KSO_WM_UNIT_DIAGRAM_ISNUMVISUAL" val="0"/>
  <p:tag name="KSO_WM_UNIT_DIAGRAM_ISREFERUNIT" val="0"/>
  <p:tag name="KSO_WM_UNIT_ID" val="diagram20235154_10*l_i*1_4"/>
  <p:tag name="KSO_WM_TEMPLATE_CATEGORY" val="diagram"/>
  <p:tag name="KSO_WM_TEMPLATE_INDEX" val="20235154"/>
  <p:tag name="KSO_WM_UNIT_LAYERLEVEL" val="1_1"/>
  <p:tag name="KSO_WM_TAG_VERSION" val="3.0"/>
  <p:tag name="KSO_WM_DIAGRAM_GROUP_CODE" val="l1-1"/>
  <p:tag name="KSO_WM_UNIT_TYPE" val="l_i"/>
  <p:tag name="KSO_WM_UNIT_INDEX" val="1_4"/>
  <p:tag name="KSO_WM_DIAGRAM_VERSION" val="3"/>
  <p:tag name="KSO_WM_DIAGRAM_COLOR_TRICK" val="1"/>
  <p:tag name="KSO_WM_DIAGRAM_COLOR_TEXT_CAN_REMOVE" val="n"/>
  <p:tag name="KSO_WM_DIAGRAM_MAX_ITEMCNT" val="12"/>
  <p:tag name="KSO_WM_DIAGRAM_MIN_ITEMCNT" val="2"/>
  <p:tag name="KSO_WM_DIAGRAM_COLOR_MATCH_VALUE" val="{&quot;shape&quot;:{&quot;fill&quot;:{&quot;solid&quot;:{&quot;brightness&quot;:0.6000000238418579,&quot;colorType&quot;:1,&quot;foreColorIndex&quot;:5,&quot;transparency&quot;:0.8999999761581421},&quot;type&quot;:1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6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1"/>
</p:tagLst>
</file>

<file path=ppt/tags/tag94.xml><?xml version="1.0" encoding="utf-8"?>
<p:tagLst xmlns:p="http://schemas.openxmlformats.org/presentationml/2006/main">
  <p:tag name="KSO_WM_DIAGRAM_VIRTUALLY_FRAME" val="{&quot;height&quot;:388.8,&quot;left&quot;:55.375,&quot;top&quot;:105.68122047244097,&quot;width&quot;:850.6250393700788}"/>
  <p:tag name="KSO_WM_UNIT_HIGHLIGHT" val="0"/>
  <p:tag name="KSO_WM_UNIT_COMPATIBLE" val="0"/>
  <p:tag name="KSO_WM_UNIT_DIAGRAM_ISNUMVISUAL" val="0"/>
  <p:tag name="KSO_WM_UNIT_DIAGRAM_ISREFERUNIT" val="0"/>
  <p:tag name="KSO_WM_UNIT_ID" val="diagram20235154_10*l_i*1_1"/>
  <p:tag name="KSO_WM_TEMPLATE_CATEGORY" val="diagram"/>
  <p:tag name="KSO_WM_TEMPLATE_INDEX" val="20235154"/>
  <p:tag name="KSO_WM_UNIT_LAYERLEVEL" val="1_1"/>
  <p:tag name="KSO_WM_TAG_VERSION" val="3.0"/>
  <p:tag name="KSO_WM_DIAGRAM_GROUP_CODE" val="l1-1"/>
  <p:tag name="KSO_WM_UNIT_TYPE" val="l_i"/>
  <p:tag name="KSO_WM_UNIT_INDEX" val="1_1"/>
  <p:tag name="KSO_WM_DIAGRAM_VERSION" val="3"/>
  <p:tag name="KSO_WM_DIAGRAM_COLOR_TRICK" val="1"/>
  <p:tag name="KSO_WM_DIAGRAM_COLOR_TEXT_CAN_REMOVE" val="n"/>
  <p:tag name="KSO_WM_DIAGRAM_MAX_ITEMCNT" val="12"/>
  <p:tag name="KSO_WM_DIAGRAM_MIN_ITEMCNT" val="2"/>
  <p:tag name="KSO_WM_DIAGRAM_COLOR_MATCH_VALUE" val="{&quot;shape&quot;:{&quot;fill&quot;:{&quot;solid&quot;:{&quot;brightness&quot;:0.6000000238418579,&quot;colorType&quot;:1,&quot;foreColorIndex&quot;:5,&quot;transparency&quot;:0.8999999761581421},&quot;type&quot;:1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6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95.xml><?xml version="1.0" encoding="utf-8"?>
<p:tagLst xmlns:p="http://schemas.openxmlformats.org/presentationml/2006/main">
  <p:tag name="KSO_WM_DIAGRAM_VIRTUALLY_FRAME" val="{&quot;height&quot;:388.8,&quot;left&quot;:55.375,&quot;top&quot;:105.68122047244097,&quot;width&quot;:850.6250393700788}"/>
  <p:tag name="KSO_WM_UNIT_HIGHLIGHT" val="0"/>
  <p:tag name="KSO_WM_UNIT_COMPATIBLE" val="0"/>
  <p:tag name="KSO_WM_UNIT_DIAGRAM_ISNUMVISUAL" val="0"/>
  <p:tag name="KSO_WM_UNIT_DIAGRAM_ISREFERUNIT" val="0"/>
  <p:tag name="KSO_WM_UNIT_ID" val="diagram20235154_10*l_i*1_3"/>
  <p:tag name="KSO_WM_TEMPLATE_CATEGORY" val="diagram"/>
  <p:tag name="KSO_WM_TEMPLATE_INDEX" val="20235154"/>
  <p:tag name="KSO_WM_UNIT_LAYERLEVEL" val="1_1"/>
  <p:tag name="KSO_WM_TAG_VERSION" val="3.0"/>
  <p:tag name="KSO_WM_DIAGRAM_GROUP_CODE" val="l1-1"/>
  <p:tag name="KSO_WM_UNIT_TYPE" val="l_i"/>
  <p:tag name="KSO_WM_UNIT_INDEX" val="1_3"/>
  <p:tag name="KSO_WM_DIAGRAM_VERSION" val="3"/>
  <p:tag name="KSO_WM_DIAGRAM_COLOR_TRICK" val="1"/>
  <p:tag name="KSO_WM_DIAGRAM_COLOR_TEXT_CAN_REMOVE" val="n"/>
  <p:tag name="KSO_WM_DIAGRAM_MAX_ITEMCNT" val="12"/>
  <p:tag name="KSO_WM_DIAGRAM_MIN_ITEMCNT" val="2"/>
  <p:tag name="KSO_WM_DIAGRAM_COLOR_MATCH_VALUE" val="{&quot;shape&quot;:{&quot;fill&quot;:{&quot;gradient&quot;:[{&quot;brightness&quot;:-0.5,&quot;colorType&quot;:1,&quot;foreColorIndex&quot;:5,&quot;pos&quot;:0,&quot;transparency&quot;:0.6800000071525574},{&quot;brightness&quot;:-0.5,&quot;colorType&quot;:1,&quot;foreColorIndex&quot;:5,&quot;pos&quot;:0.8299999833106995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96.xml><?xml version="1.0" encoding="utf-8"?>
<p:tagLst xmlns:p="http://schemas.openxmlformats.org/presentationml/2006/main">
  <p:tag name="KSO_WM_DIAGRAM_VIRTUALLY_FRAME" val="{&quot;height&quot;:388.8,&quot;left&quot;:55.375,&quot;top&quot;:105.68122047244097,&quot;width&quot;:850.6250393700788}"/>
  <p:tag name="KSO_WM_UNIT_HIGHLIGHT" val="0"/>
  <p:tag name="KSO_WM_UNIT_COMPATIBLE" val="0"/>
  <p:tag name="KSO_WM_UNIT_DIAGRAM_ISNUMVISUAL" val="0"/>
  <p:tag name="KSO_WM_UNIT_DIAGRAM_ISREFERUNIT" val="0"/>
  <p:tag name="KSO_WM_UNIT_ID" val="diagram20235154_10*l_i*1_2"/>
  <p:tag name="KSO_WM_TEMPLATE_CATEGORY" val="diagram"/>
  <p:tag name="KSO_WM_TEMPLATE_INDEX" val="20235154"/>
  <p:tag name="KSO_WM_UNIT_LAYERLEVEL" val="1_1"/>
  <p:tag name="KSO_WM_TAG_VERSION" val="3.0"/>
  <p:tag name="KSO_WM_DIAGRAM_GROUP_CODE" val="l1-1"/>
  <p:tag name="KSO_WM_UNIT_TYPE" val="l_i"/>
  <p:tag name="KSO_WM_UNIT_INDEX" val="1_2"/>
  <p:tag name="KSO_WM_DIAGRAM_VERSION" val="3"/>
  <p:tag name="KSO_WM_DIAGRAM_COLOR_TRICK" val="1"/>
  <p:tag name="KSO_WM_DIAGRAM_COLOR_TEXT_CAN_REMOVE" val="n"/>
  <p:tag name="KSO_WM_DIAGRAM_MAX_ITEMCNT" val="12"/>
  <p:tag name="KSO_WM_DIAGRAM_MIN_ITEMCNT" val="2"/>
  <p:tag name="KSO_WM_DIAGRAM_COLOR_MATCH_VALUE" val="{&quot;shape&quot;:{&quot;fill&quot;:{&quot;solid&quot;:{&quot;brightness&quot;:0,&quot;colorType&quot;:1,&quot;foreColorIndex&quot;:5,&quot;transparency&quot;:0.4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97.xml><?xml version="1.0" encoding="utf-8"?>
<p:tagLst xmlns:p="http://schemas.openxmlformats.org/presentationml/2006/main">
  <p:tag name="KSO_WM_DIAGRAM_VIRTUALLY_FRAME" val="{&quot;height&quot;:388.8,&quot;left&quot;:55.375,&quot;top&quot;:105.68122047244097,&quot;width&quot;:850.6250393700788}"/>
  <p:tag name="KSO_WM_UNIT_HIGHLIGHT" val="0"/>
  <p:tag name="KSO_WM_UNIT_COMPATIBLE" val="0"/>
  <p:tag name="KSO_WM_UNIT_DIAGRAM_ISNUMVISUAL" val="0"/>
  <p:tag name="KSO_WM_UNIT_DIAGRAM_ISREFERUNIT" val="0"/>
  <p:tag name="KSO_WM_UNIT_ID" val="diagram20235154_10*l_h_i*1_1_1"/>
  <p:tag name="KSO_WM_TEMPLATE_CATEGORY" val="diagram"/>
  <p:tag name="KSO_WM_TEMPLATE_INDEX" val="20235154"/>
  <p:tag name="KSO_WM_UNIT_LAYERLEVEL" val="1_1_1"/>
  <p:tag name="KSO_WM_TAG_VERSION" val="3.0"/>
  <p:tag name="KSO_WM_DIAGRAM_GROUP_CODE" val="l1-1"/>
  <p:tag name="KSO_WM_UNIT_SUBTYPE" val="d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.5},{&quot;brightness&quot;:0,&quot;colorType&quot;:1,&quot;foreColorIndex&quot;:5,&quot;pos&quot;:0.9399999976158142,&quot;transparency&quot;:0.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3"/>
  <p:tag name="KSO_WM_UNIT_TEXT_FILL_TYPE" val="3"/>
  <p:tag name="KSO_WM_UNIT_USESOURCEFORMAT_APPLY" val="1"/>
</p:tagLst>
</file>

<file path=ppt/tags/tag98.xml><?xml version="1.0" encoding="utf-8"?>
<p:tagLst xmlns:p="http://schemas.openxmlformats.org/presentationml/2006/main">
  <p:tag name="KSO_WM_DIAGRAM_VIRTUALLY_FRAME" val="{&quot;height&quot;:388.8,&quot;left&quot;:55.375,&quot;top&quot;:105.68122047244097,&quot;width&quot;:850.6250393700788}"/>
  <p:tag name="KSO_WM_UNIT_HIGHLIGHT" val="0"/>
  <p:tag name="KSO_WM_UNIT_COMPATIBLE" val="0"/>
  <p:tag name="KSO_WM_UNIT_DIAGRAM_ISNUMVISUAL" val="0"/>
  <p:tag name="KSO_WM_UNIT_DIAGRAM_ISREFERUNIT" val="0"/>
  <p:tag name="KSO_WM_UNIT_ID" val="diagram20235154_10*l_h_f*1_2_1"/>
  <p:tag name="KSO_WM_TEMPLATE_CATEGORY" val="diagram"/>
  <p:tag name="KSO_WM_TEMPLATE_INDEX" val="20235154"/>
  <p:tag name="KSO_WM_UNIT_LAYERLEVEL" val="1_1_1"/>
  <p:tag name="KSO_WM_TAG_VERSION" val="3.0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2_1"/>
  <p:tag name="KSO_WM_DIAGRAM_VERSION" val="3"/>
  <p:tag name="KSO_WM_DIAGRAM_COLOR_TRICK" val="1"/>
  <p:tag name="KSO_WM_DIAGRAM_COLOR_TEXT_CAN_REMOVE" val="n"/>
  <p:tag name="KSO_WM_UNIT_TEXT_TYPE" val="1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此处添加正文，文字是您思想的提炼，请言简意赅的阐述您的观点。"/>
  <p:tag name="KSO_WM_UNIT_TEXT_FILL_FORE_SCHEMECOLOR_INDEX" val="1"/>
  <p:tag name="KSO_WM_UNIT_TEXT_FILL_TYPE" val="1"/>
  <p:tag name="KSO_WM_UNIT_USESOURCEFORMAT_APPLY" val="1"/>
</p:tagLst>
</file>

<file path=ppt/tags/tag99.xml><?xml version="1.0" encoding="utf-8"?>
<p:tagLst xmlns:p="http://schemas.openxmlformats.org/presentationml/2006/main">
  <p:tag name="KSO_WM_DIAGRAM_VIRTUALLY_FRAME" val="{&quot;height&quot;:388.8,&quot;left&quot;:55.375,&quot;top&quot;:105.68122047244097,&quot;width&quot;:850.6250393700788}"/>
  <p:tag name="KSO_WM_UNIT_HIGHLIGHT" val="0"/>
  <p:tag name="KSO_WM_UNIT_COMPATIBLE" val="0"/>
  <p:tag name="KSO_WM_UNIT_DIAGRAM_ISNUMVISUAL" val="0"/>
  <p:tag name="KSO_WM_UNIT_DIAGRAM_ISREFERUNIT" val="0"/>
  <p:tag name="KSO_WM_UNIT_ID" val="diagram20235154_10*l_h_f*1_3_1"/>
  <p:tag name="KSO_WM_TEMPLATE_CATEGORY" val="diagram"/>
  <p:tag name="KSO_WM_TEMPLATE_INDEX" val="20235154"/>
  <p:tag name="KSO_WM_UNIT_LAYERLEVEL" val="1_1_1"/>
  <p:tag name="KSO_WM_TAG_VERSION" val="3.0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3_1"/>
  <p:tag name="KSO_WM_DIAGRAM_VERSION" val="3"/>
  <p:tag name="KSO_WM_DIAGRAM_COLOR_TRICK" val="1"/>
  <p:tag name="KSO_WM_DIAGRAM_COLOR_TEXT_CAN_REMOVE" val="n"/>
  <p:tag name="KSO_WM_UNIT_TEXT_TYPE" val="1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此处添加正文，文字是您思想的提炼，请言简意赅的阐述您的观点。"/>
  <p:tag name="KSO_WM_UNIT_TEXT_FILL_FORE_SCHEMECOLOR_INDEX" val="1"/>
  <p:tag name="KSO_WM_UNIT_TEXT_FILL_TYPE" val="1"/>
  <p:tag name="KSO_WM_UNIT_USESOURCEFORMAT_APPLY" val="1"/>
</p:tagLst>
</file>

<file path=ppt/tags/tag100.xml><?xml version="1.0" encoding="utf-8"?>
<p:tagLst xmlns:p="http://schemas.openxmlformats.org/presentationml/2006/main">
  <p:tag name="KSO_WM_DIAGRAM_VIRTUALLY_FRAME" val="{&quot;height&quot;:388.8,&quot;left&quot;:55.375,&quot;top&quot;:105.68122047244097,&quot;width&quot;:850.6250393700788}"/>
  <p:tag name="KSO_WM_UNIT_HIGHLIGHT" val="0"/>
  <p:tag name="KSO_WM_UNIT_COMPATIBLE" val="0"/>
  <p:tag name="KSO_WM_UNIT_DIAGRAM_ISNUMVISUAL" val="0"/>
  <p:tag name="KSO_WM_UNIT_DIAGRAM_ISREFERUNIT" val="0"/>
  <p:tag name="KSO_WM_UNIT_ID" val="diagram20235154_10*l_h_f*1_4_1"/>
  <p:tag name="KSO_WM_TEMPLATE_CATEGORY" val="diagram"/>
  <p:tag name="KSO_WM_TEMPLATE_INDEX" val="20235154"/>
  <p:tag name="KSO_WM_UNIT_LAYERLEVEL" val="1_1_1"/>
  <p:tag name="KSO_WM_TAG_VERSION" val="3.0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4_1"/>
  <p:tag name="KSO_WM_DIAGRAM_VERSION" val="3"/>
  <p:tag name="KSO_WM_DIAGRAM_COLOR_TRICK" val="1"/>
  <p:tag name="KSO_WM_DIAGRAM_COLOR_TEXT_CAN_REMOVE" val="n"/>
  <p:tag name="KSO_WM_UNIT_TEXT_TYPE" val="1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此处添加正文，文字是您思想的提炼，请言简意赅的阐述您的观点。"/>
  <p:tag name="KSO_WM_UNIT_TEXT_FILL_FORE_SCHEMECOLOR_INDEX" val="1"/>
  <p:tag name="KSO_WM_UNIT_TEXT_FILL_TYPE" val="1"/>
  <p:tag name="KSO_WM_UNIT_USESOURCEFORMAT_APPLY" val="1"/>
</p:tagLst>
</file>

<file path=ppt/tags/tag101.xml><?xml version="1.0" encoding="utf-8"?>
<p:tagLst xmlns:p="http://schemas.openxmlformats.org/presentationml/2006/main">
  <p:tag name="KSO_WM_DIAGRAM_VIRTUALLY_FRAME" val="{&quot;height&quot;:388.8,&quot;left&quot;:55.375,&quot;top&quot;:105.68122047244097,&quot;width&quot;:850.6250393700788}"/>
  <p:tag name="KSO_WM_UNIT_HIGHLIGHT" val="0"/>
  <p:tag name="KSO_WM_UNIT_COMPATIBLE" val="0"/>
  <p:tag name="KSO_WM_UNIT_DIAGRAM_ISNUMVISUAL" val="0"/>
  <p:tag name="KSO_WM_UNIT_DIAGRAM_ISREFERUNIT" val="0"/>
  <p:tag name="KSO_WM_UNIT_ID" val="diagram20235154_10*l_h_i*1_2_1"/>
  <p:tag name="KSO_WM_TEMPLATE_CATEGORY" val="diagram"/>
  <p:tag name="KSO_WM_TEMPLATE_INDEX" val="20235154"/>
  <p:tag name="KSO_WM_UNIT_LAYERLEVEL" val="1_1_1"/>
  <p:tag name="KSO_WM_TAG_VERSION" val="3.0"/>
  <p:tag name="KSO_WM_DIAGRAM_GROUP_CODE" val="l1-1"/>
  <p:tag name="KSO_WM_UNIT_SUBTYPE" val="d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.5},{&quot;brightness&quot;:0,&quot;colorType&quot;:1,&quot;foreColorIndex&quot;:5,&quot;pos&quot;:0.9399999976158142,&quot;transparency&quot;:0.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3"/>
  <p:tag name="KSO_WM_UNIT_TEXT_FILL_TYPE" val="3"/>
  <p:tag name="KSO_WM_UNIT_USESOURCEFORMAT_APPLY" val="1"/>
</p:tagLst>
</file>

<file path=ppt/tags/tag102.xml><?xml version="1.0" encoding="utf-8"?>
<p:tagLst xmlns:p="http://schemas.openxmlformats.org/presentationml/2006/main">
  <p:tag name="KSO_WM_DIAGRAM_VIRTUALLY_FRAME" val="{&quot;height&quot;:388.8,&quot;left&quot;:55.375,&quot;top&quot;:105.68122047244097,&quot;width&quot;:850.6250393700788}"/>
  <p:tag name="KSO_WM_UNIT_HIGHLIGHT" val="0"/>
  <p:tag name="KSO_WM_UNIT_COMPATIBLE" val="0"/>
  <p:tag name="KSO_WM_UNIT_DIAGRAM_ISNUMVISUAL" val="0"/>
  <p:tag name="KSO_WM_UNIT_DIAGRAM_ISREFERUNIT" val="0"/>
  <p:tag name="KSO_WM_UNIT_ID" val="diagram20235154_10*l_h_i*1_3_1"/>
  <p:tag name="KSO_WM_TEMPLATE_CATEGORY" val="diagram"/>
  <p:tag name="KSO_WM_TEMPLATE_INDEX" val="20235154"/>
  <p:tag name="KSO_WM_UNIT_LAYERLEVEL" val="1_1_1"/>
  <p:tag name="KSO_WM_TAG_VERSION" val="3.0"/>
  <p:tag name="KSO_WM_DIAGRAM_GROUP_CODE" val="l1-1"/>
  <p:tag name="KSO_WM_UNIT_SUBTYPE" val="d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.5},{&quot;brightness&quot;:0,&quot;colorType&quot;:1,&quot;foreColorIndex&quot;:5,&quot;pos&quot;:0.9399999976158142,&quot;transparency&quot;:0.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3"/>
  <p:tag name="KSO_WM_UNIT_TEXT_FILL_TYPE" val="3"/>
  <p:tag name="KSO_WM_UNIT_USESOURCEFORMAT_APPLY" val="1"/>
</p:tagLst>
</file>

<file path=ppt/tags/tag103.xml><?xml version="1.0" encoding="utf-8"?>
<p:tagLst xmlns:p="http://schemas.openxmlformats.org/presentationml/2006/main">
  <p:tag name="KSO_WM_DIAGRAM_VIRTUALLY_FRAME" val="{&quot;height&quot;:388.8,&quot;left&quot;:55.375,&quot;top&quot;:105.68122047244097,&quot;width&quot;:850.6250393700788}"/>
  <p:tag name="KSO_WM_UNIT_HIGHLIGHT" val="0"/>
  <p:tag name="KSO_WM_UNIT_COMPATIBLE" val="0"/>
  <p:tag name="KSO_WM_UNIT_DIAGRAM_ISNUMVISUAL" val="0"/>
  <p:tag name="KSO_WM_UNIT_DIAGRAM_ISREFERUNIT" val="0"/>
  <p:tag name="KSO_WM_UNIT_ID" val="diagram20235154_10*l_h_i*1_7_1"/>
  <p:tag name="KSO_WM_TEMPLATE_CATEGORY" val="diagram"/>
  <p:tag name="KSO_WM_TEMPLATE_INDEX" val="20235154"/>
  <p:tag name="KSO_WM_UNIT_LAYERLEVEL" val="1_1_1"/>
  <p:tag name="KSO_WM_TAG_VERSION" val="3.0"/>
  <p:tag name="KSO_WM_DIAGRAM_GROUP_CODE" val="l1-1"/>
  <p:tag name="KSO_WM_UNIT_SUBTYPE" val="d"/>
  <p:tag name="KSO_WM_UNIT_TYPE" val="l_h_i"/>
  <p:tag name="KSO_WM_UNIT_INDEX" val="1_7_1"/>
  <p:tag name="KSO_WM_DIAGRAM_VERSION" val="3"/>
  <p:tag name="KSO_WM_DIAGRAM_COLOR_TRICK" val="1"/>
  <p:tag name="KSO_WM_DIAGRAM_COLOR_TEXT_CAN_REMOVE" val="n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.5},{&quot;brightness&quot;:0,&quot;colorType&quot;:1,&quot;foreColorIndex&quot;:5,&quot;pos&quot;:0.9399999976158142,&quot;transparency&quot;:0.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3"/>
  <p:tag name="KSO_WM_UNIT_TEXT_FILL_TYPE" val="3"/>
  <p:tag name="KSO_WM_UNIT_USESOURCEFORMAT_APPLY" val="1"/>
</p:tagLst>
</file>

<file path=ppt/tags/tag104.xml><?xml version="1.0" encoding="utf-8"?>
<p:tagLst xmlns:p="http://schemas.openxmlformats.org/presentationml/2006/main">
  <p:tag name="KSO_WM_DIAGRAM_VIRTUALLY_FRAME" val="{&quot;height&quot;:388.8,&quot;left&quot;:55.375,&quot;top&quot;:105.68122047244097,&quot;width&quot;:850.6250393700788}"/>
  <p:tag name="KSO_WM_UNIT_HIGHLIGHT" val="0"/>
  <p:tag name="KSO_WM_UNIT_COMPATIBLE" val="0"/>
  <p:tag name="KSO_WM_UNIT_DIAGRAM_ISNUMVISUAL" val="0"/>
  <p:tag name="KSO_WM_UNIT_DIAGRAM_ISREFERUNIT" val="0"/>
  <p:tag name="KSO_WM_UNIT_ID" val="diagram20235154_10*l_h_f*1_7_1"/>
  <p:tag name="KSO_WM_TEMPLATE_CATEGORY" val="diagram"/>
  <p:tag name="KSO_WM_TEMPLATE_INDEX" val="20235154"/>
  <p:tag name="KSO_WM_UNIT_LAYERLEVEL" val="1_1_1"/>
  <p:tag name="KSO_WM_TAG_VERSION" val="3.0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7_1"/>
  <p:tag name="KSO_WM_DIAGRAM_VERSION" val="3"/>
  <p:tag name="KSO_WM_DIAGRAM_COLOR_TRICK" val="1"/>
  <p:tag name="KSO_WM_DIAGRAM_COLOR_TEXT_CAN_REMOVE" val="n"/>
  <p:tag name="KSO_WM_UNIT_TEXT_TYPE" val="1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此处添加正文，文字是您思想的提炼，请言简意赅的阐述您的观点。"/>
  <p:tag name="KSO_WM_UNIT_TEXT_FILL_FORE_SCHEMECOLOR_INDEX" val="1"/>
  <p:tag name="KSO_WM_UNIT_TEXT_FILL_TYPE" val="1"/>
  <p:tag name="KSO_WM_UNIT_USESOURCEFORMAT_APPLY" val="1"/>
</p:tagLst>
</file>

<file path=ppt/tags/tag105.xml><?xml version="1.0" encoding="utf-8"?>
<p:tagLst xmlns:p="http://schemas.openxmlformats.org/presentationml/2006/main">
  <p:tag name="KSO_WM_DIAGRAM_VIRTUALLY_FRAME" val="{&quot;height&quot;:388.8,&quot;left&quot;:55.375,&quot;top&quot;:105.68122047244097,&quot;width&quot;:850.6250393700788}"/>
  <p:tag name="KSO_WM_UNIT_HIGHLIGHT" val="0"/>
  <p:tag name="KSO_WM_UNIT_COMPATIBLE" val="0"/>
  <p:tag name="KSO_WM_UNIT_DIAGRAM_ISNUMVISUAL" val="0"/>
  <p:tag name="KSO_WM_UNIT_DIAGRAM_ISREFERUNIT" val="0"/>
  <p:tag name="KSO_WM_UNIT_ID" val="diagram20235154_10*l_h_f*1_8_1"/>
  <p:tag name="KSO_WM_TEMPLATE_CATEGORY" val="diagram"/>
  <p:tag name="KSO_WM_TEMPLATE_INDEX" val="20235154"/>
  <p:tag name="KSO_WM_UNIT_LAYERLEVEL" val="1_1_1"/>
  <p:tag name="KSO_WM_TAG_VERSION" val="3.0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8_1"/>
  <p:tag name="KSO_WM_DIAGRAM_VERSION" val="3"/>
  <p:tag name="KSO_WM_DIAGRAM_COLOR_TRICK" val="1"/>
  <p:tag name="KSO_WM_DIAGRAM_COLOR_TEXT_CAN_REMOVE" val="n"/>
  <p:tag name="KSO_WM_UNIT_VALUE" val="44"/>
  <p:tag name="KSO_WM_UNIT_TEXT_TYPE" val="1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此处添加正文，文字是您思想的提炼，请言简意赅的阐述您的观点。"/>
  <p:tag name="KSO_WM_UNIT_TEXT_FILL_FORE_SCHEMECOLOR_INDEX" val="1"/>
  <p:tag name="KSO_WM_UNIT_TEXT_FILL_TYPE" val="1"/>
  <p:tag name="KSO_WM_UNIT_USESOURCEFORMAT_APPLY" val="1"/>
</p:tagLst>
</file>

<file path=ppt/tags/tag106.xml><?xml version="1.0" encoding="utf-8"?>
<p:tagLst xmlns:p="http://schemas.openxmlformats.org/presentationml/2006/main">
  <p:tag name="KSO_WM_DIAGRAM_VIRTUALLY_FRAME" val="{&quot;height&quot;:388.8,&quot;left&quot;:55.375,&quot;top&quot;:105.68122047244097,&quot;width&quot;:850.6250393700788}"/>
  <p:tag name="KSO_WM_UNIT_HIGHLIGHT" val="0"/>
  <p:tag name="KSO_WM_UNIT_COMPATIBLE" val="0"/>
  <p:tag name="KSO_WM_UNIT_DIAGRAM_ISNUMVISUAL" val="0"/>
  <p:tag name="KSO_WM_UNIT_DIAGRAM_ISREFERUNIT" val="0"/>
  <p:tag name="KSO_WM_UNIT_ID" val="diagram20235154_10*l_h_i*1_8_1"/>
  <p:tag name="KSO_WM_TEMPLATE_CATEGORY" val="diagram"/>
  <p:tag name="KSO_WM_TEMPLATE_INDEX" val="20235154"/>
  <p:tag name="KSO_WM_UNIT_LAYERLEVEL" val="1_1_1"/>
  <p:tag name="KSO_WM_TAG_VERSION" val="3.0"/>
  <p:tag name="KSO_WM_DIAGRAM_GROUP_CODE" val="l1-1"/>
  <p:tag name="KSO_WM_UNIT_SUBTYPE" val="d"/>
  <p:tag name="KSO_WM_UNIT_TYPE" val="l_h_i"/>
  <p:tag name="KSO_WM_UNIT_INDEX" val="1_8_1"/>
  <p:tag name="KSO_WM_DIAGRAM_VERSION" val="3"/>
  <p:tag name="KSO_WM_DIAGRAM_COLOR_TRICK" val="1"/>
  <p:tag name="KSO_WM_DIAGRAM_COLOR_TEXT_CAN_REMOVE" val="n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.5},{&quot;brightness&quot;:0,&quot;colorType&quot;:1,&quot;foreColorIndex&quot;:5,&quot;pos&quot;:0.9399999976158142,&quot;transparency&quot;:0.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3"/>
  <p:tag name="KSO_WM_UNIT_TEXT_FILL_TYPE" val="3"/>
  <p:tag name="KSO_WM_UNIT_USESOURCEFORMAT_APPLY" val="1"/>
</p:tagLst>
</file>

<file path=ppt/tags/tag107.xml><?xml version="1.0" encoding="utf-8"?>
<p:tagLst xmlns:p="http://schemas.openxmlformats.org/presentationml/2006/main">
  <p:tag name="KSO_WM_DIAGRAM_VIRTUALLY_FRAME" val="{&quot;height&quot;:388.8,&quot;left&quot;:55.375,&quot;top&quot;:105.68122047244097,&quot;width&quot;:850.6250393700788}"/>
  <p:tag name="KSO_WM_UNIT_HIGHLIGHT" val="0"/>
  <p:tag name="KSO_WM_UNIT_COMPATIBLE" val="0"/>
  <p:tag name="KSO_WM_UNIT_DIAGRAM_ISNUMVISUAL" val="0"/>
  <p:tag name="KSO_WM_UNIT_DIAGRAM_ISREFERUNIT" val="0"/>
  <p:tag name="KSO_WM_UNIT_ID" val="diagram20235154_10*l_h_f*1_9_1"/>
  <p:tag name="KSO_WM_TEMPLATE_CATEGORY" val="diagram"/>
  <p:tag name="KSO_WM_TEMPLATE_INDEX" val="20235154"/>
  <p:tag name="KSO_WM_UNIT_LAYERLEVEL" val="1_1_1"/>
  <p:tag name="KSO_WM_TAG_VERSION" val="3.0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9_1"/>
  <p:tag name="KSO_WM_DIAGRAM_VERSION" val="3"/>
  <p:tag name="KSO_WM_DIAGRAM_COLOR_TRICK" val="1"/>
  <p:tag name="KSO_WM_DIAGRAM_COLOR_TEXT_CAN_REMOVE" val="n"/>
  <p:tag name="KSO_WM_UNIT_VALUE" val="44"/>
  <p:tag name="KSO_WM_UNIT_TEXT_TYPE" val="1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此处添加正文，文字是您思想的提炼，请言简意赅的阐述您的观点。"/>
  <p:tag name="KSO_WM_UNIT_TEXT_FILL_FORE_SCHEMECOLOR_INDEX" val="1"/>
  <p:tag name="KSO_WM_UNIT_TEXT_FILL_TYPE" val="1"/>
  <p:tag name="KSO_WM_UNIT_USESOURCEFORMAT_APPLY" val="1"/>
</p:tagLst>
</file>

<file path=ppt/tags/tag108.xml><?xml version="1.0" encoding="utf-8"?>
<p:tagLst xmlns:p="http://schemas.openxmlformats.org/presentationml/2006/main">
  <p:tag name="KSO_WM_DIAGRAM_VIRTUALLY_FRAME" val="{&quot;height&quot;:388.8,&quot;left&quot;:55.375,&quot;top&quot;:105.68122047244097,&quot;width&quot;:850.6250393700788}"/>
  <p:tag name="KSO_WM_UNIT_HIGHLIGHT" val="0"/>
  <p:tag name="KSO_WM_UNIT_COMPATIBLE" val="0"/>
  <p:tag name="KSO_WM_UNIT_DIAGRAM_ISNUMVISUAL" val="0"/>
  <p:tag name="KSO_WM_UNIT_DIAGRAM_ISREFERUNIT" val="0"/>
  <p:tag name="KSO_WM_UNIT_ID" val="diagram20235154_10*l_h_i*1_9_1"/>
  <p:tag name="KSO_WM_TEMPLATE_CATEGORY" val="diagram"/>
  <p:tag name="KSO_WM_TEMPLATE_INDEX" val="20235154"/>
  <p:tag name="KSO_WM_UNIT_LAYERLEVEL" val="1_1_1"/>
  <p:tag name="KSO_WM_TAG_VERSION" val="3.0"/>
  <p:tag name="KSO_WM_DIAGRAM_GROUP_CODE" val="l1-1"/>
  <p:tag name="KSO_WM_UNIT_SUBTYPE" val="d"/>
  <p:tag name="KSO_WM_UNIT_TYPE" val="l_h_i"/>
  <p:tag name="KSO_WM_UNIT_INDEX" val="1_9_1"/>
  <p:tag name="KSO_WM_DIAGRAM_VERSION" val="3"/>
  <p:tag name="KSO_WM_DIAGRAM_COLOR_TRICK" val="1"/>
  <p:tag name="KSO_WM_DIAGRAM_COLOR_TEXT_CAN_REMOVE" val="n"/>
  <p:tag name="KSO_WM_DIAGRAM_MAX_ITEMCNT" val="12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.5},{&quot;brightness&quot;:0,&quot;colorType&quot;:1,&quot;foreColorIndex&quot;:5,&quot;pos&quot;:0.9399999976158142,&quot;transparency&quot;:0.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3"/>
  <p:tag name="KSO_WM_UNIT_TEXT_FILL_TYPE" val="3"/>
  <p:tag name="KSO_WM_UNIT_USESOURCEFORMAT_APPLY" val="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202_9*f*1"/>
  <p:tag name="KSO_WM_TEMPLATE_CATEGORY" val="custom"/>
  <p:tag name="KSO_WM_TEMPLATE_INDEX" val="40495202"/>
  <p:tag name="KSO_WM_UNIT_LAYERLEVEL" val="1"/>
  <p:tag name="KSO_WM_TAG_VERSION" val="3.0"/>
  <p:tag name="KSO_WM_BEAUTIFY_FLAG" val="#wm#"/>
  <p:tag name="KSO_WM_UNIT_SUBTYPE" val="b"/>
  <p:tag name="KSO_WM_UNIT_TEXT_LAYER_COUNT" val="1"/>
  <p:tag name="KSO_WM_UNIT_VALUE" val="44"/>
  <p:tag name="KSO_WM_UNIT_TYPE" val="f"/>
  <p:tag name="KSO_WM_UNIT_INDEX" val="1"/>
  <p:tag name="KSO_WM_UNIT_TEXT_TYPE" val="1"/>
  <p:tag name="KSO_WM_UNIT_NOCLEAR" val="0"/>
  <p:tag name="KSO_WM_UNIT_PRESET_TEXT" val="汇报人：WPS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202_9*f*1"/>
  <p:tag name="KSO_WM_TEMPLATE_CATEGORY" val="custom"/>
  <p:tag name="KSO_WM_TEMPLATE_INDEX" val="40495202"/>
  <p:tag name="KSO_WM_UNIT_LAYERLEVEL" val="1"/>
  <p:tag name="KSO_WM_TAG_VERSION" val="3.0"/>
  <p:tag name="KSO_WM_BEAUTIFY_FLAG" val="#wm#"/>
  <p:tag name="KSO_WM_UNIT_SUBTYPE" val="b"/>
  <p:tag name="KSO_WM_UNIT_TEXT_LAYER_COUNT" val="1"/>
  <p:tag name="KSO_WM_UNIT_VALUE" val="44"/>
  <p:tag name="KSO_WM_UNIT_TYPE" val="f"/>
  <p:tag name="KSO_WM_UNIT_INDEX" val="1"/>
  <p:tag name="KSO_WM_UNIT_TEXT_TYPE" val="1"/>
  <p:tag name="KSO_WM_UNIT_NOCLEAR" val="0"/>
  <p:tag name="KSO_WM_UNIT_PRESET_TEXT" val="汇报人：WPS"/>
</p:tagLst>
</file>

<file path=ppt/tags/tag114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16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18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20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22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24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25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96_7*e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</p:tagLst>
</file>

<file path=ppt/tags/tag1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7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127.xml><?xml version="1.0" encoding="utf-8"?>
<p:tagLst xmlns:p="http://schemas.openxmlformats.org/presentationml/2006/main">
  <p:tag name="KSO_WM_SLIDE_ID" val="custom20230296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296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172.55&quot;,&quot;top&quot;:&quot;71.7&quot;,&quot;width&quot;:&quot;610.65&quot;,&quot;height&quot;:&quot;313.05&quot;}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29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31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33.xml><?xml version="1.0" encoding="utf-8"?>
<p:tagLst xmlns:p="http://schemas.openxmlformats.org/presentationml/2006/main">
  <p:tag name="TABLE_ENDDRAG_ORIGIN_RECT" val="862*386"/>
  <p:tag name="TABLE_ENDDRAG_RECT" val="52*118*862*386"/>
</p:tagLst>
</file>

<file path=ppt/tags/tag134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36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38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40.xml><?xml version="1.0" encoding="utf-8"?>
<p:tagLst xmlns:p="http://schemas.openxmlformats.org/presentationml/2006/main">
  <p:tag name="TABLE_ENDDRAG_ORIGIN_RECT" val="883*259"/>
  <p:tag name="TABLE_ENDDRAG_RECT" val="42*157*883*259"/>
</p:tagLst>
</file>

<file path=ppt/tags/tag141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43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  <p:tag name="RESOURCE_RECORD_KEY" val="{&quot;65&quot;:[20230296],&quot;70&quot;:[3318475]}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45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47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49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51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52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96_7*e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</p:tagLst>
</file>

<file path=ppt/tags/tag15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7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154.xml><?xml version="1.0" encoding="utf-8"?>
<p:tagLst xmlns:p="http://schemas.openxmlformats.org/presentationml/2006/main">
  <p:tag name="KSO_WM_SLIDE_ID" val="custom20230296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296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172.55&quot;,&quot;top&quot;:&quot;71.7&quot;,&quot;width&quot;:&quot;610.65&quot;,&quot;height&quot;:&quot;313.05&quot;}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56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  <p:tag name="RESOURCE_RECORD_KEY" val="{&quot;65&quot;:[20230296],&quot;70&quot;:[3318475]}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58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  <p:tag name="RESOURCE_RECORD_KEY" val="{&quot;65&quot;:[20230296],&quot;70&quot;:[3318475]}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60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62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7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164.xml><?xml version="1.0" encoding="utf-8"?>
<p:tagLst xmlns:p="http://schemas.openxmlformats.org/presentationml/2006/main">
  <p:tag name="KSO_WM_SLIDE_ID" val="custom20230296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296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172.55&quot;,&quot;top&quot;:&quot;71.7&quot;,&quot;width&quot;:&quot;610.65&quot;,&quot;height&quot;:&quot;313.05&quot;}"/>
</p:tagLst>
</file>

<file path=ppt/tags/tag1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9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</p:tagLst>
</file>

<file path=ppt/tags/tag166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96_9*f*1"/>
  <p:tag name="KSO_WM_TEMPLATE_CATEGORY" val="custom"/>
  <p:tag name="KSO_WM_TEMPLATE_INDEX" val="20230296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SLIDE_ID" val="custom20230296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296"/>
  <p:tag name="KSO_WM_SLIDE_LAYOUT" val="a_f"/>
  <p:tag name="KSO_WM_SLIDE_LAYOUT_CNT" val="1_1"/>
  <p:tag name="KSO_WM_SLIDE_TYPE" val="endPage"/>
  <p:tag name="KSO_WM_SLIDE_SUBTYPE" val="pureTxt"/>
  <p:tag name="KSO_WM_SLIDE_CONTENT_AREA" val="{&quot;left&quot;:&quot;140.25&quot;,&quot;top&quot;:&quot;121.15&quot;,&quot;width&quot;:&quot;679.5&quot;,&quot;height&quot;:&quot;208.75&quot;}"/>
</p:tagLst>
</file>

<file path=ppt/tags/tag168.xml><?xml version="1.0" encoding="utf-8"?>
<p:tagLst xmlns:p="http://schemas.openxmlformats.org/presentationml/2006/main">
  <p:tag name="RESOURCE_RECORD_KEY" val="{&quot;65&quot;:[20230296],&quot;70&quot;:[3318475]}"/>
</p:tagLst>
</file>

<file path=ppt/theme/theme1.xml><?xml version="1.0" encoding="utf-8"?>
<a:theme xmlns:a="http://schemas.openxmlformats.org/drawingml/2006/main" name="科技风蓝色渐变职场办公">
  <a:themeElements>
    <a:clrScheme name="自定义 57">
      <a:dk1>
        <a:srgbClr val="000000"/>
      </a:dk1>
      <a:lt1>
        <a:srgbClr val="FFFFFF"/>
      </a:lt1>
      <a:dk2>
        <a:srgbClr val="043460"/>
      </a:dk2>
      <a:lt2>
        <a:srgbClr val="EFFFFF"/>
      </a:lt2>
      <a:accent1>
        <a:srgbClr val="09FFFF"/>
      </a:accent1>
      <a:accent2>
        <a:srgbClr val="1ADCFF"/>
      </a:accent2>
      <a:accent3>
        <a:srgbClr val="0F54FF"/>
      </a:accent3>
      <a:accent4>
        <a:srgbClr val="3D97FF"/>
      </a:accent4>
      <a:accent5>
        <a:srgbClr val="4F74FF"/>
      </a:accent5>
      <a:accent6>
        <a:srgbClr val="6051FF"/>
      </a:accent6>
      <a:hlink>
        <a:srgbClr val="4472C4"/>
      </a:hlink>
      <a:folHlink>
        <a:srgbClr val="BFBFBF"/>
      </a:folHlink>
    </a:clrScheme>
    <a:fontScheme name="自定义 77">
      <a:majorFont>
        <a:latin typeface="BMWGroupTN Condensed TT Light"/>
        <a:ea typeface="BMWGroupTN Condensed TT Light"/>
        <a:cs typeface=""/>
      </a:majorFont>
      <a:minorFont>
        <a:latin typeface="BMWGroupTN Condensed TT Light"/>
        <a:ea typeface="BMWGroupTN Condensed TT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DCD6CA"/>
          </a:solidFill>
          <a:prstDash val="solid"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MWGroupTN Condensed TT Light"/>
        <a:ea typeface=""/>
        <a:cs typeface=""/>
        <a:font script="Jpan" typeface="游ゴシック"/>
        <a:font script="Hang" typeface="맑은 고딕"/>
        <a:font script="Hans" typeface="BMWGroupTN Condensed TT Light"/>
        <a:font script="Hant" typeface="新細明體"/>
        <a:font script="Arab" typeface="BMWGroupTN Condensed TT Light"/>
        <a:font script="Hebr" typeface="BMWGroupTN Condensed TT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BMWGroupTN Condensed TT 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BMWGroupTN Condensed TT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MWGroupTN Condensed TT Light"/>
        <a:ea typeface=""/>
        <a:cs typeface=""/>
        <a:font script="Jpan" typeface="ＭＳ Ｐゴシック"/>
        <a:font script="Hang" typeface="맑은 고딕"/>
        <a:font script="Hans" typeface="BMWGroupTN Condensed TT Light"/>
        <a:font script="Hant" typeface="新細明體"/>
        <a:font script="Arab" typeface="BMWGroupTN Condensed TT Light"/>
        <a:font script="Hebr" typeface="BMWGroupTN Condensed TT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BMWGroupTN Condensed TT 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7137</Words>
  <Application>WPS 演示</Application>
  <PresentationFormat>宽屏</PresentationFormat>
  <Paragraphs>945</Paragraphs>
  <Slides>26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6" baseType="lpstr">
      <vt:lpstr>Arial</vt:lpstr>
      <vt:lpstr>宋体</vt:lpstr>
      <vt:lpstr>Wingdings</vt:lpstr>
      <vt:lpstr>MiSans Heavy</vt:lpstr>
      <vt:lpstr>MiSans Normal</vt:lpstr>
      <vt:lpstr>BMWGroupTN Condensed TT</vt:lpstr>
      <vt:lpstr>MiSans</vt:lpstr>
      <vt:lpstr>MiSans</vt:lpstr>
      <vt:lpstr>微软雅黑</vt:lpstr>
      <vt:lpstr>Noto Sans SC</vt:lpstr>
      <vt:lpstr>Noto Sans SC</vt:lpstr>
      <vt:lpstr>钉钉进步体</vt:lpstr>
      <vt:lpstr>Arial Unicode MS</vt:lpstr>
      <vt:lpstr>Calibri</vt:lpstr>
      <vt:lpstr>等线</vt:lpstr>
      <vt:lpstr>微软雅黑</vt:lpstr>
      <vt:lpstr>BMWGroupTN Condensed TT Light</vt:lpstr>
      <vt:lpstr>BMWGroupTN Condensed TT Medium</vt:lpstr>
      <vt:lpstr>Wingdings</vt:lpstr>
      <vt:lpstr>科技风蓝色渐变职场办公</vt:lpstr>
      <vt:lpstr>AI EASY OFFICE LEARNING CAMP</vt:lpstr>
      <vt:lpstr>AI如何改变我们的日常工作？</vt:lpstr>
      <vt:lpstr>从车间到办公室的"集体尴尬"</vt:lpstr>
      <vt:lpstr>人机交互四象限：知识迁移</vt:lpstr>
      <vt:lpstr>记忆漏斗：为何AI记不住我们的"宝马全书"？</vt:lpstr>
      <vt:lpstr>知识库：为宝马知识资产打造的"语义GPS"</vt:lpstr>
      <vt:lpstr>RAG：让AI"带着宝马的资料来见你"</vt:lpstr>
      <vt:lpstr>RAG效果演示</vt:lpstr>
      <vt:lpstr>从提问到回答：后台数据"物流"奇迹</vt:lpstr>
      <vt:lpstr>喂饭的艺术：如何把一本《经销商运营手册》变成AI的肌肉记忆</vt:lpstr>
      <vt:lpstr>GAIA分片逻辑</vt:lpstr>
      <vt:lpstr>什么是向量检索：不识字，只“闻味”</vt:lpstr>
      <vt:lpstr>"断章取义"的代价：当AI只看了半句话</vt:lpstr>
      <vt:lpstr>切片策略：决定AI是"专家"还是"断片"</vt:lpstr>
      <vt:lpstr>演示</vt:lpstr>
      <vt:lpstr>场景一 | 合同审核与合规条款智能匹配</vt:lpstr>
      <vt:lpstr>检索的艺术：Prompt就是你的"指挥棒"</vt:lpstr>
      <vt:lpstr>RAG的"天花板"：为什么有时它像个"断章取义"的实习生？</vt:lpstr>
      <vt:lpstr>知识库的"多跳推理"：当答案藏在不同文档中</vt:lpstr>
      <vt:lpstr>复杂推理检索演示</vt:lpstr>
      <vt:lpstr>演示</vt:lpstr>
      <vt:lpstr>场景二 | 新店返利核算的多源信息整合</vt:lpstr>
      <vt:lpstr>课后任务与实践指导</vt:lpstr>
      <vt:lpstr>课后作业</vt:lpstr>
      <vt:lpstr>问题答疑 Q&amp;A</vt:lpstr>
      <vt:lpstr>下一课见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AI赋能高效文档处理</dc:title>
  <dc:creator>Kimi</dc:creator>
  <dc:subject>AI赋能高效文档处理</dc:subject>
  <cp:lastModifiedBy>卿</cp:lastModifiedBy>
  <cp:revision>52</cp:revision>
  <dcterms:created xsi:type="dcterms:W3CDTF">2026-04-20T08:27:00Z</dcterms:created>
  <dcterms:modified xsi:type="dcterms:W3CDTF">2026-04-20T10:16:57Z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{"Label":"AI赋能高效文档处理","ContentProducer":"001191110108MACG2KBH8F10000","ProduceID":"d45m05vahd887atuib4g","ReservedCode1":"","ContentPropagator":"001191110108MACG2KBH8F20000","PropagateID":"d45m05vahd887atuib4g","ReservedCode2":""}</vt:lpwstr>
  </property>
  <property fmtid="{D5CDD505-2E9C-101B-9397-08002B2CF9AE}" pid="3" name="ICV">
    <vt:lpwstr>04B7D0F6069D452498E840C54D68A468_13</vt:lpwstr>
  </property>
  <property fmtid="{D5CDD505-2E9C-101B-9397-08002B2CF9AE}" pid="4" name="KSOProductBuildVer">
    <vt:lpwstr>2052-12.1.0.25225</vt:lpwstr>
  </property>
</Properties>
</file>