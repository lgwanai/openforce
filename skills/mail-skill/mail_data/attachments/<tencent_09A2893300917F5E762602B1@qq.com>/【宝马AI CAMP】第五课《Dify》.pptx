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handoutMasterIdLst>
    <p:handoutMasterId r:id="rId33"/>
  </p:handoutMasterIdLst>
  <p:sldIdLst>
    <p:sldId id="288" r:id="rId3"/>
    <p:sldId id="287" r:id="rId4"/>
    <p:sldId id="389" r:id="rId5"/>
    <p:sldId id="299" r:id="rId6"/>
    <p:sldId id="378" r:id="rId8"/>
    <p:sldId id="396" r:id="rId9"/>
    <p:sldId id="379" r:id="rId10"/>
    <p:sldId id="380" r:id="rId11"/>
    <p:sldId id="400" r:id="rId12"/>
    <p:sldId id="381" r:id="rId13"/>
    <p:sldId id="401" r:id="rId14"/>
    <p:sldId id="397" r:id="rId15"/>
    <p:sldId id="382" r:id="rId16"/>
    <p:sldId id="383" r:id="rId17"/>
    <p:sldId id="403" r:id="rId18"/>
    <p:sldId id="384" r:id="rId19"/>
    <p:sldId id="405" r:id="rId20"/>
    <p:sldId id="385" r:id="rId21"/>
    <p:sldId id="407" r:id="rId22"/>
    <p:sldId id="398" r:id="rId23"/>
    <p:sldId id="386" r:id="rId24"/>
    <p:sldId id="387" r:id="rId25"/>
    <p:sldId id="409" r:id="rId26"/>
    <p:sldId id="399" r:id="rId27"/>
    <p:sldId id="388" r:id="rId28"/>
    <p:sldId id="315" r:id="rId29"/>
    <p:sldId id="395" r:id="rId30"/>
    <p:sldId id="319" r:id="rId31"/>
    <p:sldId id="295" r:id="rId32"/>
  </p:sldIdLst>
  <p:sldSz cx="12192000" cy="6858000"/>
  <p:notesSz cx="6858000" cy="12192000"/>
  <p:embeddedFontLst>
    <p:embeddedFont>
      <p:font typeface="BMWGroupTN Condensed TT" charset="0"/>
      <p:regular r:id="rId38"/>
      <p:bold r:id="rId39"/>
    </p:embeddedFont>
    <p:embeddedFont>
      <p:font typeface="BMWGroupTN Condensed TT Light" charset="0"/>
      <p:regular r:id="rId40"/>
    </p:embeddedFont>
    <p:embeddedFont>
      <p:font typeface="BMWGroupTN Condensed TT Medium" charset="0"/>
      <p:regular r:id="rId4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BM" initials="A" lastIdx="3" clrIdx="0"/>
  <p:cmAuthor id="151" name="未知用户95" initials="未" lastIdx="4" clrIdx="0"/>
  <p:cmAuthor id="1" name="Li,Chen(ECR_VAS)" initials="L" lastIdx="1" clrIdx="0"/>
  <p:cmAuthor id="2" name="He,Yanan" initials="H" lastIdx="2" clrIdx="1"/>
  <p:cmAuthor id="153" name="未知用户96" initials="未" lastIdx="13" clrIdx="0"/>
  <p:cmAuthor id="3" name="Lenovo" initials="L" lastIdx="1" clrIdx="2"/>
  <p:cmAuthor id="4" name="未知用户" initials="未" lastIdx="2" clrIdx="0"/>
  <p:cmAuthor id="155" name="未知用户97" initials="未" lastIdx="2" clrIdx="0"/>
  <p:cmAuthor id="5" name="新萝卜家园" initials="新" lastIdx="0" clrIdx="0"/>
  <p:cmAuthor id="6" name="李正" initials="李" lastIdx="1" clrIdx="0"/>
  <p:cmAuthor id="157" name="未知用户98" initials="未" lastIdx="2" clrIdx="1"/>
  <p:cmAuthor id="7" name="China" initials="C" lastIdx="1" clrIdx="1"/>
  <p:cmAuthor id="8" name="吴铭锐" initials="吴" lastIdx="2" clrIdx="0"/>
  <p:cmAuthor id="159" name="未知用户99" initials="未" lastIdx="16" clrIdx="2"/>
  <p:cmAuthor id="9" name="张杰" initials="张" lastIdx="7" clrIdx="0"/>
  <p:cmAuthor id="10" name="孟祥超" initials="孟" lastIdx="4" clrIdx="1"/>
  <p:cmAuthor id="161" name="未知用户100" initials="未" lastIdx="0" clrIdx="0"/>
  <p:cmAuthor id="11" name="杨艳霞" initials="杨" lastIdx="34" clrIdx="1"/>
  <p:cmAuthor id="12" name="陶川" initials="陶" lastIdx="1" clrIdx="0"/>
  <p:cmAuthor id="163" name="未知用户101" initials="未" lastIdx="3" clrIdx="0"/>
  <p:cmAuthor id="13" name="user" initials="u" lastIdx="92" clrIdx="0"/>
  <p:cmAuthor id="14" name="周开雷" initials="周" lastIdx="8" clrIdx="0"/>
  <p:cmAuthor id="15" name="未定义" initials="未" lastIdx="1" clrIdx="1"/>
  <p:cmAuthor id="16" name="未知用户22" initials="未" lastIdx="34" clrIdx="0"/>
  <p:cmAuthor id="167" name="Microsoft Office 用户" initials="M" lastIdx="0" clrIdx="104"/>
  <p:cmAuthor id="17" name="未知用户4" initials="未" lastIdx="1" clrIdx="0"/>
  <p:cmAuthor id="18" name="lx" initials="l" lastIdx="2" clrIdx="0"/>
  <p:cmAuthor id="169" name="段振华" initials="段" lastIdx="1" clrIdx="0"/>
  <p:cmAuthor id="19" name="andres.x.gomez" initials="a" lastIdx="4" clrIdx="0"/>
  <p:cmAuthor id="20" name="赵兰玉" initials="赵" lastIdx="1" clrIdx="0"/>
  <p:cmAuthor id="171" name="lou cynthia" initials="l" lastIdx="1" clrIdx="0"/>
  <p:cmAuthor id="21" name="微软用户" initials="微" lastIdx="1" clrIdx="0"/>
  <p:cmAuthor id="22" name="李振宇" initials="李" lastIdx="1" clrIdx="5"/>
  <p:cmAuthor id="173" name="Author" initials="A" lastIdx="1" clrIdx="0"/>
  <p:cmAuthor id="23" name="nine" initials="n" lastIdx="1" clrIdx="0"/>
  <p:cmAuthor id="24" name="邹洋" initials="邹" lastIdx="2" clrIdx="0"/>
  <p:cmAuthor id="175" name="马红" initials="马" lastIdx="7" clrIdx="0"/>
  <p:cmAuthor id="25" name="王志刚" initials="王" lastIdx="1" clrIdx="0"/>
  <p:cmAuthor id="26" name="未知用户13" initials="未" lastIdx="1" clrIdx="0"/>
  <p:cmAuthor id="27" name="未知用户5" initials="未" lastIdx="1" clrIdx="0"/>
  <p:cmAuthor id="28" name="yangkun" initials="y" lastIdx="0" clrIdx="0"/>
  <p:cmAuthor id="29" name="王明明" initials="王" lastIdx="3" clrIdx="0"/>
  <p:cmAuthor id="30" name="Lenovo User" initials="L" lastIdx="1" clrIdx="0"/>
  <p:cmAuthor id="31" name="hys2" initials="h" lastIdx="1" clrIdx="0"/>
  <p:cmAuthor id="32" name="赵琦" initials="赵" lastIdx="4" clrIdx="1"/>
  <p:cmAuthor id="33" name="朱绍春" initials="朱" lastIdx="13" clrIdx="0"/>
  <p:cmAuthor id="34" name="番茄花园" initials="番" lastIdx="1" clrIdx="0"/>
  <p:cmAuthor id="35" name="朱悦龙" initials="朱" lastIdx="1" clrIdx="0"/>
  <p:cmAuthor id="36" name="evil" initials="e" lastIdx="0" clrIdx="0"/>
  <p:cmAuthor id="37" name="dell" initials="d" lastIdx="1" clrIdx="4"/>
  <p:cmAuthor id="38" name="吕志勇" initials="吕" lastIdx="8" clrIdx="0"/>
  <p:cmAuthor id="39" name="何已龙" initials="何" lastIdx="2" clrIdx="2"/>
  <p:cmAuthor id="40" name="叶得会" initials="叶" lastIdx="8" clrIdx="0"/>
  <p:cmAuthor id="41" name="未知用户6" initials="未" lastIdx="1" clrIdx="0"/>
  <p:cmAuthor id="42" name="未知用户8" initials="未" lastIdx="1" clrIdx="0"/>
  <p:cmAuthor id="43" name="未知用户7" initials="未" lastIdx="1" clrIdx="0"/>
  <p:cmAuthor id="44" name="未知用户9" initials="未" lastIdx="1" clrIdx="0"/>
  <p:cmAuthor id="45" name="未知用户17" initials="未" lastIdx="1" clrIdx="1"/>
  <p:cmAuthor id="46" name="未知用户18" initials="未" lastIdx="1" clrIdx="0"/>
  <p:cmAuthor id="47" name="未知用户20" initials="未" lastIdx="1" clrIdx="0"/>
  <p:cmAuthor id="48" name="未知用户19" initials="未" lastIdx="1" clrIdx="0"/>
  <p:cmAuthor id="49" name="未知用户21" initials="未" lastIdx="1" clrIdx="0"/>
  <p:cmAuthor id="50" name="未知用户14" initials="未" lastIdx="1" clrIdx="0"/>
  <p:cmAuthor id="51" name="未知用户15" initials="未" lastIdx="1" clrIdx="0"/>
  <p:cmAuthor id="52" name="未知用户16" initials="未" lastIdx="4" clrIdx="0"/>
  <p:cmAuthor id="53" name="郝崇" initials="郝" lastIdx="4" clrIdx="1"/>
  <p:cmAuthor id="54" name="吴杰" initials="吴" lastIdx="1" clrIdx="0"/>
  <p:cmAuthor id="55" name="刘丽仙" initials="刘" lastIdx="4" clrIdx="33"/>
  <p:cmAuthor id="56" name="马静" initials="马" lastIdx="0" clrIdx="0"/>
  <p:cmAuthor id="57" name="李百秋" initials="李" lastIdx="3" clrIdx="21"/>
  <p:cmAuthor id="58" name="范作霖" initials="范" lastIdx="1" clrIdx="22"/>
  <p:cmAuthor id="59" name="rq fan" initials="r" lastIdx="3" clrIdx="1"/>
  <p:cmAuthor id="210" name="李刚" initials="李" lastIdx="3" clrIdx="0"/>
  <p:cmAuthor id="60" name="dingbo" initials="d" lastIdx="1" clrIdx="0"/>
  <p:cmAuthor id="61" name="李永欣" initials="李" lastIdx="1" clrIdx="0"/>
  <p:cmAuthor id="62" name="仝德志" initials="仝" lastIdx="1" clrIdx="0"/>
  <p:cmAuthor id="63" name="丁芙蓉" initials="丁" lastIdx="4" clrIdx="1"/>
  <p:cmAuthor id="64" name="许弘扬" initials="许" lastIdx="1" clrIdx="0"/>
  <p:cmAuthor id="65" name="未知用户23" initials="未" lastIdx="1" clrIdx="1"/>
  <p:cmAuthor id="66" name="未知用户24" initials="未" lastIdx="1" clrIdx="0"/>
  <p:cmAuthor id="67" name="未知用户25" initials="未" lastIdx="1" clrIdx="0"/>
  <p:cmAuthor id="68" name="未知用户26" initials="未" lastIdx="1" clrIdx="0"/>
  <p:cmAuthor id="69" name="未知用户27" initials="未" lastIdx="1" clrIdx="0"/>
  <p:cmAuthor id="70" name="未知用户28" initials="未" lastIdx="1" clrIdx="0"/>
  <p:cmAuthor id="71" name="未知用户29" initials="未" lastIdx="1" clrIdx="0"/>
  <p:cmAuthor id="72" name="未知用户30" initials="未" lastIdx="4" clrIdx="0"/>
  <p:cmAuthor id="73" name="未知用户10" initials="未" lastIdx="7" clrIdx="0"/>
  <p:cmAuthor id="74" name="未知用户12" initials="未" lastIdx="1" clrIdx="0"/>
  <p:cmAuthor id="75" name="未知用户11" initials="未" lastIdx="23" clrIdx="0"/>
  <p:cmAuthor id="76" name="贡鑫" initials="贡" lastIdx="2" clrIdx="0"/>
  <p:cmAuthor id="77" name="administrator1" initials="a" lastIdx="16" clrIdx="2"/>
  <p:cmAuthor id="78" name="杜雪梅" initials="杜" lastIdx="1" clrIdx="0"/>
  <p:cmAuthor id="79" name="lijin" initials="l" lastIdx="33" clrIdx="0"/>
  <p:cmAuthor id="80" name="gtmc" initials="g" lastIdx="0" clrIdx="0"/>
  <p:cmAuthor id="81" name="chunsong_hu" initials="c" lastIdx="0" clrIdx="0"/>
  <p:cmAuthor id="82" name="张雁" initials="张" lastIdx="1" clrIdx="19"/>
  <p:cmAuthor id="83" name="贾清山" initials="贾" lastIdx="1" clrIdx="0"/>
  <p:cmAuthor id="84" name="陈桂枝" initials="陈" lastIdx="1" clrIdx="0"/>
  <p:cmAuthor id="85" name="王向羽" initials="王" lastIdx="1" clrIdx="0"/>
  <p:cmAuthor id="86" name="thinkpad" initials="t" lastIdx="2" clrIdx="0"/>
  <p:cmAuthor id="87" name="LEO L" initials="L" lastIdx="1" clrIdx="0"/>
  <p:cmAuthor id="88" name="马海燕" initials="马" lastIdx="1" clrIdx="18"/>
  <p:cmAuthor id="89" name="libin1204@163.com" initials="l" lastIdx="1" clrIdx="102"/>
  <p:cmAuthor id="90" name="Qingyunli" initials="Q" lastIdx="24" clrIdx="0"/>
  <p:cmAuthor id="91" name="吴军" initials="吴" lastIdx="1" clrIdx="0"/>
  <p:cmAuthor id="92" name="USER" initials="U" lastIdx="18" clrIdx="0"/>
  <p:cmAuthor id="93" name="陈尚文" initials="陈" lastIdx="1" clrIdx="1"/>
  <p:cmAuthor id="94" name="张宏伟" initials="张" lastIdx="46" clrIdx="0"/>
  <p:cmAuthor id="95" name="未知用户36" initials="未" lastIdx="2" clrIdx="0"/>
  <p:cmAuthor id="96" name="Pei" initials="P" lastIdx="0" clrIdx="1"/>
  <p:cmAuthor id="97" name="徐光宇" initials="徐" lastIdx="1" clrIdx="0"/>
  <p:cmAuthor id="98" name="mac" initials="m" lastIdx="1" clrIdx="0"/>
  <p:cmAuthor id="99" name="Liu, Leo (MBSHR cs)" initials="L" lastIdx="2" clrIdx="0"/>
  <p:cmAuthor id="100" name="刘豹" initials="刘" lastIdx="0" clrIdx="0"/>
  <p:cmAuthor id="101" name="张艳芳" initials="张" lastIdx="3" clrIdx="0"/>
  <p:cmAuthor id="102" name="刘广艳" initials="刘" lastIdx="10" clrIdx="1"/>
  <p:cmAuthor id="103" name="邹积逊" initials="邹" lastIdx="1" clrIdx="0"/>
  <p:cmAuthor id="104" name="yangyanxia" initials="y" lastIdx="1" clrIdx="0"/>
  <p:cmAuthor id="105" name="刘春辉" initials="刘" lastIdx="4" clrIdx="28"/>
  <p:cmAuthor id="106" name="Youwen Sun" initials="Y" lastIdx="3" clrIdx="1"/>
  <p:cmAuthor id="107" name="杜娇龙" initials="杜" lastIdx="2" clrIdx="1"/>
  <p:cmAuthor id="108" name="张钦" initials="张" lastIdx="4" clrIdx="4"/>
  <p:cmAuthor id="109" name="涛娜" initials="涛" lastIdx="1" clrIdx="11"/>
  <p:cmAuthor id="110" name="未知用户80" initials="未" lastIdx="1" clrIdx="0"/>
  <p:cmAuthor id="111" name="李丽华" initials="李" lastIdx="12" clrIdx="1"/>
  <p:cmAuthor id="112" name="Microsoft 帐户" initials="M" lastIdx="1" clrIdx="0"/>
  <p:cmAuthor id="113" name="王志虎" initials="王" lastIdx="1" clrIdx="24"/>
  <p:cmAuthor id="114" name="魏永生" initials="魏" lastIdx="4" clrIdx="17"/>
  <p:cmAuthor id="115" name="Zhou, Judy" initials="Z" lastIdx="9" clrIdx="0"/>
  <p:cmAuthor id="116" name=" " initials=" " lastIdx="3" clrIdx="6"/>
  <p:cmAuthor id="117" name="未知用户51" initials="未" lastIdx="4" clrIdx="0"/>
  <p:cmAuthor id="118" name="未知用户82" initials="未" lastIdx="4" clrIdx="0"/>
  <p:cmAuthor id="119" name="未知用户52" initials="未" lastIdx="13" clrIdx="0"/>
  <p:cmAuthor id="120" name="侯 林" initials="侯" lastIdx="2" clrIdx="35"/>
  <p:cmAuthor id="121" name="孙大威" initials="孙" lastIdx="21" clrIdx="4"/>
  <p:cmAuthor id="122" name="未知用户83" initials="未" lastIdx="13" clrIdx="0"/>
  <p:cmAuthor id="123" name="李明" initials="李" lastIdx="4" clrIdx="73"/>
  <p:cmAuthor id="124" name="未知用户2" initials="未" lastIdx="0" clrIdx="0"/>
  <p:cmAuthor id="125" name="徐仕超" initials="徐" lastIdx="1" clrIdx="3"/>
  <p:cmAuthor id="126" name="未知用户84" initials="未" lastIdx="2" clrIdx="0"/>
  <p:cmAuthor id="127" name="Lzy" initials="L" lastIdx="1" clrIdx="0"/>
  <p:cmAuthor id="128" name="未知用户3" initials="未" lastIdx="4" clrIdx="1"/>
  <p:cmAuthor id="129" name="未知用户62" initials="未" lastIdx="3" clrIdx="0"/>
  <p:cmAuthor id="130" name="未知用户85" initials="未" lastIdx="2" clrIdx="1"/>
  <p:cmAuthor id="131" name="未知用户63" initials="未" lastIdx="21" clrIdx="4"/>
  <p:cmAuthor id="133" name="未知用户86" initials="未" lastIdx="16" clrIdx="2"/>
  <p:cmAuthor id="135" name="未知用户87" initials="未" lastIdx="0" clrIdx="0"/>
  <p:cmAuthor id="137" name="未知用户88" initials="未" lastIdx="3" clrIdx="0"/>
  <p:cmAuthor id="138" name="宋少霞" initials="宋" lastIdx="1" clrIdx="2"/>
  <p:cmAuthor id="139" name="未知用户89" initials="未" lastIdx="21" clrIdx="4"/>
  <p:cmAuthor id="141" name="未知用户90" initials="未" lastIdx="1" clrIdx="1"/>
  <p:cmAuthor id="142" name="张惠" initials="张" lastIdx="1" clrIdx="0"/>
  <p:cmAuthor id="143" name="未知用户91" initials="未" lastIdx="1" clrIdx="0"/>
  <p:cmAuthor id="145" name="未知用户92" initials="未" lastIdx="1" clrIdx="0"/>
  <p:cmAuthor id="146" name="panhong" initials="p" lastIdx="18" clrIdx="0"/>
  <p:cmAuthor id="147" name="未知用户93" initials="未" lastIdx="1" clrIdx="0"/>
  <p:cmAuthor id="149" name="未知用户94" initials="未" lastIdx="1" clrIdx="0"/>
  <p:cmAuthor id="158" name="Dannerbeck Anke, CB-1" initials="DAC" lastIdx="0" clrIdx="157"/>
  <p:cmAuthor id="160" name="Karen" initials="K" lastIdx="0" clrIdx="15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font" Target="fonts/font4.fntdata"/><Relationship Id="rId40" Type="http://schemas.openxmlformats.org/officeDocument/2006/relationships/font" Target="fonts/font3.fntdata"/><Relationship Id="rId4" Type="http://schemas.openxmlformats.org/officeDocument/2006/relationships/slide" Target="slides/slide2.xml"/><Relationship Id="rId39" Type="http://schemas.openxmlformats.org/officeDocument/2006/relationships/font" Target="fonts/font2.fntdata"/><Relationship Id="rId38" Type="http://schemas.openxmlformats.org/officeDocument/2006/relationships/font" Target="fonts/font1.fntdata"/><Relationship Id="rId37" Type="http://schemas.openxmlformats.org/officeDocument/2006/relationships/commentAuthors" Target="commentAuthors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BMWGroupTN Condensed TT" charset="0"/>
              <a:ea typeface="BMWGroupTN Condensed TT" charset="0"/>
              <a:cs typeface="BMWGroupTN Condensed TT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BMWGroupTN Condensed TT" charset="0"/>
                <a:ea typeface="BMWGroupTN Condensed TT" charset="0"/>
                <a:cs typeface="BMWGroupTN Condensed TT" charset="0"/>
              </a:rPr>
            </a:fld>
            <a:endParaRPr lang="zh-CN" altLang="en-US">
              <a:latin typeface="BMWGroupTN Condensed TT" charset="0"/>
              <a:ea typeface="BMWGroupTN Condensed TT" charset="0"/>
              <a:cs typeface="BMWGroupTN Condensed TT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BMWGroupTN Condensed TT" charset="0"/>
              <a:ea typeface="BMWGroupTN Condensed TT" charset="0"/>
              <a:cs typeface="BMWGroupTN Condensed TT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BMWGroupTN Condensed TT" charset="0"/>
                <a:ea typeface="BMWGroupTN Condensed TT" charset="0"/>
                <a:cs typeface="BMWGroupTN Condensed TT" charset="0"/>
              </a:rPr>
            </a:fld>
            <a:endParaRPr lang="zh-CN" altLang="en-US">
              <a:latin typeface="BMWGroupTN Condensed TT" charset="0"/>
              <a:ea typeface="BMWGroupTN Condensed TT" charset="0"/>
              <a:cs typeface="BMWGroupTN Condensed TT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MWGroupTN Condensed TT" charset="0"/>
                <a:ea typeface="BMWGroupTN Condensed TT" charset="0"/>
                <a:cs typeface="BMWGroupTN Condensed TT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MWGroupTN Condensed TT" charset="0"/>
                <a:ea typeface="BMWGroupTN Condensed TT" charset="0"/>
                <a:cs typeface="BMWGroupTN Condensed TT" charset="0"/>
              </a:defRPr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MWGroupTN Condensed TT" charset="0"/>
                <a:ea typeface="BMWGroupTN Condensed TT" charset="0"/>
                <a:cs typeface="BMWGroupTN Condensed TT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MWGroupTN Condensed TT" charset="0"/>
                <a:ea typeface="BMWGroupTN Condensed TT" charset="0"/>
                <a:cs typeface="BMWGroupTN Condensed TT" charset="0"/>
              </a:defRPr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MWGroupTN Condensed TT" charset="0"/>
        <a:ea typeface="BMWGroupTN Condensed TT" charset="0"/>
        <a:cs typeface="BMWGroupTN Condensed TT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MWGroupTN Condensed TT" charset="0"/>
        <a:ea typeface="BMWGroupTN Condensed TT" charset="0"/>
        <a:cs typeface="BMWGroupTN Condensed TT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MWGroupTN Condensed TT" charset="0"/>
        <a:ea typeface="BMWGroupTN Condensed TT" charset="0"/>
        <a:cs typeface="BMWGroupTN Condensed TT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MWGroupTN Condensed TT" charset="0"/>
        <a:ea typeface="BMWGroupTN Condensed TT" charset="0"/>
        <a:cs typeface="BMWGroupTN Condensed TT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MWGroupTN Condensed TT" charset="0"/>
        <a:ea typeface="BMWGroupTN Condensed TT" charset="0"/>
        <a:cs typeface="BMWGroupTN Condensed TT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image" Target="../media/image2.png"/><Relationship Id="rId5" Type="http://schemas.openxmlformats.org/officeDocument/2006/relationships/tags" Target="../tags/tag21.xml"/><Relationship Id="rId4" Type="http://schemas.openxmlformats.org/officeDocument/2006/relationships/image" Target="../media/image1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image" Target="../media/image2.png"/><Relationship Id="rId5" Type="http://schemas.openxmlformats.org/officeDocument/2006/relationships/tags" Target="../tags/tag29.xml"/><Relationship Id="rId4" Type="http://schemas.openxmlformats.org/officeDocument/2006/relationships/image" Target="../media/image1.png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image" Target="../media/image2.png"/><Relationship Id="rId5" Type="http://schemas.openxmlformats.org/officeDocument/2006/relationships/tags" Target="../tags/tag69.xml"/><Relationship Id="rId4" Type="http://schemas.openxmlformats.org/officeDocument/2006/relationships/image" Target="../media/image1.png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2"/>
            </p:custDataLst>
          </p:nvPr>
        </p:nvSpPr>
        <p:spPr>
          <a:xfrm>
            <a:off x="635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" charset="0"/>
            </a:endParaRPr>
          </a:p>
        </p:txBody>
      </p:sp>
      <p:pic>
        <p:nvPicPr>
          <p:cNvPr id="3" name="图片 2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95" y="595563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2116" y="5987716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" charset="0"/>
              <a:ea typeface="BMWGroupTN Condensed TT" charset="0"/>
              <a:cs typeface="BMWGroupTN Condensed TT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" charset="0"/>
              <a:ea typeface="BMWGroupTN Condensed TT" charset="0"/>
              <a:cs typeface="BMWGroupTN Condensed TT" charset="0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1"/>
            </p:custDataLst>
          </p:nvPr>
        </p:nvSpPr>
        <p:spPr>
          <a:xfrm>
            <a:off x="5291323" y="5744812"/>
            <a:ext cx="1609354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BMWGroupTN Condensed TT" charset="0"/>
              </a:defRPr>
            </a:lvl1pPr>
          </a:lstStyle>
          <a:p>
            <a:pPr lvl="0" algn="ctr"/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type="body" idx="2"/>
            <p:custDataLst>
              <p:tags r:id="rId12"/>
            </p:custDataLst>
          </p:nvPr>
        </p:nvSpPr>
        <p:spPr>
          <a:xfrm>
            <a:off x="1929130" y="3429000"/>
            <a:ext cx="8334375" cy="432995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0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BMWGroupTN Condensed TT" charset="0"/>
              </a:defRPr>
            </a:lvl1pPr>
          </a:lstStyle>
          <a:p>
            <a:pPr lvl="0" algn="ctr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1929130" y="1586230"/>
            <a:ext cx="8334375" cy="16764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zh-CN" sz="66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" charset="0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" charset="0"/>
            </a:endParaRPr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cxnSp>
        <p:nvCxnSpPr>
          <p:cNvPr id="47" name="直接连接符 46"/>
          <p:cNvCxnSpPr/>
          <p:nvPr userDrawn="1">
            <p:custDataLst>
              <p:tags r:id="rId7"/>
            </p:custDataLst>
          </p:nvPr>
        </p:nvCxnSpPr>
        <p:spPr>
          <a:xfrm>
            <a:off x="2482182" y="1122981"/>
            <a:ext cx="9613231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854243" y="699376"/>
            <a:ext cx="2656708" cy="8316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0" i="0" u="none" strike="noStrike" kern="1200" cap="none" spc="30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" charset="0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" charset="0"/>
            </a:endParaRPr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sp>
        <p:nvSpPr>
          <p:cNvPr id="57" name="燕尾形 56"/>
          <p:cNvSpPr/>
          <p:nvPr userDrawn="1">
            <p:custDataLst>
              <p:tags r:id="rId7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" charset="0"/>
              <a:ea typeface="BMWGroupTN Condensed TT" charset="0"/>
              <a:cs typeface="BMWGroupTN Condensed TT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8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" charset="0"/>
              <a:ea typeface="BMWGroupTN Condensed TT" charset="0"/>
              <a:cs typeface="BMWGroupTN Condensed TT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9"/>
            </p:custDataLst>
          </p:nvPr>
        </p:nvSpPr>
        <p:spPr>
          <a:xfrm>
            <a:off x="2500489" y="2426407"/>
            <a:ext cx="7191021" cy="6430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800" b="1" i="1" u="none" strike="noStrike" kern="1200" cap="none" spc="30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atin typeface="+mn-ea"/>
                <a:ea typeface="+mn-ea"/>
                <a:cs typeface="BMWGroupTN Condensed TT" charset="0"/>
              </a:defRPr>
            </a:lvl1pPr>
          </a:lstStyle>
          <a:p>
            <a:pPr lvl="0" algn="ctr"/>
            <a:r>
              <a:rPr>
                <a:sym typeface="+mn-ea"/>
              </a:rPr>
              <a:t>编辑节编号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2500630" y="3180080"/>
            <a:ext cx="7190740" cy="14052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0" i="1" u="none" strike="noStrike" kern="1200" cap="none" spc="30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" charset="0"/>
              </a:defRPr>
            </a:lvl1pPr>
          </a:lstStyle>
          <a:p>
            <a:pPr lvl="0" algn="ctr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3" name="内容占位符 1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" charset="0"/>
            </a:endParaRPr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95" y="595563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2116" y="5987716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" charset="0"/>
              <a:ea typeface="BMWGroupTN Condensed TT" charset="0"/>
              <a:cs typeface="BMWGroupTN Condensed TT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" charset="0"/>
              <a:ea typeface="BMWGroupTN Condensed TT" charset="0"/>
              <a:cs typeface="BMWGroupTN Condensed TT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1"/>
            </p:custDataLst>
          </p:nvPr>
        </p:nvSpPr>
        <p:spPr>
          <a:xfrm>
            <a:off x="2233930" y="1696085"/>
            <a:ext cx="7724140" cy="23431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6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" charset="0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 dirty="0" err="1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12"/>
            </p:custDataLst>
          </p:nvPr>
        </p:nvSpPr>
        <p:spPr>
          <a:xfrm>
            <a:off x="5291323" y="5744812"/>
            <a:ext cx="1609354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BMWGroupTN Condensed TT" charset="0"/>
              </a:defRPr>
            </a:lvl1pPr>
          </a:lstStyle>
          <a:p>
            <a:pPr lvl="0" algn="ctr"/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8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6.xml"/><Relationship Id="rId18" Type="http://schemas.openxmlformats.org/officeDocument/2006/relationships/tags" Target="../tags/tag85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BMWGroupTN Condensed TT" charset="0"/>
              <a:ea typeface="BMWGroupTN Condensed TT" charset="0"/>
              <a:cs typeface="BMWGroupTN Condensed TT" charset="0"/>
            </a:endParaRPr>
          </a:p>
        </p:txBody>
      </p:sp>
      <p:cxnSp>
        <p:nvCxnSpPr>
          <p:cNvPr id="7" name="直接连接符 6"/>
          <p:cNvCxnSpPr/>
          <p:nvPr userDrawn="1">
            <p:custDataLst>
              <p:tags r:id="rId13"/>
            </p:custDataLst>
          </p:nvPr>
        </p:nvCxnSpPr>
        <p:spPr>
          <a:xfrm flipV="1">
            <a:off x="583974" y="0"/>
            <a:ext cx="0" cy="644044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直接连接符 8"/>
          <p:cNvCxnSpPr/>
          <p:nvPr userDrawn="1">
            <p:custDataLst>
              <p:tags r:id="rId14"/>
            </p:custDataLst>
          </p:nvPr>
        </p:nvCxnSpPr>
        <p:spPr>
          <a:xfrm flipV="1">
            <a:off x="405554" y="0"/>
            <a:ext cx="0" cy="805603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BMWGroupTN Condensed TT" charset="0"/>
                <a:ea typeface="BMWGroupTN Condensed TT" charset="0"/>
                <a:cs typeface="BMWGroupTN Condensed TT" charset="0"/>
              </a:defRPr>
            </a:lvl1pPr>
          </a:lstStyle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BMWGroupTN Condensed TT" charset="0"/>
                <a:ea typeface="BMWGroupTN Condensed TT" charset="0"/>
                <a:cs typeface="BMWGroupTN Condensed TT" charset="0"/>
              </a:defRPr>
            </a:lvl1pPr>
          </a:lstStyle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BMWGroupTN Condensed TT" charset="0"/>
                <a:ea typeface="BMWGroupTN Condensed TT" charset="0"/>
                <a:cs typeface="BMWGroupTN Condensed TT" charset="0"/>
              </a:defRPr>
            </a:lvl1pPr>
          </a:lstStyle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BMWGroupTN Condensed TT" charset="0"/>
              <a:ea typeface="BMWGroupTN Condensed TT" charset="0"/>
              <a:cs typeface="BMWGroupTN Condensed TT" charset="0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atin typeface="BMWGroupTN Condensed TT" charset="0"/>
          <a:ea typeface="BMWGroupTN Condensed TT" charset="0"/>
          <a:cs typeface="BMWGroupTN Condensed TT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dirty="0">
          <a:ln>
            <a:noFill/>
            <a:prstDash val="sysDot"/>
          </a:ln>
          <a:solidFill>
            <a:srgbClr val="FFFFFF"/>
          </a:solidFill>
          <a:uFillTx/>
          <a:latin typeface="BMWGroupTN Condensed TT" charset="0"/>
          <a:ea typeface="BMWGroupTN Condensed TT" charset="0"/>
          <a:cs typeface="BMWGroupTN Condensed T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rgbClr val="FFFFFF"/>
          </a:solidFill>
          <a:uFillTx/>
          <a:latin typeface="BMWGroupTN Condensed TT" charset="0"/>
          <a:ea typeface="BMWGroupTN Condensed TT" charset="0"/>
          <a:cs typeface="BMWGroupTN Condensed T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rgbClr val="FFFFFF"/>
          </a:solidFill>
          <a:uFillTx/>
          <a:latin typeface="BMWGroupTN Condensed TT" charset="0"/>
          <a:ea typeface="BMWGroupTN Condensed TT" charset="0"/>
          <a:cs typeface="BMWGroupTN Condensed TT" charset="0"/>
          <a:sym typeface="BMWGroupTN Condensed T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>
          <a:solidFill>
            <a:srgbClr val="FFFFFF"/>
          </a:solidFill>
          <a:uFillTx/>
          <a:latin typeface="BMWGroupTN Condensed TT" charset="0"/>
          <a:ea typeface="BMWGroupTN Condensed TT" charset="0"/>
          <a:cs typeface="BMWGroupTN Condensed TT" charset="0"/>
          <a:sym typeface="BMWGroupTN Condensed T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>
          <a:solidFill>
            <a:srgbClr val="FFFFFF"/>
          </a:solidFill>
          <a:uFillTx/>
          <a:latin typeface="BMWGroupTN Condensed TT" charset="0"/>
          <a:ea typeface="BMWGroupTN Condensed TT" charset="0"/>
          <a:cs typeface="BMWGroupTN Condensed TT" charset="0"/>
          <a:sym typeface="BMWGroupTN Condensed T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9" Type="http://schemas.openxmlformats.org/officeDocument/2006/relationships/slideLayout" Target="../slideLayouts/slideLayout3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tags" Target="../tags/tag9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9" Type="http://schemas.openxmlformats.org/officeDocument/2006/relationships/notesSlide" Target="../notesSlides/notesSlide19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77.xml"/><Relationship Id="rId16" Type="http://schemas.openxmlformats.org/officeDocument/2006/relationships/tags" Target="../tags/tag176.xml"/><Relationship Id="rId15" Type="http://schemas.openxmlformats.org/officeDocument/2006/relationships/tags" Target="../tags/tag175.xml"/><Relationship Id="rId14" Type="http://schemas.openxmlformats.org/officeDocument/2006/relationships/tags" Target="../tags/tag174.xml"/><Relationship Id="rId13" Type="http://schemas.openxmlformats.org/officeDocument/2006/relationships/tags" Target="../tags/tag173.xml"/><Relationship Id="rId12" Type="http://schemas.openxmlformats.org/officeDocument/2006/relationships/tags" Target="../tags/tag172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tags" Target="../tags/tag161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81.xml"/><Relationship Id="rId1" Type="http://schemas.openxmlformats.org/officeDocument/2006/relationships/tags" Target="../tags/tag180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1976755" y="0"/>
            <a:ext cx="8334375" cy="842645"/>
          </a:xfrm>
        </p:spPr>
        <p:txBody>
          <a:bodyPr>
            <a:noAutofit/>
          </a:bodyPr>
          <a:lstStyle/>
          <a:p>
            <a:r>
              <a:rPr lang="en-US" altLang="zh-CN" sz="3600" b="1"/>
              <a:t>AI EASY OFFICE LEARNING CAMP</a:t>
            </a:r>
            <a:endParaRPr lang="en-US" altLang="zh-CN" sz="3600" b="1"/>
          </a:p>
        </p:txBody>
      </p:sp>
      <p:sp>
        <p:nvSpPr>
          <p:cNvPr id="6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310188" y="5735320"/>
            <a:ext cx="1571625" cy="4133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BMWGroupTN Condensed TT" charset="0"/>
                <a:ea typeface="BMWGroupTN Condensed TT" charset="0"/>
                <a:cs typeface="BMWGroupTN Condensed TT" charset="0"/>
                <a:sym typeface="+mn-ea"/>
              </a:rPr>
              <a:t>第五课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BMWGroupTN Condensed TT" charset="0"/>
              <a:ea typeface="BMWGroupTN Condensed TT" charset="0"/>
              <a:cs typeface="BMWGroupTN Condensed TT" charset="0"/>
              <a:sym typeface="+mn-ea"/>
            </a:endParaRPr>
          </a:p>
        </p:txBody>
      </p:sp>
      <p:sp>
        <p:nvSpPr>
          <p:cNvPr id="8" name="标题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4510" y="1449070"/>
            <a:ext cx="11142980" cy="176466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7200" b="1" i="0" u="none" strike="noStrike" kern="1200" cap="none" spc="0" normalizeH="0" baseline="0" noProof="1">
                <a:solidFill>
                  <a:srgbClr val="FFFFFF"/>
                </a:solidFill>
                <a:effectLst>
                  <a:outerShdw blurRad="127000" dist="63500" dir="2700000" algn="tl" rotWithShape="0">
                    <a:schemeClr val="tx2">
                      <a:alpha val="2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4000">
                <a:cs typeface="BMWGroupTN Condensed TT" charset="0"/>
                <a:sym typeface="+mn-ea"/>
              </a:rPr>
              <a:t>【</a:t>
            </a:r>
            <a:r>
              <a:rPr lang="en-US" altLang="zh-CN" sz="4000">
                <a:cs typeface="BMWGroupTN Condensed TT" charset="0"/>
                <a:sym typeface="+mn-ea"/>
              </a:rPr>
              <a:t>Dify </a:t>
            </a:r>
            <a:r>
              <a:rPr lang="zh-CN" altLang="en-US" sz="4000">
                <a:cs typeface="BMWGroupTN Condensed TT" charset="0"/>
                <a:sym typeface="+mn-ea"/>
              </a:rPr>
              <a:t>工作流】</a:t>
            </a:r>
            <a:endParaRPr lang="zh-CN" altLang="en-US" sz="4000">
              <a:cs typeface="BMWGroupTN Condensed TT" charset="0"/>
              <a:sym typeface="+mn-ea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4000">
                <a:cs typeface="BMWGroupTN Condensed TT" charset="0"/>
                <a:sym typeface="+mn-ea"/>
              </a:rPr>
              <a:t>打造自动化数据处理流水线，从报表到决策</a:t>
            </a:r>
            <a:endParaRPr lang="zh-CN" altLang="en-US" sz="4000">
              <a:cs typeface="BMWGroupTN Condensed TT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3564255"/>
            <a:ext cx="1219073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BMWGroupTN Condensed TT Light" charset="0"/>
                <a:cs typeface="BMWGroupTN Condensed TT Light" charset="0"/>
              </a:rPr>
              <a:t>【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BMWGroupTN Condensed TT Light" charset="0"/>
              </a:rPr>
              <a:t>Dify Workflow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BMWGroupTN Condensed TT Light" charset="0"/>
                <a:cs typeface="BMWGroupTN Condensed TT Light" charset="0"/>
                <a:sym typeface="+mn-ea"/>
              </a:rPr>
              <a:t>】</a:t>
            </a:r>
            <a:endParaRPr lang="zh-CN" alt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BMWGroupTN Condensed TT Light" charset="0"/>
              <a:cs typeface="BMWGroupTN Condensed TT Light" charset="0"/>
              <a:sym typeface="+mn-ea"/>
            </a:endParaRPr>
          </a:p>
          <a:p>
            <a:pPr algn="ctr"/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BMWGroupTN Condensed TT Light" charset="0"/>
              </a:rPr>
              <a:t>Building an Automated Data Processing Pipeline: From Reports to Decisions</a:t>
            </a:r>
            <a:endParaRPr lang="en-US" altLang="zh-CN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BMWGroupTN Condensed TT Light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8" name="序号"/>
          <p:cNvSpPr txBox="1"/>
          <p:nvPr>
            <p:custDataLst>
              <p:tags r:id="rId2"/>
            </p:custDataLst>
          </p:nvPr>
        </p:nvSpPr>
        <p:spPr>
          <a:xfrm>
            <a:off x="819284" y="1974165"/>
            <a:ext cx="720000" cy="72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+mj-lt"/>
                <a:ea typeface="BMWGroupTN Condensed TT" charset="0"/>
                <a:cs typeface="BMWGroupTN Condensed TT" charset="0"/>
              </a:rPr>
              <a:t>01</a:t>
            </a:r>
            <a:endParaRPr lang="en-US" sz="2800" dirty="0">
              <a:solidFill>
                <a:schemeClr val="accent1"/>
              </a:solidFill>
              <a:latin typeface="+mj-lt"/>
              <a:ea typeface="BMWGroupTN Condensed TT" charset="0"/>
              <a:cs typeface="BMWGroupTN Condensed TT" charset="0"/>
            </a:endParaRPr>
          </a:p>
        </p:txBody>
      </p:sp>
      <p:sp>
        <p:nvSpPr>
          <p:cNvPr id="24" name="标题"/>
          <p:cNvSpPr txBox="1"/>
          <p:nvPr>
            <p:custDataLst>
              <p:tags r:id="rId3"/>
            </p:custDataLst>
          </p:nvPr>
        </p:nvSpPr>
        <p:spPr>
          <a:xfrm>
            <a:off x="1381760" y="2939415"/>
            <a:ext cx="1628140" cy="10737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zh-CN"/>
            </a:defPPr>
            <a:lvl1pPr>
              <a:defRPr sz="2400" i="1" spc="30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cs typeface="BMWGroupTN Condensed TT" charset="0"/>
              </a:rPr>
              <a:t>场景代入</a:t>
            </a:r>
            <a:r>
              <a:rPr lang="en-US" altLang="zh-CN" dirty="0">
                <a:cs typeface="BMWGroupTN Condensed TT" charset="0"/>
              </a:rPr>
              <a:t>——</a:t>
            </a:r>
            <a:r>
              <a:rPr lang="zh-CN" altLang="en-US" dirty="0">
                <a:cs typeface="BMWGroupTN Condensed TT" charset="0"/>
              </a:rPr>
              <a:t>从</a:t>
            </a:r>
            <a:r>
              <a:rPr lang="en-US" altLang="zh-CN" dirty="0">
                <a:cs typeface="BMWGroupTN Condensed TT" charset="0"/>
              </a:rPr>
              <a:t>“</a:t>
            </a:r>
            <a:r>
              <a:rPr lang="zh-CN" altLang="en-US" dirty="0">
                <a:cs typeface="BMWGroupTN Condensed TT" charset="0"/>
              </a:rPr>
              <a:t>人工取数</a:t>
            </a:r>
            <a:r>
              <a:rPr lang="en-US" altLang="zh-CN" dirty="0">
                <a:cs typeface="BMWGroupTN Condensed TT" charset="0"/>
              </a:rPr>
              <a:t>”</a:t>
            </a:r>
            <a:r>
              <a:rPr lang="zh-CN" altLang="en-US" dirty="0">
                <a:cs typeface="BMWGroupTN Condensed TT" charset="0"/>
              </a:rPr>
              <a:t>到</a:t>
            </a:r>
            <a:r>
              <a:rPr lang="en-US" altLang="zh-CN" dirty="0">
                <a:cs typeface="BMWGroupTN Condensed TT" charset="0"/>
              </a:rPr>
              <a:t>“AI </a:t>
            </a:r>
            <a:r>
              <a:rPr lang="zh-CN" altLang="en-US" dirty="0">
                <a:cs typeface="BMWGroupTN Condensed TT" charset="0"/>
              </a:rPr>
              <a:t>对话</a:t>
            </a:r>
            <a:r>
              <a:rPr lang="en-US" altLang="zh-CN" dirty="0">
                <a:cs typeface="BMWGroupTN Condensed TT" charset="0"/>
              </a:rPr>
              <a:t>”</a:t>
            </a:r>
            <a:endParaRPr lang="zh-CN" altLang="en-US" dirty="0">
              <a:cs typeface="BMWGroupTN Condensed TT" charset="0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4"/>
            </p:custDataLst>
          </p:nvPr>
        </p:nvCxnSpPr>
        <p:spPr>
          <a:xfrm>
            <a:off x="1187442" y="2694165"/>
            <a:ext cx="0" cy="2791326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序号"/>
          <p:cNvSpPr txBox="1"/>
          <p:nvPr>
            <p:custDataLst>
              <p:tags r:id="rId5"/>
            </p:custDataLst>
          </p:nvPr>
        </p:nvSpPr>
        <p:spPr>
          <a:xfrm>
            <a:off x="3131349" y="2580366"/>
            <a:ext cx="720000" cy="72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+mj-lt"/>
                <a:ea typeface="BMWGroupTN Condensed TT" charset="0"/>
                <a:cs typeface="BMWGroupTN Condensed TT" charset="0"/>
              </a:rPr>
              <a:t>02</a:t>
            </a:r>
            <a:endParaRPr lang="en-US" sz="2800" dirty="0">
              <a:solidFill>
                <a:schemeClr val="accent1"/>
              </a:solidFill>
              <a:latin typeface="+mj-lt"/>
              <a:ea typeface="BMWGroupTN Condensed TT" charset="0"/>
              <a:cs typeface="BMWGroupTN Condensed TT" charset="0"/>
            </a:endParaRPr>
          </a:p>
        </p:txBody>
      </p:sp>
      <p:sp>
        <p:nvSpPr>
          <p:cNvPr id="31" name="标题"/>
          <p:cNvSpPr txBox="1"/>
          <p:nvPr>
            <p:custDataLst>
              <p:tags r:id="rId6"/>
            </p:custDataLst>
          </p:nvPr>
        </p:nvSpPr>
        <p:spPr>
          <a:xfrm>
            <a:off x="3693667" y="3546047"/>
            <a:ext cx="1627929" cy="19625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zh-CN"/>
            </a:defPPr>
            <a:lvl1pPr>
              <a:defRPr sz="2400" i="1" spc="30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cs typeface="BMWGroupTN Condensed TT" charset="0"/>
              </a:rPr>
              <a:t>搭地基</a:t>
            </a:r>
            <a:r>
              <a:rPr lang="en-US" altLang="zh-CN" dirty="0">
                <a:cs typeface="BMWGroupTN Condensed TT" charset="0"/>
              </a:rPr>
              <a:t>——</a:t>
            </a:r>
            <a:r>
              <a:rPr lang="zh-CN" altLang="en-US" dirty="0">
                <a:cs typeface="BMWGroupTN Condensed TT" charset="0"/>
              </a:rPr>
              <a:t>构建</a:t>
            </a:r>
            <a:r>
              <a:rPr lang="en-US" altLang="zh-CN" dirty="0">
                <a:cs typeface="BMWGroupTN Condensed TT" charset="0"/>
              </a:rPr>
              <a:t>“</a:t>
            </a:r>
            <a:r>
              <a:rPr lang="zh-CN" altLang="en-US" dirty="0">
                <a:cs typeface="BMWGroupTN Condensed TT" charset="0"/>
              </a:rPr>
              <a:t>统计口径知识库</a:t>
            </a:r>
            <a:r>
              <a:rPr lang="en-US" altLang="zh-CN" dirty="0">
                <a:cs typeface="BMWGroupTN Condensed TT" charset="0"/>
              </a:rPr>
              <a:t>”</a:t>
            </a:r>
            <a:endParaRPr lang="en-US" altLang="zh-CN" dirty="0">
              <a:cs typeface="BMWGroupTN Condensed TT" charset="0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7"/>
            </p:custDataLst>
          </p:nvPr>
        </p:nvCxnSpPr>
        <p:spPr>
          <a:xfrm>
            <a:off x="3499507" y="3300366"/>
            <a:ext cx="0" cy="2791326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序号"/>
          <p:cNvSpPr txBox="1"/>
          <p:nvPr>
            <p:custDataLst>
              <p:tags r:id="rId8"/>
            </p:custDataLst>
          </p:nvPr>
        </p:nvSpPr>
        <p:spPr>
          <a:xfrm>
            <a:off x="5129825" y="1974165"/>
            <a:ext cx="720000" cy="72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+mj-lt"/>
                <a:ea typeface="BMWGroupTN Condensed TT" charset="0"/>
                <a:cs typeface="BMWGroupTN Condensed TT" charset="0"/>
              </a:rPr>
              <a:t>03</a:t>
            </a:r>
            <a:endParaRPr lang="en-US" sz="2800" dirty="0">
              <a:solidFill>
                <a:schemeClr val="accent1"/>
              </a:solidFill>
              <a:latin typeface="+mj-lt"/>
              <a:ea typeface="BMWGroupTN Condensed TT" charset="0"/>
              <a:cs typeface="BMWGroupTN Condensed TT" charset="0"/>
            </a:endParaRPr>
          </a:p>
        </p:txBody>
      </p:sp>
      <p:sp>
        <p:nvSpPr>
          <p:cNvPr id="37" name="标题"/>
          <p:cNvSpPr txBox="1"/>
          <p:nvPr>
            <p:custDataLst>
              <p:tags r:id="rId9"/>
            </p:custDataLst>
          </p:nvPr>
        </p:nvSpPr>
        <p:spPr>
          <a:xfrm>
            <a:off x="5691611" y="2939622"/>
            <a:ext cx="1627929" cy="19625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zh-CN"/>
            </a:defPPr>
            <a:lvl1pPr>
              <a:defRPr sz="2400" i="1" spc="30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cs typeface="BMWGroupTN Condensed TT" charset="0"/>
              </a:rPr>
              <a:t>核心工作流搭建</a:t>
            </a:r>
            <a:r>
              <a:rPr lang="en-US" altLang="zh-CN" dirty="0">
                <a:cs typeface="BMWGroupTN Condensed TT" charset="0"/>
              </a:rPr>
              <a:t>——</a:t>
            </a:r>
            <a:r>
              <a:rPr lang="zh-CN" altLang="en-US" dirty="0">
                <a:cs typeface="BMWGroupTN Condensed TT" charset="0"/>
              </a:rPr>
              <a:t>手把手教你组装</a:t>
            </a:r>
            <a:endParaRPr lang="zh-CN" altLang="en-US" dirty="0">
              <a:cs typeface="BMWGroupTN Condensed TT" charset="0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10"/>
            </p:custDataLst>
          </p:nvPr>
        </p:nvCxnSpPr>
        <p:spPr>
          <a:xfrm>
            <a:off x="5497983" y="2694165"/>
            <a:ext cx="0" cy="2791326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组合 5"/>
          <p:cNvGrpSpPr/>
          <p:nvPr>
            <p:custDataLst>
              <p:tags r:id="rId11"/>
            </p:custDataLst>
          </p:nvPr>
        </p:nvGrpSpPr>
        <p:grpSpPr>
          <a:xfrm>
            <a:off x="7519670" y="2818130"/>
            <a:ext cx="1978025" cy="3511550"/>
            <a:chOff x="12441" y="4438"/>
            <a:chExt cx="3115" cy="5530"/>
          </a:xfrm>
        </p:grpSpPr>
        <p:sp>
          <p:nvSpPr>
            <p:cNvPr id="46" name="序号"/>
            <p:cNvSpPr txBox="1"/>
            <p:nvPr>
              <p:custDataLst>
                <p:tags r:id="rId12"/>
              </p:custDataLst>
            </p:nvPr>
          </p:nvSpPr>
          <p:spPr>
            <a:xfrm>
              <a:off x="12441" y="4438"/>
              <a:ext cx="1134" cy="1134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accent1"/>
                  </a:solidFill>
                  <a:latin typeface="+mj-lt"/>
                  <a:ea typeface="BMWGroupTN Condensed TT" charset="0"/>
                  <a:cs typeface="BMWGroupTN Condensed TT" charset="0"/>
                </a:rPr>
                <a:t>04</a:t>
              </a:r>
              <a:endParaRPr lang="en-US" sz="2800" dirty="0">
                <a:solidFill>
                  <a:schemeClr val="accent1"/>
                </a:solidFill>
                <a:latin typeface="+mj-lt"/>
                <a:ea typeface="BMWGroupTN Condensed TT" charset="0"/>
                <a:cs typeface="BMWGroupTN Condensed TT" charset="0"/>
              </a:endParaRPr>
            </a:p>
          </p:txBody>
        </p:sp>
        <p:sp>
          <p:nvSpPr>
            <p:cNvPr id="49" name="标题"/>
            <p:cNvSpPr txBox="1"/>
            <p:nvPr>
              <p:custDataLst>
                <p:tags r:id="rId13"/>
              </p:custDataLst>
            </p:nvPr>
          </p:nvSpPr>
          <p:spPr>
            <a:xfrm>
              <a:off x="13326" y="5959"/>
              <a:ext cx="2231" cy="309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zh-CN"/>
              </a:defPPr>
              <a:lvl1pPr>
                <a:defRPr sz="2400" i="1" spc="300">
                  <a:gradFill>
                    <a:gsLst>
                      <a:gs pos="0">
                        <a:schemeClr val="accent1">
                          <a:lumMod val="20000"/>
                          <a:lumOff val="80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</a:lstStyle>
            <a:p>
              <a:r>
                <a:rPr lang="zh-CN" altLang="en-US" dirty="0">
                  <a:cs typeface="BMWGroupTN Condensed TT" charset="0"/>
                </a:rPr>
                <a:t>让分析更智能</a:t>
              </a:r>
              <a:r>
                <a:rPr lang="en-US" altLang="zh-CN" dirty="0">
                  <a:cs typeface="BMWGroupTN Condensed TT" charset="0"/>
                </a:rPr>
                <a:t>——</a:t>
              </a:r>
              <a:r>
                <a:rPr lang="zh-CN" altLang="en-US" dirty="0">
                  <a:cs typeface="BMWGroupTN Condensed TT" charset="0"/>
                </a:rPr>
                <a:t>动态解读</a:t>
              </a:r>
              <a:endParaRPr lang="zh-CN" altLang="en-US" dirty="0">
                <a:cs typeface="BMWGroupTN Condensed TT" charset="0"/>
              </a:endParaRPr>
            </a:p>
            <a:p>
              <a:endParaRPr lang="zh-CN" altLang="en-US" dirty="0">
                <a:cs typeface="BMWGroupTN Condensed TT" charset="0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4"/>
              </p:custDataLst>
            </p:nvPr>
          </p:nvCxnSpPr>
          <p:spPr>
            <a:xfrm>
              <a:off x="13021" y="5572"/>
              <a:ext cx="0" cy="4396"/>
            </a:xfrm>
            <a:prstGeom prst="line">
              <a:avLst/>
            </a:prstGeom>
            <a:noFill/>
            <a:ln w="2222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9673590" y="3178175"/>
            <a:ext cx="2108835" cy="3511550"/>
            <a:chOff x="12441" y="4438"/>
            <a:chExt cx="3321" cy="5530"/>
          </a:xfrm>
        </p:grpSpPr>
        <p:sp>
          <p:nvSpPr>
            <p:cNvPr id="8" name="序号"/>
            <p:cNvSpPr txBox="1"/>
            <p:nvPr>
              <p:custDataLst>
                <p:tags r:id="rId15"/>
              </p:custDataLst>
            </p:nvPr>
          </p:nvSpPr>
          <p:spPr>
            <a:xfrm>
              <a:off x="12441" y="4438"/>
              <a:ext cx="1134" cy="1134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accent1"/>
                  </a:solidFill>
                  <a:latin typeface="+mj-lt"/>
                  <a:ea typeface="BMWGroupTN Condensed TT" charset="0"/>
                  <a:cs typeface="BMWGroupTN Condensed TT" charset="0"/>
                </a:rPr>
                <a:t>05</a:t>
              </a:r>
              <a:endParaRPr lang="en-US" sz="2800" dirty="0">
                <a:solidFill>
                  <a:schemeClr val="accent1"/>
                </a:solidFill>
                <a:latin typeface="+mj-lt"/>
                <a:ea typeface="BMWGroupTN Condensed TT" charset="0"/>
                <a:cs typeface="BMWGroupTN Condensed TT" charset="0"/>
              </a:endParaRPr>
            </a:p>
          </p:txBody>
        </p:sp>
        <p:sp>
          <p:nvSpPr>
            <p:cNvPr id="9" name="标题"/>
            <p:cNvSpPr txBox="1"/>
            <p:nvPr>
              <p:custDataLst>
                <p:tags r:id="rId16"/>
              </p:custDataLst>
            </p:nvPr>
          </p:nvSpPr>
          <p:spPr>
            <a:xfrm>
              <a:off x="13326" y="5959"/>
              <a:ext cx="2436" cy="309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zh-CN"/>
              </a:defPPr>
              <a:lvl1pPr>
                <a:defRPr sz="2400" i="1" spc="300">
                  <a:gradFill>
                    <a:gsLst>
                      <a:gs pos="0">
                        <a:schemeClr val="accent1">
                          <a:lumMod val="20000"/>
                          <a:lumOff val="80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</a:lstStyle>
            <a:p>
              <a:r>
                <a:rPr lang="zh-CN" altLang="en-US" dirty="0">
                  <a:cs typeface="BMWGroupTN Condensed TT" charset="0"/>
                </a:rPr>
                <a:t>避坑指南与总结</a:t>
              </a:r>
              <a:endParaRPr lang="zh-CN" altLang="en-US" dirty="0">
                <a:cs typeface="BMWGroupTN Condensed TT" charset="0"/>
              </a:endParaRPr>
            </a:p>
            <a:p>
              <a:endParaRPr lang="zh-CN" altLang="en-US" dirty="0">
                <a:cs typeface="BMWGroupTN Condensed TT" charset="0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17"/>
              </p:custDataLst>
            </p:nvPr>
          </p:nvCxnSpPr>
          <p:spPr>
            <a:xfrm>
              <a:off x="13021" y="5572"/>
              <a:ext cx="0" cy="4396"/>
            </a:xfrm>
            <a:prstGeom prst="line">
              <a:avLst/>
            </a:prstGeom>
            <a:noFill/>
            <a:ln w="2222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2500490" y="2426407"/>
            <a:ext cx="7191021" cy="643045"/>
          </a:xfrm>
        </p:spPr>
        <p:txBody>
          <a:bodyPr/>
          <a:lstStyle/>
          <a:p>
            <a:r>
              <a:rPr lang="zh-CN" altLang="en-US"/>
              <a:t>PART ONE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48653" y="3180080"/>
            <a:ext cx="10894695" cy="1405255"/>
          </a:xfrm>
        </p:spPr>
        <p:txBody>
          <a:bodyPr>
            <a:normAutofit fontScale="90000"/>
          </a:bodyPr>
          <a:lstStyle/>
          <a:p>
            <a:r>
              <a:rPr lang="zh-CN" altLang="en-US">
                <a:sym typeface="+mn-ea"/>
              </a:rPr>
              <a:t>场景代入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从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人工取数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到</a:t>
            </a:r>
            <a:r>
              <a:rPr lang="en-US" altLang="zh-CN">
                <a:sym typeface="+mn-ea"/>
              </a:rPr>
              <a:t>“AI </a:t>
            </a:r>
            <a:r>
              <a:rPr lang="zh-CN" altLang="en-US">
                <a:sym typeface="+mn-ea"/>
              </a:rPr>
              <a:t>对话</a:t>
            </a:r>
            <a:r>
              <a:rPr lang="en-US" altLang="zh-CN">
                <a:sym typeface="+mn-ea"/>
              </a:rPr>
              <a:t>”</a:t>
            </a:r>
            <a:endParaRPr lang="en-US" altLang="zh-CN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情景短剧：老板的夺命连环问</a:t>
            </a:r>
            <a:endParaRPr lang="zh-CN" altLang="en-US"/>
          </a:p>
        </p:txBody>
      </p:sp>
      <p:sp>
        <p:nvSpPr>
          <p:cNvPr id="96" name="Shape 4"/>
          <p:cNvSpPr/>
          <p:nvPr/>
        </p:nvSpPr>
        <p:spPr>
          <a:xfrm>
            <a:off x="385763" y="1490663"/>
            <a:ext cx="5591175" cy="4238625"/>
          </a:xfrm>
          <a:custGeom>
            <a:avLst/>
            <a:gdLst/>
            <a:ahLst/>
            <a:cxnLst/>
            <a:rect l="l" t="t" r="r" b="b"/>
            <a:pathLst>
              <a:path w="5591175" h="4238625">
                <a:moveTo>
                  <a:pt x="152421" y="0"/>
                </a:moveTo>
                <a:lnTo>
                  <a:pt x="5438754" y="0"/>
                </a:lnTo>
                <a:cubicBezTo>
                  <a:pt x="5522934" y="0"/>
                  <a:pt x="5591175" y="68241"/>
                  <a:pt x="5591175" y="152421"/>
                </a:cubicBezTo>
                <a:lnTo>
                  <a:pt x="5591175" y="4086204"/>
                </a:lnTo>
                <a:cubicBezTo>
                  <a:pt x="5591175" y="4170384"/>
                  <a:pt x="5522934" y="4238625"/>
                  <a:pt x="5438754" y="4238625"/>
                </a:cubicBezTo>
                <a:lnTo>
                  <a:pt x="152421" y="4238625"/>
                </a:lnTo>
                <a:cubicBezTo>
                  <a:pt x="68241" y="4238625"/>
                  <a:pt x="0" y="4170384"/>
                  <a:pt x="0" y="4086204"/>
                </a:cubicBezTo>
                <a:lnTo>
                  <a:pt x="0" y="152421"/>
                </a:lnTo>
                <a:cubicBezTo>
                  <a:pt x="0" y="68241"/>
                  <a:pt x="68241" y="0"/>
                  <a:pt x="152421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97" name="Shape 5"/>
          <p:cNvSpPr/>
          <p:nvPr/>
        </p:nvSpPr>
        <p:spPr>
          <a:xfrm>
            <a:off x="628650" y="1733550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8" name="Shape 6"/>
          <p:cNvSpPr/>
          <p:nvPr/>
        </p:nvSpPr>
        <p:spPr>
          <a:xfrm>
            <a:off x="823913" y="19145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lose/>
                <a:moveTo>
                  <a:pt x="86395" y="135731"/>
                </a:moveTo>
                <a:lnTo>
                  <a:pt x="113630" y="135731"/>
                </a:lnTo>
                <a:cubicBezTo>
                  <a:pt x="117961" y="135731"/>
                  <a:pt x="121444" y="139214"/>
                  <a:pt x="121444" y="143545"/>
                </a:cubicBezTo>
                <a:cubicBezTo>
                  <a:pt x="121444" y="145420"/>
                  <a:pt x="120774" y="147206"/>
                  <a:pt x="119569" y="148635"/>
                </a:cubicBezTo>
                <a:lnTo>
                  <a:pt x="107335" y="162922"/>
                </a:lnTo>
                <a:lnTo>
                  <a:pt x="121176" y="214313"/>
                </a:lnTo>
                <a:lnTo>
                  <a:pt x="121444" y="214313"/>
                </a:lnTo>
                <a:lnTo>
                  <a:pt x="136892" y="152474"/>
                </a:lnTo>
                <a:cubicBezTo>
                  <a:pt x="137874" y="148590"/>
                  <a:pt x="141848" y="146224"/>
                  <a:pt x="145599" y="147652"/>
                </a:cubicBezTo>
                <a:cubicBezTo>
                  <a:pt x="173236" y="158189"/>
                  <a:pt x="192881" y="184978"/>
                  <a:pt x="192881" y="216322"/>
                </a:cubicBezTo>
                <a:cubicBezTo>
                  <a:pt x="192881" y="223064"/>
                  <a:pt x="187389" y="228555"/>
                  <a:pt x="180648" y="228555"/>
                </a:cubicBezTo>
                <a:lnTo>
                  <a:pt x="19377" y="228600"/>
                </a:lnTo>
                <a:cubicBezTo>
                  <a:pt x="12636" y="228600"/>
                  <a:pt x="7144" y="223108"/>
                  <a:pt x="7144" y="216366"/>
                </a:cubicBezTo>
                <a:cubicBezTo>
                  <a:pt x="7144" y="185023"/>
                  <a:pt x="26789" y="158234"/>
                  <a:pt x="54426" y="147697"/>
                </a:cubicBezTo>
                <a:cubicBezTo>
                  <a:pt x="58177" y="146268"/>
                  <a:pt x="62151" y="148635"/>
                  <a:pt x="63133" y="152519"/>
                </a:cubicBezTo>
                <a:lnTo>
                  <a:pt x="78581" y="214357"/>
                </a:lnTo>
                <a:lnTo>
                  <a:pt x="78849" y="214357"/>
                </a:lnTo>
                <a:lnTo>
                  <a:pt x="92690" y="162967"/>
                </a:lnTo>
                <a:lnTo>
                  <a:pt x="80456" y="148679"/>
                </a:lnTo>
                <a:cubicBezTo>
                  <a:pt x="79251" y="147251"/>
                  <a:pt x="78581" y="145465"/>
                  <a:pt x="78581" y="143589"/>
                </a:cubicBezTo>
                <a:cubicBezTo>
                  <a:pt x="78581" y="139258"/>
                  <a:pt x="82064" y="135776"/>
                  <a:pt x="86395" y="135776"/>
                </a:cubicBezTo>
                <a:close/>
              </a:path>
            </a:pathLst>
          </a:custGeom>
          <a:solidFill>
            <a:schemeClr val="accent2"/>
          </a:solidFill>
        </p:spPr>
      </p:sp>
      <p:sp>
        <p:nvSpPr>
          <p:cNvPr id="99" name="Text 7"/>
          <p:cNvSpPr/>
          <p:nvPr/>
        </p:nvSpPr>
        <p:spPr>
          <a:xfrm>
            <a:off x="1381125" y="1800225"/>
            <a:ext cx="895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老板</a:t>
            </a:r>
            <a:endParaRPr lang="en-US" sz="1500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1381125" y="2066925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区域销售总监</a:t>
            </a:r>
            <a:endParaRPr lang="en-US" sz="1050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01" name="Shape 9"/>
          <p:cNvSpPr/>
          <p:nvPr/>
        </p:nvSpPr>
        <p:spPr>
          <a:xfrm>
            <a:off x="638175" y="2562225"/>
            <a:ext cx="5105400" cy="533400"/>
          </a:xfrm>
          <a:custGeom>
            <a:avLst/>
            <a:gdLst/>
            <a:ahLst/>
            <a:cxnLst/>
            <a:rect l="l" t="t" r="r" b="b"/>
            <a:pathLst>
              <a:path w="5105400" h="533400">
                <a:moveTo>
                  <a:pt x="38100" y="0"/>
                </a:moveTo>
                <a:lnTo>
                  <a:pt x="4991098" y="0"/>
                </a:lnTo>
                <a:cubicBezTo>
                  <a:pt x="5054183" y="0"/>
                  <a:pt x="5105400" y="51217"/>
                  <a:pt x="5105400" y="114302"/>
                </a:cubicBezTo>
                <a:lnTo>
                  <a:pt x="5105400" y="419098"/>
                </a:lnTo>
                <a:cubicBezTo>
                  <a:pt x="5105400" y="482183"/>
                  <a:pt x="5054183" y="533400"/>
                  <a:pt x="499109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alpha val="19000"/>
            </a:schemeClr>
          </a:solidFill>
        </p:spPr>
      </p:sp>
      <p:sp>
        <p:nvSpPr>
          <p:cNvPr id="102" name="Shape 10"/>
          <p:cNvSpPr/>
          <p:nvPr/>
        </p:nvSpPr>
        <p:spPr>
          <a:xfrm>
            <a:off x="638175" y="2562225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</p:sp>
      <p:sp>
        <p:nvSpPr>
          <p:cNvPr id="103" name="Text 11"/>
          <p:cNvSpPr/>
          <p:nvPr/>
        </p:nvSpPr>
        <p:spPr>
          <a:xfrm>
            <a:off x="809625" y="2714625"/>
            <a:ext cx="4857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"小王，</a:t>
            </a:r>
            <a:r>
              <a:rPr lang="en-US" sz="12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华东区Q3纯电环比</a:t>
            </a:r>
            <a:r>
              <a:rPr lang="en-US" sz="12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多少？"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04" name="Shape 12"/>
          <p:cNvSpPr/>
          <p:nvPr/>
        </p:nvSpPr>
        <p:spPr>
          <a:xfrm>
            <a:off x="638175" y="3209925"/>
            <a:ext cx="5105400" cy="533400"/>
          </a:xfrm>
          <a:custGeom>
            <a:avLst/>
            <a:gdLst/>
            <a:ahLst/>
            <a:cxnLst/>
            <a:rect l="l" t="t" r="r" b="b"/>
            <a:pathLst>
              <a:path w="5105400" h="533400">
                <a:moveTo>
                  <a:pt x="38100" y="0"/>
                </a:moveTo>
                <a:lnTo>
                  <a:pt x="4991098" y="0"/>
                </a:lnTo>
                <a:cubicBezTo>
                  <a:pt x="5054183" y="0"/>
                  <a:pt x="5105400" y="51217"/>
                  <a:pt x="5105400" y="114302"/>
                </a:cubicBezTo>
                <a:lnTo>
                  <a:pt x="5105400" y="419098"/>
                </a:lnTo>
                <a:cubicBezTo>
                  <a:pt x="5105400" y="482183"/>
                  <a:pt x="5054183" y="533400"/>
                  <a:pt x="499109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alpha val="19000"/>
            </a:schemeClr>
          </a:solidFill>
        </p:spPr>
      </p:sp>
      <p:sp>
        <p:nvSpPr>
          <p:cNvPr id="105" name="Shape 13"/>
          <p:cNvSpPr/>
          <p:nvPr/>
        </p:nvSpPr>
        <p:spPr>
          <a:xfrm>
            <a:off x="638175" y="3209925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</p:sp>
      <p:sp>
        <p:nvSpPr>
          <p:cNvPr id="106" name="Text 14"/>
          <p:cNvSpPr/>
          <p:nvPr/>
        </p:nvSpPr>
        <p:spPr>
          <a:xfrm>
            <a:off x="809625" y="3362325"/>
            <a:ext cx="4857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</a:t>
            </a:r>
            <a:r>
              <a:rPr lang="en-US" sz="12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哪个经销商</a:t>
            </a:r>
            <a:r>
              <a:rPr lang="en-US" sz="12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卖得最好？"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07" name="Shape 15"/>
          <p:cNvSpPr/>
          <p:nvPr/>
        </p:nvSpPr>
        <p:spPr>
          <a:xfrm>
            <a:off x="638175" y="3857625"/>
            <a:ext cx="5105400" cy="533400"/>
          </a:xfrm>
          <a:custGeom>
            <a:avLst/>
            <a:gdLst/>
            <a:ahLst/>
            <a:cxnLst/>
            <a:rect l="l" t="t" r="r" b="b"/>
            <a:pathLst>
              <a:path w="5105400" h="533400">
                <a:moveTo>
                  <a:pt x="38100" y="0"/>
                </a:moveTo>
                <a:lnTo>
                  <a:pt x="4991098" y="0"/>
                </a:lnTo>
                <a:cubicBezTo>
                  <a:pt x="5054183" y="0"/>
                  <a:pt x="5105400" y="51217"/>
                  <a:pt x="5105400" y="114302"/>
                </a:cubicBezTo>
                <a:lnTo>
                  <a:pt x="5105400" y="419098"/>
                </a:lnTo>
                <a:cubicBezTo>
                  <a:pt x="5105400" y="482183"/>
                  <a:pt x="5054183" y="533400"/>
                  <a:pt x="499109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alpha val="19000"/>
            </a:schemeClr>
          </a:solidFill>
        </p:spPr>
      </p:sp>
      <p:sp>
        <p:nvSpPr>
          <p:cNvPr id="108" name="Shape 16"/>
          <p:cNvSpPr/>
          <p:nvPr/>
        </p:nvSpPr>
        <p:spPr>
          <a:xfrm>
            <a:off x="638175" y="3857625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</p:sp>
      <p:sp>
        <p:nvSpPr>
          <p:cNvPr id="109" name="Text 17"/>
          <p:cNvSpPr/>
          <p:nvPr/>
        </p:nvSpPr>
        <p:spPr>
          <a:xfrm>
            <a:off x="809625" y="4010025"/>
            <a:ext cx="4857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"把前十名数据</a:t>
            </a:r>
            <a:r>
              <a:rPr lang="en-US" sz="12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画个柱状图</a:t>
            </a:r>
            <a:r>
              <a:rPr lang="en-US" sz="12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给我"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10" name="Shape 18"/>
          <p:cNvSpPr/>
          <p:nvPr/>
        </p:nvSpPr>
        <p:spPr>
          <a:xfrm>
            <a:off x="623888" y="4510088"/>
            <a:ext cx="5114925" cy="542925"/>
          </a:xfrm>
          <a:custGeom>
            <a:avLst/>
            <a:gdLst/>
            <a:ahLst/>
            <a:cxnLst/>
            <a:rect l="l" t="t" r="r" b="b"/>
            <a:pathLst>
              <a:path w="5114925" h="542925">
                <a:moveTo>
                  <a:pt x="114302" y="0"/>
                </a:moveTo>
                <a:lnTo>
                  <a:pt x="5000623" y="0"/>
                </a:lnTo>
                <a:cubicBezTo>
                  <a:pt x="5063750" y="0"/>
                  <a:pt x="5114925" y="51175"/>
                  <a:pt x="5114925" y="114302"/>
                </a:cubicBezTo>
                <a:lnTo>
                  <a:pt x="5114925" y="428623"/>
                </a:lnTo>
                <a:cubicBezTo>
                  <a:pt x="5114925" y="491750"/>
                  <a:pt x="5063750" y="542925"/>
                  <a:pt x="500062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chemeClr val="accent1">
              <a:alpha val="16000"/>
            </a:schemeClr>
          </a:solidFill>
          <a:ln w="12700">
            <a:solidFill>
              <a:srgbClr val="C8A45C">
                <a:alpha val="40000"/>
              </a:srgbClr>
            </a:solidFill>
            <a:prstDash val="solid"/>
          </a:ln>
        </p:spPr>
      </p:sp>
      <p:sp>
        <p:nvSpPr>
          <p:cNvPr id="111" name="Text 19"/>
          <p:cNvSpPr/>
          <p:nvPr/>
        </p:nvSpPr>
        <p:spPr>
          <a:xfrm>
            <a:off x="781050" y="4667250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"那把华南区的也查一下……"</a:t>
            </a:r>
            <a:endParaRPr lang="en-US" sz="1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12" name="Shape 20"/>
          <p:cNvSpPr/>
          <p:nvPr/>
        </p:nvSpPr>
        <p:spPr>
          <a:xfrm>
            <a:off x="6215063" y="1490663"/>
            <a:ext cx="5591175" cy="4238625"/>
          </a:xfrm>
          <a:custGeom>
            <a:avLst/>
            <a:gdLst/>
            <a:ahLst/>
            <a:cxnLst/>
            <a:rect l="l" t="t" r="r" b="b"/>
            <a:pathLst>
              <a:path w="5591175" h="4238625">
                <a:moveTo>
                  <a:pt x="152421" y="0"/>
                </a:moveTo>
                <a:lnTo>
                  <a:pt x="5438754" y="0"/>
                </a:lnTo>
                <a:cubicBezTo>
                  <a:pt x="5522934" y="0"/>
                  <a:pt x="5591175" y="68241"/>
                  <a:pt x="5591175" y="152421"/>
                </a:cubicBezTo>
                <a:lnTo>
                  <a:pt x="5591175" y="4086204"/>
                </a:lnTo>
                <a:cubicBezTo>
                  <a:pt x="5591175" y="4170384"/>
                  <a:pt x="5522934" y="4238625"/>
                  <a:pt x="5438754" y="4238625"/>
                </a:cubicBezTo>
                <a:lnTo>
                  <a:pt x="152421" y="4238625"/>
                </a:lnTo>
                <a:cubicBezTo>
                  <a:pt x="68241" y="4238625"/>
                  <a:pt x="0" y="4170384"/>
                  <a:pt x="0" y="4086204"/>
                </a:cubicBezTo>
                <a:lnTo>
                  <a:pt x="0" y="152421"/>
                </a:lnTo>
                <a:cubicBezTo>
                  <a:pt x="0" y="68241"/>
                  <a:pt x="68241" y="0"/>
                  <a:pt x="152421" y="0"/>
                </a:cubicBezTo>
                <a:close/>
              </a:path>
            </a:pathLst>
          </a:cu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3" name="Shape 21"/>
          <p:cNvSpPr/>
          <p:nvPr/>
        </p:nvSpPr>
        <p:spPr>
          <a:xfrm>
            <a:off x="6457950" y="1733550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00A9E0">
              <a:alpha val="20000"/>
            </a:srgbClr>
          </a:solidFill>
          <a:ln w="25400">
            <a:solidFill>
              <a:srgbClr val="00A9E0"/>
            </a:solidFill>
            <a:prstDash val="solid"/>
          </a:ln>
        </p:spPr>
      </p:sp>
      <p:sp>
        <p:nvSpPr>
          <p:cNvPr id="114" name="Shape 22"/>
          <p:cNvSpPr/>
          <p:nvPr/>
        </p:nvSpPr>
        <p:spPr>
          <a:xfrm>
            <a:off x="6653213" y="19145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00A9E0"/>
          </a:solidFill>
        </p:spPr>
      </p:sp>
      <p:sp>
        <p:nvSpPr>
          <p:cNvPr id="115" name="Text 23"/>
          <p:cNvSpPr/>
          <p:nvPr/>
        </p:nvSpPr>
        <p:spPr>
          <a:xfrm>
            <a:off x="7210425" y="1800225"/>
            <a:ext cx="895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小王</a:t>
            </a:r>
            <a:endParaRPr lang="en-US" sz="1500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16" name="Text 24"/>
          <p:cNvSpPr/>
          <p:nvPr/>
        </p:nvSpPr>
        <p:spPr>
          <a:xfrm>
            <a:off x="7210425" y="2066925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销售运营专员</a:t>
            </a:r>
            <a:endParaRPr lang="en-US" sz="1050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17" name="Shape 25"/>
          <p:cNvSpPr/>
          <p:nvPr/>
        </p:nvSpPr>
        <p:spPr>
          <a:xfrm>
            <a:off x="6453188" y="2566988"/>
            <a:ext cx="1619250" cy="695325"/>
          </a:xfrm>
          <a:custGeom>
            <a:avLst/>
            <a:gdLst/>
            <a:ahLst/>
            <a:cxnLst/>
            <a:rect l="l" t="t" r="r" b="b"/>
            <a:pathLst>
              <a:path w="1619250" h="695325">
                <a:moveTo>
                  <a:pt x="76201" y="0"/>
                </a:moveTo>
                <a:lnTo>
                  <a:pt x="1543049" y="0"/>
                </a:lnTo>
                <a:cubicBezTo>
                  <a:pt x="1585134" y="0"/>
                  <a:pt x="1619250" y="34116"/>
                  <a:pt x="1619250" y="76201"/>
                </a:cubicBezTo>
                <a:lnTo>
                  <a:pt x="1619250" y="619124"/>
                </a:lnTo>
                <a:cubicBezTo>
                  <a:pt x="1619250" y="661209"/>
                  <a:pt x="1585134" y="695325"/>
                  <a:pt x="154304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118" name="Shape 26"/>
          <p:cNvSpPr/>
          <p:nvPr/>
        </p:nvSpPr>
        <p:spPr>
          <a:xfrm>
            <a:off x="7178650" y="26860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73223" y="119077"/>
                </a:moveTo>
                <a:cubicBezTo>
                  <a:pt x="69919" y="114166"/>
                  <a:pt x="63267" y="112827"/>
                  <a:pt x="58356" y="116086"/>
                </a:cubicBezTo>
                <a:cubicBezTo>
                  <a:pt x="53444" y="119345"/>
                  <a:pt x="52105" y="126043"/>
                  <a:pt x="55364" y="130954"/>
                </a:cubicBezTo>
                <a:lnTo>
                  <a:pt x="72866" y="157163"/>
                </a:lnTo>
                <a:lnTo>
                  <a:pt x="55364" y="183371"/>
                </a:lnTo>
                <a:cubicBezTo>
                  <a:pt x="52060" y="188282"/>
                  <a:pt x="53400" y="194935"/>
                  <a:pt x="58356" y="198239"/>
                </a:cubicBezTo>
                <a:cubicBezTo>
                  <a:pt x="63311" y="201543"/>
                  <a:pt x="69919" y="200204"/>
                  <a:pt x="73223" y="195248"/>
                </a:cubicBezTo>
                <a:lnTo>
                  <a:pt x="85725" y="176495"/>
                </a:lnTo>
                <a:lnTo>
                  <a:pt x="98227" y="195248"/>
                </a:lnTo>
                <a:cubicBezTo>
                  <a:pt x="101531" y="200159"/>
                  <a:pt x="108183" y="201498"/>
                  <a:pt x="113094" y="198239"/>
                </a:cubicBezTo>
                <a:cubicBezTo>
                  <a:pt x="118006" y="194980"/>
                  <a:pt x="119345" y="188282"/>
                  <a:pt x="116086" y="183371"/>
                </a:cubicBezTo>
                <a:lnTo>
                  <a:pt x="98584" y="157163"/>
                </a:lnTo>
                <a:lnTo>
                  <a:pt x="116086" y="130954"/>
                </a:lnTo>
                <a:cubicBezTo>
                  <a:pt x="119390" y="126043"/>
                  <a:pt x="118050" y="119390"/>
                  <a:pt x="113094" y="116086"/>
                </a:cubicBezTo>
                <a:cubicBezTo>
                  <a:pt x="108139" y="112782"/>
                  <a:pt x="101531" y="114121"/>
                  <a:pt x="98227" y="119077"/>
                </a:cubicBezTo>
                <a:lnTo>
                  <a:pt x="85725" y="137830"/>
                </a:lnTo>
                <a:lnTo>
                  <a:pt x="73223" y="119077"/>
                </a:lnTo>
                <a:close/>
              </a:path>
            </a:pathLst>
          </a:custGeom>
          <a:solidFill>
            <a:srgbClr val="00A9E0"/>
          </a:solidFill>
        </p:spPr>
      </p:sp>
      <p:sp>
        <p:nvSpPr>
          <p:cNvPr id="119" name="Text 27"/>
          <p:cNvSpPr/>
          <p:nvPr/>
        </p:nvSpPr>
        <p:spPr>
          <a:xfrm>
            <a:off x="6543675" y="2990850"/>
            <a:ext cx="14382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Excel 1</a:t>
            </a:r>
            <a:endParaRPr lang="en-US" sz="9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20" name="Shape 28"/>
          <p:cNvSpPr/>
          <p:nvPr/>
        </p:nvSpPr>
        <p:spPr>
          <a:xfrm>
            <a:off x="8199388" y="2566988"/>
            <a:ext cx="1619250" cy="695325"/>
          </a:xfrm>
          <a:custGeom>
            <a:avLst/>
            <a:gdLst/>
            <a:ahLst/>
            <a:cxnLst/>
            <a:rect l="l" t="t" r="r" b="b"/>
            <a:pathLst>
              <a:path w="1619250" h="695325">
                <a:moveTo>
                  <a:pt x="76201" y="0"/>
                </a:moveTo>
                <a:lnTo>
                  <a:pt x="1543049" y="0"/>
                </a:lnTo>
                <a:cubicBezTo>
                  <a:pt x="1585134" y="0"/>
                  <a:pt x="1619250" y="34116"/>
                  <a:pt x="1619250" y="76201"/>
                </a:cubicBezTo>
                <a:lnTo>
                  <a:pt x="1619250" y="619124"/>
                </a:lnTo>
                <a:cubicBezTo>
                  <a:pt x="1619250" y="661209"/>
                  <a:pt x="1585134" y="695325"/>
                  <a:pt x="154304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121" name="Shape 29"/>
          <p:cNvSpPr/>
          <p:nvPr/>
        </p:nvSpPr>
        <p:spPr>
          <a:xfrm>
            <a:off x="8924851" y="26860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73223" y="119077"/>
                </a:moveTo>
                <a:cubicBezTo>
                  <a:pt x="69919" y="114166"/>
                  <a:pt x="63267" y="112827"/>
                  <a:pt x="58356" y="116086"/>
                </a:cubicBezTo>
                <a:cubicBezTo>
                  <a:pt x="53444" y="119345"/>
                  <a:pt x="52105" y="126043"/>
                  <a:pt x="55364" y="130954"/>
                </a:cubicBezTo>
                <a:lnTo>
                  <a:pt x="72866" y="157163"/>
                </a:lnTo>
                <a:lnTo>
                  <a:pt x="55364" y="183371"/>
                </a:lnTo>
                <a:cubicBezTo>
                  <a:pt x="52060" y="188282"/>
                  <a:pt x="53400" y="194935"/>
                  <a:pt x="58356" y="198239"/>
                </a:cubicBezTo>
                <a:cubicBezTo>
                  <a:pt x="63311" y="201543"/>
                  <a:pt x="69919" y="200204"/>
                  <a:pt x="73223" y="195248"/>
                </a:cubicBezTo>
                <a:lnTo>
                  <a:pt x="85725" y="176495"/>
                </a:lnTo>
                <a:lnTo>
                  <a:pt x="98227" y="195248"/>
                </a:lnTo>
                <a:cubicBezTo>
                  <a:pt x="101531" y="200159"/>
                  <a:pt x="108183" y="201498"/>
                  <a:pt x="113094" y="198239"/>
                </a:cubicBezTo>
                <a:cubicBezTo>
                  <a:pt x="118006" y="194980"/>
                  <a:pt x="119345" y="188282"/>
                  <a:pt x="116086" y="183371"/>
                </a:cubicBezTo>
                <a:lnTo>
                  <a:pt x="98584" y="157163"/>
                </a:lnTo>
                <a:lnTo>
                  <a:pt x="116086" y="130954"/>
                </a:lnTo>
                <a:cubicBezTo>
                  <a:pt x="119390" y="126043"/>
                  <a:pt x="118050" y="119390"/>
                  <a:pt x="113094" y="116086"/>
                </a:cubicBezTo>
                <a:cubicBezTo>
                  <a:pt x="108139" y="112782"/>
                  <a:pt x="101531" y="114121"/>
                  <a:pt x="98227" y="119077"/>
                </a:cubicBezTo>
                <a:lnTo>
                  <a:pt x="85725" y="137830"/>
                </a:lnTo>
                <a:lnTo>
                  <a:pt x="73223" y="119077"/>
                </a:lnTo>
                <a:close/>
              </a:path>
            </a:pathLst>
          </a:custGeom>
          <a:solidFill>
            <a:srgbClr val="00A9E0"/>
          </a:solidFill>
        </p:spPr>
      </p:sp>
      <p:sp>
        <p:nvSpPr>
          <p:cNvPr id="122" name="Text 30"/>
          <p:cNvSpPr/>
          <p:nvPr/>
        </p:nvSpPr>
        <p:spPr>
          <a:xfrm>
            <a:off x="8289875" y="2990850"/>
            <a:ext cx="14382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Excel 2</a:t>
            </a:r>
            <a:endParaRPr lang="en-US" sz="9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23" name="Shape 31"/>
          <p:cNvSpPr/>
          <p:nvPr/>
        </p:nvSpPr>
        <p:spPr>
          <a:xfrm>
            <a:off x="9945663" y="2566988"/>
            <a:ext cx="1619250" cy="695325"/>
          </a:xfrm>
          <a:custGeom>
            <a:avLst/>
            <a:gdLst/>
            <a:ahLst/>
            <a:cxnLst/>
            <a:rect l="l" t="t" r="r" b="b"/>
            <a:pathLst>
              <a:path w="1619250" h="695325">
                <a:moveTo>
                  <a:pt x="76201" y="0"/>
                </a:moveTo>
                <a:lnTo>
                  <a:pt x="1543049" y="0"/>
                </a:lnTo>
                <a:cubicBezTo>
                  <a:pt x="1585134" y="0"/>
                  <a:pt x="1619250" y="34116"/>
                  <a:pt x="1619250" y="76201"/>
                </a:cubicBezTo>
                <a:lnTo>
                  <a:pt x="1619250" y="619124"/>
                </a:lnTo>
                <a:cubicBezTo>
                  <a:pt x="1619250" y="661209"/>
                  <a:pt x="1585134" y="695325"/>
                  <a:pt x="154304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124" name="Shape 32"/>
          <p:cNvSpPr/>
          <p:nvPr/>
        </p:nvSpPr>
        <p:spPr>
          <a:xfrm>
            <a:off x="10671125" y="26860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73223" y="119077"/>
                </a:moveTo>
                <a:cubicBezTo>
                  <a:pt x="69919" y="114166"/>
                  <a:pt x="63267" y="112827"/>
                  <a:pt x="58356" y="116086"/>
                </a:cubicBezTo>
                <a:cubicBezTo>
                  <a:pt x="53444" y="119345"/>
                  <a:pt x="52105" y="126043"/>
                  <a:pt x="55364" y="130954"/>
                </a:cubicBezTo>
                <a:lnTo>
                  <a:pt x="72866" y="157163"/>
                </a:lnTo>
                <a:lnTo>
                  <a:pt x="55364" y="183371"/>
                </a:lnTo>
                <a:cubicBezTo>
                  <a:pt x="52060" y="188282"/>
                  <a:pt x="53400" y="194935"/>
                  <a:pt x="58356" y="198239"/>
                </a:cubicBezTo>
                <a:cubicBezTo>
                  <a:pt x="63311" y="201543"/>
                  <a:pt x="69919" y="200204"/>
                  <a:pt x="73223" y="195248"/>
                </a:cubicBezTo>
                <a:lnTo>
                  <a:pt x="85725" y="176495"/>
                </a:lnTo>
                <a:lnTo>
                  <a:pt x="98227" y="195248"/>
                </a:lnTo>
                <a:cubicBezTo>
                  <a:pt x="101531" y="200159"/>
                  <a:pt x="108183" y="201498"/>
                  <a:pt x="113094" y="198239"/>
                </a:cubicBezTo>
                <a:cubicBezTo>
                  <a:pt x="118006" y="194980"/>
                  <a:pt x="119345" y="188282"/>
                  <a:pt x="116086" y="183371"/>
                </a:cubicBezTo>
                <a:lnTo>
                  <a:pt x="98584" y="157163"/>
                </a:lnTo>
                <a:lnTo>
                  <a:pt x="116086" y="130954"/>
                </a:lnTo>
                <a:cubicBezTo>
                  <a:pt x="119390" y="126043"/>
                  <a:pt x="118050" y="119390"/>
                  <a:pt x="113094" y="116086"/>
                </a:cubicBezTo>
                <a:cubicBezTo>
                  <a:pt x="108139" y="112782"/>
                  <a:pt x="101531" y="114121"/>
                  <a:pt x="98227" y="119077"/>
                </a:cubicBezTo>
                <a:lnTo>
                  <a:pt x="85725" y="137830"/>
                </a:lnTo>
                <a:lnTo>
                  <a:pt x="73223" y="119077"/>
                </a:lnTo>
                <a:close/>
              </a:path>
            </a:pathLst>
          </a:custGeom>
          <a:solidFill>
            <a:srgbClr val="00A9E0"/>
          </a:solidFill>
        </p:spPr>
      </p:sp>
      <p:sp>
        <p:nvSpPr>
          <p:cNvPr id="125" name="Text 33"/>
          <p:cNvSpPr/>
          <p:nvPr/>
        </p:nvSpPr>
        <p:spPr>
          <a:xfrm>
            <a:off x="10036150" y="2990850"/>
            <a:ext cx="1438275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Excel 3</a:t>
            </a:r>
            <a:endParaRPr lang="en-US" sz="9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26" name="Shape 34"/>
          <p:cNvSpPr/>
          <p:nvPr/>
        </p:nvSpPr>
        <p:spPr>
          <a:xfrm>
            <a:off x="6453188" y="3424238"/>
            <a:ext cx="5114925" cy="1362075"/>
          </a:xfrm>
          <a:custGeom>
            <a:avLst/>
            <a:gdLst/>
            <a:ahLst/>
            <a:cxnLst/>
            <a:rect l="l" t="t" r="r" b="b"/>
            <a:pathLst>
              <a:path w="5114925" h="1362075">
                <a:moveTo>
                  <a:pt x="114305" y="0"/>
                </a:moveTo>
                <a:lnTo>
                  <a:pt x="5000620" y="0"/>
                </a:lnTo>
                <a:cubicBezTo>
                  <a:pt x="5063749" y="0"/>
                  <a:pt x="5114925" y="51176"/>
                  <a:pt x="5114925" y="114305"/>
                </a:cubicBezTo>
                <a:lnTo>
                  <a:pt x="5114925" y="1247770"/>
                </a:lnTo>
                <a:cubicBezTo>
                  <a:pt x="5114925" y="1310899"/>
                  <a:pt x="5063749" y="1362075"/>
                  <a:pt x="5000620" y="1362075"/>
                </a:cubicBezTo>
                <a:lnTo>
                  <a:pt x="114305" y="1362075"/>
                </a:lnTo>
                <a:cubicBezTo>
                  <a:pt x="51176" y="1362075"/>
                  <a:pt x="0" y="1310899"/>
                  <a:pt x="0" y="1247770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127" name="Shape 35"/>
          <p:cNvSpPr/>
          <p:nvPr/>
        </p:nvSpPr>
        <p:spPr>
          <a:xfrm>
            <a:off x="8496895" y="377190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35719" y="35719"/>
                </a:moveTo>
                <a:cubicBezTo>
                  <a:pt x="35719" y="25840"/>
                  <a:pt x="43700" y="17859"/>
                  <a:pt x="53578" y="17859"/>
                </a:cubicBezTo>
                <a:lnTo>
                  <a:pt x="250031" y="17859"/>
                </a:lnTo>
                <a:cubicBezTo>
                  <a:pt x="289489" y="17859"/>
                  <a:pt x="321469" y="49839"/>
                  <a:pt x="321469" y="89297"/>
                </a:cubicBezTo>
                <a:cubicBezTo>
                  <a:pt x="321469" y="128755"/>
                  <a:pt x="289489" y="160734"/>
                  <a:pt x="250031" y="160734"/>
                </a:cubicBezTo>
                <a:cubicBezTo>
                  <a:pt x="250031" y="190314"/>
                  <a:pt x="226033" y="214313"/>
                  <a:pt x="196453" y="214313"/>
                </a:cubicBezTo>
                <a:lnTo>
                  <a:pt x="89297" y="214313"/>
                </a:lnTo>
                <a:cubicBezTo>
                  <a:pt x="59717" y="214313"/>
                  <a:pt x="35719" y="190314"/>
                  <a:pt x="35719" y="160734"/>
                </a:cubicBezTo>
                <a:lnTo>
                  <a:pt x="35719" y="35719"/>
                </a:lnTo>
                <a:close/>
                <a:moveTo>
                  <a:pt x="285750" y="89297"/>
                </a:moveTo>
                <a:cubicBezTo>
                  <a:pt x="285750" y="69596"/>
                  <a:pt x="269732" y="53578"/>
                  <a:pt x="250031" y="53578"/>
                </a:cubicBezTo>
                <a:lnTo>
                  <a:pt x="250031" y="125016"/>
                </a:lnTo>
                <a:cubicBezTo>
                  <a:pt x="269732" y="125016"/>
                  <a:pt x="285750" y="108998"/>
                  <a:pt x="285750" y="89297"/>
                </a:cubicBezTo>
                <a:close/>
                <a:moveTo>
                  <a:pt x="35719" y="250031"/>
                </a:moveTo>
                <a:lnTo>
                  <a:pt x="250031" y="250031"/>
                </a:lnTo>
                <a:cubicBezTo>
                  <a:pt x="259910" y="250031"/>
                  <a:pt x="267891" y="258012"/>
                  <a:pt x="267891" y="267891"/>
                </a:cubicBezTo>
                <a:cubicBezTo>
                  <a:pt x="267891" y="277769"/>
                  <a:pt x="259910" y="285750"/>
                  <a:pt x="250031" y="285750"/>
                </a:cubicBezTo>
                <a:lnTo>
                  <a:pt x="35719" y="285750"/>
                </a:lnTo>
                <a:cubicBezTo>
                  <a:pt x="25840" y="285750"/>
                  <a:pt x="17859" y="277769"/>
                  <a:pt x="17859" y="267891"/>
                </a:cubicBezTo>
                <a:cubicBezTo>
                  <a:pt x="17859" y="258012"/>
                  <a:pt x="25840" y="250031"/>
                  <a:pt x="35719" y="250031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128" name="Text 36"/>
          <p:cNvSpPr/>
          <p:nvPr/>
        </p:nvSpPr>
        <p:spPr>
          <a:xfrm>
            <a:off x="8948142" y="3781425"/>
            <a:ext cx="685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已空 ×3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29" name="Text 37"/>
          <p:cNvSpPr/>
          <p:nvPr/>
        </p:nvSpPr>
        <p:spPr>
          <a:xfrm>
            <a:off x="6610350" y="4210050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一套流程下来，</a:t>
            </a:r>
            <a:r>
              <a:rPr lang="en-US" sz="12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半小时过去了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30" name="Shape 38"/>
          <p:cNvSpPr/>
          <p:nvPr/>
        </p:nvSpPr>
        <p:spPr>
          <a:xfrm>
            <a:off x="6453188" y="4948238"/>
            <a:ext cx="5114925" cy="542925"/>
          </a:xfrm>
          <a:custGeom>
            <a:avLst/>
            <a:gdLst/>
            <a:ahLst/>
            <a:cxnLst/>
            <a:rect l="l" t="t" r="r" b="b"/>
            <a:pathLst>
              <a:path w="5114925" h="542925">
                <a:moveTo>
                  <a:pt x="114302" y="0"/>
                </a:moveTo>
                <a:lnTo>
                  <a:pt x="5000623" y="0"/>
                </a:lnTo>
                <a:cubicBezTo>
                  <a:pt x="5063750" y="0"/>
                  <a:pt x="5114925" y="51175"/>
                  <a:pt x="5114925" y="114302"/>
                </a:cubicBezTo>
                <a:lnTo>
                  <a:pt x="5114925" y="428623"/>
                </a:lnTo>
                <a:cubicBezTo>
                  <a:pt x="5114925" y="491750"/>
                  <a:pt x="5063750" y="542925"/>
                  <a:pt x="500062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131" name="Shape 39"/>
          <p:cNvSpPr/>
          <p:nvPr/>
        </p:nvSpPr>
        <p:spPr>
          <a:xfrm>
            <a:off x="6634163" y="5124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132" name="Text 40"/>
          <p:cNvSpPr/>
          <p:nvPr/>
        </p:nvSpPr>
        <p:spPr>
          <a:xfrm>
            <a:off x="6962775" y="5105400"/>
            <a:ext cx="3686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核心问题：</a:t>
            </a:r>
            <a:r>
              <a:rPr lang="en-US" sz="12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小王不是数据分析师，他是</a:t>
            </a:r>
            <a:r>
              <a:rPr lang="en-US" sz="1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C8A45C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"人肉取数机"</a:t>
            </a:r>
            <a:endParaRPr lang="en-US" sz="12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highlight>
                <a:srgbClr val="C8A45C">
                  <a:alpha val="20000"/>
                </a:srgbClr>
              </a:highligh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33" name="Shape 41"/>
          <p:cNvSpPr/>
          <p:nvPr/>
        </p:nvSpPr>
        <p:spPr>
          <a:xfrm>
            <a:off x="385763" y="5891213"/>
            <a:ext cx="11420475" cy="581025"/>
          </a:xfrm>
          <a:custGeom>
            <a:avLst/>
            <a:gdLst/>
            <a:ahLst/>
            <a:cxnLst/>
            <a:rect l="l" t="t" r="r" b="b"/>
            <a:pathLst>
              <a:path w="11420475" h="581025">
                <a:moveTo>
                  <a:pt x="114299" y="0"/>
                </a:moveTo>
                <a:lnTo>
                  <a:pt x="11306176" y="0"/>
                </a:lnTo>
                <a:cubicBezTo>
                  <a:pt x="11369301" y="0"/>
                  <a:pt x="11420475" y="51174"/>
                  <a:pt x="11420475" y="114299"/>
                </a:cubicBezTo>
                <a:lnTo>
                  <a:pt x="11420475" y="466726"/>
                </a:lnTo>
                <a:cubicBezTo>
                  <a:pt x="11420475" y="529851"/>
                  <a:pt x="11369301" y="581025"/>
                  <a:pt x="11306176" y="581025"/>
                </a:cubicBezTo>
                <a:lnTo>
                  <a:pt x="114299" y="581025"/>
                </a:lnTo>
                <a:cubicBezTo>
                  <a:pt x="51174" y="581025"/>
                  <a:pt x="0" y="529851"/>
                  <a:pt x="0" y="466726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4" name="Shape 42"/>
          <p:cNvSpPr/>
          <p:nvPr/>
        </p:nvSpPr>
        <p:spPr>
          <a:xfrm>
            <a:off x="600075" y="60674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135" name="Text 43"/>
          <p:cNvSpPr/>
          <p:nvPr/>
        </p:nvSpPr>
        <p:spPr>
          <a:xfrm>
            <a:off x="981075" y="6048375"/>
            <a:ext cx="3667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革命时刻：</a:t>
            </a:r>
            <a:r>
              <a:rPr lang="en-US" sz="135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今天我们要</a:t>
            </a:r>
            <a:r>
              <a:rPr lang="en-US" sz="1350" b="1" dirty="0">
                <a:solidFill>
                  <a:srgbClr val="C8A45C"/>
                </a:solidFill>
                <a:highlight>
                  <a:srgbClr val="C8A45C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革掉这种重复劳动的命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82315" y="14630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ChatBI</a:t>
            </a:r>
            <a:r>
              <a:rPr lang="zh-CN" altLang="en-US"/>
              <a:t>概念解析</a:t>
            </a:r>
            <a:endParaRPr lang="zh-CN" altLang="en-US"/>
          </a:p>
        </p:txBody>
      </p:sp>
      <p:sp>
        <p:nvSpPr>
          <p:cNvPr id="98" name="Text 4"/>
          <p:cNvSpPr/>
          <p:nvPr/>
        </p:nvSpPr>
        <p:spPr>
          <a:xfrm>
            <a:off x="689610" y="1080135"/>
            <a:ext cx="11418570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用宝马人都懂的比喻，理解AI数据分析的核心逻辑</a:t>
            </a:r>
            <a:endParaRPr lang="en-US" sz="13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99" name="Shape 5"/>
          <p:cNvSpPr/>
          <p:nvPr/>
        </p:nvSpPr>
        <p:spPr>
          <a:xfrm>
            <a:off x="385763" y="1795463"/>
            <a:ext cx="3676650" cy="3476625"/>
          </a:xfrm>
          <a:custGeom>
            <a:avLst/>
            <a:gdLst/>
            <a:ahLst/>
            <a:cxnLst/>
            <a:rect l="l" t="t" r="r" b="b"/>
            <a:pathLst>
              <a:path w="3676650" h="3476625">
                <a:moveTo>
                  <a:pt x="152415" y="0"/>
                </a:moveTo>
                <a:lnTo>
                  <a:pt x="3524235" y="0"/>
                </a:lnTo>
                <a:cubicBezTo>
                  <a:pt x="3608411" y="0"/>
                  <a:pt x="3676650" y="68239"/>
                  <a:pt x="3676650" y="152415"/>
                </a:cubicBezTo>
                <a:lnTo>
                  <a:pt x="3676650" y="3324210"/>
                </a:lnTo>
                <a:cubicBezTo>
                  <a:pt x="3676650" y="3408386"/>
                  <a:pt x="3608411" y="3476625"/>
                  <a:pt x="3524235" y="3476625"/>
                </a:cubicBezTo>
                <a:lnTo>
                  <a:pt x="152415" y="3476625"/>
                </a:lnTo>
                <a:cubicBezTo>
                  <a:pt x="68239" y="3476625"/>
                  <a:pt x="0" y="3408386"/>
                  <a:pt x="0" y="3324210"/>
                </a:cubicBezTo>
                <a:lnTo>
                  <a:pt x="0" y="152415"/>
                </a:lnTo>
                <a:cubicBezTo>
                  <a:pt x="0" y="68239"/>
                  <a:pt x="68239" y="0"/>
                  <a:pt x="15241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1">
                  <a:alpha val="10000"/>
                </a:schemeClr>
              </a:gs>
              <a:gs pos="100000">
                <a:srgbClr val="1A1D21">
                  <a:alpha val="45000"/>
                </a:srgbClr>
              </a:gs>
            </a:gsLst>
            <a:lin ang="2700000" scaled="1"/>
          </a:gra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100" name="Shape 6"/>
          <p:cNvSpPr/>
          <p:nvPr/>
        </p:nvSpPr>
        <p:spPr>
          <a:xfrm>
            <a:off x="581025" y="1990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</p:spPr>
      </p:sp>
      <p:sp>
        <p:nvSpPr>
          <p:cNvPr id="101" name="Shape 7"/>
          <p:cNvSpPr/>
          <p:nvPr/>
        </p:nvSpPr>
        <p:spPr>
          <a:xfrm>
            <a:off x="719138" y="21431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63445"/>
                </a:move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cubicBezTo>
                  <a:pt x="22190" y="228600"/>
                  <a:pt x="28575" y="222215"/>
                  <a:pt x="28575" y="214313"/>
                </a:cubicBezTo>
                <a:lnTo>
                  <a:pt x="28575" y="107156"/>
                </a:lnTo>
                <a:cubicBezTo>
                  <a:pt x="28575" y="99253"/>
                  <a:pt x="34960" y="92869"/>
                  <a:pt x="42863" y="92869"/>
                </a:cubicBezTo>
                <a:lnTo>
                  <a:pt x="214313" y="92869"/>
                </a:lnTo>
                <a:cubicBezTo>
                  <a:pt x="222215" y="92869"/>
                  <a:pt x="228600" y="99253"/>
                  <a:pt x="228600" y="107156"/>
                </a:cubicBezTo>
                <a:lnTo>
                  <a:pt x="228600" y="214313"/>
                </a:lnTo>
                <a:cubicBezTo>
                  <a:pt x="228600" y="222215"/>
                  <a:pt x="234985" y="228600"/>
                  <a:pt x="242888" y="228600"/>
                </a:cubicBezTo>
                <a:cubicBezTo>
                  <a:pt x="250790" y="228600"/>
                  <a:pt x="257175" y="222215"/>
                  <a:pt x="257175" y="214313"/>
                </a:cubicBezTo>
                <a:lnTo>
                  <a:pt x="257175" y="63445"/>
                </a:lnTo>
                <a:cubicBezTo>
                  <a:pt x="257175" y="51167"/>
                  <a:pt x="249317" y="40228"/>
                  <a:pt x="237619" y="36344"/>
                </a:cubicBezTo>
                <a:lnTo>
                  <a:pt x="135374" y="2277"/>
                </a:lnTo>
                <a:cubicBezTo>
                  <a:pt x="130954" y="804"/>
                  <a:pt x="126221" y="804"/>
                  <a:pt x="121801" y="2277"/>
                </a:cubicBezTo>
                <a:lnTo>
                  <a:pt x="19556" y="36344"/>
                </a:lnTo>
                <a:cubicBezTo>
                  <a:pt x="7858" y="40228"/>
                  <a:pt x="0" y="51167"/>
                  <a:pt x="0" y="63445"/>
                </a:cubicBezTo>
                <a:close/>
                <a:moveTo>
                  <a:pt x="207169" y="114300"/>
                </a:moveTo>
                <a:lnTo>
                  <a:pt x="50006" y="114300"/>
                </a:lnTo>
                <a:lnTo>
                  <a:pt x="50006" y="142875"/>
                </a:lnTo>
                <a:lnTo>
                  <a:pt x="207169" y="142875"/>
                </a:lnTo>
                <a:lnTo>
                  <a:pt x="207169" y="114300"/>
                </a:lnTo>
                <a:close/>
                <a:moveTo>
                  <a:pt x="50006" y="185738"/>
                </a:moveTo>
                <a:lnTo>
                  <a:pt x="207169" y="185738"/>
                </a:lnTo>
                <a:lnTo>
                  <a:pt x="207169" y="157163"/>
                </a:lnTo>
                <a:lnTo>
                  <a:pt x="50006" y="157163"/>
                </a:lnTo>
                <a:lnTo>
                  <a:pt x="50006" y="185738"/>
                </a:lnTo>
                <a:close/>
                <a:moveTo>
                  <a:pt x="207169" y="200025"/>
                </a:moveTo>
                <a:lnTo>
                  <a:pt x="50006" y="200025"/>
                </a:lnTo>
                <a:lnTo>
                  <a:pt x="50006" y="228600"/>
                </a:lnTo>
                <a:lnTo>
                  <a:pt x="207169" y="228600"/>
                </a:lnTo>
                <a:lnTo>
                  <a:pt x="207169" y="200025"/>
                </a:lnTo>
                <a:close/>
              </a:path>
            </a:pathLst>
          </a:custGeom>
          <a:solidFill>
            <a:schemeClr val="tx1"/>
          </a:solidFill>
        </p:spPr>
      </p:sp>
      <p:sp>
        <p:nvSpPr>
          <p:cNvPr id="102" name="Text 8"/>
          <p:cNvSpPr/>
          <p:nvPr/>
        </p:nvSpPr>
        <p:spPr>
          <a:xfrm>
            <a:off x="1228725" y="2028825"/>
            <a:ext cx="676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数据库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1228725" y="2295525"/>
            <a:ext cx="64770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Database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585788" y="2681288"/>
            <a:ext cx="3276600" cy="2085975"/>
          </a:xfrm>
          <a:custGeom>
            <a:avLst/>
            <a:gdLst/>
            <a:ahLst/>
            <a:cxnLst/>
            <a:rect l="l" t="t" r="r" b="b"/>
            <a:pathLst>
              <a:path w="3276600" h="2085975">
                <a:moveTo>
                  <a:pt x="114291" y="0"/>
                </a:moveTo>
                <a:lnTo>
                  <a:pt x="3162309" y="0"/>
                </a:lnTo>
                <a:cubicBezTo>
                  <a:pt x="3225430" y="0"/>
                  <a:pt x="3276600" y="51170"/>
                  <a:pt x="3276600" y="114291"/>
                </a:cubicBezTo>
                <a:lnTo>
                  <a:pt x="3276600" y="1971684"/>
                </a:lnTo>
                <a:cubicBezTo>
                  <a:pt x="3276600" y="2034805"/>
                  <a:pt x="3225430" y="2085975"/>
                  <a:pt x="3162309" y="2085975"/>
                </a:cubicBezTo>
                <a:lnTo>
                  <a:pt x="114291" y="2085975"/>
                </a:lnTo>
                <a:cubicBezTo>
                  <a:pt x="51170" y="2085975"/>
                  <a:pt x="0" y="2034805"/>
                  <a:pt x="0" y="19716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4E54">
                <a:alpha val="20000"/>
              </a:srgbClr>
            </a:solidFill>
            <a:prstDash val="solid"/>
          </a:ln>
        </p:spPr>
      </p:sp>
      <p:sp>
        <p:nvSpPr>
          <p:cNvPr id="105" name="Text 11"/>
          <p:cNvSpPr/>
          <p:nvPr/>
        </p:nvSpPr>
        <p:spPr>
          <a:xfrm>
            <a:off x="742950" y="2838450"/>
            <a:ext cx="3038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= 宝马中心仓库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742950" y="3143250"/>
            <a:ext cx="3028950" cy="438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里面有所有零件的库存、销售单据、客户信息。数据量庞大，但你需要</a:t>
            </a:r>
            <a:r>
              <a:rPr lang="en-US" sz="1050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特定编码</a:t>
            </a: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才能查到东西。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608409" y="491013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108" name="Text 14"/>
          <p:cNvSpPr/>
          <p:nvPr/>
        </p:nvSpPr>
        <p:spPr>
          <a:xfrm>
            <a:off x="824230" y="4881880"/>
            <a:ext cx="1374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结构化数据存储</a:t>
            </a:r>
            <a:endParaRPr lang="en-US" sz="1200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09" name="Shape 15"/>
          <p:cNvSpPr/>
          <p:nvPr/>
        </p:nvSpPr>
        <p:spPr>
          <a:xfrm>
            <a:off x="4259238" y="1795463"/>
            <a:ext cx="3676650" cy="3476625"/>
          </a:xfrm>
          <a:custGeom>
            <a:avLst/>
            <a:gdLst/>
            <a:ahLst/>
            <a:cxnLst/>
            <a:rect l="l" t="t" r="r" b="b"/>
            <a:pathLst>
              <a:path w="3676650" h="3476625">
                <a:moveTo>
                  <a:pt x="152415" y="0"/>
                </a:moveTo>
                <a:lnTo>
                  <a:pt x="3524235" y="0"/>
                </a:lnTo>
                <a:cubicBezTo>
                  <a:pt x="3608411" y="0"/>
                  <a:pt x="3676650" y="68239"/>
                  <a:pt x="3676650" y="152415"/>
                </a:cubicBezTo>
                <a:lnTo>
                  <a:pt x="3676650" y="3324210"/>
                </a:lnTo>
                <a:cubicBezTo>
                  <a:pt x="3676650" y="3408386"/>
                  <a:pt x="3608411" y="3476625"/>
                  <a:pt x="3524235" y="3476625"/>
                </a:cubicBezTo>
                <a:lnTo>
                  <a:pt x="152415" y="3476625"/>
                </a:lnTo>
                <a:cubicBezTo>
                  <a:pt x="68239" y="3476625"/>
                  <a:pt x="0" y="3408386"/>
                  <a:pt x="0" y="3324210"/>
                </a:cubicBezTo>
                <a:lnTo>
                  <a:pt x="0" y="152415"/>
                </a:lnTo>
                <a:cubicBezTo>
                  <a:pt x="0" y="68239"/>
                  <a:pt x="68239" y="0"/>
                  <a:pt x="15241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8000"/>
                </a:schemeClr>
              </a:gs>
              <a:gs pos="100000">
                <a:schemeClr val="tx2">
                  <a:alpha val="17000"/>
                </a:schemeClr>
              </a:gs>
            </a:gsLst>
            <a:lin ang="2700000" scaled="1"/>
          </a:gradFill>
          <a:ln w="12700">
            <a:noFill/>
            <a:prstDash val="solid"/>
          </a:ln>
        </p:spPr>
      </p:sp>
      <p:sp>
        <p:nvSpPr>
          <p:cNvPr id="110" name="Shape 16"/>
          <p:cNvSpPr/>
          <p:nvPr/>
        </p:nvSpPr>
        <p:spPr>
          <a:xfrm>
            <a:off x="4454500" y="1990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A9E0">
              <a:alpha val="30196"/>
            </a:srgbClr>
          </a:solidFill>
        </p:spPr>
      </p:sp>
      <p:sp>
        <p:nvSpPr>
          <p:cNvPr id="111" name="Shape 17"/>
          <p:cNvSpPr/>
          <p:nvPr/>
        </p:nvSpPr>
        <p:spPr>
          <a:xfrm>
            <a:off x="4592613" y="21431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112" name="Text 18"/>
          <p:cNvSpPr/>
          <p:nvPr/>
        </p:nvSpPr>
        <p:spPr>
          <a:xfrm>
            <a:off x="5102200" y="2028825"/>
            <a:ext cx="1162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SQL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5102200" y="2295525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Structured Query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14" name="Shape 20"/>
          <p:cNvSpPr/>
          <p:nvPr/>
        </p:nvSpPr>
        <p:spPr>
          <a:xfrm>
            <a:off x="4459263" y="2681288"/>
            <a:ext cx="3276600" cy="2085975"/>
          </a:xfrm>
          <a:custGeom>
            <a:avLst/>
            <a:gdLst/>
            <a:ahLst/>
            <a:cxnLst/>
            <a:rect l="l" t="t" r="r" b="b"/>
            <a:pathLst>
              <a:path w="3276600" h="2085975">
                <a:moveTo>
                  <a:pt x="114291" y="0"/>
                </a:moveTo>
                <a:lnTo>
                  <a:pt x="3162309" y="0"/>
                </a:lnTo>
                <a:cubicBezTo>
                  <a:pt x="3225430" y="0"/>
                  <a:pt x="3276600" y="51170"/>
                  <a:pt x="3276600" y="114291"/>
                </a:cubicBezTo>
                <a:lnTo>
                  <a:pt x="3276600" y="1971684"/>
                </a:lnTo>
                <a:cubicBezTo>
                  <a:pt x="3276600" y="2034805"/>
                  <a:pt x="3225430" y="2085975"/>
                  <a:pt x="3162309" y="2085975"/>
                </a:cubicBezTo>
                <a:lnTo>
                  <a:pt x="114291" y="2085975"/>
                </a:lnTo>
                <a:cubicBezTo>
                  <a:pt x="51170" y="2085975"/>
                  <a:pt x="0" y="2034805"/>
                  <a:pt x="0" y="19716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>
                <a:alpha val="20000"/>
              </a:srgbClr>
            </a:solidFill>
            <a:prstDash val="solid"/>
          </a:ln>
        </p:spPr>
      </p:sp>
      <p:sp>
        <p:nvSpPr>
          <p:cNvPr id="115" name="Text 21"/>
          <p:cNvSpPr/>
          <p:nvPr/>
        </p:nvSpPr>
        <p:spPr>
          <a:xfrm>
            <a:off x="4616425" y="2838450"/>
            <a:ext cx="3038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= 仓库管理系统指令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16" name="Text 22"/>
          <p:cNvSpPr/>
          <p:nvPr/>
        </p:nvSpPr>
        <p:spPr>
          <a:xfrm>
            <a:off x="4616425" y="3143250"/>
            <a:ext cx="3028950" cy="438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你得用特定编码才能查询：</a:t>
            </a:r>
            <a:r>
              <a:rPr lang="en-US" sz="900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SELECT * FROM sales WHERE...</a:t>
            </a: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 业务人员</a:t>
            </a:r>
            <a:r>
              <a:rPr lang="en-US" sz="1050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不会写</a:t>
            </a: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，也</a:t>
            </a:r>
            <a:r>
              <a:rPr lang="en-US" sz="1050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不想学</a:t>
            </a: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。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17" name="Shape 23"/>
          <p:cNvSpPr/>
          <p:nvPr/>
        </p:nvSpPr>
        <p:spPr>
          <a:xfrm>
            <a:off x="4473550" y="491013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448" y="30889"/>
                </a:moveTo>
                <a:cubicBezTo>
                  <a:pt x="-807" y="27634"/>
                  <a:pt x="-807" y="22347"/>
                  <a:pt x="2448" y="19091"/>
                </a:cubicBezTo>
                <a:cubicBezTo>
                  <a:pt x="5704" y="15835"/>
                  <a:pt x="10991" y="15835"/>
                  <a:pt x="14247" y="19091"/>
                </a:cubicBezTo>
                <a:lnTo>
                  <a:pt x="55918" y="60763"/>
                </a:lnTo>
                <a:cubicBezTo>
                  <a:pt x="59174" y="64018"/>
                  <a:pt x="59174" y="69306"/>
                  <a:pt x="55918" y="72561"/>
                </a:cubicBezTo>
                <a:lnTo>
                  <a:pt x="14247" y="114233"/>
                </a:lnTo>
                <a:cubicBezTo>
                  <a:pt x="10991" y="117489"/>
                  <a:pt x="5704" y="117489"/>
                  <a:pt x="2448" y="114233"/>
                </a:cubicBezTo>
                <a:cubicBezTo>
                  <a:pt x="-807" y="110977"/>
                  <a:pt x="-807" y="105690"/>
                  <a:pt x="2448" y="102435"/>
                </a:cubicBezTo>
                <a:lnTo>
                  <a:pt x="38208" y="66675"/>
                </a:lnTo>
                <a:lnTo>
                  <a:pt x="2448" y="30889"/>
                </a:lnTo>
                <a:close/>
                <a:moveTo>
                  <a:pt x="58341" y="100013"/>
                </a:moveTo>
                <a:lnTo>
                  <a:pt x="125016" y="100013"/>
                </a:lnTo>
                <a:cubicBezTo>
                  <a:pt x="129626" y="100013"/>
                  <a:pt x="133350" y="103737"/>
                  <a:pt x="133350" y="108347"/>
                </a:cubicBezTo>
                <a:cubicBezTo>
                  <a:pt x="133350" y="112957"/>
                  <a:pt x="129626" y="116681"/>
                  <a:pt x="125016" y="116681"/>
                </a:cubicBezTo>
                <a:lnTo>
                  <a:pt x="58341" y="116681"/>
                </a:lnTo>
                <a:cubicBezTo>
                  <a:pt x="53731" y="116681"/>
                  <a:pt x="50006" y="112957"/>
                  <a:pt x="50006" y="108347"/>
                </a:cubicBezTo>
                <a:cubicBezTo>
                  <a:pt x="50006" y="103737"/>
                  <a:pt x="53731" y="100013"/>
                  <a:pt x="58341" y="100013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118" name="Text 24"/>
          <p:cNvSpPr/>
          <p:nvPr/>
        </p:nvSpPr>
        <p:spPr>
          <a:xfrm>
            <a:off x="4697095" y="4881880"/>
            <a:ext cx="100774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技术门槛高</a:t>
            </a:r>
            <a:endParaRPr lang="en-US" sz="1200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19" name="Shape 25"/>
          <p:cNvSpPr/>
          <p:nvPr/>
        </p:nvSpPr>
        <p:spPr>
          <a:xfrm>
            <a:off x="8132713" y="1795463"/>
            <a:ext cx="3676650" cy="3476625"/>
          </a:xfrm>
          <a:custGeom>
            <a:avLst/>
            <a:gdLst/>
            <a:ahLst/>
            <a:cxnLst/>
            <a:rect l="l" t="t" r="r" b="b"/>
            <a:pathLst>
              <a:path w="3676650" h="3476625">
                <a:moveTo>
                  <a:pt x="152415" y="0"/>
                </a:moveTo>
                <a:lnTo>
                  <a:pt x="3524235" y="0"/>
                </a:lnTo>
                <a:cubicBezTo>
                  <a:pt x="3608411" y="0"/>
                  <a:pt x="3676650" y="68239"/>
                  <a:pt x="3676650" y="152415"/>
                </a:cubicBezTo>
                <a:lnTo>
                  <a:pt x="3676650" y="3324210"/>
                </a:lnTo>
                <a:cubicBezTo>
                  <a:pt x="3676650" y="3408386"/>
                  <a:pt x="3608411" y="3476625"/>
                  <a:pt x="3524235" y="3476625"/>
                </a:cubicBezTo>
                <a:lnTo>
                  <a:pt x="152415" y="3476625"/>
                </a:lnTo>
                <a:cubicBezTo>
                  <a:pt x="68239" y="3476625"/>
                  <a:pt x="0" y="3408386"/>
                  <a:pt x="0" y="3324210"/>
                </a:cubicBezTo>
                <a:lnTo>
                  <a:pt x="0" y="152415"/>
                </a:lnTo>
                <a:cubicBezTo>
                  <a:pt x="0" y="68239"/>
                  <a:pt x="68239" y="0"/>
                  <a:pt x="15241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37000"/>
                </a:schemeClr>
              </a:gs>
              <a:gs pos="100000">
                <a:srgbClr val="1A1D21">
                  <a:alpha val="53000"/>
                </a:srgbClr>
              </a:gs>
            </a:gsLst>
            <a:lin ang="2700000" scaled="1"/>
          </a:gradFill>
          <a:ln w="12700">
            <a:noFill/>
            <a:prstDash val="solid"/>
          </a:ln>
        </p:spPr>
      </p:sp>
      <p:sp>
        <p:nvSpPr>
          <p:cNvPr id="120" name="Shape 26"/>
          <p:cNvSpPr/>
          <p:nvPr/>
        </p:nvSpPr>
        <p:spPr>
          <a:xfrm>
            <a:off x="8327975" y="1990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8A45C">
              <a:alpha val="30196"/>
            </a:srgbClr>
          </a:solidFill>
        </p:spPr>
      </p:sp>
      <p:sp>
        <p:nvSpPr>
          <p:cNvPr id="121" name="Shape 27"/>
          <p:cNvSpPr/>
          <p:nvPr/>
        </p:nvSpPr>
        <p:spPr>
          <a:xfrm>
            <a:off x="8451800" y="21431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122" name="Text 28"/>
          <p:cNvSpPr/>
          <p:nvPr/>
        </p:nvSpPr>
        <p:spPr>
          <a:xfrm>
            <a:off x="8975675" y="2028825"/>
            <a:ext cx="971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ChatBI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23" name="Text 29"/>
          <p:cNvSpPr/>
          <p:nvPr/>
        </p:nvSpPr>
        <p:spPr>
          <a:xfrm>
            <a:off x="8975675" y="2295525"/>
            <a:ext cx="9429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AI-Powered BI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24" name="Shape 30"/>
          <p:cNvSpPr/>
          <p:nvPr/>
        </p:nvSpPr>
        <p:spPr>
          <a:xfrm>
            <a:off x="8332738" y="2681288"/>
            <a:ext cx="3276600" cy="2085975"/>
          </a:xfrm>
          <a:custGeom>
            <a:avLst/>
            <a:gdLst/>
            <a:ahLst/>
            <a:cxnLst/>
            <a:rect l="l" t="t" r="r" b="b"/>
            <a:pathLst>
              <a:path w="3276600" h="2085975">
                <a:moveTo>
                  <a:pt x="114291" y="0"/>
                </a:moveTo>
                <a:lnTo>
                  <a:pt x="3162309" y="0"/>
                </a:lnTo>
                <a:cubicBezTo>
                  <a:pt x="3225430" y="0"/>
                  <a:pt x="3276600" y="51170"/>
                  <a:pt x="3276600" y="114291"/>
                </a:cubicBezTo>
                <a:lnTo>
                  <a:pt x="3276600" y="1971684"/>
                </a:lnTo>
                <a:cubicBezTo>
                  <a:pt x="3276600" y="2034805"/>
                  <a:pt x="3225430" y="2085975"/>
                  <a:pt x="3162309" y="2085975"/>
                </a:cubicBezTo>
                <a:lnTo>
                  <a:pt x="114291" y="2085975"/>
                </a:lnTo>
                <a:cubicBezTo>
                  <a:pt x="51170" y="2085975"/>
                  <a:pt x="0" y="2034805"/>
                  <a:pt x="0" y="19716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C8A45C">
                <a:alpha val="20000"/>
              </a:srgbClr>
            </a:solidFill>
            <a:prstDash val="solid"/>
          </a:ln>
        </p:spPr>
      </p:sp>
      <p:sp>
        <p:nvSpPr>
          <p:cNvPr id="125" name="Text 31"/>
          <p:cNvSpPr/>
          <p:nvPr/>
        </p:nvSpPr>
        <p:spPr>
          <a:xfrm>
            <a:off x="8489900" y="2838450"/>
            <a:ext cx="3038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= 聪明的AI仓库管理员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26" name="Text 32"/>
          <p:cNvSpPr/>
          <p:nvPr/>
        </p:nvSpPr>
        <p:spPr>
          <a:xfrm>
            <a:off x="8489900" y="3143250"/>
            <a:ext cx="3028950" cy="647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你说"我要一个M运动方向盘"，他</a:t>
            </a:r>
            <a:r>
              <a:rPr lang="en-US" sz="1050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自动翻译成货架编号</a:t>
            </a: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去取。用</a:t>
            </a:r>
            <a:r>
              <a:rPr lang="en-US" sz="105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自然语言</a:t>
            </a: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直接查询，系统自动生成SQL、执行、返回可视化图表。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27" name="Shape 33"/>
          <p:cNvSpPr/>
          <p:nvPr/>
        </p:nvSpPr>
        <p:spPr>
          <a:xfrm>
            <a:off x="8347025" y="491013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3789" y="3177"/>
                </a:moveTo>
                <a:lnTo>
                  <a:pt x="80817" y="26149"/>
                </a:lnTo>
                <a:lnTo>
                  <a:pt x="107201" y="52533"/>
                </a:lnTo>
                <a:lnTo>
                  <a:pt x="130173" y="29561"/>
                </a:lnTo>
                <a:cubicBezTo>
                  <a:pt x="132204" y="27503"/>
                  <a:pt x="133350" y="24743"/>
                  <a:pt x="133350" y="21878"/>
                </a:cubicBezTo>
                <a:cubicBezTo>
                  <a:pt x="133350" y="19013"/>
                  <a:pt x="132204" y="16252"/>
                  <a:pt x="130173" y="14194"/>
                </a:cubicBezTo>
                <a:lnTo>
                  <a:pt x="119156" y="3177"/>
                </a:lnTo>
                <a:cubicBezTo>
                  <a:pt x="117098" y="1146"/>
                  <a:pt x="114337" y="0"/>
                  <a:pt x="111472" y="0"/>
                </a:cubicBezTo>
                <a:cubicBezTo>
                  <a:pt x="108607" y="0"/>
                  <a:pt x="105847" y="1146"/>
                  <a:pt x="103789" y="3177"/>
                </a:cubicBezTo>
                <a:close/>
                <a:moveTo>
                  <a:pt x="71988" y="34978"/>
                </a:moveTo>
                <a:lnTo>
                  <a:pt x="3177" y="103789"/>
                </a:lnTo>
                <a:cubicBezTo>
                  <a:pt x="1146" y="105847"/>
                  <a:pt x="0" y="108607"/>
                  <a:pt x="0" y="111472"/>
                </a:cubicBezTo>
                <a:cubicBezTo>
                  <a:pt x="0" y="114337"/>
                  <a:pt x="1146" y="117098"/>
                  <a:pt x="3177" y="119156"/>
                </a:cubicBezTo>
                <a:lnTo>
                  <a:pt x="14194" y="130173"/>
                </a:lnTo>
                <a:cubicBezTo>
                  <a:pt x="16252" y="132204"/>
                  <a:pt x="19013" y="133350"/>
                  <a:pt x="21878" y="133350"/>
                </a:cubicBezTo>
                <a:cubicBezTo>
                  <a:pt x="24743" y="133350"/>
                  <a:pt x="27503" y="132204"/>
                  <a:pt x="29561" y="130173"/>
                </a:cubicBezTo>
                <a:lnTo>
                  <a:pt x="98372" y="61362"/>
                </a:lnTo>
                <a:lnTo>
                  <a:pt x="71988" y="34978"/>
                </a:lnTo>
                <a:close/>
              </a:path>
            </a:pathLst>
          </a:custGeom>
          <a:solidFill>
            <a:schemeClr val="tx1"/>
          </a:solidFill>
        </p:spPr>
      </p:sp>
      <p:sp>
        <p:nvSpPr>
          <p:cNvPr id="128" name="Text 34"/>
          <p:cNvSpPr/>
          <p:nvPr/>
        </p:nvSpPr>
        <p:spPr>
          <a:xfrm>
            <a:off x="8570595" y="4881880"/>
            <a:ext cx="1374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零门槛智能查询</a:t>
            </a:r>
            <a:endParaRPr lang="en-US" sz="1200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29" name="Shape 35"/>
          <p:cNvSpPr/>
          <p:nvPr/>
        </p:nvSpPr>
        <p:spPr>
          <a:xfrm>
            <a:off x="385763" y="5467350"/>
            <a:ext cx="11420475" cy="1009650"/>
          </a:xfrm>
          <a:custGeom>
            <a:avLst/>
            <a:gdLst/>
            <a:ahLst/>
            <a:cxnLst/>
            <a:rect l="l" t="t" r="r" b="b"/>
            <a:pathLst>
              <a:path w="11420475" h="1009650">
                <a:moveTo>
                  <a:pt x="152397" y="0"/>
                </a:moveTo>
                <a:lnTo>
                  <a:pt x="11268078" y="0"/>
                </a:lnTo>
                <a:cubicBezTo>
                  <a:pt x="11352245" y="0"/>
                  <a:pt x="11420475" y="68230"/>
                  <a:pt x="11420475" y="152397"/>
                </a:cubicBezTo>
                <a:lnTo>
                  <a:pt x="11420475" y="857253"/>
                </a:lnTo>
                <a:cubicBezTo>
                  <a:pt x="11420475" y="941420"/>
                  <a:pt x="11352245" y="1009650"/>
                  <a:pt x="11268078" y="1009650"/>
                </a:cubicBezTo>
                <a:lnTo>
                  <a:pt x="152397" y="1009650"/>
                </a:lnTo>
                <a:cubicBezTo>
                  <a:pt x="68230" y="1009650"/>
                  <a:pt x="0" y="941420"/>
                  <a:pt x="0" y="857253"/>
                </a:cubicBezTo>
                <a:lnTo>
                  <a:pt x="0" y="152397"/>
                </a:lnTo>
                <a:cubicBezTo>
                  <a:pt x="0" y="68230"/>
                  <a:pt x="68230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9E0">
                  <a:alpha val="10000"/>
                </a:srgbClr>
              </a:gs>
              <a:gs pos="50000">
                <a:srgbClr val="C8A45C">
                  <a:alpha val="10000"/>
                </a:srgbClr>
              </a:gs>
              <a:gs pos="100000">
                <a:srgbClr val="00A9E0">
                  <a:alpha val="10000"/>
                </a:srgbClr>
              </a:gs>
            </a:gsLst>
            <a:lin ang="0" scaled="1"/>
          </a:gradFill>
          <a:ln w="12700">
            <a:solidFill>
              <a:srgbClr val="00A9E0">
                <a:alpha val="20000"/>
              </a:srgbClr>
            </a:solidFill>
            <a:prstDash val="solid"/>
          </a:ln>
        </p:spPr>
      </p:sp>
      <p:sp>
        <p:nvSpPr>
          <p:cNvPr id="130" name="Shape 36"/>
          <p:cNvSpPr/>
          <p:nvPr/>
        </p:nvSpPr>
        <p:spPr>
          <a:xfrm>
            <a:off x="581025" y="56626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1" name="Shape 37"/>
          <p:cNvSpPr/>
          <p:nvPr/>
        </p:nvSpPr>
        <p:spPr>
          <a:xfrm>
            <a:off x="726281" y="579596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</p:sp>
      <p:sp>
        <p:nvSpPr>
          <p:cNvPr id="132" name="Text 38"/>
          <p:cNvSpPr/>
          <p:nvPr/>
        </p:nvSpPr>
        <p:spPr>
          <a:xfrm>
            <a:off x="1190625" y="5662613"/>
            <a:ext cx="1051560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一句话定义：</a:t>
            </a:r>
            <a:r>
              <a:rPr lang="en-US" sz="15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ChatBI让业务人员用</a:t>
            </a:r>
            <a:r>
              <a:rPr lang="en-US" sz="1500" b="1" dirty="0">
                <a:solidFill>
                  <a:srgbClr val="C8A45C"/>
                </a:solidFill>
                <a:highlight>
                  <a:srgbClr val="C8A45C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自然语言 </a:t>
            </a:r>
            <a:r>
              <a:rPr lang="en-US" sz="15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直接查询结构化数据，系统自动生成SQL、执行、返回可视化图表。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33" name="Shape 39"/>
          <p:cNvSpPr/>
          <p:nvPr/>
        </p:nvSpPr>
        <p:spPr>
          <a:xfrm>
            <a:off x="1209675" y="6115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134" name="Text 40"/>
          <p:cNvSpPr/>
          <p:nvPr/>
        </p:nvSpPr>
        <p:spPr>
          <a:xfrm>
            <a:off x="1433513" y="6086475"/>
            <a:ext cx="112395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无需学习SQL语法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35" name="Shape 41"/>
          <p:cNvSpPr/>
          <p:nvPr/>
        </p:nvSpPr>
        <p:spPr>
          <a:xfrm>
            <a:off x="2740372" y="6115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136" name="Text 42"/>
          <p:cNvSpPr/>
          <p:nvPr/>
        </p:nvSpPr>
        <p:spPr>
          <a:xfrm>
            <a:off x="2964210" y="6086475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实时生成可视化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37" name="Shape 43"/>
          <p:cNvSpPr/>
          <p:nvPr/>
        </p:nvSpPr>
        <p:spPr>
          <a:xfrm>
            <a:off x="4145310" y="6115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138" name="Text 44"/>
          <p:cNvSpPr/>
          <p:nvPr/>
        </p:nvSpPr>
        <p:spPr>
          <a:xfrm>
            <a:off x="4369147" y="6086475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支持复杂业务逻辑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2500490" y="2426407"/>
            <a:ext cx="7191021" cy="643045"/>
          </a:xfrm>
        </p:spPr>
        <p:txBody>
          <a:bodyPr/>
          <a:lstStyle/>
          <a:p>
            <a:r>
              <a:rPr lang="zh-CN" altLang="en-US"/>
              <a:t>PART </a:t>
            </a:r>
            <a:r>
              <a:t>TWO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48653" y="3180080"/>
            <a:ext cx="10894695" cy="1405255"/>
          </a:xfrm>
        </p:spPr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搭地基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构建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统计口径知识库</a:t>
            </a:r>
            <a:r>
              <a:rPr lang="en-US" altLang="zh-CN">
                <a:sym typeface="+mn-ea"/>
              </a:rPr>
              <a:t>”</a:t>
            </a:r>
            <a:endParaRPr lang="en-US" altLang="zh-CN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AI</a:t>
            </a:r>
            <a:r>
              <a:rPr lang="zh-CN" altLang="en-US"/>
              <a:t>最容易在哪翻车？</a:t>
            </a:r>
            <a:r>
              <a:rPr lang="en-US" altLang="zh-CN"/>
              <a:t>——</a:t>
            </a:r>
            <a:r>
              <a:rPr lang="zh-CN" altLang="en-US"/>
              <a:t>口径陷阱</a:t>
            </a:r>
            <a:endParaRPr lang="zh-CN" altLang="en-US"/>
          </a:p>
        </p:txBody>
      </p:sp>
      <p:sp>
        <p:nvSpPr>
          <p:cNvPr id="98" name="Text 4"/>
          <p:cNvSpPr/>
          <p:nvPr/>
        </p:nvSpPr>
        <p:spPr>
          <a:xfrm>
            <a:off x="689610" y="1080135"/>
            <a:ext cx="11418570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用宝马人都懂的比喻，理解AI数据分析的核心逻辑</a:t>
            </a:r>
            <a:endParaRPr lang="en-US" sz="13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5763" y="1452563"/>
            <a:ext cx="5591175" cy="4124325"/>
          </a:xfrm>
          <a:custGeom>
            <a:avLst/>
            <a:gdLst/>
            <a:ahLst/>
            <a:cxnLst/>
            <a:rect l="l" t="t" r="r" b="b"/>
            <a:pathLst>
              <a:path w="5591175" h="4124325">
                <a:moveTo>
                  <a:pt x="152394" y="0"/>
                </a:moveTo>
                <a:lnTo>
                  <a:pt x="5438781" y="0"/>
                </a:lnTo>
                <a:cubicBezTo>
                  <a:pt x="5522946" y="0"/>
                  <a:pt x="5591175" y="68229"/>
                  <a:pt x="5591175" y="152394"/>
                </a:cubicBezTo>
                <a:lnTo>
                  <a:pt x="5591175" y="3971931"/>
                </a:lnTo>
                <a:cubicBezTo>
                  <a:pt x="5591175" y="4056096"/>
                  <a:pt x="5522946" y="4124325"/>
                  <a:pt x="5438781" y="4124325"/>
                </a:cubicBezTo>
                <a:lnTo>
                  <a:pt x="152394" y="4124325"/>
                </a:lnTo>
                <a:cubicBezTo>
                  <a:pt x="68229" y="4124325"/>
                  <a:pt x="0" y="4056096"/>
                  <a:pt x="0" y="3971931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noFill/>
          <a:ln w="12700">
            <a:solidFill>
              <a:srgbClr val="FB2C36">
                <a:alpha val="3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647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76275" y="1743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9" name="Text 7"/>
          <p:cNvSpPr/>
          <p:nvPr/>
        </p:nvSpPr>
        <p:spPr>
          <a:xfrm>
            <a:off x="1076325" y="1704975"/>
            <a:ext cx="160972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未加知识库的AI回答</a:t>
            </a:r>
            <a:endParaRPr lang="en-US" sz="135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0075" y="2181225"/>
            <a:ext cx="5181600" cy="685800"/>
          </a:xfrm>
          <a:custGeom>
            <a:avLst/>
            <a:gdLst/>
            <a:ahLst/>
            <a:cxnLst/>
            <a:rect l="l" t="t" r="r" b="b"/>
            <a:pathLst>
              <a:path w="5181600" h="685800">
                <a:moveTo>
                  <a:pt x="38100" y="0"/>
                </a:moveTo>
                <a:lnTo>
                  <a:pt x="5105401" y="0"/>
                </a:lnTo>
                <a:cubicBezTo>
                  <a:pt x="5147484" y="0"/>
                  <a:pt x="5181600" y="34116"/>
                  <a:pt x="5181600" y="76199"/>
                </a:cubicBezTo>
                <a:lnTo>
                  <a:pt x="5181600" y="609601"/>
                </a:lnTo>
                <a:cubicBezTo>
                  <a:pt x="5181600" y="651684"/>
                  <a:pt x="5147484" y="685800"/>
                  <a:pt x="51054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alpha val="9000"/>
            </a:schemeClr>
          </a:solidFill>
        </p:spPr>
      </p:sp>
      <p:sp>
        <p:nvSpPr>
          <p:cNvPr id="11" name="Shape 9"/>
          <p:cNvSpPr/>
          <p:nvPr/>
        </p:nvSpPr>
        <p:spPr>
          <a:xfrm>
            <a:off x="600075" y="21812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/>
          </a:solidFill>
        </p:spPr>
      </p:sp>
      <p:sp>
        <p:nvSpPr>
          <p:cNvPr id="12" name="Text 10"/>
          <p:cNvSpPr/>
          <p:nvPr/>
        </p:nvSpPr>
        <p:spPr>
          <a:xfrm>
            <a:off x="733425" y="2295525"/>
            <a:ext cx="5000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用户输入</a:t>
            </a:r>
            <a:endParaRPr lang="en-US" sz="1050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3425" y="2524125"/>
            <a:ext cx="5010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"查一下上个月纯电车型的销量"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5788" y="2986088"/>
            <a:ext cx="5191125" cy="1371600"/>
          </a:xfrm>
          <a:custGeom>
            <a:avLst/>
            <a:gdLst/>
            <a:ahLst/>
            <a:cxnLst/>
            <a:rect l="l" t="t" r="r" b="b"/>
            <a:pathLst>
              <a:path w="5191125" h="1371600">
                <a:moveTo>
                  <a:pt x="76206" y="0"/>
                </a:moveTo>
                <a:lnTo>
                  <a:pt x="5114919" y="0"/>
                </a:lnTo>
                <a:cubicBezTo>
                  <a:pt x="5157006" y="0"/>
                  <a:pt x="5191125" y="34119"/>
                  <a:pt x="5191125" y="76206"/>
                </a:cubicBezTo>
                <a:lnTo>
                  <a:pt x="5191125" y="1295394"/>
                </a:lnTo>
                <a:cubicBezTo>
                  <a:pt x="5191125" y="1337481"/>
                  <a:pt x="5157006" y="1371600"/>
                  <a:pt x="5114919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noFill/>
          <a:ln w="12700">
            <a:solidFill>
              <a:srgbClr val="FB2C36">
                <a:alpha val="30196"/>
              </a:srgb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82181A">
                    <a:alpha val="20000"/>
                  </a:srgbClr>
                </a:solidFill>
              </a14:hiddenFill>
            </a:ext>
          </a:extLst>
        </p:spPr>
      </p:sp>
      <p:sp>
        <p:nvSpPr>
          <p:cNvPr id="15" name="Text 13"/>
          <p:cNvSpPr/>
          <p:nvPr/>
        </p:nvSpPr>
        <p:spPr>
          <a:xfrm>
            <a:off x="704850" y="3105150"/>
            <a:ext cx="50196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AI生成的错误SQL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04850" y="3371850"/>
            <a:ext cx="5019675" cy="866775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SELECT SUM(quantity)</a:t>
            </a:r>
            <a:endParaRPr 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MWGroupTN Condensed TT Light" charset="0"/>
            </a:endParaRPr>
          </a:p>
          <a:p>
            <a:pPr>
              <a:lnSpc>
                <a:spcPct val="14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FROM sales</a:t>
            </a:r>
            <a:endParaRPr 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MWGroupTN Condensed TT Light" charset="0"/>
            </a:endParaRPr>
          </a:p>
          <a:p>
            <a:pPr>
              <a:lnSpc>
                <a:spcPct val="14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WHERE type=</a:t>
            </a: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B2C36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'电动'</a:t>
            </a:r>
            <a:endParaRPr 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MWGroupTN Condensed TT Light" charset="0"/>
            </a:endParaRPr>
          </a:p>
          <a:p>
            <a:pPr>
              <a:lnSpc>
                <a:spcPct val="14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AND date &gt;= '2025-03-01'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1741" y="4507706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50006" y="25003"/>
                </a:moveTo>
                <a:cubicBezTo>
                  <a:pt x="50006" y="11199"/>
                  <a:pt x="61206" y="0"/>
                  <a:pt x="75009" y="0"/>
                </a:cubicBezTo>
                <a:cubicBezTo>
                  <a:pt x="88813" y="0"/>
                  <a:pt x="100013" y="11199"/>
                  <a:pt x="100013" y="25003"/>
                </a:cubicBezTo>
                <a:lnTo>
                  <a:pt x="100013" y="25941"/>
                </a:lnTo>
                <a:cubicBezTo>
                  <a:pt x="100013" y="30030"/>
                  <a:pt x="96705" y="33337"/>
                  <a:pt x="92616" y="33337"/>
                </a:cubicBezTo>
                <a:lnTo>
                  <a:pt x="57429" y="33337"/>
                </a:lnTo>
                <a:cubicBezTo>
                  <a:pt x="53340" y="33337"/>
                  <a:pt x="50032" y="30030"/>
                  <a:pt x="50032" y="25941"/>
                </a:cubicBezTo>
                <a:lnTo>
                  <a:pt x="50032" y="25003"/>
                </a:lnTo>
                <a:close/>
                <a:moveTo>
                  <a:pt x="140018" y="28337"/>
                </a:moveTo>
                <a:cubicBezTo>
                  <a:pt x="142778" y="32009"/>
                  <a:pt x="142023" y="37244"/>
                  <a:pt x="138351" y="40005"/>
                </a:cubicBezTo>
                <a:lnTo>
                  <a:pt x="112879" y="59096"/>
                </a:lnTo>
                <a:cubicBezTo>
                  <a:pt x="114259" y="61414"/>
                  <a:pt x="115301" y="63966"/>
                  <a:pt x="115952" y="66675"/>
                </a:cubicBezTo>
                <a:lnTo>
                  <a:pt x="141684" y="66675"/>
                </a:lnTo>
                <a:cubicBezTo>
                  <a:pt x="146294" y="66675"/>
                  <a:pt x="150019" y="70399"/>
                  <a:pt x="150019" y="75009"/>
                </a:cubicBezTo>
                <a:cubicBezTo>
                  <a:pt x="150019" y="79619"/>
                  <a:pt x="146294" y="83344"/>
                  <a:pt x="141684" y="83344"/>
                </a:cubicBezTo>
                <a:lnTo>
                  <a:pt x="116681" y="83344"/>
                </a:lnTo>
                <a:lnTo>
                  <a:pt x="116681" y="91678"/>
                </a:lnTo>
                <a:cubicBezTo>
                  <a:pt x="116681" y="92355"/>
                  <a:pt x="116655" y="93059"/>
                  <a:pt x="116629" y="93736"/>
                </a:cubicBezTo>
                <a:lnTo>
                  <a:pt x="138351" y="110014"/>
                </a:lnTo>
                <a:cubicBezTo>
                  <a:pt x="142023" y="112775"/>
                  <a:pt x="142778" y="118010"/>
                  <a:pt x="140018" y="121682"/>
                </a:cubicBezTo>
                <a:cubicBezTo>
                  <a:pt x="137257" y="125354"/>
                  <a:pt x="132022" y="126110"/>
                  <a:pt x="128349" y="123349"/>
                </a:cubicBezTo>
                <a:lnTo>
                  <a:pt x="111915" y="111030"/>
                </a:lnTo>
                <a:cubicBezTo>
                  <a:pt x="105873" y="122541"/>
                  <a:pt x="94595" y="130876"/>
                  <a:pt x="81260" y="132881"/>
                </a:cubicBezTo>
                <a:lnTo>
                  <a:pt x="81260" y="72926"/>
                </a:lnTo>
                <a:cubicBezTo>
                  <a:pt x="81260" y="69462"/>
                  <a:pt x="78473" y="66675"/>
                  <a:pt x="75009" y="66675"/>
                </a:cubicBezTo>
                <a:cubicBezTo>
                  <a:pt x="71545" y="66675"/>
                  <a:pt x="68759" y="69462"/>
                  <a:pt x="68759" y="72926"/>
                </a:cubicBezTo>
                <a:lnTo>
                  <a:pt x="68759" y="132881"/>
                </a:lnTo>
                <a:cubicBezTo>
                  <a:pt x="55424" y="130876"/>
                  <a:pt x="44146" y="122541"/>
                  <a:pt x="38104" y="111030"/>
                </a:cubicBezTo>
                <a:lnTo>
                  <a:pt x="21669" y="123349"/>
                </a:lnTo>
                <a:cubicBezTo>
                  <a:pt x="17997" y="126110"/>
                  <a:pt x="12762" y="125354"/>
                  <a:pt x="10001" y="121682"/>
                </a:cubicBezTo>
                <a:cubicBezTo>
                  <a:pt x="7240" y="118010"/>
                  <a:pt x="7996" y="112775"/>
                  <a:pt x="11668" y="110014"/>
                </a:cubicBezTo>
                <a:lnTo>
                  <a:pt x="33390" y="93736"/>
                </a:lnTo>
                <a:cubicBezTo>
                  <a:pt x="33364" y="93059"/>
                  <a:pt x="33338" y="92381"/>
                  <a:pt x="33338" y="91678"/>
                </a:cubicBezTo>
                <a:lnTo>
                  <a:pt x="33338" y="83344"/>
                </a:lnTo>
                <a:lnTo>
                  <a:pt x="8334" y="83344"/>
                </a:lnTo>
                <a:cubicBezTo>
                  <a:pt x="3724" y="83344"/>
                  <a:pt x="0" y="79619"/>
                  <a:pt x="0" y="75009"/>
                </a:cubicBezTo>
                <a:cubicBezTo>
                  <a:pt x="0" y="70399"/>
                  <a:pt x="3724" y="66675"/>
                  <a:pt x="8334" y="66675"/>
                </a:cubicBezTo>
                <a:lnTo>
                  <a:pt x="34067" y="66675"/>
                </a:lnTo>
                <a:cubicBezTo>
                  <a:pt x="34718" y="63966"/>
                  <a:pt x="35760" y="61414"/>
                  <a:pt x="37140" y="59096"/>
                </a:cubicBezTo>
                <a:lnTo>
                  <a:pt x="11668" y="40005"/>
                </a:lnTo>
                <a:cubicBezTo>
                  <a:pt x="7996" y="37244"/>
                  <a:pt x="7240" y="32009"/>
                  <a:pt x="10001" y="28337"/>
                </a:cubicBezTo>
                <a:cubicBezTo>
                  <a:pt x="12762" y="24665"/>
                  <a:pt x="17997" y="23909"/>
                  <a:pt x="21669" y="26670"/>
                </a:cubicBezTo>
                <a:lnTo>
                  <a:pt x="50006" y="47923"/>
                </a:lnTo>
                <a:cubicBezTo>
                  <a:pt x="53210" y="46594"/>
                  <a:pt x="56726" y="45839"/>
                  <a:pt x="60424" y="45839"/>
                </a:cubicBezTo>
                <a:lnTo>
                  <a:pt x="89595" y="45839"/>
                </a:lnTo>
                <a:cubicBezTo>
                  <a:pt x="93293" y="45839"/>
                  <a:pt x="96809" y="46568"/>
                  <a:pt x="100013" y="47923"/>
                </a:cubicBezTo>
                <a:lnTo>
                  <a:pt x="128349" y="26670"/>
                </a:lnTo>
                <a:cubicBezTo>
                  <a:pt x="132022" y="23909"/>
                  <a:pt x="137257" y="24665"/>
                  <a:pt x="140018" y="28337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8" name="Text 16"/>
          <p:cNvSpPr/>
          <p:nvPr/>
        </p:nvSpPr>
        <p:spPr>
          <a:xfrm>
            <a:off x="824230" y="4476750"/>
            <a:ext cx="304863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错误！数据库字段名是</a:t>
            </a:r>
            <a:r>
              <a:rPr lang="en-US" sz="1200" dirty="0">
                <a:solidFill>
                  <a:schemeClr val="tx1"/>
                </a:solidFill>
                <a:highlight>
                  <a:srgbClr val="FB2C36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fuel_type </a:t>
            </a:r>
            <a:r>
              <a:rPr lang="en-US" sz="12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，值是</a:t>
            </a:r>
            <a:r>
              <a:rPr lang="en-US" sz="1200" dirty="0">
                <a:solidFill>
                  <a:schemeClr val="tx1"/>
                </a:solidFill>
                <a:highlight>
                  <a:srgbClr val="FB2C36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BEV</a:t>
            </a:r>
            <a:endParaRPr lang="en-US" sz="1200" dirty="0">
              <a:solidFill>
                <a:schemeClr val="tx1"/>
              </a:solidFill>
              <a:highlight>
                <a:srgbClr val="FB2C36">
                  <a:alpha val="20000"/>
                </a:srgbClr>
              </a:highligh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85763" y="5738813"/>
            <a:ext cx="5591175" cy="733425"/>
          </a:xfrm>
          <a:custGeom>
            <a:avLst/>
            <a:gdLst/>
            <a:ahLst/>
            <a:cxnLst/>
            <a:rect l="l" t="t" r="r" b="b"/>
            <a:pathLst>
              <a:path w="5591175" h="733425">
                <a:moveTo>
                  <a:pt x="114297" y="0"/>
                </a:moveTo>
                <a:lnTo>
                  <a:pt x="5476878" y="0"/>
                </a:lnTo>
                <a:cubicBezTo>
                  <a:pt x="5540003" y="0"/>
                  <a:pt x="5591175" y="51172"/>
                  <a:pt x="5591175" y="114297"/>
                </a:cubicBezTo>
                <a:lnTo>
                  <a:pt x="5591175" y="619128"/>
                </a:lnTo>
                <a:cubicBezTo>
                  <a:pt x="5591175" y="682253"/>
                  <a:pt x="5540003" y="733425"/>
                  <a:pt x="5476878" y="733425"/>
                </a:cubicBezTo>
                <a:lnTo>
                  <a:pt x="114297" y="733425"/>
                </a:lnTo>
                <a:cubicBezTo>
                  <a:pt x="51172" y="733425"/>
                  <a:pt x="0" y="682253"/>
                  <a:pt x="0" y="619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noFill/>
          <a:ln w="12700">
            <a:solidFill>
              <a:srgbClr val="FB2C36">
                <a:alpha val="3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1025" y="5949950"/>
            <a:ext cx="160655" cy="34671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FF6467"/>
          </a:solidFill>
        </p:spPr>
      </p:sp>
      <p:sp>
        <p:nvSpPr>
          <p:cNvPr id="21" name="Text 19"/>
          <p:cNvSpPr/>
          <p:nvPr/>
        </p:nvSpPr>
        <p:spPr>
          <a:xfrm>
            <a:off x="895350" y="5895975"/>
            <a:ext cx="2962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结果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95350" y="6124575"/>
            <a:ext cx="342265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要么报错，要么返回0，要么返回一个离谱的数字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15380" y="1448435"/>
            <a:ext cx="5591175" cy="4116070"/>
          </a:xfrm>
          <a:custGeom>
            <a:avLst/>
            <a:gdLst/>
            <a:ahLst/>
            <a:cxnLst/>
            <a:rect l="l" t="t" r="r" b="b"/>
            <a:pathLst>
              <a:path w="5591175" h="4314825">
                <a:moveTo>
                  <a:pt x="152400" y="0"/>
                </a:moveTo>
                <a:lnTo>
                  <a:pt x="5438775" y="0"/>
                </a:lnTo>
                <a:cubicBezTo>
                  <a:pt x="5522943" y="0"/>
                  <a:pt x="5591175" y="68232"/>
                  <a:pt x="5591175" y="152400"/>
                </a:cubicBezTo>
                <a:lnTo>
                  <a:pt x="5591175" y="4162425"/>
                </a:lnTo>
                <a:cubicBezTo>
                  <a:pt x="5591175" y="4246593"/>
                  <a:pt x="5522943" y="4314825"/>
                  <a:pt x="5438775" y="4314825"/>
                </a:cubicBezTo>
                <a:lnTo>
                  <a:pt x="152400" y="4314825"/>
                </a:lnTo>
                <a:cubicBezTo>
                  <a:pt x="68232" y="4314825"/>
                  <a:pt x="0" y="4246593"/>
                  <a:pt x="0" y="41624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ln>
            <a:solidFill>
              <a:schemeClr val="accent2">
                <a:alpha val="37000"/>
              </a:schemeClr>
            </a:solidFill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" name="Shape 22"/>
          <p:cNvSpPr/>
          <p:nvPr/>
        </p:nvSpPr>
        <p:spPr>
          <a:xfrm>
            <a:off x="6410325" y="1647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9E0">
              <a:alpha val="20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6505575" y="1743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26" name="Text 24"/>
          <p:cNvSpPr/>
          <p:nvPr/>
        </p:nvSpPr>
        <p:spPr>
          <a:xfrm>
            <a:off x="6905625" y="1704975"/>
            <a:ext cx="2238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核心痛点：AI不懂宝马"黑话"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15088" y="2185988"/>
            <a:ext cx="5191125" cy="1266825"/>
          </a:xfrm>
          <a:custGeom>
            <a:avLst/>
            <a:gdLst/>
            <a:ahLst/>
            <a:cxnLst/>
            <a:rect l="l" t="t" r="r" b="b"/>
            <a:pathLst>
              <a:path w="5191125" h="1266825">
                <a:moveTo>
                  <a:pt x="114306" y="0"/>
                </a:moveTo>
                <a:lnTo>
                  <a:pt x="5076819" y="0"/>
                </a:lnTo>
                <a:cubicBezTo>
                  <a:pt x="5139949" y="0"/>
                  <a:pt x="5191125" y="51176"/>
                  <a:pt x="5191125" y="114306"/>
                </a:cubicBezTo>
                <a:lnTo>
                  <a:pt x="5191125" y="1152519"/>
                </a:lnTo>
                <a:cubicBezTo>
                  <a:pt x="5191125" y="1215649"/>
                  <a:pt x="5139949" y="1266825"/>
                  <a:pt x="507681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chemeClr val="tx1">
              <a:alpha val="11000"/>
            </a:scheme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72250" y="23812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45C">
              <a:alpha val="2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6698382" y="2438400"/>
            <a:ext cx="123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91350" y="2343150"/>
            <a:ext cx="2105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什么叫"纯电车型"？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91350" y="264795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i3、i4、iX、i5、i7算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991350" y="287655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i8</a:t>
            </a:r>
            <a:r>
              <a:rPr lang="en-US" sz="1050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算不算？</a:t>
            </a: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（已停产，需排除）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991350" y="310515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530Le</a:t>
            </a:r>
            <a:r>
              <a:rPr lang="en-US" sz="1050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算不算？</a:t>
            </a: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（插混，不算）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415088" y="3614738"/>
            <a:ext cx="5191125" cy="1266825"/>
          </a:xfrm>
          <a:custGeom>
            <a:avLst/>
            <a:gdLst/>
            <a:ahLst/>
            <a:cxnLst/>
            <a:rect l="l" t="t" r="r" b="b"/>
            <a:pathLst>
              <a:path w="5191125" h="1266825">
                <a:moveTo>
                  <a:pt x="114306" y="0"/>
                </a:moveTo>
                <a:lnTo>
                  <a:pt x="5076819" y="0"/>
                </a:lnTo>
                <a:cubicBezTo>
                  <a:pt x="5139949" y="0"/>
                  <a:pt x="5191125" y="51176"/>
                  <a:pt x="5191125" y="114306"/>
                </a:cubicBezTo>
                <a:lnTo>
                  <a:pt x="5191125" y="1152519"/>
                </a:lnTo>
                <a:cubicBezTo>
                  <a:pt x="5191125" y="1215649"/>
                  <a:pt x="5139949" y="1266825"/>
                  <a:pt x="507681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72250" y="381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45C">
              <a:alpha val="2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6687145" y="386715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2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991350" y="3771900"/>
            <a:ext cx="1847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什么叫"华东区"？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991350" y="4076700"/>
            <a:ext cx="1838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上海、江苏、浙江、安徽</a:t>
            </a:r>
            <a:r>
              <a:rPr lang="en-US" sz="1050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991350" y="4305300"/>
            <a:ext cx="1838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山东</a:t>
            </a:r>
            <a:r>
              <a:rPr lang="en-US" sz="1050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算华东还是华北？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991350" y="4533900"/>
            <a:ext cx="1838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福建</a:t>
            </a:r>
            <a:r>
              <a:rPr lang="en-US" sz="1050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算华东还是华南？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15380" y="5734050"/>
            <a:ext cx="5591175" cy="733425"/>
          </a:xfrm>
          <a:custGeom>
            <a:avLst/>
            <a:gdLst/>
            <a:ahLst/>
            <a:cxnLst/>
            <a:rect l="l" t="t" r="r" b="b"/>
            <a:pathLst>
              <a:path w="5591175" h="542925">
                <a:moveTo>
                  <a:pt x="114302" y="0"/>
                </a:moveTo>
                <a:lnTo>
                  <a:pt x="5476873" y="0"/>
                </a:lnTo>
                <a:cubicBezTo>
                  <a:pt x="5540000" y="0"/>
                  <a:pt x="5591175" y="51175"/>
                  <a:pt x="5591175" y="114302"/>
                </a:cubicBezTo>
                <a:lnTo>
                  <a:pt x="5591175" y="428623"/>
                </a:lnTo>
                <a:cubicBezTo>
                  <a:pt x="5591175" y="491750"/>
                  <a:pt x="5540000" y="542925"/>
                  <a:pt x="54768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ln>
            <a:solidFill>
              <a:schemeClr val="accent1">
                <a:alpha val="37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2" name="Shape 40"/>
          <p:cNvSpPr>
            <a:spLocks noChangeAspect="1"/>
          </p:cNvSpPr>
          <p:nvPr/>
        </p:nvSpPr>
        <p:spPr>
          <a:xfrm>
            <a:off x="6419850" y="61055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43" name="Text 41"/>
          <p:cNvSpPr/>
          <p:nvPr/>
        </p:nvSpPr>
        <p:spPr>
          <a:xfrm>
            <a:off x="6724650" y="6086475"/>
            <a:ext cx="2800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解决方案：</a:t>
            </a: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给AI一本</a:t>
            </a:r>
            <a:r>
              <a:rPr lang="en-US" sz="1200" b="1" dirty="0">
                <a:solidFill>
                  <a:srgbClr val="C8A45C"/>
                </a:solidFill>
                <a:highlight>
                  <a:srgbClr val="C8A45C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《宝马数据词典》</a:t>
            </a:r>
            <a:endParaRPr lang="en-US" sz="1600" dirty="0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创建知识库</a:t>
            </a:r>
            <a:r>
              <a:rPr lang="en-US" altLang="zh-CN"/>
              <a:t>——</a:t>
            </a:r>
            <a:r>
              <a:rPr lang="zh-CN" altLang="en-US"/>
              <a:t>《销售指标口径定义》</a:t>
            </a:r>
            <a:endParaRPr lang="zh-CN" altLang="en-US"/>
          </a:p>
        </p:txBody>
      </p:sp>
      <p:sp>
        <p:nvSpPr>
          <p:cNvPr id="2" name="Shape 4"/>
          <p:cNvSpPr/>
          <p:nvPr/>
        </p:nvSpPr>
        <p:spPr>
          <a:xfrm>
            <a:off x="385763" y="1452563"/>
            <a:ext cx="4448175" cy="2990850"/>
          </a:xfrm>
          <a:custGeom>
            <a:avLst/>
            <a:gdLst/>
            <a:ahLst/>
            <a:cxnLst/>
            <a:rect l="l" t="t" r="r" b="b"/>
            <a:pathLst>
              <a:path w="4448175" h="2990850">
                <a:moveTo>
                  <a:pt x="152414" y="0"/>
                </a:moveTo>
                <a:lnTo>
                  <a:pt x="4295761" y="0"/>
                </a:lnTo>
                <a:cubicBezTo>
                  <a:pt x="4379937" y="0"/>
                  <a:pt x="4448175" y="68238"/>
                  <a:pt x="4448175" y="152414"/>
                </a:cubicBezTo>
                <a:lnTo>
                  <a:pt x="4448175" y="2838436"/>
                </a:lnTo>
                <a:cubicBezTo>
                  <a:pt x="4448175" y="2922612"/>
                  <a:pt x="4379937" y="2990850"/>
                  <a:pt x="4295761" y="2990850"/>
                </a:cubicBezTo>
                <a:lnTo>
                  <a:pt x="152414" y="2990850"/>
                </a:lnTo>
                <a:cubicBezTo>
                  <a:pt x="68238" y="2990850"/>
                  <a:pt x="0" y="2922612"/>
                  <a:pt x="0" y="2838436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8000"/>
                </a:schemeClr>
              </a:gs>
              <a:gs pos="100000">
                <a:schemeClr val="tx2">
                  <a:alpha val="17000"/>
                </a:schemeClr>
              </a:gs>
            </a:gsLst>
            <a:lin ang="2700000" scaled="1"/>
          </a:gradFill>
          <a:ln w="12700">
            <a:noFill/>
            <a:prstDash val="solid"/>
          </a:ln>
        </p:spPr>
      </p:sp>
      <p:sp>
        <p:nvSpPr>
          <p:cNvPr id="3" name="Text 5"/>
          <p:cNvSpPr/>
          <p:nvPr/>
        </p:nvSpPr>
        <p:spPr>
          <a:xfrm>
            <a:off x="581025" y="1647825"/>
            <a:ext cx="414337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操作步骤</a:t>
            </a:r>
            <a:endParaRPr lang="en-US" sz="135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" name="Shape 6"/>
          <p:cNvSpPr/>
          <p:nvPr/>
        </p:nvSpPr>
        <p:spPr>
          <a:xfrm>
            <a:off x="581025" y="20669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9E0">
              <a:alpha val="20000"/>
            </a:srgbClr>
          </a:solidFill>
        </p:spPr>
      </p:sp>
      <p:sp>
        <p:nvSpPr>
          <p:cNvPr id="5" name="Text 7"/>
          <p:cNvSpPr/>
          <p:nvPr/>
        </p:nvSpPr>
        <p:spPr>
          <a:xfrm>
            <a:off x="707157" y="2124075"/>
            <a:ext cx="123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</a:t>
            </a:r>
            <a:endParaRPr lang="en-US" sz="1050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4" name="Text 8"/>
          <p:cNvSpPr/>
          <p:nvPr/>
        </p:nvSpPr>
        <p:spPr>
          <a:xfrm>
            <a:off x="1019175" y="1997075"/>
            <a:ext cx="2159000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进入知识库模块</a:t>
            </a:r>
            <a:endParaRPr 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5" name="Text 9"/>
          <p:cNvSpPr/>
          <p:nvPr/>
        </p:nvSpPr>
        <p:spPr>
          <a:xfrm>
            <a:off x="1019175" y="2225675"/>
            <a:ext cx="2140585" cy="22225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Dify → 知识库</a:t>
            </a:r>
            <a:endParaRPr lang="en-US" sz="1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6" name="Shape 10"/>
          <p:cNvSpPr/>
          <p:nvPr/>
        </p:nvSpPr>
        <p:spPr>
          <a:xfrm>
            <a:off x="581025" y="26003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9E0">
              <a:alpha val="20000"/>
            </a:srgbClr>
          </a:solidFill>
        </p:spPr>
      </p:sp>
      <p:sp>
        <p:nvSpPr>
          <p:cNvPr id="47" name="Text 11"/>
          <p:cNvSpPr/>
          <p:nvPr/>
        </p:nvSpPr>
        <p:spPr>
          <a:xfrm>
            <a:off x="695920" y="2657475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2</a:t>
            </a:r>
            <a:endParaRPr lang="en-US" sz="1050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1019175" y="2530475"/>
            <a:ext cx="266255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创建知识库</a:t>
            </a:r>
            <a:endParaRPr 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1019175" y="2759075"/>
            <a:ext cx="2644775" cy="22225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名称：宝马销售口径库</a:t>
            </a:r>
            <a:endParaRPr lang="en-US" sz="1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0" name="Shape 14"/>
          <p:cNvSpPr/>
          <p:nvPr/>
        </p:nvSpPr>
        <p:spPr>
          <a:xfrm>
            <a:off x="581025" y="3133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9E0">
              <a:alpha val="20000"/>
            </a:srgbClr>
          </a:solidFill>
        </p:spPr>
      </p:sp>
      <p:sp>
        <p:nvSpPr>
          <p:cNvPr id="52" name="Text 15"/>
          <p:cNvSpPr/>
          <p:nvPr/>
        </p:nvSpPr>
        <p:spPr>
          <a:xfrm>
            <a:off x="694209" y="3190875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3</a:t>
            </a:r>
            <a:endParaRPr lang="en-US" sz="1050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1019175" y="3063875"/>
            <a:ext cx="181673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添加文档</a:t>
            </a:r>
            <a:endParaRPr 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4" name="Text 17"/>
          <p:cNvSpPr/>
          <p:nvPr/>
        </p:nvSpPr>
        <p:spPr>
          <a:xfrm>
            <a:off x="1019175" y="3292475"/>
            <a:ext cx="1798955" cy="22225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选择"新建文本"</a:t>
            </a:r>
            <a:endParaRPr lang="en-US" sz="1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5" name="Shape 18"/>
          <p:cNvSpPr/>
          <p:nvPr/>
        </p:nvSpPr>
        <p:spPr>
          <a:xfrm>
            <a:off x="385763" y="4600575"/>
            <a:ext cx="4448175" cy="1171575"/>
          </a:xfrm>
          <a:custGeom>
            <a:avLst/>
            <a:gdLst/>
            <a:ahLst/>
            <a:cxnLst/>
            <a:rect l="l" t="t" r="r" b="b"/>
            <a:pathLst>
              <a:path w="4448175" h="1171575">
                <a:moveTo>
                  <a:pt x="152398" y="0"/>
                </a:moveTo>
                <a:lnTo>
                  <a:pt x="4295777" y="0"/>
                </a:lnTo>
                <a:cubicBezTo>
                  <a:pt x="4379944" y="0"/>
                  <a:pt x="4448175" y="68231"/>
                  <a:pt x="4448175" y="152398"/>
                </a:cubicBezTo>
                <a:lnTo>
                  <a:pt x="4448175" y="1019177"/>
                </a:lnTo>
                <a:cubicBezTo>
                  <a:pt x="4448175" y="1103344"/>
                  <a:pt x="4379944" y="1171575"/>
                  <a:pt x="4295777" y="1171575"/>
                </a:cubicBezTo>
                <a:lnTo>
                  <a:pt x="152398" y="1171575"/>
                </a:lnTo>
                <a:cubicBezTo>
                  <a:pt x="68231" y="1171575"/>
                  <a:pt x="0" y="1103344"/>
                  <a:pt x="0" y="10191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rgbClr val="1A1D21">
                  <a:alpha val="35000"/>
                </a:srgbClr>
              </a:gs>
            </a:gsLst>
            <a:lin ang="2700000" scaled="1"/>
          </a:gradFill>
          <a:ln w="12700">
            <a:noFill/>
            <a:prstDash val="solid"/>
          </a:ln>
        </p:spPr>
      </p:sp>
      <p:sp>
        <p:nvSpPr>
          <p:cNvPr id="56" name="Shape 19"/>
          <p:cNvSpPr/>
          <p:nvPr/>
        </p:nvSpPr>
        <p:spPr>
          <a:xfrm>
            <a:off x="592931" y="481488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C8A45C"/>
          </a:solidFill>
        </p:spPr>
      </p:sp>
      <p:sp>
        <p:nvSpPr>
          <p:cNvPr id="57" name="Text 20"/>
          <p:cNvSpPr/>
          <p:nvPr/>
        </p:nvSpPr>
        <p:spPr>
          <a:xfrm>
            <a:off x="933450" y="4795838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关键提示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8" name="Text 21"/>
          <p:cNvSpPr/>
          <p:nvPr/>
        </p:nvSpPr>
        <p:spPr>
          <a:xfrm>
            <a:off x="581025" y="5138738"/>
            <a:ext cx="4124325" cy="43815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用最朴素的人话把定义写清楚，AI会自动理解。不需要任何格式技巧！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9" name="Shape 22"/>
          <p:cNvSpPr/>
          <p:nvPr/>
        </p:nvSpPr>
        <p:spPr>
          <a:xfrm>
            <a:off x="5033963" y="1452563"/>
            <a:ext cx="6772275" cy="4314825"/>
          </a:xfrm>
          <a:custGeom>
            <a:avLst/>
            <a:gdLst/>
            <a:ahLst/>
            <a:cxnLst/>
            <a:rect l="l" t="t" r="r" b="b"/>
            <a:pathLst>
              <a:path w="6772275" h="4314825">
                <a:moveTo>
                  <a:pt x="152400" y="0"/>
                </a:moveTo>
                <a:lnTo>
                  <a:pt x="6619875" y="0"/>
                </a:lnTo>
                <a:cubicBezTo>
                  <a:pt x="6704043" y="0"/>
                  <a:pt x="6772275" y="68232"/>
                  <a:pt x="6772275" y="152400"/>
                </a:cubicBezTo>
                <a:lnTo>
                  <a:pt x="6772275" y="4162425"/>
                </a:lnTo>
                <a:cubicBezTo>
                  <a:pt x="6772275" y="4246593"/>
                  <a:pt x="6704043" y="4314825"/>
                  <a:pt x="6619875" y="4314825"/>
                </a:cubicBezTo>
                <a:lnTo>
                  <a:pt x="152400" y="4314825"/>
                </a:lnTo>
                <a:cubicBezTo>
                  <a:pt x="68232" y="4314825"/>
                  <a:pt x="0" y="4246593"/>
                  <a:pt x="0" y="41624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60" name="Shape 23"/>
          <p:cNvSpPr/>
          <p:nvPr/>
        </p:nvSpPr>
        <p:spPr>
          <a:xfrm>
            <a:off x="5038725" y="1457325"/>
            <a:ext cx="6762750" cy="419100"/>
          </a:xfrm>
          <a:custGeom>
            <a:avLst/>
            <a:gdLst/>
            <a:ahLst/>
            <a:cxnLst/>
            <a:rect l="l" t="t" r="r" b="b"/>
            <a:pathLst>
              <a:path w="6762750" h="419100">
                <a:moveTo>
                  <a:pt x="0" y="0"/>
                </a:moveTo>
                <a:lnTo>
                  <a:pt x="6762750" y="0"/>
                </a:lnTo>
                <a:lnTo>
                  <a:pt x="67627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4A4E54">
              <a:alpha val="30196"/>
            </a:srgbClr>
          </a:solidFill>
        </p:spPr>
      </p:sp>
      <p:sp>
        <p:nvSpPr>
          <p:cNvPr id="61" name="Shape 24"/>
          <p:cNvSpPr/>
          <p:nvPr/>
        </p:nvSpPr>
        <p:spPr>
          <a:xfrm>
            <a:off x="5229225" y="16097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B2C36">
              <a:alpha val="60000"/>
            </a:srgbClr>
          </a:solidFill>
        </p:spPr>
      </p:sp>
      <p:sp>
        <p:nvSpPr>
          <p:cNvPr id="62" name="Shape 25"/>
          <p:cNvSpPr/>
          <p:nvPr/>
        </p:nvSpPr>
        <p:spPr>
          <a:xfrm>
            <a:off x="5419725" y="16097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0B100">
              <a:alpha val="60000"/>
            </a:srgbClr>
          </a:solidFill>
        </p:spPr>
      </p:sp>
      <p:sp>
        <p:nvSpPr>
          <p:cNvPr id="63" name="Shape 26"/>
          <p:cNvSpPr/>
          <p:nvPr/>
        </p:nvSpPr>
        <p:spPr>
          <a:xfrm>
            <a:off x="5610225" y="16097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C950">
              <a:alpha val="60000"/>
            </a:srgbClr>
          </a:solidFill>
        </p:spPr>
      </p:sp>
      <p:sp>
        <p:nvSpPr>
          <p:cNvPr id="64" name="Text 27"/>
          <p:cNvSpPr/>
          <p:nvPr/>
        </p:nvSpPr>
        <p:spPr>
          <a:xfrm>
            <a:off x="5838825" y="1571625"/>
            <a:ext cx="1800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>
                    <a:alpha val="60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宝马销售指标口径定义 V1.0</a:t>
            </a:r>
            <a:endParaRPr lang="en-US" sz="1050" dirty="0">
              <a:solidFill>
                <a:schemeClr val="accent1">
                  <a:alpha val="60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5" name="Text 28"/>
          <p:cNvSpPr/>
          <p:nvPr/>
        </p:nvSpPr>
        <p:spPr>
          <a:xfrm>
            <a:off x="5229225" y="2066925"/>
            <a:ext cx="6448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# 1. 纯电车型</a:t>
            </a:r>
            <a:endParaRPr lang="en-US" sz="14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6" name="Text 29"/>
          <p:cNvSpPr/>
          <p:nvPr/>
        </p:nvSpPr>
        <p:spPr>
          <a:xfrm>
            <a:off x="5229225" y="2333625"/>
            <a:ext cx="6448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包含型号：i3, i4, iX3, iX, i5, i7</a:t>
            </a:r>
            <a:endParaRPr lang="en-US" sz="14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7" name="Text 30"/>
          <p:cNvSpPr/>
          <p:nvPr/>
        </p:nvSpPr>
        <p:spPr>
          <a:xfrm>
            <a:off x="5229225" y="2524125"/>
            <a:ext cx="6448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不含：i8（已停产）、插电混动车型（如530Le）</a:t>
            </a:r>
            <a:endParaRPr lang="en-US" sz="14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8" name="Text 31"/>
          <p:cNvSpPr/>
          <p:nvPr/>
        </p:nvSpPr>
        <p:spPr>
          <a:xfrm>
            <a:off x="5229225" y="2867025"/>
            <a:ext cx="6448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# 2. 华东区</a:t>
            </a:r>
            <a:endParaRPr lang="en-US" sz="14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9" name="Text 32"/>
          <p:cNvSpPr/>
          <p:nvPr/>
        </p:nvSpPr>
        <p:spPr>
          <a:xfrm>
            <a:off x="5229225" y="3133725"/>
            <a:ext cx="6448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包含省份：上海市、江苏省、浙江省、安徽省</a:t>
            </a:r>
            <a:endParaRPr lang="en-US" sz="14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0" name="Text 33"/>
          <p:cNvSpPr/>
          <p:nvPr/>
        </p:nvSpPr>
        <p:spPr>
          <a:xfrm>
            <a:off x="5229225" y="3476625"/>
            <a:ext cx="6448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# 3. 销量定义</a:t>
            </a:r>
            <a:endParaRPr lang="en-US" sz="14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1" name="Text 34"/>
          <p:cNvSpPr/>
          <p:nvPr/>
        </p:nvSpPr>
        <p:spPr>
          <a:xfrm>
            <a:off x="5229225" y="3743325"/>
            <a:ext cx="6448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指终端零售销量（发票已开），不含批发给经销商的库存转移</a:t>
            </a:r>
            <a:endParaRPr lang="en-US" sz="14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2" name="Text 35"/>
          <p:cNvSpPr/>
          <p:nvPr/>
        </p:nvSpPr>
        <p:spPr>
          <a:xfrm>
            <a:off x="5229225" y="4086225"/>
            <a:ext cx="6448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# 4. 高性能车型（M车型）</a:t>
            </a:r>
            <a:endParaRPr lang="en-US" sz="140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3" name="Text 36"/>
          <p:cNvSpPr/>
          <p:nvPr/>
        </p:nvSpPr>
        <p:spPr>
          <a:xfrm>
            <a:off x="5229225" y="4352925"/>
            <a:ext cx="6448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包含：M2, M3, M4, M5, M8, XM, X3 M, X4 M, X5 M, X6 M</a:t>
            </a:r>
            <a:endParaRPr lang="en-US" sz="14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4" name="Shape 37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ln>
            <a:solidFill>
              <a:schemeClr val="accent1">
                <a:alpha val="49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5" name="Shape 38"/>
          <p:cNvSpPr/>
          <p:nvPr/>
        </p:nvSpPr>
        <p:spPr>
          <a:xfrm>
            <a:off x="566738" y="6105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00A9E0"/>
          </a:solidFill>
        </p:spPr>
      </p:sp>
      <p:sp>
        <p:nvSpPr>
          <p:cNvPr id="76" name="Text 39"/>
          <p:cNvSpPr/>
          <p:nvPr/>
        </p:nvSpPr>
        <p:spPr>
          <a:xfrm>
            <a:off x="933450" y="6086475"/>
            <a:ext cx="3971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写完保存，AI就有了</a:t>
            </a:r>
            <a:r>
              <a:rPr lang="en-US" sz="1200" b="1" dirty="0">
                <a:solidFill>
                  <a:srgbClr val="C8A45C"/>
                </a:solidFill>
                <a:highlight>
                  <a:srgbClr val="C8A45C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"内部常识" </a:t>
            </a:r>
            <a:r>
              <a:rPr lang="en-US" sz="12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，再也不怕口径问题了！</a:t>
            </a:r>
            <a:endParaRPr lang="en-US" sz="1600" dirty="0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43" name="Shape 12"/>
          <p:cNvSpPr/>
          <p:nvPr/>
        </p:nvSpPr>
        <p:spPr>
          <a:xfrm>
            <a:off x="2131060" y="2038350"/>
            <a:ext cx="7929245" cy="2781300"/>
          </a:xfrm>
          <a:prstGeom prst="roundRect">
            <a:avLst>
              <a:gd name="adj" fmla="val 6043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13"/>
          <p:cNvSpPr/>
          <p:nvPr/>
        </p:nvSpPr>
        <p:spPr>
          <a:xfrm>
            <a:off x="2131695" y="2038350"/>
            <a:ext cx="7880985" cy="27971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BMWGroupTN Condensed TT" charset="0"/>
                <a:cs typeface="BMWGroupTN Condensed TT" charset="0"/>
                <a:sym typeface="+mn-ea"/>
              </a:rPr>
              <a:t>使用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BMWGroupTN Condensed TT" charset="0"/>
                <a:cs typeface="BMWGroupTN Condensed TT" charset="0"/>
                <a:sym typeface="+mn-ea"/>
              </a:rPr>
              <a:t>Dify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创建《销售指标口径定义》</a:t>
            </a:r>
            <a:endParaRPr lang="zh-CN" altLang="en-US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" charset="0"/>
              <a:ea typeface="宋体" panose="02010600030101010101" pitchFamily="2" charset="-122"/>
              <a:cs typeface="BMWGroupTN Condensed TT" charset="0"/>
              <a:sym typeface="+mn-ea"/>
            </a:endParaRPr>
          </a:p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知识库文档</a:t>
            </a:r>
            <a:endParaRPr lang="zh-CN" altLang="en-US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" charset="0"/>
              <a:ea typeface="宋体" panose="02010600030101010101" pitchFamily="2" charset="-122"/>
              <a:cs typeface="BMWGroupTN Condensed TT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创建知识库</a:t>
            </a:r>
            <a:r>
              <a:rPr lang="en-US" altLang="zh-CN"/>
              <a:t>——</a:t>
            </a:r>
            <a:r>
              <a:rPr lang="zh-CN" altLang="en-US"/>
              <a:t>《数据库表结构说明》</a:t>
            </a:r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85763" y="1452563"/>
            <a:ext cx="8181975" cy="5019675"/>
          </a:xfrm>
          <a:custGeom>
            <a:avLst/>
            <a:gdLst/>
            <a:ahLst/>
            <a:cxnLst/>
            <a:rect l="l" t="t" r="r" b="b"/>
            <a:pathLst>
              <a:path w="8181975" h="5019675">
                <a:moveTo>
                  <a:pt x="152397" y="0"/>
                </a:moveTo>
                <a:lnTo>
                  <a:pt x="8029578" y="0"/>
                </a:lnTo>
                <a:cubicBezTo>
                  <a:pt x="8113744" y="0"/>
                  <a:pt x="8181975" y="68231"/>
                  <a:pt x="8181975" y="152397"/>
                </a:cubicBezTo>
                <a:lnTo>
                  <a:pt x="8181975" y="4867278"/>
                </a:lnTo>
                <a:cubicBezTo>
                  <a:pt x="8181975" y="4951444"/>
                  <a:pt x="8113744" y="5019675"/>
                  <a:pt x="8029578" y="5019675"/>
                </a:cubicBezTo>
                <a:lnTo>
                  <a:pt x="152397" y="5019675"/>
                </a:lnTo>
                <a:cubicBezTo>
                  <a:pt x="68231" y="5019675"/>
                  <a:pt x="0" y="4951444"/>
                  <a:pt x="0" y="486727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0525" y="1457325"/>
            <a:ext cx="8172450" cy="419100"/>
          </a:xfrm>
          <a:custGeom>
            <a:avLst/>
            <a:gdLst/>
            <a:ahLst/>
            <a:cxnLst/>
            <a:rect l="l" t="t" r="r" b="b"/>
            <a:pathLst>
              <a:path w="8172450" h="419100">
                <a:moveTo>
                  <a:pt x="0" y="0"/>
                </a:moveTo>
                <a:lnTo>
                  <a:pt x="8172450" y="0"/>
                </a:lnTo>
                <a:lnTo>
                  <a:pt x="81724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4A4E54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581025" y="16097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B2C36">
              <a:alpha val="6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71525" y="16097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0B100">
              <a:alpha val="6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962025" y="16097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C950">
              <a:alpha val="6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1190625" y="1571625"/>
            <a:ext cx="35591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销售数据库表结构说明（简版）</a:t>
            </a:r>
            <a:endParaRPr lang="en-US" sz="1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81025" y="2066925"/>
            <a:ext cx="78581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# 数据库名：bmw_sales</a:t>
            </a:r>
            <a:endParaRPr lang="en-US" sz="105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81025" y="2447925"/>
            <a:ext cx="785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## 核心表1：sales_order （销售订单表）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3425" y="2714625"/>
            <a:ext cx="77057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dealer_id：经销商ID（关联dealer_info表的id）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3425" y="2943225"/>
            <a:ext cx="77057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model_code：车型代码（如'G28 BEV'代表i3）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3425" y="3171825"/>
            <a:ext cx="77057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sale_date：销售日期（格式YYYY-MM-DD）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3425" y="3400425"/>
            <a:ext cx="77057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quantity：销售数量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1025" y="3781425"/>
            <a:ext cx="785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## 核心表2：dealer_info （经销商信息表）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3425" y="4048125"/>
            <a:ext cx="77057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id：经销商ID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3425" y="4276725"/>
            <a:ext cx="77057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dealer_name：经销商名称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3425" y="4505325"/>
            <a:ext cx="77057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province：省份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3425" y="4733925"/>
            <a:ext cx="77057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 city：城市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5788" y="5119688"/>
            <a:ext cx="7781925" cy="428625"/>
          </a:xfrm>
          <a:custGeom>
            <a:avLst/>
            <a:gdLst/>
            <a:ahLst/>
            <a:cxnLst/>
            <a:rect l="l" t="t" r="r" b="b"/>
            <a:pathLst>
              <a:path w="7781925" h="428625">
                <a:moveTo>
                  <a:pt x="76201" y="0"/>
                </a:moveTo>
                <a:lnTo>
                  <a:pt x="7705724" y="0"/>
                </a:lnTo>
                <a:cubicBezTo>
                  <a:pt x="7747809" y="0"/>
                  <a:pt x="7781925" y="34116"/>
                  <a:pt x="7781925" y="76201"/>
                </a:cubicBezTo>
                <a:lnTo>
                  <a:pt x="7781925" y="352424"/>
                </a:lnTo>
                <a:cubicBezTo>
                  <a:pt x="7781925" y="394509"/>
                  <a:pt x="7747809" y="428625"/>
                  <a:pt x="770572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ln>
            <a:solidFill>
              <a:schemeClr val="accent1">
                <a:alpha val="44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" name="Text 22"/>
          <p:cNvSpPr/>
          <p:nvPr/>
        </p:nvSpPr>
        <p:spPr>
          <a:xfrm>
            <a:off x="704850" y="5238750"/>
            <a:ext cx="76104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注意：车型代码与车型名称的映射关系需参考《车型代码映射表》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767763" y="1452563"/>
            <a:ext cx="3038475" cy="2771775"/>
          </a:xfrm>
          <a:custGeom>
            <a:avLst/>
            <a:gdLst/>
            <a:ahLst/>
            <a:cxnLst/>
            <a:rect l="l" t="t" r="r" b="b"/>
            <a:pathLst>
              <a:path w="3038475" h="2771775">
                <a:moveTo>
                  <a:pt x="152392" y="0"/>
                </a:moveTo>
                <a:lnTo>
                  <a:pt x="2886083" y="0"/>
                </a:lnTo>
                <a:cubicBezTo>
                  <a:pt x="2970247" y="0"/>
                  <a:pt x="3038475" y="68228"/>
                  <a:pt x="3038475" y="152392"/>
                </a:cubicBezTo>
                <a:lnTo>
                  <a:pt x="3038475" y="2619383"/>
                </a:lnTo>
                <a:cubicBezTo>
                  <a:pt x="3038475" y="2703547"/>
                  <a:pt x="2970247" y="2771775"/>
                  <a:pt x="2886083" y="2771775"/>
                </a:cubicBezTo>
                <a:lnTo>
                  <a:pt x="152392" y="2771775"/>
                </a:lnTo>
                <a:cubicBezTo>
                  <a:pt x="68228" y="2771775"/>
                  <a:pt x="0" y="2703547"/>
                  <a:pt x="0" y="2619383"/>
                </a:cubicBezTo>
                <a:lnTo>
                  <a:pt x="0" y="152392"/>
                </a:lnTo>
                <a:cubicBezTo>
                  <a:pt x="0" y="68228"/>
                  <a:pt x="68228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9E0">
                  <a:alpha val="10000"/>
                </a:srgbClr>
              </a:gs>
              <a:gs pos="100000">
                <a:srgbClr val="1A1D21">
                  <a:alpha val="51000"/>
                </a:srgbClr>
              </a:gs>
            </a:gsLst>
            <a:lin ang="2700000" scaled="1"/>
          </a:gradFill>
          <a:ln w="12700">
            <a:noFill/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3025" y="1647825"/>
            <a:ext cx="273367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文档作用</a:t>
            </a:r>
            <a:endParaRPr lang="en-US" sz="135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001125" y="21050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56138"/>
                </a:moveTo>
                <a:cubicBezTo>
                  <a:pt x="0" y="25122"/>
                  <a:pt x="25598" y="0"/>
                  <a:pt x="57150" y="0"/>
                </a:cubicBezTo>
                <a:cubicBezTo>
                  <a:pt x="88702" y="0"/>
                  <a:pt x="114300" y="25122"/>
                  <a:pt x="114300" y="56138"/>
                </a:cubicBezTo>
                <a:cubicBezTo>
                  <a:pt x="114300" y="91648"/>
                  <a:pt x="78522" y="134213"/>
                  <a:pt x="63579" y="150435"/>
                </a:cubicBezTo>
                <a:cubicBezTo>
                  <a:pt x="60067" y="154245"/>
                  <a:pt x="54203" y="154245"/>
                  <a:pt x="50691" y="150435"/>
                </a:cubicBezTo>
                <a:cubicBezTo>
                  <a:pt x="35749" y="134213"/>
                  <a:pt x="-30" y="91648"/>
                  <a:pt x="-30" y="56138"/>
                </a:cubicBezTo>
                <a:close/>
                <a:moveTo>
                  <a:pt x="57150" y="76200"/>
                </a:moveTo>
                <a:cubicBezTo>
                  <a:pt x="67664" y="76200"/>
                  <a:pt x="76200" y="67664"/>
                  <a:pt x="76200" y="57150"/>
                </a:cubicBezTo>
                <a:cubicBezTo>
                  <a:pt x="76200" y="46636"/>
                  <a:pt x="67664" y="38100"/>
                  <a:pt x="57150" y="38100"/>
                </a:cubicBezTo>
                <a:cubicBezTo>
                  <a:pt x="46636" y="38100"/>
                  <a:pt x="38100" y="46636"/>
                  <a:pt x="38100" y="57150"/>
                </a:cubicBezTo>
                <a:cubicBezTo>
                  <a:pt x="38100" y="67664"/>
                  <a:pt x="46636" y="76200"/>
                  <a:pt x="57150" y="76200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28" name="Text 26"/>
          <p:cNvSpPr/>
          <p:nvPr/>
        </p:nvSpPr>
        <p:spPr>
          <a:xfrm>
            <a:off x="9267825" y="2066925"/>
            <a:ext cx="24098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告诉AI"数据放在哪个房间的哪个柜子里"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972550" y="24098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30" name="Text 28"/>
          <p:cNvSpPr/>
          <p:nvPr/>
        </p:nvSpPr>
        <p:spPr>
          <a:xfrm>
            <a:off x="9267825" y="2371725"/>
            <a:ext cx="16668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说明表与表之间的关联关系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982075" y="2714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674" y="28575"/>
                </a:moveTo>
                <a:lnTo>
                  <a:pt x="9674" y="73075"/>
                </a:lnTo>
                <a:cubicBezTo>
                  <a:pt x="9674" y="78135"/>
                  <a:pt x="11668" y="82987"/>
                  <a:pt x="15240" y="86558"/>
                </a:cubicBezTo>
                <a:lnTo>
                  <a:pt x="72390" y="143708"/>
                </a:lnTo>
                <a:cubicBezTo>
                  <a:pt x="79831" y="151150"/>
                  <a:pt x="91886" y="151150"/>
                  <a:pt x="99328" y="143708"/>
                </a:cubicBezTo>
                <a:lnTo>
                  <a:pt x="143828" y="99209"/>
                </a:lnTo>
                <a:cubicBezTo>
                  <a:pt x="151269" y="91767"/>
                  <a:pt x="151269" y="79712"/>
                  <a:pt x="143828" y="72271"/>
                </a:cubicBezTo>
                <a:lnTo>
                  <a:pt x="86678" y="15121"/>
                </a:lnTo>
                <a:cubicBezTo>
                  <a:pt x="83106" y="11519"/>
                  <a:pt x="78284" y="9525"/>
                  <a:pt x="73223" y="9525"/>
                </a:cubicBezTo>
                <a:lnTo>
                  <a:pt x="28724" y="9525"/>
                </a:lnTo>
                <a:cubicBezTo>
                  <a:pt x="18217" y="9525"/>
                  <a:pt x="9674" y="18068"/>
                  <a:pt x="9674" y="28575"/>
                </a:cubicBezTo>
                <a:close/>
                <a:moveTo>
                  <a:pt x="43011" y="33338"/>
                </a:moveTo>
                <a:cubicBezTo>
                  <a:pt x="48268" y="33338"/>
                  <a:pt x="52536" y="37606"/>
                  <a:pt x="52536" y="42863"/>
                </a:cubicBezTo>
                <a:cubicBezTo>
                  <a:pt x="52536" y="48119"/>
                  <a:pt x="48268" y="52388"/>
                  <a:pt x="43011" y="52388"/>
                </a:cubicBezTo>
                <a:cubicBezTo>
                  <a:pt x="37754" y="52388"/>
                  <a:pt x="33486" y="48119"/>
                  <a:pt x="33486" y="42863"/>
                </a:cubicBezTo>
                <a:cubicBezTo>
                  <a:pt x="33486" y="37606"/>
                  <a:pt x="37754" y="33338"/>
                  <a:pt x="43011" y="33338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32" name="Text 30"/>
          <p:cNvSpPr/>
          <p:nvPr/>
        </p:nvSpPr>
        <p:spPr>
          <a:xfrm>
            <a:off x="9267825" y="2676525"/>
            <a:ext cx="15335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明确字段含义和数据格式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767763" y="4386263"/>
            <a:ext cx="3038475" cy="1228725"/>
          </a:xfrm>
          <a:custGeom>
            <a:avLst/>
            <a:gdLst/>
            <a:ahLst/>
            <a:cxnLst/>
            <a:rect l="l" t="t" r="r" b="b"/>
            <a:pathLst>
              <a:path w="3038475" h="1228725">
                <a:moveTo>
                  <a:pt x="152399" y="0"/>
                </a:moveTo>
                <a:lnTo>
                  <a:pt x="2886076" y="0"/>
                </a:lnTo>
                <a:cubicBezTo>
                  <a:pt x="2970244" y="0"/>
                  <a:pt x="3038475" y="68231"/>
                  <a:pt x="3038475" y="152399"/>
                </a:cubicBezTo>
                <a:lnTo>
                  <a:pt x="3038475" y="1076326"/>
                </a:lnTo>
                <a:cubicBezTo>
                  <a:pt x="3038475" y="1160494"/>
                  <a:pt x="2970244" y="1228725"/>
                  <a:pt x="2886076" y="1228725"/>
                </a:cubicBezTo>
                <a:lnTo>
                  <a:pt x="152399" y="1228725"/>
                </a:lnTo>
                <a:cubicBezTo>
                  <a:pt x="68231" y="1228725"/>
                  <a:pt x="0" y="1160494"/>
                  <a:pt x="0" y="10763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0"/>
                </a:schemeClr>
              </a:gs>
              <a:gs pos="100000">
                <a:srgbClr val="1A1D21">
                  <a:alpha val="46000"/>
                </a:srgbClr>
              </a:gs>
            </a:gsLst>
            <a:lin ang="2700000" scaled="1"/>
          </a:gradFill>
          <a:ln w="12700">
            <a:noFill/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29688" y="4463415"/>
            <a:ext cx="27146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SQL生成准确率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322891" y="4829175"/>
            <a:ext cx="7239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8E9EA">
                    <a:alpha val="5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40%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0118154" y="4886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45C"/>
          </a:solidFill>
        </p:spPr>
      </p:sp>
      <p:sp>
        <p:nvSpPr>
          <p:cNvPr id="37" name="Text 35"/>
          <p:cNvSpPr/>
          <p:nvPr/>
        </p:nvSpPr>
        <p:spPr>
          <a:xfrm>
            <a:off x="10403904" y="4810125"/>
            <a:ext cx="857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95%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963025" y="5343525"/>
            <a:ext cx="2647950" cy="76200"/>
          </a:xfrm>
          <a:custGeom>
            <a:avLst/>
            <a:gdLst/>
            <a:ahLst/>
            <a:cxnLst/>
            <a:rect l="l" t="t" r="r" b="b"/>
            <a:pathLst>
              <a:path w="2647950" h="76200">
                <a:moveTo>
                  <a:pt x="38100" y="0"/>
                </a:moveTo>
                <a:lnTo>
                  <a:pt x="2609850" y="0"/>
                </a:lnTo>
                <a:cubicBezTo>
                  <a:pt x="2630878" y="0"/>
                  <a:pt x="2647950" y="17072"/>
                  <a:pt x="2647950" y="38100"/>
                </a:cubicBezTo>
                <a:lnTo>
                  <a:pt x="2647950" y="38100"/>
                </a:lnTo>
                <a:cubicBezTo>
                  <a:pt x="2647950" y="59128"/>
                  <a:pt x="2630878" y="76200"/>
                  <a:pt x="2609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8963025" y="5343525"/>
            <a:ext cx="2514600" cy="76200"/>
          </a:xfrm>
          <a:custGeom>
            <a:avLst/>
            <a:gdLst/>
            <a:ahLst/>
            <a:cxnLst/>
            <a:rect l="l" t="t" r="r" b="b"/>
            <a:pathLst>
              <a:path w="2514600" h="76200">
                <a:moveTo>
                  <a:pt x="38100" y="0"/>
                </a:moveTo>
                <a:lnTo>
                  <a:pt x="2476500" y="0"/>
                </a:lnTo>
                <a:cubicBezTo>
                  <a:pt x="2497528" y="0"/>
                  <a:pt x="2514600" y="17072"/>
                  <a:pt x="2514600" y="38100"/>
                </a:cubicBezTo>
                <a:lnTo>
                  <a:pt x="2514600" y="38100"/>
                </a:lnTo>
                <a:cubicBezTo>
                  <a:pt x="2514600" y="59128"/>
                  <a:pt x="2497528" y="76200"/>
                  <a:pt x="2476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18000"/>
                </a:schemeClr>
              </a:gs>
              <a:gs pos="100000">
                <a:schemeClr val="accent6">
                  <a:alpha val="63000"/>
                </a:schemeClr>
              </a:gs>
            </a:gsLst>
            <a:lin ang="0" scaled="1"/>
          </a:gradFill>
        </p:spPr>
      </p:sp>
      <p:sp>
        <p:nvSpPr>
          <p:cNvPr id="40" name="Shape 38"/>
          <p:cNvSpPr/>
          <p:nvPr/>
        </p:nvSpPr>
        <p:spPr>
          <a:xfrm>
            <a:off x="8767763" y="5776913"/>
            <a:ext cx="3038475" cy="695325"/>
          </a:xfrm>
          <a:custGeom>
            <a:avLst/>
            <a:gdLst/>
            <a:ahLst/>
            <a:cxnLst/>
            <a:rect l="l" t="t" r="r" b="b"/>
            <a:pathLst>
              <a:path w="3038475" h="695325">
                <a:moveTo>
                  <a:pt x="114298" y="0"/>
                </a:moveTo>
                <a:lnTo>
                  <a:pt x="2924177" y="0"/>
                </a:lnTo>
                <a:cubicBezTo>
                  <a:pt x="2987302" y="0"/>
                  <a:pt x="3038475" y="51173"/>
                  <a:pt x="3038475" y="114298"/>
                </a:cubicBezTo>
                <a:lnTo>
                  <a:pt x="3038475" y="581027"/>
                </a:lnTo>
                <a:cubicBezTo>
                  <a:pt x="3038475" y="644152"/>
                  <a:pt x="2987302" y="695325"/>
                  <a:pt x="2924177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0A9E0">
              <a:alpha val="22000"/>
            </a:srgbClr>
          </a:solidFill>
          <a:ln w="12700">
            <a:noFill/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13019" y="59340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2" name="Text 40"/>
          <p:cNvSpPr/>
          <p:nvPr/>
        </p:nvSpPr>
        <p:spPr>
          <a:xfrm>
            <a:off x="9229725" y="5934075"/>
            <a:ext cx="24860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加上这份文档，AI生成SQL的准确率能从</a:t>
            </a:r>
            <a:r>
              <a:rPr lang="en-US" sz="1400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40%</a:t>
            </a:r>
            <a:r>
              <a:rPr lang="en-US" sz="14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飙升到</a:t>
            </a:r>
            <a:r>
              <a:rPr lang="en-US" sz="140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95%</a:t>
            </a:r>
            <a:endParaRPr lang="en-US" sz="1400" b="1" dirty="0">
              <a:solidFill>
                <a:srgbClr val="00A9E0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43" name="Shape 12"/>
          <p:cNvSpPr/>
          <p:nvPr/>
        </p:nvSpPr>
        <p:spPr>
          <a:xfrm>
            <a:off x="2131060" y="2038350"/>
            <a:ext cx="7929245" cy="2781300"/>
          </a:xfrm>
          <a:prstGeom prst="roundRect">
            <a:avLst>
              <a:gd name="adj" fmla="val 6043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13"/>
          <p:cNvSpPr/>
          <p:nvPr/>
        </p:nvSpPr>
        <p:spPr>
          <a:xfrm>
            <a:off x="2131695" y="2038350"/>
            <a:ext cx="7880985" cy="27971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BMWGroupTN Condensed TT" charset="0"/>
                <a:cs typeface="BMWGroupTN Condensed TT" charset="0"/>
                <a:sym typeface="+mn-ea"/>
              </a:rPr>
              <a:t>使用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BMWGroupTN Condensed TT" charset="0"/>
                <a:cs typeface="BMWGroupTN Condensed TT" charset="0"/>
                <a:sym typeface="+mn-ea"/>
              </a:rPr>
              <a:t>Dify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创建《数据库表结构说明》</a:t>
            </a:r>
            <a:endParaRPr lang="zh-CN" altLang="en-US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" charset="0"/>
              <a:ea typeface="宋体" panose="02010600030101010101" pitchFamily="2" charset="-122"/>
              <a:cs typeface="BMWGroupTN Condensed TT" charset="0"/>
              <a:sym typeface="+mn-ea"/>
            </a:endParaRPr>
          </a:p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知识库文档</a:t>
            </a:r>
            <a:endParaRPr lang="zh-CN" altLang="en-US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" charset="0"/>
              <a:ea typeface="宋体" panose="02010600030101010101" pitchFamily="2" charset="-122"/>
              <a:cs typeface="BMWGroupTN Condensed TT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2500490" y="2426407"/>
            <a:ext cx="7191021" cy="643045"/>
          </a:xfrm>
        </p:spPr>
        <p:txBody>
          <a:bodyPr/>
          <a:lstStyle/>
          <a:p>
            <a:r>
              <a:rPr lang="zh-CN" altLang="en-US"/>
              <a:t>PART </a:t>
            </a:r>
            <a:r>
              <a:t>THREE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48653" y="3180080"/>
            <a:ext cx="10894695" cy="1405255"/>
          </a:xfrm>
        </p:spPr>
        <p:txBody>
          <a:bodyPr>
            <a:normAutofit fontScale="90000"/>
          </a:bodyPr>
          <a:lstStyle/>
          <a:p>
            <a:r>
              <a:rPr lang="zh-CN" altLang="en-US">
                <a:sym typeface="+mn-ea"/>
              </a:rPr>
              <a:t>核心工作流搭建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手把手教你组装</a:t>
            </a:r>
            <a:endParaRPr lang="zh-CN" altLang="en-US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Dify</a:t>
            </a:r>
            <a:r>
              <a:rPr lang="zh-CN" altLang="en-US"/>
              <a:t>工作流总览</a:t>
            </a:r>
            <a:r>
              <a:rPr lang="en-US" altLang="zh-CN"/>
              <a:t>——</a:t>
            </a:r>
            <a:r>
              <a:rPr lang="zh-CN" altLang="en-US"/>
              <a:t>乐高式组装</a:t>
            </a:r>
            <a:endParaRPr lang="zh-CN" altLang="en-US"/>
          </a:p>
        </p:txBody>
      </p:sp>
      <p:sp>
        <p:nvSpPr>
          <p:cNvPr id="2" name="Text 4"/>
          <p:cNvSpPr/>
          <p:nvPr/>
        </p:nvSpPr>
        <p:spPr>
          <a:xfrm>
            <a:off x="696595" y="1080135"/>
            <a:ext cx="1120013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五个核心节点，像宝马生产线上的机械臂一样各司其职</a:t>
            </a:r>
            <a:endParaRPr lang="en-US" sz="1350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" name="Shape 5"/>
          <p:cNvSpPr/>
          <p:nvPr/>
        </p:nvSpPr>
        <p:spPr>
          <a:xfrm>
            <a:off x="385763" y="1542098"/>
            <a:ext cx="11420475" cy="3667125"/>
          </a:xfrm>
          <a:custGeom>
            <a:avLst/>
            <a:gdLst/>
            <a:ahLst/>
            <a:cxnLst/>
            <a:rect l="l" t="t" r="r" b="b"/>
            <a:pathLst>
              <a:path w="11420475" h="3667125">
                <a:moveTo>
                  <a:pt x="152406" y="0"/>
                </a:moveTo>
                <a:lnTo>
                  <a:pt x="11268069" y="0"/>
                </a:lnTo>
                <a:cubicBezTo>
                  <a:pt x="11352184" y="0"/>
                  <a:pt x="11420475" y="68291"/>
                  <a:pt x="11420475" y="152406"/>
                </a:cubicBezTo>
                <a:lnTo>
                  <a:pt x="11420475" y="3514719"/>
                </a:lnTo>
                <a:cubicBezTo>
                  <a:pt x="11420475" y="3598834"/>
                  <a:pt x="11352184" y="3667125"/>
                  <a:pt x="11268069" y="3667125"/>
                </a:cubicBezTo>
                <a:lnTo>
                  <a:pt x="152406" y="3667125"/>
                </a:lnTo>
                <a:cubicBezTo>
                  <a:pt x="68291" y="3667125"/>
                  <a:pt x="0" y="3598834"/>
                  <a:pt x="0" y="35147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4E54">
                  <a:alpha val="20000"/>
                </a:srgbClr>
              </a:gs>
              <a:gs pos="100000">
                <a:srgbClr val="1A1D21">
                  <a:alpha val="100000"/>
                </a:srgbClr>
              </a:gs>
            </a:gsLst>
            <a:lin ang="2700000" scaled="1"/>
          </a:gra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4" name="Shape 6"/>
          <p:cNvSpPr/>
          <p:nvPr/>
        </p:nvSpPr>
        <p:spPr>
          <a:xfrm>
            <a:off x="628650" y="2661285"/>
            <a:ext cx="1695450" cy="1123950"/>
          </a:xfrm>
          <a:custGeom>
            <a:avLst/>
            <a:gdLst/>
            <a:ahLst/>
            <a:cxnLst/>
            <a:rect l="l" t="t" r="r" b="b"/>
            <a:pathLst>
              <a:path w="1695450" h="1123950">
                <a:moveTo>
                  <a:pt x="114294" y="0"/>
                </a:moveTo>
                <a:lnTo>
                  <a:pt x="1581156" y="0"/>
                </a:lnTo>
                <a:cubicBezTo>
                  <a:pt x="1644279" y="0"/>
                  <a:pt x="1695450" y="51171"/>
                  <a:pt x="1695450" y="114294"/>
                </a:cubicBezTo>
                <a:lnTo>
                  <a:pt x="1695450" y="1009656"/>
                </a:lnTo>
                <a:cubicBezTo>
                  <a:pt x="1695450" y="1072779"/>
                  <a:pt x="1644279" y="1123950"/>
                  <a:pt x="1581156" y="1123950"/>
                </a:cubicBezTo>
                <a:lnTo>
                  <a:pt x="114294" y="1123950"/>
                </a:lnTo>
                <a:cubicBezTo>
                  <a:pt x="51171" y="1123950"/>
                  <a:pt x="0" y="1072779"/>
                  <a:pt x="0" y="100965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9E0">
                  <a:alpha val="20000"/>
                </a:srgbClr>
              </a:gs>
              <a:gs pos="100000">
                <a:srgbClr val="00A9E0">
                  <a:alpha val="5000"/>
                </a:srgbClr>
              </a:gs>
            </a:gsLst>
            <a:lin ang="2700000" scaled="1"/>
          </a:gradFill>
          <a:ln w="25400">
            <a:solidFill>
              <a:srgbClr val="00A9E0"/>
            </a:solidFill>
            <a:prstDash val="solid"/>
          </a:ln>
        </p:spPr>
      </p:sp>
      <p:sp>
        <p:nvSpPr>
          <p:cNvPr id="5" name="Shape 7"/>
          <p:cNvSpPr/>
          <p:nvPr/>
        </p:nvSpPr>
        <p:spPr>
          <a:xfrm>
            <a:off x="1325835" y="282321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43" name="Text 8"/>
          <p:cNvSpPr/>
          <p:nvPr/>
        </p:nvSpPr>
        <p:spPr>
          <a:xfrm>
            <a:off x="1451967" y="2880360"/>
            <a:ext cx="123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4" name="Text 9"/>
          <p:cNvSpPr/>
          <p:nvPr/>
        </p:nvSpPr>
        <p:spPr>
          <a:xfrm>
            <a:off x="752475" y="320421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开始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762000" y="3470910"/>
            <a:ext cx="14287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Start</a:t>
            </a:r>
            <a:endParaRPr lang="en-US" sz="12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7" name="Shape 12"/>
          <p:cNvSpPr/>
          <p:nvPr/>
        </p:nvSpPr>
        <p:spPr>
          <a:xfrm>
            <a:off x="2518395" y="32494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45C"/>
          </a:solidFill>
        </p:spPr>
      </p:sp>
      <p:sp>
        <p:nvSpPr>
          <p:cNvPr id="48" name="Shape 13"/>
          <p:cNvSpPr/>
          <p:nvPr/>
        </p:nvSpPr>
        <p:spPr>
          <a:xfrm>
            <a:off x="2937495" y="2661285"/>
            <a:ext cx="1695450" cy="1123950"/>
          </a:xfrm>
          <a:custGeom>
            <a:avLst/>
            <a:gdLst/>
            <a:ahLst/>
            <a:cxnLst/>
            <a:rect l="l" t="t" r="r" b="b"/>
            <a:pathLst>
              <a:path w="1695450" h="1123950">
                <a:moveTo>
                  <a:pt x="114294" y="0"/>
                </a:moveTo>
                <a:lnTo>
                  <a:pt x="1581156" y="0"/>
                </a:lnTo>
                <a:cubicBezTo>
                  <a:pt x="1644279" y="0"/>
                  <a:pt x="1695450" y="51171"/>
                  <a:pt x="1695450" y="114294"/>
                </a:cubicBezTo>
                <a:lnTo>
                  <a:pt x="1695450" y="1009656"/>
                </a:lnTo>
                <a:cubicBezTo>
                  <a:pt x="1695450" y="1072779"/>
                  <a:pt x="1644279" y="1123950"/>
                  <a:pt x="1581156" y="1123950"/>
                </a:cubicBezTo>
                <a:lnTo>
                  <a:pt x="114294" y="1123950"/>
                </a:lnTo>
                <a:cubicBezTo>
                  <a:pt x="51171" y="1123950"/>
                  <a:pt x="0" y="1072779"/>
                  <a:pt x="0" y="100965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45C">
                  <a:alpha val="20000"/>
                </a:srgbClr>
              </a:gs>
              <a:gs pos="100000">
                <a:srgbClr val="C8A45C">
                  <a:alpha val="5000"/>
                </a:srgbClr>
              </a:gs>
            </a:gsLst>
            <a:lin ang="2700000" scaled="1"/>
          </a:gradFill>
          <a:ln w="25400">
            <a:solidFill>
              <a:srgbClr val="C8A45C"/>
            </a:solidFill>
            <a:prstDash val="solid"/>
          </a:ln>
        </p:spPr>
      </p:sp>
      <p:sp>
        <p:nvSpPr>
          <p:cNvPr id="49" name="Shape 14"/>
          <p:cNvSpPr/>
          <p:nvPr/>
        </p:nvSpPr>
        <p:spPr>
          <a:xfrm>
            <a:off x="3634755" y="282321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50" name="Text 15"/>
          <p:cNvSpPr/>
          <p:nvPr/>
        </p:nvSpPr>
        <p:spPr>
          <a:xfrm>
            <a:off x="3749650" y="288036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2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3061320" y="320421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知识检索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3070845" y="3470910"/>
            <a:ext cx="14287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Knowledge</a:t>
            </a:r>
            <a:endParaRPr lang="en-US" sz="12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5" name="Shape 19"/>
          <p:cNvSpPr/>
          <p:nvPr/>
        </p:nvSpPr>
        <p:spPr>
          <a:xfrm>
            <a:off x="4827315" y="32494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45C"/>
          </a:solidFill>
        </p:spPr>
      </p:sp>
      <p:sp>
        <p:nvSpPr>
          <p:cNvPr id="56" name="Shape 20"/>
          <p:cNvSpPr/>
          <p:nvPr/>
        </p:nvSpPr>
        <p:spPr>
          <a:xfrm>
            <a:off x="5246415" y="2661285"/>
            <a:ext cx="1695450" cy="1123950"/>
          </a:xfrm>
          <a:custGeom>
            <a:avLst/>
            <a:gdLst/>
            <a:ahLst/>
            <a:cxnLst/>
            <a:rect l="l" t="t" r="r" b="b"/>
            <a:pathLst>
              <a:path w="1695450" h="1123950">
                <a:moveTo>
                  <a:pt x="114294" y="0"/>
                </a:moveTo>
                <a:lnTo>
                  <a:pt x="1581156" y="0"/>
                </a:lnTo>
                <a:cubicBezTo>
                  <a:pt x="1644279" y="0"/>
                  <a:pt x="1695450" y="51171"/>
                  <a:pt x="1695450" y="114294"/>
                </a:cubicBezTo>
                <a:lnTo>
                  <a:pt x="1695450" y="1009656"/>
                </a:lnTo>
                <a:cubicBezTo>
                  <a:pt x="1695450" y="1072779"/>
                  <a:pt x="1644279" y="1123950"/>
                  <a:pt x="1581156" y="1123950"/>
                </a:cubicBezTo>
                <a:lnTo>
                  <a:pt x="114294" y="1123950"/>
                </a:lnTo>
                <a:cubicBezTo>
                  <a:pt x="51171" y="1123950"/>
                  <a:pt x="0" y="1072779"/>
                  <a:pt x="0" y="100965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9E0">
                  <a:alpha val="20000"/>
                </a:srgbClr>
              </a:gs>
              <a:gs pos="100000">
                <a:srgbClr val="00A9E0">
                  <a:alpha val="5000"/>
                </a:srgbClr>
              </a:gs>
            </a:gsLst>
            <a:lin ang="2700000" scaled="1"/>
          </a:gradFill>
          <a:ln w="25400">
            <a:solidFill>
              <a:srgbClr val="00A9E0"/>
            </a:solidFill>
            <a:prstDash val="solid"/>
          </a:ln>
        </p:spPr>
      </p:sp>
      <p:sp>
        <p:nvSpPr>
          <p:cNvPr id="57" name="Shape 21"/>
          <p:cNvSpPr/>
          <p:nvPr/>
        </p:nvSpPr>
        <p:spPr>
          <a:xfrm>
            <a:off x="5943600" y="282321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58" name="Text 22"/>
          <p:cNvSpPr/>
          <p:nvPr/>
        </p:nvSpPr>
        <p:spPr>
          <a:xfrm>
            <a:off x="6056784" y="288036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3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9" name="Text 23"/>
          <p:cNvSpPr/>
          <p:nvPr/>
        </p:nvSpPr>
        <p:spPr>
          <a:xfrm>
            <a:off x="5370240" y="320421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SQL生成器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0" name="Text 24"/>
          <p:cNvSpPr/>
          <p:nvPr/>
        </p:nvSpPr>
        <p:spPr>
          <a:xfrm>
            <a:off x="5379765" y="3470910"/>
            <a:ext cx="14287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LLM</a:t>
            </a:r>
            <a:endParaRPr lang="en-US" sz="12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2" name="Shape 26"/>
          <p:cNvSpPr/>
          <p:nvPr/>
        </p:nvSpPr>
        <p:spPr>
          <a:xfrm>
            <a:off x="7136160" y="32494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45C"/>
          </a:solidFill>
        </p:spPr>
      </p:sp>
      <p:sp>
        <p:nvSpPr>
          <p:cNvPr id="63" name="Shape 27"/>
          <p:cNvSpPr/>
          <p:nvPr/>
        </p:nvSpPr>
        <p:spPr>
          <a:xfrm>
            <a:off x="7555260" y="2661285"/>
            <a:ext cx="1695450" cy="1123950"/>
          </a:xfrm>
          <a:custGeom>
            <a:avLst/>
            <a:gdLst/>
            <a:ahLst/>
            <a:cxnLst/>
            <a:rect l="l" t="t" r="r" b="b"/>
            <a:pathLst>
              <a:path w="1695450" h="1123950">
                <a:moveTo>
                  <a:pt x="114294" y="0"/>
                </a:moveTo>
                <a:lnTo>
                  <a:pt x="1581156" y="0"/>
                </a:lnTo>
                <a:cubicBezTo>
                  <a:pt x="1644279" y="0"/>
                  <a:pt x="1695450" y="51171"/>
                  <a:pt x="1695450" y="114294"/>
                </a:cubicBezTo>
                <a:lnTo>
                  <a:pt x="1695450" y="1009656"/>
                </a:lnTo>
                <a:cubicBezTo>
                  <a:pt x="1695450" y="1072779"/>
                  <a:pt x="1644279" y="1123950"/>
                  <a:pt x="1581156" y="1123950"/>
                </a:cubicBezTo>
                <a:lnTo>
                  <a:pt x="114294" y="1123950"/>
                </a:lnTo>
                <a:cubicBezTo>
                  <a:pt x="51171" y="1123950"/>
                  <a:pt x="0" y="1072779"/>
                  <a:pt x="0" y="100965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45C">
                  <a:alpha val="20000"/>
                </a:srgbClr>
              </a:gs>
              <a:gs pos="100000">
                <a:srgbClr val="C8A45C">
                  <a:alpha val="5000"/>
                </a:srgbClr>
              </a:gs>
            </a:gsLst>
            <a:lin ang="2700000" scaled="1"/>
          </a:gradFill>
          <a:ln w="25400">
            <a:solidFill>
              <a:srgbClr val="C8A45C"/>
            </a:solidFill>
            <a:prstDash val="solid"/>
          </a:ln>
        </p:spPr>
      </p:sp>
      <p:sp>
        <p:nvSpPr>
          <p:cNvPr id="64" name="Shape 28"/>
          <p:cNvSpPr/>
          <p:nvPr/>
        </p:nvSpPr>
        <p:spPr>
          <a:xfrm>
            <a:off x="8252445" y="282321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65" name="Text 29"/>
          <p:cNvSpPr/>
          <p:nvPr/>
        </p:nvSpPr>
        <p:spPr>
          <a:xfrm>
            <a:off x="8365703" y="288036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4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6" name="Text 30"/>
          <p:cNvSpPr/>
          <p:nvPr/>
        </p:nvSpPr>
        <p:spPr>
          <a:xfrm>
            <a:off x="7679085" y="320421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SQL执行器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7" name="Text 31"/>
          <p:cNvSpPr/>
          <p:nvPr/>
        </p:nvSpPr>
        <p:spPr>
          <a:xfrm>
            <a:off x="7688610" y="3470910"/>
            <a:ext cx="14287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Execute</a:t>
            </a:r>
            <a:endParaRPr lang="en-US" sz="12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9" name="Shape 33"/>
          <p:cNvSpPr/>
          <p:nvPr/>
        </p:nvSpPr>
        <p:spPr>
          <a:xfrm>
            <a:off x="9445005" y="32494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8A45C"/>
          </a:solidFill>
        </p:spPr>
      </p:sp>
      <p:sp>
        <p:nvSpPr>
          <p:cNvPr id="70" name="Shape 34"/>
          <p:cNvSpPr/>
          <p:nvPr/>
        </p:nvSpPr>
        <p:spPr>
          <a:xfrm>
            <a:off x="9864105" y="2661285"/>
            <a:ext cx="1695450" cy="1123950"/>
          </a:xfrm>
          <a:custGeom>
            <a:avLst/>
            <a:gdLst/>
            <a:ahLst/>
            <a:cxnLst/>
            <a:rect l="l" t="t" r="r" b="b"/>
            <a:pathLst>
              <a:path w="1695450" h="1123950">
                <a:moveTo>
                  <a:pt x="114294" y="0"/>
                </a:moveTo>
                <a:lnTo>
                  <a:pt x="1581156" y="0"/>
                </a:lnTo>
                <a:cubicBezTo>
                  <a:pt x="1644279" y="0"/>
                  <a:pt x="1695450" y="51171"/>
                  <a:pt x="1695450" y="114294"/>
                </a:cubicBezTo>
                <a:lnTo>
                  <a:pt x="1695450" y="1009656"/>
                </a:lnTo>
                <a:cubicBezTo>
                  <a:pt x="1695450" y="1072779"/>
                  <a:pt x="1644279" y="1123950"/>
                  <a:pt x="1581156" y="1123950"/>
                </a:cubicBezTo>
                <a:lnTo>
                  <a:pt x="114294" y="1123950"/>
                </a:lnTo>
                <a:cubicBezTo>
                  <a:pt x="51171" y="1123950"/>
                  <a:pt x="0" y="1072779"/>
                  <a:pt x="0" y="100965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9E0">
                  <a:alpha val="20000"/>
                </a:srgbClr>
              </a:gs>
              <a:gs pos="100000">
                <a:srgbClr val="00A9E0">
                  <a:alpha val="5000"/>
                </a:srgbClr>
              </a:gs>
            </a:gsLst>
            <a:lin ang="2700000" scaled="1"/>
          </a:gradFill>
          <a:ln w="25400">
            <a:solidFill>
              <a:srgbClr val="00A9E0"/>
            </a:solidFill>
            <a:prstDash val="solid"/>
          </a:ln>
        </p:spPr>
      </p:sp>
      <p:sp>
        <p:nvSpPr>
          <p:cNvPr id="71" name="Shape 35"/>
          <p:cNvSpPr/>
          <p:nvPr/>
        </p:nvSpPr>
        <p:spPr>
          <a:xfrm>
            <a:off x="10561290" y="282321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72" name="Text 36"/>
          <p:cNvSpPr/>
          <p:nvPr/>
        </p:nvSpPr>
        <p:spPr>
          <a:xfrm>
            <a:off x="10673879" y="288036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5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3" name="Text 37"/>
          <p:cNvSpPr/>
          <p:nvPr/>
        </p:nvSpPr>
        <p:spPr>
          <a:xfrm>
            <a:off x="9987930" y="320421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图表输出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4" name="Text 38"/>
          <p:cNvSpPr/>
          <p:nvPr/>
        </p:nvSpPr>
        <p:spPr>
          <a:xfrm>
            <a:off x="9997455" y="3470910"/>
            <a:ext cx="14287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Chart</a:t>
            </a:r>
            <a:endParaRPr lang="en-US" sz="12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5" name="Text 39"/>
          <p:cNvSpPr/>
          <p:nvPr/>
        </p:nvSpPr>
        <p:spPr>
          <a:xfrm>
            <a:off x="9697720" y="4079875"/>
            <a:ext cx="201485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画图给老板看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6" name="Shape 40"/>
          <p:cNvSpPr/>
          <p:nvPr/>
        </p:nvSpPr>
        <p:spPr>
          <a:xfrm>
            <a:off x="385763" y="5409248"/>
            <a:ext cx="3695700" cy="809625"/>
          </a:xfrm>
          <a:custGeom>
            <a:avLst/>
            <a:gdLst/>
            <a:ahLst/>
            <a:cxnLst/>
            <a:rect l="l" t="t" r="r" b="b"/>
            <a:pathLst>
              <a:path w="3695700" h="809625">
                <a:moveTo>
                  <a:pt x="114303" y="0"/>
                </a:moveTo>
                <a:lnTo>
                  <a:pt x="3581397" y="0"/>
                </a:lnTo>
                <a:cubicBezTo>
                  <a:pt x="3644483" y="0"/>
                  <a:pt x="3695700" y="51217"/>
                  <a:pt x="3695700" y="114303"/>
                </a:cubicBezTo>
                <a:lnTo>
                  <a:pt x="3695700" y="695322"/>
                </a:lnTo>
                <a:cubicBezTo>
                  <a:pt x="3695700" y="758408"/>
                  <a:pt x="3644483" y="809625"/>
                  <a:pt x="3581397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77" name="Shape 41"/>
          <p:cNvSpPr/>
          <p:nvPr/>
        </p:nvSpPr>
        <p:spPr>
          <a:xfrm>
            <a:off x="542925" y="558546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78" name="Text 42"/>
          <p:cNvSpPr/>
          <p:nvPr/>
        </p:nvSpPr>
        <p:spPr>
          <a:xfrm>
            <a:off x="895350" y="5566410"/>
            <a:ext cx="1450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模块化设计</a:t>
            </a:r>
            <a:endParaRPr lang="en-US" sz="1600" b="1" dirty="0">
              <a:solidFill>
                <a:srgbClr val="E8E9EA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9" name="Text 43"/>
          <p:cNvSpPr/>
          <p:nvPr/>
        </p:nvSpPr>
        <p:spPr>
          <a:xfrm>
            <a:off x="542925" y="5871210"/>
            <a:ext cx="344805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每个节点独立运行，可自由组合、复用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0" name="Shape 44"/>
          <p:cNvSpPr/>
          <p:nvPr/>
        </p:nvSpPr>
        <p:spPr>
          <a:xfrm>
            <a:off x="4246513" y="5409248"/>
            <a:ext cx="3695700" cy="809625"/>
          </a:xfrm>
          <a:custGeom>
            <a:avLst/>
            <a:gdLst/>
            <a:ahLst/>
            <a:cxnLst/>
            <a:rect l="l" t="t" r="r" b="b"/>
            <a:pathLst>
              <a:path w="3695700" h="809625">
                <a:moveTo>
                  <a:pt x="114303" y="0"/>
                </a:moveTo>
                <a:lnTo>
                  <a:pt x="3581397" y="0"/>
                </a:lnTo>
                <a:cubicBezTo>
                  <a:pt x="3644483" y="0"/>
                  <a:pt x="3695700" y="51217"/>
                  <a:pt x="3695700" y="114303"/>
                </a:cubicBezTo>
                <a:lnTo>
                  <a:pt x="3695700" y="695322"/>
                </a:lnTo>
                <a:cubicBezTo>
                  <a:pt x="3695700" y="758408"/>
                  <a:pt x="3644483" y="809625"/>
                  <a:pt x="3581397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81" name="Shape 45"/>
          <p:cNvSpPr/>
          <p:nvPr/>
        </p:nvSpPr>
        <p:spPr>
          <a:xfrm>
            <a:off x="4439394" y="558546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82" name="Text 46"/>
          <p:cNvSpPr/>
          <p:nvPr/>
        </p:nvSpPr>
        <p:spPr>
          <a:xfrm>
            <a:off x="4756150" y="5566410"/>
            <a:ext cx="1450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可视化配置</a:t>
            </a:r>
            <a:endParaRPr lang="en-US" sz="1600" b="1" dirty="0">
              <a:solidFill>
                <a:srgbClr val="E8E9EA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3" name="Text 47"/>
          <p:cNvSpPr/>
          <p:nvPr/>
        </p:nvSpPr>
        <p:spPr>
          <a:xfrm>
            <a:off x="4403675" y="5871210"/>
            <a:ext cx="344805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拖拽式操作，无需写代码，所见即所得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4" name="Shape 48"/>
          <p:cNvSpPr/>
          <p:nvPr/>
        </p:nvSpPr>
        <p:spPr>
          <a:xfrm>
            <a:off x="8107338" y="5409248"/>
            <a:ext cx="3695700" cy="809625"/>
          </a:xfrm>
          <a:custGeom>
            <a:avLst/>
            <a:gdLst/>
            <a:ahLst/>
            <a:cxnLst/>
            <a:rect l="l" t="t" r="r" b="b"/>
            <a:pathLst>
              <a:path w="3695700" h="809625">
                <a:moveTo>
                  <a:pt x="114303" y="0"/>
                </a:moveTo>
                <a:lnTo>
                  <a:pt x="3581397" y="0"/>
                </a:lnTo>
                <a:cubicBezTo>
                  <a:pt x="3644483" y="0"/>
                  <a:pt x="3695700" y="51217"/>
                  <a:pt x="3695700" y="114303"/>
                </a:cubicBezTo>
                <a:lnTo>
                  <a:pt x="3695700" y="695322"/>
                </a:lnTo>
                <a:cubicBezTo>
                  <a:pt x="3695700" y="758408"/>
                  <a:pt x="3644483" y="809625"/>
                  <a:pt x="3581397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85" name="Shape 49"/>
          <p:cNvSpPr/>
          <p:nvPr/>
        </p:nvSpPr>
        <p:spPr>
          <a:xfrm>
            <a:off x="8288313" y="558546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0A9E0"/>
          </a:solidFill>
        </p:spPr>
      </p:sp>
      <p:sp>
        <p:nvSpPr>
          <p:cNvPr id="86" name="Text 50"/>
          <p:cNvSpPr/>
          <p:nvPr/>
        </p:nvSpPr>
        <p:spPr>
          <a:xfrm>
            <a:off x="8616950" y="5566410"/>
            <a:ext cx="118681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安全可靠</a:t>
            </a:r>
            <a:endParaRPr lang="en-US" sz="1600" b="1" dirty="0">
              <a:solidFill>
                <a:srgbClr val="E8E9EA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7" name="Text 51"/>
          <p:cNvSpPr/>
          <p:nvPr/>
        </p:nvSpPr>
        <p:spPr>
          <a:xfrm>
            <a:off x="8264500" y="5871210"/>
            <a:ext cx="344805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支持权限控制、审计日志、数据脱敏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462915" y="4079875"/>
            <a:ext cx="201485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用户输入问题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9" name="Text 18"/>
          <p:cNvSpPr/>
          <p:nvPr/>
        </p:nvSpPr>
        <p:spPr>
          <a:xfrm>
            <a:off x="2794635" y="4079875"/>
            <a:ext cx="190373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查"黑话词典"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90" name="Text 25"/>
          <p:cNvSpPr/>
          <p:nvPr/>
        </p:nvSpPr>
        <p:spPr>
          <a:xfrm>
            <a:off x="5147945" y="4079875"/>
            <a:ext cx="170434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翻译成代码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91" name="Text 32"/>
          <p:cNvSpPr/>
          <p:nvPr/>
        </p:nvSpPr>
        <p:spPr>
          <a:xfrm>
            <a:off x="7389495" y="4079875"/>
            <a:ext cx="201485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去数据库取数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节点</a:t>
            </a:r>
            <a:r>
              <a:rPr lang="en-US" altLang="zh-CN"/>
              <a:t>1+2</a:t>
            </a:r>
            <a:r>
              <a:rPr lang="zh-CN" altLang="en-US"/>
              <a:t>：开始与知识库检索</a:t>
            </a:r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26403" y="1233488"/>
            <a:ext cx="5610225" cy="4695825"/>
          </a:xfrm>
          <a:custGeom>
            <a:avLst/>
            <a:gdLst/>
            <a:ahLst/>
            <a:cxnLst/>
            <a:rect l="l" t="t" r="r" b="b"/>
            <a:pathLst>
              <a:path w="5610225" h="4695825">
                <a:moveTo>
                  <a:pt x="152380" y="0"/>
                </a:moveTo>
                <a:lnTo>
                  <a:pt x="5457845" y="0"/>
                </a:lnTo>
                <a:cubicBezTo>
                  <a:pt x="5542002" y="0"/>
                  <a:pt x="5610225" y="68223"/>
                  <a:pt x="5610225" y="152380"/>
                </a:cubicBezTo>
                <a:lnTo>
                  <a:pt x="5610225" y="4543445"/>
                </a:lnTo>
                <a:cubicBezTo>
                  <a:pt x="5610225" y="4627602"/>
                  <a:pt x="5542002" y="4695825"/>
                  <a:pt x="5457845" y="4695825"/>
                </a:cubicBezTo>
                <a:lnTo>
                  <a:pt x="152380" y="4695825"/>
                </a:lnTo>
                <a:cubicBezTo>
                  <a:pt x="68223" y="4695825"/>
                  <a:pt x="0" y="4627602"/>
                  <a:pt x="0" y="4543445"/>
                </a:cubicBezTo>
                <a:lnTo>
                  <a:pt x="0" y="152380"/>
                </a:lnTo>
                <a:cubicBezTo>
                  <a:pt x="0" y="68279"/>
                  <a:pt x="68279" y="0"/>
                  <a:pt x="15238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8000"/>
                </a:schemeClr>
              </a:gs>
              <a:gs pos="100000">
                <a:schemeClr val="tx2">
                  <a:alpha val="17000"/>
                </a:schemeClr>
              </a:gs>
            </a:gsLst>
            <a:lin ang="2700000" scaled="1"/>
          </a:gradFill>
          <a:ln w="12700">
            <a:noFill/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665" y="1428750"/>
            <a:ext cx="5305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节点配置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6428" y="1852613"/>
            <a:ext cx="5210175" cy="1190625"/>
          </a:xfrm>
          <a:custGeom>
            <a:avLst/>
            <a:gdLst/>
            <a:ahLst/>
            <a:cxnLst/>
            <a:rect l="l" t="t" r="r" b="b"/>
            <a:pathLst>
              <a:path w="5210175" h="1190625">
                <a:moveTo>
                  <a:pt x="114300" y="0"/>
                </a:moveTo>
                <a:lnTo>
                  <a:pt x="5095875" y="0"/>
                </a:lnTo>
                <a:cubicBezTo>
                  <a:pt x="5158959" y="0"/>
                  <a:pt x="5210175" y="51216"/>
                  <a:pt x="5210175" y="114300"/>
                </a:cubicBezTo>
                <a:lnTo>
                  <a:pt x="5210175" y="1076325"/>
                </a:lnTo>
                <a:cubicBezTo>
                  <a:pt x="5210175" y="1139409"/>
                  <a:pt x="5158959" y="1190625"/>
                  <a:pt x="5095875" y="1190625"/>
                </a:cubicBezTo>
                <a:lnTo>
                  <a:pt x="114300" y="1190625"/>
                </a:lnTo>
                <a:cubicBezTo>
                  <a:pt x="51216" y="1190625"/>
                  <a:pt x="0" y="1139409"/>
                  <a:pt x="0" y="107632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3590" y="2009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9E0">
              <a:alpha val="2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875417" y="2047875"/>
            <a:ext cx="1047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88390" y="200977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开始节点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83590" y="2390775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输入变量：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526540" y="2352675"/>
            <a:ext cx="952500" cy="266700"/>
          </a:xfrm>
          <a:custGeom>
            <a:avLst/>
            <a:gdLst/>
            <a:ahLst/>
            <a:cxnLst/>
            <a:rect l="l" t="t" r="r" b="b"/>
            <a:pathLst>
              <a:path w="952500" h="266700">
                <a:moveTo>
                  <a:pt x="38101" y="0"/>
                </a:moveTo>
                <a:lnTo>
                  <a:pt x="914399" y="0"/>
                </a:lnTo>
                <a:cubicBezTo>
                  <a:pt x="935442" y="0"/>
                  <a:pt x="952500" y="17058"/>
                  <a:pt x="952500" y="38101"/>
                </a:cubicBezTo>
                <a:lnTo>
                  <a:pt x="952500" y="228599"/>
                </a:lnTo>
                <a:cubicBezTo>
                  <a:pt x="952500" y="249642"/>
                  <a:pt x="935442" y="266700"/>
                  <a:pt x="9143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9E0">
              <a:alpha val="1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1526540" y="2352675"/>
            <a:ext cx="101917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user_query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3590" y="2695575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变量类型：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26540" y="2695575"/>
            <a:ext cx="122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String（用户问题）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6428" y="3205163"/>
            <a:ext cx="5210175" cy="1800225"/>
          </a:xfrm>
          <a:custGeom>
            <a:avLst/>
            <a:gdLst/>
            <a:ahLst/>
            <a:cxnLst/>
            <a:rect l="l" t="t" r="r" b="b"/>
            <a:pathLst>
              <a:path w="5210175" h="1800225">
                <a:moveTo>
                  <a:pt x="114296" y="0"/>
                </a:moveTo>
                <a:lnTo>
                  <a:pt x="5095879" y="0"/>
                </a:lnTo>
                <a:cubicBezTo>
                  <a:pt x="5158961" y="0"/>
                  <a:pt x="5210175" y="51214"/>
                  <a:pt x="5210175" y="114296"/>
                </a:cubicBezTo>
                <a:lnTo>
                  <a:pt x="5210175" y="1685929"/>
                </a:lnTo>
                <a:cubicBezTo>
                  <a:pt x="5210175" y="1749011"/>
                  <a:pt x="5158961" y="1800225"/>
                  <a:pt x="5095879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3590" y="3362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8A45C">
              <a:alpha val="20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865743" y="3400425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2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88390" y="3362325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知识库检索节点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83590" y="3705225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节点名称：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526540" y="3705225"/>
            <a:ext cx="466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查口径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83590" y="3971925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选择知识库：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59890" y="3971925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宝马销售口径库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83590" y="4276725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查询内容：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526540" y="4238625"/>
            <a:ext cx="1276350" cy="266700"/>
          </a:xfrm>
          <a:custGeom>
            <a:avLst/>
            <a:gdLst/>
            <a:ahLst/>
            <a:cxnLst/>
            <a:rect l="l" t="t" r="r" b="b"/>
            <a:pathLst>
              <a:path w="1276350" h="266700">
                <a:moveTo>
                  <a:pt x="38101" y="0"/>
                </a:moveTo>
                <a:lnTo>
                  <a:pt x="1238249" y="0"/>
                </a:lnTo>
                <a:cubicBezTo>
                  <a:pt x="1259292" y="0"/>
                  <a:pt x="1276350" y="17058"/>
                  <a:pt x="1276350" y="38101"/>
                </a:cubicBezTo>
                <a:lnTo>
                  <a:pt x="1276350" y="228599"/>
                </a:lnTo>
                <a:cubicBezTo>
                  <a:pt x="1276350" y="249642"/>
                  <a:pt x="1259292" y="266700"/>
                  <a:pt x="12382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8A45C">
              <a:alpha val="10196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1526540" y="4238625"/>
            <a:ext cx="134302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{{user_query}}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83590" y="4619625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输出变量：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526540" y="4581525"/>
            <a:ext cx="714375" cy="266700"/>
          </a:xfrm>
          <a:custGeom>
            <a:avLst/>
            <a:gdLst/>
            <a:ahLst/>
            <a:cxnLst/>
            <a:rect l="l" t="t" r="r" b="b"/>
            <a:pathLst>
              <a:path w="714375" h="266700">
                <a:moveTo>
                  <a:pt x="38101" y="0"/>
                </a:moveTo>
                <a:lnTo>
                  <a:pt x="676274" y="0"/>
                </a:lnTo>
                <a:cubicBezTo>
                  <a:pt x="697317" y="0"/>
                  <a:pt x="714375" y="17058"/>
                  <a:pt x="714375" y="38101"/>
                </a:cubicBezTo>
                <a:lnTo>
                  <a:pt x="714375" y="228599"/>
                </a:lnTo>
                <a:cubicBezTo>
                  <a:pt x="714375" y="249628"/>
                  <a:pt x="697303" y="266700"/>
                  <a:pt x="6762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8A45C">
              <a:alpha val="10196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1526540" y="4581525"/>
            <a:ext cx="78105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context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26403" y="6091238"/>
            <a:ext cx="5610225" cy="504825"/>
          </a:xfrm>
          <a:custGeom>
            <a:avLst/>
            <a:gdLst/>
            <a:ahLst/>
            <a:cxnLst/>
            <a:rect l="l" t="t" r="r" b="b"/>
            <a:pathLst>
              <a:path w="5610225" h="504825">
                <a:moveTo>
                  <a:pt x="114302" y="0"/>
                </a:moveTo>
                <a:lnTo>
                  <a:pt x="5495923" y="0"/>
                </a:lnTo>
                <a:cubicBezTo>
                  <a:pt x="5559050" y="0"/>
                  <a:pt x="5610225" y="51175"/>
                  <a:pt x="5610225" y="114302"/>
                </a:cubicBezTo>
                <a:lnTo>
                  <a:pt x="5610225" y="390523"/>
                </a:lnTo>
                <a:cubicBezTo>
                  <a:pt x="5610225" y="453650"/>
                  <a:pt x="5559050" y="504825"/>
                  <a:pt x="549592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45C">
                  <a:alpha val="1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C8A45C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1190" y="62484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33" name="Text 31"/>
          <p:cNvSpPr/>
          <p:nvPr/>
        </p:nvSpPr>
        <p:spPr>
          <a:xfrm>
            <a:off x="935990" y="6248400"/>
            <a:ext cx="2333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关键：</a:t>
            </a:r>
            <a:r>
              <a:rPr lang="en-US" sz="105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把用户的问题直接拿去查知识库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36653" y="1233488"/>
            <a:ext cx="5610225" cy="4505325"/>
          </a:xfrm>
          <a:custGeom>
            <a:avLst/>
            <a:gdLst/>
            <a:ahLst/>
            <a:cxnLst/>
            <a:rect l="l" t="t" r="r" b="b"/>
            <a:pathLst>
              <a:path w="5610225" h="4505325">
                <a:moveTo>
                  <a:pt x="152415" y="0"/>
                </a:moveTo>
                <a:lnTo>
                  <a:pt x="5457810" y="0"/>
                </a:lnTo>
                <a:cubicBezTo>
                  <a:pt x="5541986" y="0"/>
                  <a:pt x="5610225" y="68239"/>
                  <a:pt x="5610225" y="152415"/>
                </a:cubicBezTo>
                <a:lnTo>
                  <a:pt x="5610225" y="4352910"/>
                </a:lnTo>
                <a:cubicBezTo>
                  <a:pt x="5610225" y="4437086"/>
                  <a:pt x="5541986" y="4505325"/>
                  <a:pt x="5457810" y="4505325"/>
                </a:cubicBezTo>
                <a:lnTo>
                  <a:pt x="152415" y="4505325"/>
                </a:lnTo>
                <a:cubicBezTo>
                  <a:pt x="68239" y="4505325"/>
                  <a:pt x="0" y="4437086"/>
                  <a:pt x="0" y="4352910"/>
                </a:cubicBezTo>
                <a:lnTo>
                  <a:pt x="0" y="152415"/>
                </a:lnTo>
                <a:cubicBezTo>
                  <a:pt x="0" y="68239"/>
                  <a:pt x="68239" y="0"/>
                  <a:pt x="15241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4E54">
                  <a:alpha val="2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1915" y="1428750"/>
            <a:ext cx="5305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测试效果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436678" y="1852613"/>
            <a:ext cx="5210175" cy="809625"/>
          </a:xfrm>
          <a:custGeom>
            <a:avLst/>
            <a:gdLst/>
            <a:ahLst/>
            <a:cxnLst/>
            <a:rect l="l" t="t" r="r" b="b"/>
            <a:pathLst>
              <a:path w="5210175" h="809625">
                <a:moveTo>
                  <a:pt x="114303" y="0"/>
                </a:moveTo>
                <a:lnTo>
                  <a:pt x="5095872" y="0"/>
                </a:lnTo>
                <a:cubicBezTo>
                  <a:pt x="5158958" y="0"/>
                  <a:pt x="5210175" y="51217"/>
                  <a:pt x="5210175" y="114303"/>
                </a:cubicBezTo>
                <a:lnTo>
                  <a:pt x="5210175" y="695322"/>
                </a:lnTo>
                <a:cubicBezTo>
                  <a:pt x="5210175" y="758408"/>
                  <a:pt x="5158958" y="809625"/>
                  <a:pt x="50958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93840" y="2009775"/>
            <a:ext cx="49625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测试输入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93840" y="2276475"/>
            <a:ext cx="4972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"华东区Q3纯电车型销量TOP3是谁？"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436678" y="2824163"/>
            <a:ext cx="5210175" cy="2714625"/>
          </a:xfrm>
          <a:custGeom>
            <a:avLst/>
            <a:gdLst/>
            <a:ahLst/>
            <a:cxnLst/>
            <a:rect l="l" t="t" r="r" b="b"/>
            <a:pathLst>
              <a:path w="5210175" h="2714625">
                <a:moveTo>
                  <a:pt x="114313" y="0"/>
                </a:moveTo>
                <a:lnTo>
                  <a:pt x="5095862" y="0"/>
                </a:lnTo>
                <a:cubicBezTo>
                  <a:pt x="5158995" y="0"/>
                  <a:pt x="5210175" y="51180"/>
                  <a:pt x="5210175" y="114313"/>
                </a:cubicBezTo>
                <a:lnTo>
                  <a:pt x="5210175" y="2600312"/>
                </a:lnTo>
                <a:cubicBezTo>
                  <a:pt x="5210175" y="2663445"/>
                  <a:pt x="5158995" y="2714625"/>
                  <a:pt x="5095862" y="2714625"/>
                </a:cubicBezTo>
                <a:lnTo>
                  <a:pt x="114313" y="2714625"/>
                </a:lnTo>
                <a:cubicBezTo>
                  <a:pt x="51180" y="2714625"/>
                  <a:pt x="0" y="2663445"/>
                  <a:pt x="0" y="2600312"/>
                </a:cubicBezTo>
                <a:lnTo>
                  <a:pt x="0" y="114313"/>
                </a:lnTo>
                <a:cubicBezTo>
                  <a:pt x="0" y="51180"/>
                  <a:pt x="51180" y="0"/>
                  <a:pt x="11431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C8A45C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93840" y="2981325"/>
            <a:ext cx="49625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知识库检索结果（召回内容）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612890" y="3286125"/>
            <a:ext cx="4876800" cy="647700"/>
          </a:xfrm>
          <a:custGeom>
            <a:avLst/>
            <a:gdLst/>
            <a:ahLst/>
            <a:cxnLst/>
            <a:rect l="l" t="t" r="r" b="b"/>
            <a:pathLst>
              <a:path w="4876800" h="647700">
                <a:moveTo>
                  <a:pt x="38100" y="0"/>
                </a:moveTo>
                <a:lnTo>
                  <a:pt x="4800598" y="0"/>
                </a:lnTo>
                <a:cubicBezTo>
                  <a:pt x="4842683" y="0"/>
                  <a:pt x="4876800" y="34117"/>
                  <a:pt x="4876800" y="76202"/>
                </a:cubicBezTo>
                <a:lnTo>
                  <a:pt x="4876800" y="571498"/>
                </a:lnTo>
                <a:cubicBezTo>
                  <a:pt x="4876800" y="613583"/>
                  <a:pt x="4842683" y="647700"/>
                  <a:pt x="48005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45C">
              <a:alpha val="10196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6612890" y="3286125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92" name="Text 41"/>
          <p:cNvSpPr/>
          <p:nvPr/>
        </p:nvSpPr>
        <p:spPr>
          <a:xfrm>
            <a:off x="6746240" y="3400425"/>
            <a:ext cx="4695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华东区定义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93" name="Text 42"/>
          <p:cNvSpPr/>
          <p:nvPr/>
        </p:nvSpPr>
        <p:spPr>
          <a:xfrm>
            <a:off x="6746240" y="3629025"/>
            <a:ext cx="4695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包含省份：上海市、江苏省、浙江省、安徽省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94" name="Shape 43"/>
          <p:cNvSpPr/>
          <p:nvPr/>
        </p:nvSpPr>
        <p:spPr>
          <a:xfrm>
            <a:off x="6612890" y="4010025"/>
            <a:ext cx="4876800" cy="647700"/>
          </a:xfrm>
          <a:custGeom>
            <a:avLst/>
            <a:gdLst/>
            <a:ahLst/>
            <a:cxnLst/>
            <a:rect l="l" t="t" r="r" b="b"/>
            <a:pathLst>
              <a:path w="4876800" h="647700">
                <a:moveTo>
                  <a:pt x="38100" y="0"/>
                </a:moveTo>
                <a:lnTo>
                  <a:pt x="4800598" y="0"/>
                </a:lnTo>
                <a:cubicBezTo>
                  <a:pt x="4842683" y="0"/>
                  <a:pt x="4876800" y="34117"/>
                  <a:pt x="4876800" y="76202"/>
                </a:cubicBezTo>
                <a:lnTo>
                  <a:pt x="4876800" y="571498"/>
                </a:lnTo>
                <a:cubicBezTo>
                  <a:pt x="4876800" y="613583"/>
                  <a:pt x="4842683" y="647700"/>
                  <a:pt x="48005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45C">
              <a:alpha val="10196"/>
            </a:srgbClr>
          </a:solidFill>
        </p:spPr>
      </p:sp>
      <p:sp>
        <p:nvSpPr>
          <p:cNvPr id="95" name="Shape 44"/>
          <p:cNvSpPr/>
          <p:nvPr/>
        </p:nvSpPr>
        <p:spPr>
          <a:xfrm>
            <a:off x="6612890" y="4010025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96" name="Text 45"/>
          <p:cNvSpPr/>
          <p:nvPr/>
        </p:nvSpPr>
        <p:spPr>
          <a:xfrm>
            <a:off x="6746240" y="4124325"/>
            <a:ext cx="4695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纯电车型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97" name="Text 46"/>
          <p:cNvSpPr/>
          <p:nvPr/>
        </p:nvSpPr>
        <p:spPr>
          <a:xfrm>
            <a:off x="6746240" y="4352925"/>
            <a:ext cx="4695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包含型号：i3, i4, iX3, iX, i5, i7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98" name="Shape 47"/>
          <p:cNvSpPr/>
          <p:nvPr/>
        </p:nvSpPr>
        <p:spPr>
          <a:xfrm>
            <a:off x="6612890" y="4733925"/>
            <a:ext cx="4876800" cy="647700"/>
          </a:xfrm>
          <a:custGeom>
            <a:avLst/>
            <a:gdLst/>
            <a:ahLst/>
            <a:cxnLst/>
            <a:rect l="l" t="t" r="r" b="b"/>
            <a:pathLst>
              <a:path w="4876800" h="647700">
                <a:moveTo>
                  <a:pt x="38100" y="0"/>
                </a:moveTo>
                <a:lnTo>
                  <a:pt x="4800598" y="0"/>
                </a:lnTo>
                <a:cubicBezTo>
                  <a:pt x="4842683" y="0"/>
                  <a:pt x="4876800" y="34117"/>
                  <a:pt x="4876800" y="76202"/>
                </a:cubicBezTo>
                <a:lnTo>
                  <a:pt x="4876800" y="571498"/>
                </a:lnTo>
                <a:cubicBezTo>
                  <a:pt x="4876800" y="613583"/>
                  <a:pt x="4842683" y="647700"/>
                  <a:pt x="48005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45C">
              <a:alpha val="10196"/>
            </a:srgbClr>
          </a:solidFill>
        </p:spPr>
      </p:sp>
      <p:sp>
        <p:nvSpPr>
          <p:cNvPr id="99" name="Shape 48"/>
          <p:cNvSpPr/>
          <p:nvPr/>
        </p:nvSpPr>
        <p:spPr>
          <a:xfrm>
            <a:off x="6612890" y="4733925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100" name="Text 49"/>
          <p:cNvSpPr/>
          <p:nvPr/>
        </p:nvSpPr>
        <p:spPr>
          <a:xfrm>
            <a:off x="6746240" y="4848225"/>
            <a:ext cx="4695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销量定义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01" name="Text 50"/>
          <p:cNvSpPr/>
          <p:nvPr/>
        </p:nvSpPr>
        <p:spPr>
          <a:xfrm>
            <a:off x="6746240" y="5076825"/>
            <a:ext cx="4695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指终端零售销量（发票已开）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02" name="Shape 51"/>
          <p:cNvSpPr/>
          <p:nvPr/>
        </p:nvSpPr>
        <p:spPr>
          <a:xfrm>
            <a:off x="6236653" y="5900738"/>
            <a:ext cx="5610225" cy="695325"/>
          </a:xfrm>
          <a:custGeom>
            <a:avLst/>
            <a:gdLst/>
            <a:ahLst/>
            <a:cxnLst/>
            <a:rect l="l" t="t" r="r" b="b"/>
            <a:pathLst>
              <a:path w="5610225" h="695325">
                <a:moveTo>
                  <a:pt x="114298" y="0"/>
                </a:moveTo>
                <a:lnTo>
                  <a:pt x="5495927" y="0"/>
                </a:lnTo>
                <a:cubicBezTo>
                  <a:pt x="5559052" y="0"/>
                  <a:pt x="5610225" y="51173"/>
                  <a:pt x="5610225" y="114298"/>
                </a:cubicBezTo>
                <a:lnTo>
                  <a:pt x="5610225" y="581027"/>
                </a:lnTo>
                <a:cubicBezTo>
                  <a:pt x="5610225" y="644152"/>
                  <a:pt x="5559052" y="695325"/>
                  <a:pt x="5495927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9E0">
                  <a:alpha val="20000"/>
                </a:srgbClr>
              </a:gs>
              <a:gs pos="100000">
                <a:srgbClr val="C8A45C">
                  <a:alpha val="20000"/>
                </a:srgbClr>
              </a:gs>
            </a:gsLst>
            <a:lin ang="0" scaled="1"/>
          </a:gra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103" name="Shape 52"/>
          <p:cNvSpPr/>
          <p:nvPr/>
        </p:nvSpPr>
        <p:spPr>
          <a:xfrm>
            <a:off x="6408103" y="6153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104" name="Text 53"/>
          <p:cNvSpPr/>
          <p:nvPr/>
        </p:nvSpPr>
        <p:spPr>
          <a:xfrm>
            <a:off x="6731134" y="6057900"/>
            <a:ext cx="5029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AI先去翻词典，把自己不懂的词查明白。查出来的内容会作为</a:t>
            </a:r>
            <a:r>
              <a:rPr lang="en-US" sz="1050" dirty="0">
                <a:solidFill>
                  <a:srgbClr val="C8A45C"/>
                </a:solidFill>
                <a:highlight>
                  <a:srgbClr val="C8A45C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"参考资料" </a:t>
            </a:r>
            <a:r>
              <a:rPr lang="en-US" sz="105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喂给下一个节点</a:t>
            </a:r>
            <a:endParaRPr lang="en-US" sz="1600" dirty="0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43" name="Shape 12"/>
          <p:cNvSpPr/>
          <p:nvPr/>
        </p:nvSpPr>
        <p:spPr>
          <a:xfrm>
            <a:off x="2131060" y="2038350"/>
            <a:ext cx="7929245" cy="2781300"/>
          </a:xfrm>
          <a:prstGeom prst="roundRect">
            <a:avLst>
              <a:gd name="adj" fmla="val 6043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13"/>
          <p:cNvSpPr/>
          <p:nvPr/>
        </p:nvSpPr>
        <p:spPr>
          <a:xfrm>
            <a:off x="2131695" y="2038350"/>
            <a:ext cx="7880985" cy="27971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BMWGroupTN Condensed TT" charset="0"/>
                <a:cs typeface="BMWGroupTN Condensed TT" charset="0"/>
                <a:sym typeface="+mn-ea"/>
              </a:rPr>
              <a:t>使用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BMWGroupTN Condensed TT" charset="0"/>
                <a:cs typeface="BMWGroupTN Condensed TT" charset="0"/>
                <a:sym typeface="+mn-ea"/>
              </a:rPr>
              <a:t>Dify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进行工作流节点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1+2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配置与测试</a:t>
            </a:r>
            <a:endParaRPr lang="zh-CN" altLang="en-US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" charset="0"/>
              <a:ea typeface="宋体" panose="02010600030101010101" pitchFamily="2" charset="-122"/>
              <a:cs typeface="BMWGroupTN Condensed TT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节点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SQL</a:t>
            </a:r>
            <a:r>
              <a:rPr lang="zh-CN" altLang="en-US"/>
              <a:t>代码生成器（</a:t>
            </a:r>
            <a:r>
              <a:rPr lang="en-US" altLang="zh-CN"/>
              <a:t>LLM</a:t>
            </a:r>
            <a:r>
              <a:rPr lang="zh-CN" altLang="en-US"/>
              <a:t>节点）</a:t>
            </a:r>
            <a:endParaRPr lang="zh-CN" altLang="en-US"/>
          </a:p>
        </p:txBody>
      </p:sp>
      <p:sp>
        <p:nvSpPr>
          <p:cNvPr id="2" name="Shape 4"/>
          <p:cNvSpPr/>
          <p:nvPr/>
        </p:nvSpPr>
        <p:spPr>
          <a:xfrm>
            <a:off x="379536" y="1197976"/>
            <a:ext cx="5622752" cy="5425955"/>
          </a:xfrm>
          <a:custGeom>
            <a:avLst/>
            <a:gdLst/>
            <a:ahLst/>
            <a:cxnLst/>
            <a:rect l="l" t="t" r="r" b="b"/>
            <a:pathLst>
              <a:path w="5622752" h="5425955">
                <a:moveTo>
                  <a:pt x="149919" y="0"/>
                </a:moveTo>
                <a:lnTo>
                  <a:pt x="5472833" y="0"/>
                </a:lnTo>
                <a:cubicBezTo>
                  <a:pt x="5555631" y="0"/>
                  <a:pt x="5622752" y="67121"/>
                  <a:pt x="5622752" y="149919"/>
                </a:cubicBezTo>
                <a:lnTo>
                  <a:pt x="5622752" y="5276036"/>
                </a:lnTo>
                <a:cubicBezTo>
                  <a:pt x="5622752" y="5358834"/>
                  <a:pt x="5555631" y="5425955"/>
                  <a:pt x="5472833" y="5425955"/>
                </a:cubicBezTo>
                <a:lnTo>
                  <a:pt x="149919" y="5425955"/>
                </a:lnTo>
                <a:cubicBezTo>
                  <a:pt x="67121" y="5425955"/>
                  <a:pt x="0" y="5358834"/>
                  <a:pt x="0" y="5276036"/>
                </a:cubicBezTo>
                <a:lnTo>
                  <a:pt x="0" y="149919"/>
                </a:lnTo>
                <a:cubicBezTo>
                  <a:pt x="0" y="67177"/>
                  <a:pt x="67177" y="0"/>
                  <a:pt x="149919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3" name="Shape 5"/>
          <p:cNvSpPr/>
          <p:nvPr/>
        </p:nvSpPr>
        <p:spPr>
          <a:xfrm>
            <a:off x="384221" y="1202662"/>
            <a:ext cx="5613380" cy="337365"/>
          </a:xfrm>
          <a:custGeom>
            <a:avLst/>
            <a:gdLst/>
            <a:ahLst/>
            <a:cxnLst/>
            <a:rect l="l" t="t" r="r" b="b"/>
            <a:pathLst>
              <a:path w="5613380" h="337365">
                <a:moveTo>
                  <a:pt x="0" y="0"/>
                </a:moveTo>
                <a:lnTo>
                  <a:pt x="5613380" y="0"/>
                </a:lnTo>
                <a:lnTo>
                  <a:pt x="5613380" y="337365"/>
                </a:lnTo>
                <a:lnTo>
                  <a:pt x="0" y="337365"/>
                </a:lnTo>
                <a:lnTo>
                  <a:pt x="0" y="0"/>
                </a:lnTo>
                <a:close/>
              </a:path>
            </a:pathLst>
          </a:custGeom>
          <a:solidFill>
            <a:srgbClr val="4A4E54">
              <a:alpha val="30196"/>
            </a:srgbClr>
          </a:solidFill>
        </p:spPr>
      </p:sp>
      <p:sp>
        <p:nvSpPr>
          <p:cNvPr id="4" name="Shape 6"/>
          <p:cNvSpPr/>
          <p:nvPr/>
        </p:nvSpPr>
        <p:spPr>
          <a:xfrm>
            <a:off x="534161" y="1315117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56228" y="0"/>
                </a:moveTo>
                <a:lnTo>
                  <a:pt x="56228" y="0"/>
                </a:lnTo>
                <a:cubicBezTo>
                  <a:pt x="87281" y="0"/>
                  <a:pt x="112455" y="25174"/>
                  <a:pt x="112455" y="56228"/>
                </a:cubicBezTo>
                <a:lnTo>
                  <a:pt x="112455" y="56228"/>
                </a:lnTo>
                <a:cubicBezTo>
                  <a:pt x="112455" y="87281"/>
                  <a:pt x="87281" y="112455"/>
                  <a:pt x="56228" y="112455"/>
                </a:cubicBezTo>
                <a:lnTo>
                  <a:pt x="56228" y="112455"/>
                </a:lnTo>
                <a:cubicBezTo>
                  <a:pt x="25174" y="112455"/>
                  <a:pt x="0" y="87281"/>
                  <a:pt x="0" y="56228"/>
                </a:cubicBezTo>
                <a:lnTo>
                  <a:pt x="0" y="56228"/>
                </a:lnTo>
                <a:cubicBezTo>
                  <a:pt x="0" y="25174"/>
                  <a:pt x="25174" y="0"/>
                  <a:pt x="56228" y="0"/>
                </a:cubicBezTo>
                <a:close/>
              </a:path>
            </a:pathLst>
          </a:custGeom>
          <a:solidFill>
            <a:srgbClr val="FB2C36">
              <a:alpha val="60000"/>
            </a:srgbClr>
          </a:solidFill>
        </p:spPr>
      </p:sp>
      <p:sp>
        <p:nvSpPr>
          <p:cNvPr id="5" name="Shape 7"/>
          <p:cNvSpPr/>
          <p:nvPr/>
        </p:nvSpPr>
        <p:spPr>
          <a:xfrm>
            <a:off x="721586" y="1315117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56228" y="0"/>
                </a:moveTo>
                <a:lnTo>
                  <a:pt x="56228" y="0"/>
                </a:lnTo>
                <a:cubicBezTo>
                  <a:pt x="87281" y="0"/>
                  <a:pt x="112455" y="25174"/>
                  <a:pt x="112455" y="56228"/>
                </a:cubicBezTo>
                <a:lnTo>
                  <a:pt x="112455" y="56228"/>
                </a:lnTo>
                <a:cubicBezTo>
                  <a:pt x="112455" y="87281"/>
                  <a:pt x="87281" y="112455"/>
                  <a:pt x="56228" y="112455"/>
                </a:cubicBezTo>
                <a:lnTo>
                  <a:pt x="56228" y="112455"/>
                </a:lnTo>
                <a:cubicBezTo>
                  <a:pt x="25174" y="112455"/>
                  <a:pt x="0" y="87281"/>
                  <a:pt x="0" y="56228"/>
                </a:cubicBezTo>
                <a:lnTo>
                  <a:pt x="0" y="56228"/>
                </a:lnTo>
                <a:cubicBezTo>
                  <a:pt x="0" y="25174"/>
                  <a:pt x="25174" y="0"/>
                  <a:pt x="56228" y="0"/>
                </a:cubicBezTo>
                <a:close/>
              </a:path>
            </a:pathLst>
          </a:custGeom>
          <a:solidFill>
            <a:srgbClr val="F0B100">
              <a:alpha val="60000"/>
            </a:srgbClr>
          </a:solidFill>
        </p:spPr>
      </p:sp>
      <p:sp>
        <p:nvSpPr>
          <p:cNvPr id="43" name="Shape 8"/>
          <p:cNvSpPr/>
          <p:nvPr/>
        </p:nvSpPr>
        <p:spPr>
          <a:xfrm>
            <a:off x="909012" y="1315117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12455" h="112455">
                <a:moveTo>
                  <a:pt x="56228" y="0"/>
                </a:moveTo>
                <a:lnTo>
                  <a:pt x="56228" y="0"/>
                </a:lnTo>
                <a:cubicBezTo>
                  <a:pt x="87281" y="0"/>
                  <a:pt x="112455" y="25174"/>
                  <a:pt x="112455" y="56228"/>
                </a:cubicBezTo>
                <a:lnTo>
                  <a:pt x="112455" y="56228"/>
                </a:lnTo>
                <a:cubicBezTo>
                  <a:pt x="112455" y="87281"/>
                  <a:pt x="87281" y="112455"/>
                  <a:pt x="56228" y="112455"/>
                </a:cubicBezTo>
                <a:lnTo>
                  <a:pt x="56228" y="112455"/>
                </a:lnTo>
                <a:cubicBezTo>
                  <a:pt x="25174" y="112455"/>
                  <a:pt x="0" y="87281"/>
                  <a:pt x="0" y="56228"/>
                </a:cubicBezTo>
                <a:lnTo>
                  <a:pt x="0" y="56228"/>
                </a:lnTo>
                <a:cubicBezTo>
                  <a:pt x="0" y="25174"/>
                  <a:pt x="25174" y="0"/>
                  <a:pt x="56228" y="0"/>
                </a:cubicBezTo>
                <a:close/>
              </a:path>
            </a:pathLst>
          </a:custGeom>
          <a:solidFill>
            <a:srgbClr val="00C950">
              <a:alpha val="60000"/>
            </a:srgbClr>
          </a:solidFill>
        </p:spPr>
      </p:sp>
      <p:sp>
        <p:nvSpPr>
          <p:cNvPr id="44" name="Text 9"/>
          <p:cNvSpPr/>
          <p:nvPr/>
        </p:nvSpPr>
        <p:spPr>
          <a:xfrm>
            <a:off x="1133922" y="1277632"/>
            <a:ext cx="805928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E8E9EA">
                    <a:alpha val="6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Prompt配置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534161" y="1689967"/>
            <a:ext cx="5379099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你是一位资深的SQL专家，精通宝马内部销售数据库结构。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534161" y="1989847"/>
            <a:ext cx="5379099" cy="374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请严格根据以下【参考信息】和【数据库表结构】，将用户的自然语言问题转化为一条标准SQL查询语句。</a:t>
            </a:r>
            <a:endParaRPr lang="en-US" sz="1200" dirty="0">
              <a:solidFill>
                <a:schemeClr val="tx1">
                  <a:alpha val="80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7" name="Shape 12"/>
          <p:cNvSpPr/>
          <p:nvPr/>
        </p:nvSpPr>
        <p:spPr>
          <a:xfrm>
            <a:off x="534161" y="2477152"/>
            <a:ext cx="5313500" cy="674730"/>
          </a:xfrm>
          <a:custGeom>
            <a:avLst/>
            <a:gdLst/>
            <a:ahLst/>
            <a:cxnLst/>
            <a:rect l="l" t="t" r="r" b="b"/>
            <a:pathLst>
              <a:path w="5313500" h="674730">
                <a:moveTo>
                  <a:pt x="74969" y="0"/>
                </a:moveTo>
                <a:lnTo>
                  <a:pt x="5238531" y="0"/>
                </a:lnTo>
                <a:cubicBezTo>
                  <a:pt x="5279935" y="0"/>
                  <a:pt x="5313500" y="33565"/>
                  <a:pt x="5313500" y="74969"/>
                </a:cubicBezTo>
                <a:lnTo>
                  <a:pt x="5313500" y="599761"/>
                </a:lnTo>
                <a:cubicBezTo>
                  <a:pt x="5313500" y="641165"/>
                  <a:pt x="5279935" y="674730"/>
                  <a:pt x="5238531" y="674730"/>
                </a:cubicBezTo>
                <a:lnTo>
                  <a:pt x="74969" y="674730"/>
                </a:lnTo>
                <a:cubicBezTo>
                  <a:pt x="33593" y="674730"/>
                  <a:pt x="0" y="641138"/>
                  <a:pt x="0" y="599761"/>
                </a:cubicBezTo>
                <a:lnTo>
                  <a:pt x="0" y="74969"/>
                </a:lnTo>
                <a:cubicBezTo>
                  <a:pt x="0" y="33593"/>
                  <a:pt x="33593" y="0"/>
                  <a:pt x="74969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</p:spPr>
      </p:sp>
      <p:sp>
        <p:nvSpPr>
          <p:cNvPr id="48" name="Text 13"/>
          <p:cNvSpPr/>
          <p:nvPr/>
        </p:nvSpPr>
        <p:spPr>
          <a:xfrm>
            <a:off x="646616" y="2589607"/>
            <a:ext cx="5154189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【参考信息】（来自知识库）：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646616" y="2852002"/>
            <a:ext cx="5154189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{{context}}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0" name="Shape 15"/>
          <p:cNvSpPr/>
          <p:nvPr/>
        </p:nvSpPr>
        <p:spPr>
          <a:xfrm>
            <a:off x="534161" y="3264337"/>
            <a:ext cx="5313500" cy="1049580"/>
          </a:xfrm>
          <a:custGeom>
            <a:avLst/>
            <a:gdLst/>
            <a:ahLst/>
            <a:cxnLst/>
            <a:rect l="l" t="t" r="r" b="b"/>
            <a:pathLst>
              <a:path w="5313500" h="1049580">
                <a:moveTo>
                  <a:pt x="74972" y="0"/>
                </a:moveTo>
                <a:lnTo>
                  <a:pt x="5238529" y="0"/>
                </a:lnTo>
                <a:cubicBezTo>
                  <a:pt x="5279934" y="0"/>
                  <a:pt x="5313500" y="33566"/>
                  <a:pt x="5313500" y="74972"/>
                </a:cubicBezTo>
                <a:lnTo>
                  <a:pt x="5313500" y="974609"/>
                </a:lnTo>
                <a:cubicBezTo>
                  <a:pt x="5313500" y="1016014"/>
                  <a:pt x="5279934" y="1049580"/>
                  <a:pt x="5238529" y="1049580"/>
                </a:cubicBezTo>
                <a:lnTo>
                  <a:pt x="74972" y="1049580"/>
                </a:lnTo>
                <a:cubicBezTo>
                  <a:pt x="33566" y="1049580"/>
                  <a:pt x="0" y="1016014"/>
                  <a:pt x="0" y="974609"/>
                </a:cubicBezTo>
                <a:lnTo>
                  <a:pt x="0" y="74972"/>
                </a:lnTo>
                <a:cubicBezTo>
                  <a:pt x="0" y="33566"/>
                  <a:pt x="33566" y="0"/>
                  <a:pt x="74972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</p:spPr>
      </p:sp>
      <p:sp>
        <p:nvSpPr>
          <p:cNvPr id="52" name="Text 16"/>
          <p:cNvSpPr/>
          <p:nvPr/>
        </p:nvSpPr>
        <p:spPr>
          <a:xfrm>
            <a:off x="646616" y="3376792"/>
            <a:ext cx="5154189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【数据库表结构】：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646616" y="3639187"/>
            <a:ext cx="5154189" cy="374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- 销售订单表：sales_order (dealer_id, model_code, sale_date, quantity)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646616" y="4014038"/>
            <a:ext cx="5154189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- 经销商表：dealer_info (id, dealer_name, province, city)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5" name="Shape 19"/>
          <p:cNvSpPr/>
          <p:nvPr/>
        </p:nvSpPr>
        <p:spPr>
          <a:xfrm>
            <a:off x="534161" y="4426373"/>
            <a:ext cx="5313500" cy="674730"/>
          </a:xfrm>
          <a:custGeom>
            <a:avLst/>
            <a:gdLst/>
            <a:ahLst/>
            <a:cxnLst/>
            <a:rect l="l" t="t" r="r" b="b"/>
            <a:pathLst>
              <a:path w="5313500" h="674730">
                <a:moveTo>
                  <a:pt x="74969" y="0"/>
                </a:moveTo>
                <a:lnTo>
                  <a:pt x="5238531" y="0"/>
                </a:lnTo>
                <a:cubicBezTo>
                  <a:pt x="5279935" y="0"/>
                  <a:pt x="5313500" y="33565"/>
                  <a:pt x="5313500" y="74969"/>
                </a:cubicBezTo>
                <a:lnTo>
                  <a:pt x="5313500" y="599761"/>
                </a:lnTo>
                <a:cubicBezTo>
                  <a:pt x="5313500" y="641165"/>
                  <a:pt x="5279935" y="674730"/>
                  <a:pt x="5238531" y="674730"/>
                </a:cubicBezTo>
                <a:lnTo>
                  <a:pt x="74969" y="674730"/>
                </a:lnTo>
                <a:cubicBezTo>
                  <a:pt x="33593" y="674730"/>
                  <a:pt x="0" y="641138"/>
                  <a:pt x="0" y="599761"/>
                </a:cubicBezTo>
                <a:lnTo>
                  <a:pt x="0" y="74969"/>
                </a:lnTo>
                <a:cubicBezTo>
                  <a:pt x="0" y="33593"/>
                  <a:pt x="33593" y="0"/>
                  <a:pt x="74969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</p:spPr>
      </p:sp>
      <p:sp>
        <p:nvSpPr>
          <p:cNvPr id="56" name="Text 20"/>
          <p:cNvSpPr/>
          <p:nvPr/>
        </p:nvSpPr>
        <p:spPr>
          <a:xfrm>
            <a:off x="646616" y="4538828"/>
            <a:ext cx="5154189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【用户问题】：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646616" y="4801223"/>
            <a:ext cx="5154189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{{user_query}}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8" name="Shape 22"/>
          <p:cNvSpPr/>
          <p:nvPr/>
        </p:nvSpPr>
        <p:spPr>
          <a:xfrm>
            <a:off x="538847" y="5218244"/>
            <a:ext cx="5304129" cy="1246377"/>
          </a:xfrm>
          <a:custGeom>
            <a:avLst/>
            <a:gdLst/>
            <a:ahLst/>
            <a:cxnLst/>
            <a:rect l="l" t="t" r="r" b="b"/>
            <a:pathLst>
              <a:path w="5304129" h="1246377">
                <a:moveTo>
                  <a:pt x="74970" y="0"/>
                </a:moveTo>
                <a:lnTo>
                  <a:pt x="5229160" y="0"/>
                </a:lnTo>
                <a:cubicBezTo>
                  <a:pt x="5270564" y="0"/>
                  <a:pt x="5304129" y="33565"/>
                  <a:pt x="5304129" y="74970"/>
                </a:cubicBezTo>
                <a:lnTo>
                  <a:pt x="5304129" y="1171407"/>
                </a:lnTo>
                <a:cubicBezTo>
                  <a:pt x="5304129" y="1212812"/>
                  <a:pt x="5270564" y="1246377"/>
                  <a:pt x="5229160" y="1246377"/>
                </a:cubicBezTo>
                <a:lnTo>
                  <a:pt x="74970" y="1246377"/>
                </a:lnTo>
                <a:cubicBezTo>
                  <a:pt x="33593" y="1246377"/>
                  <a:pt x="0" y="1212784"/>
                  <a:pt x="0" y="1171407"/>
                </a:cubicBezTo>
                <a:lnTo>
                  <a:pt x="0" y="74970"/>
                </a:lnTo>
                <a:cubicBezTo>
                  <a:pt x="0" y="33593"/>
                  <a:pt x="33593" y="0"/>
                  <a:pt x="74970" y="0"/>
                </a:cubicBez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59" name="Text 23"/>
          <p:cNvSpPr/>
          <p:nvPr/>
        </p:nvSpPr>
        <p:spPr>
          <a:xfrm>
            <a:off x="655988" y="5335384"/>
            <a:ext cx="5135447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【要求】：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0" name="Text 24"/>
          <p:cNvSpPr/>
          <p:nvPr/>
        </p:nvSpPr>
        <p:spPr>
          <a:xfrm>
            <a:off x="655988" y="5597779"/>
            <a:ext cx="5135447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1. 只输出纯SQL代码，不要任何解释文字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1" name="Text 25"/>
          <p:cNvSpPr/>
          <p:nvPr/>
        </p:nvSpPr>
        <p:spPr>
          <a:xfrm>
            <a:off x="655988" y="5785204"/>
            <a:ext cx="5135447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2. 禁止使用DELETE、DROP、UPDATE等修改操作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2" name="Text 26"/>
          <p:cNvSpPr/>
          <p:nvPr/>
        </p:nvSpPr>
        <p:spPr>
          <a:xfrm>
            <a:off x="655988" y="5972629"/>
            <a:ext cx="5135447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3. 对查询结果排序、限制条数需符合问题意图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3" name="Text 27"/>
          <p:cNvSpPr/>
          <p:nvPr/>
        </p:nvSpPr>
        <p:spPr>
          <a:xfrm>
            <a:off x="655988" y="6160054"/>
            <a:ext cx="5135447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4. 使用标准SQL语法</a:t>
            </a:r>
            <a:endParaRPr lang="en-US" sz="1200" dirty="0">
              <a:solidFill>
                <a:schemeClr val="tx1">
                  <a:alpha val="70000"/>
                </a:scheme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4" name="Shape 28"/>
          <p:cNvSpPr/>
          <p:nvPr/>
        </p:nvSpPr>
        <p:spPr>
          <a:xfrm>
            <a:off x="6195936" y="1197976"/>
            <a:ext cx="5622752" cy="4245178"/>
          </a:xfrm>
          <a:custGeom>
            <a:avLst/>
            <a:gdLst/>
            <a:ahLst/>
            <a:cxnLst/>
            <a:rect l="l" t="t" r="r" b="b"/>
            <a:pathLst>
              <a:path w="5622752" h="4245178">
                <a:moveTo>
                  <a:pt x="149940" y="0"/>
                </a:moveTo>
                <a:lnTo>
                  <a:pt x="5472812" y="0"/>
                </a:lnTo>
                <a:cubicBezTo>
                  <a:pt x="5555621" y="0"/>
                  <a:pt x="5622752" y="67130"/>
                  <a:pt x="5622752" y="149940"/>
                </a:cubicBezTo>
                <a:lnTo>
                  <a:pt x="5622752" y="4095238"/>
                </a:lnTo>
                <a:cubicBezTo>
                  <a:pt x="5622752" y="4178047"/>
                  <a:pt x="5555621" y="4245178"/>
                  <a:pt x="5472812" y="4245178"/>
                </a:cubicBezTo>
                <a:lnTo>
                  <a:pt x="149940" y="4245178"/>
                </a:lnTo>
                <a:cubicBezTo>
                  <a:pt x="67130" y="4245178"/>
                  <a:pt x="0" y="4178047"/>
                  <a:pt x="0" y="4095238"/>
                </a:cubicBezTo>
                <a:lnTo>
                  <a:pt x="0" y="149940"/>
                </a:lnTo>
                <a:cubicBezTo>
                  <a:pt x="0" y="67186"/>
                  <a:pt x="67186" y="0"/>
                  <a:pt x="14994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8000"/>
                </a:schemeClr>
              </a:gs>
              <a:gs pos="100000">
                <a:schemeClr val="tx2">
                  <a:alpha val="17000"/>
                </a:schemeClr>
              </a:gs>
            </a:gsLst>
            <a:lin ang="2700000" scaled="1"/>
          </a:gradFill>
          <a:ln w="12700">
            <a:noFill/>
            <a:prstDash val="solid"/>
          </a:ln>
        </p:spPr>
      </p:sp>
      <p:sp>
        <p:nvSpPr>
          <p:cNvPr id="65" name="Text 29"/>
          <p:cNvSpPr/>
          <p:nvPr/>
        </p:nvSpPr>
        <p:spPr>
          <a:xfrm>
            <a:off x="6388046" y="1390087"/>
            <a:ext cx="5322872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AI生成的SQL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6" name="Shape 30"/>
          <p:cNvSpPr/>
          <p:nvPr/>
        </p:nvSpPr>
        <p:spPr>
          <a:xfrm>
            <a:off x="6392732" y="1807108"/>
            <a:ext cx="5229159" cy="3083142"/>
          </a:xfrm>
          <a:custGeom>
            <a:avLst/>
            <a:gdLst/>
            <a:ahLst/>
            <a:cxnLst/>
            <a:rect l="l" t="t" r="r" b="b"/>
            <a:pathLst>
              <a:path w="5229159" h="3083142">
                <a:moveTo>
                  <a:pt x="112442" y="0"/>
                </a:moveTo>
                <a:lnTo>
                  <a:pt x="5116717" y="0"/>
                </a:lnTo>
                <a:cubicBezTo>
                  <a:pt x="5178817" y="0"/>
                  <a:pt x="5229159" y="50342"/>
                  <a:pt x="5229159" y="112442"/>
                </a:cubicBezTo>
                <a:lnTo>
                  <a:pt x="5229159" y="2970700"/>
                </a:lnTo>
                <a:cubicBezTo>
                  <a:pt x="5229159" y="3032800"/>
                  <a:pt x="5178817" y="3083142"/>
                  <a:pt x="5116717" y="3083142"/>
                </a:cubicBezTo>
                <a:lnTo>
                  <a:pt x="112442" y="3083142"/>
                </a:lnTo>
                <a:cubicBezTo>
                  <a:pt x="50342" y="3083142"/>
                  <a:pt x="0" y="3032800"/>
                  <a:pt x="0" y="2970700"/>
                </a:cubicBezTo>
                <a:lnTo>
                  <a:pt x="0" y="112442"/>
                </a:lnTo>
                <a:cubicBezTo>
                  <a:pt x="0" y="50342"/>
                  <a:pt x="50342" y="0"/>
                  <a:pt x="11244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67" name="Text 31"/>
          <p:cNvSpPr/>
          <p:nvPr/>
        </p:nvSpPr>
        <p:spPr>
          <a:xfrm>
            <a:off x="6547358" y="1961733"/>
            <a:ext cx="4985507" cy="27738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SELECT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d.dealer_name, </a:t>
            </a:r>
            <a:endParaRPr lang="en-US" sz="1600" dirty="0">
              <a:cs typeface="BMWGroupTN Condensed TT Light" charset="0"/>
            </a:endParaRPr>
          </a:p>
          <a:p>
            <a:pPr>
              <a:lnSpc>
                <a:spcPct val="100000"/>
              </a:lnSpc>
            </a:pP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      </a:t>
            </a: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SUM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(s.quantity) </a:t>
            </a: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as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total_sales</a:t>
            </a:r>
            <a:endParaRPr lang="en-US" sz="1600" dirty="0">
              <a:cs typeface="BMWGroupTN Condensed TT Light" charset="0"/>
            </a:endParaRPr>
          </a:p>
          <a:p>
            <a:pPr>
              <a:lnSpc>
                <a:spcPct val="100000"/>
              </a:lnSpc>
            </a:pP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FROM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sales_order s</a:t>
            </a:r>
            <a:endParaRPr lang="en-US" sz="1600" dirty="0">
              <a:cs typeface="BMWGroupTN Condensed TT Light" charset="0"/>
            </a:endParaRPr>
          </a:p>
          <a:p>
            <a:pPr>
              <a:lnSpc>
                <a:spcPct val="100000"/>
              </a:lnSpc>
            </a:pP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JOIN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dealer_info d </a:t>
            </a: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ON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s.dealer_id = d.id</a:t>
            </a:r>
            <a:endParaRPr lang="en-US" sz="1600" dirty="0">
              <a:cs typeface="BMWGroupTN Condensed TT Light" charset="0"/>
            </a:endParaRPr>
          </a:p>
          <a:p>
            <a:pPr>
              <a:lnSpc>
                <a:spcPct val="100000"/>
              </a:lnSpc>
            </a:pP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WHERE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d.province </a:t>
            </a: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IN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(</a:t>
            </a:r>
            <a:r>
              <a:rPr lang="en-US" sz="1035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'上海市'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, </a:t>
            </a:r>
            <a:r>
              <a:rPr lang="en-US" sz="1035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'江苏省'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, </a:t>
            </a:r>
            <a:endParaRPr lang="en-US" sz="1600" dirty="0">
              <a:cs typeface="BMWGroupTN Condensed TT Light" charset="0"/>
            </a:endParaRPr>
          </a:p>
          <a:p>
            <a:pPr>
              <a:lnSpc>
                <a:spcPct val="100000"/>
              </a:lnSpc>
            </a:pP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                     </a:t>
            </a:r>
            <a:r>
              <a:rPr lang="en-US" sz="1035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'浙江省'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, </a:t>
            </a:r>
            <a:r>
              <a:rPr lang="en-US" sz="1035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'安徽省'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)</a:t>
            </a:r>
            <a:endParaRPr lang="en-US" sz="1600" dirty="0">
              <a:cs typeface="BMWGroupTN Condensed TT Light" charset="0"/>
            </a:endParaRPr>
          </a:p>
          <a:p>
            <a:pPr>
              <a:lnSpc>
                <a:spcPct val="100000"/>
              </a:lnSpc>
            </a:pP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 </a:t>
            </a: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AND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s.model_code </a:t>
            </a: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IN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(</a:t>
            </a:r>
            <a:r>
              <a:rPr lang="en-US" sz="1035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'i3'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, </a:t>
            </a:r>
            <a:r>
              <a:rPr lang="en-US" sz="1035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'i4'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, </a:t>
            </a:r>
            <a:r>
              <a:rPr lang="en-US" sz="1035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'iX3'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, </a:t>
            </a:r>
            <a:endParaRPr lang="en-US" sz="1600" dirty="0">
              <a:cs typeface="BMWGroupTN Condensed TT Light" charset="0"/>
            </a:endParaRPr>
          </a:p>
          <a:p>
            <a:pPr>
              <a:lnSpc>
                <a:spcPct val="100000"/>
              </a:lnSpc>
            </a:pP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                        </a:t>
            </a:r>
            <a:r>
              <a:rPr lang="en-US" sz="1035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'iX'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, </a:t>
            </a:r>
            <a:r>
              <a:rPr lang="en-US" sz="1035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'i5'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, </a:t>
            </a:r>
            <a:r>
              <a:rPr lang="en-US" sz="1035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'i7'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)</a:t>
            </a:r>
            <a:endParaRPr lang="en-US" sz="1600" dirty="0">
              <a:cs typeface="BMWGroupTN Condensed TT Light" charset="0"/>
            </a:endParaRPr>
          </a:p>
          <a:p>
            <a:pPr>
              <a:lnSpc>
                <a:spcPct val="100000"/>
              </a:lnSpc>
            </a:pP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 </a:t>
            </a: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AND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s.sale_date </a:t>
            </a: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BETWEEN</a:t>
            </a:r>
            <a:r>
              <a:rPr lang="en-US" sz="1035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'2025-07-01'</a:t>
            </a: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AND</a:t>
            </a:r>
            <a:r>
              <a:rPr lang="en-US" sz="1035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'2025-09-30'</a:t>
            </a: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GROUP BY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d.dealer_name</a:t>
            </a:r>
            <a:endParaRPr lang="en-US" sz="1600" dirty="0">
              <a:cs typeface="BMWGroupTN Condensed TT Light" charset="0"/>
            </a:endParaRPr>
          </a:p>
          <a:p>
            <a:pPr>
              <a:lnSpc>
                <a:spcPct val="100000"/>
              </a:lnSpc>
            </a:pP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ORDER BY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 total_sales </a:t>
            </a: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DESCLIMIT</a:t>
            </a:r>
            <a:r>
              <a:rPr lang="en-US" sz="1035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3</a:t>
            </a:r>
            <a:r>
              <a:rPr lang="en-US" sz="1035" dirty="0">
                <a:solidFill>
                  <a:srgbClr val="E8E9EA">
                    <a:alpha val="9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;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8" name="Shape 32"/>
          <p:cNvSpPr/>
          <p:nvPr/>
        </p:nvSpPr>
        <p:spPr>
          <a:xfrm>
            <a:off x="6195936" y="5602465"/>
            <a:ext cx="5622752" cy="1021467"/>
          </a:xfrm>
          <a:custGeom>
            <a:avLst/>
            <a:gdLst/>
            <a:ahLst/>
            <a:cxnLst/>
            <a:rect l="l" t="t" r="r" b="b"/>
            <a:pathLst>
              <a:path w="5622752" h="1021467">
                <a:moveTo>
                  <a:pt x="112453" y="0"/>
                </a:moveTo>
                <a:lnTo>
                  <a:pt x="5510298" y="0"/>
                </a:lnTo>
                <a:cubicBezTo>
                  <a:pt x="5572405" y="0"/>
                  <a:pt x="5622752" y="50347"/>
                  <a:pt x="5622752" y="112453"/>
                </a:cubicBezTo>
                <a:lnTo>
                  <a:pt x="5622752" y="909013"/>
                </a:lnTo>
                <a:cubicBezTo>
                  <a:pt x="5622752" y="971120"/>
                  <a:pt x="5572405" y="1021467"/>
                  <a:pt x="5510298" y="1021467"/>
                </a:cubicBezTo>
                <a:lnTo>
                  <a:pt x="112453" y="1021467"/>
                </a:lnTo>
                <a:cubicBezTo>
                  <a:pt x="50389" y="1021467"/>
                  <a:pt x="0" y="971078"/>
                  <a:pt x="0" y="909013"/>
                </a:cubicBezTo>
                <a:lnTo>
                  <a:pt x="0" y="112453"/>
                </a:lnTo>
                <a:cubicBezTo>
                  <a:pt x="0" y="50389"/>
                  <a:pt x="50389" y="0"/>
                  <a:pt x="11245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9E0">
                  <a:alpha val="20000"/>
                </a:srgbClr>
              </a:gs>
              <a:gs pos="100000">
                <a:srgbClr val="C8A45C">
                  <a:alpha val="20000"/>
                </a:srgbClr>
              </a:gs>
            </a:gsLst>
            <a:lin ang="0" scaled="1"/>
          </a:gra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69" name="Shape 33"/>
          <p:cNvSpPr/>
          <p:nvPr/>
        </p:nvSpPr>
        <p:spPr>
          <a:xfrm>
            <a:off x="6355247" y="5794576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145877" y="4466"/>
                </a:moveTo>
                <a:lnTo>
                  <a:pt x="113590" y="36753"/>
                </a:lnTo>
                <a:lnTo>
                  <a:pt x="150672" y="73835"/>
                </a:lnTo>
                <a:lnTo>
                  <a:pt x="182959" y="41548"/>
                </a:lnTo>
                <a:cubicBezTo>
                  <a:pt x="185814" y="38656"/>
                  <a:pt x="187425" y="34776"/>
                  <a:pt x="187425" y="30749"/>
                </a:cubicBezTo>
                <a:cubicBezTo>
                  <a:pt x="187425" y="26723"/>
                  <a:pt x="185814" y="22842"/>
                  <a:pt x="182959" y="19951"/>
                </a:cubicBezTo>
                <a:lnTo>
                  <a:pt x="167475" y="4466"/>
                </a:lnTo>
                <a:cubicBezTo>
                  <a:pt x="164583" y="1611"/>
                  <a:pt x="160702" y="0"/>
                  <a:pt x="156676" y="0"/>
                </a:cubicBezTo>
                <a:cubicBezTo>
                  <a:pt x="152649" y="0"/>
                  <a:pt x="148769" y="1611"/>
                  <a:pt x="145877" y="4466"/>
                </a:cubicBezTo>
                <a:close/>
                <a:moveTo>
                  <a:pt x="101180" y="49162"/>
                </a:moveTo>
                <a:lnTo>
                  <a:pt x="4466" y="145877"/>
                </a:lnTo>
                <a:cubicBezTo>
                  <a:pt x="1611" y="148769"/>
                  <a:pt x="0" y="152649"/>
                  <a:pt x="0" y="156676"/>
                </a:cubicBezTo>
                <a:cubicBezTo>
                  <a:pt x="0" y="160702"/>
                  <a:pt x="1611" y="164583"/>
                  <a:pt x="4466" y="167475"/>
                </a:cubicBezTo>
                <a:lnTo>
                  <a:pt x="19951" y="182959"/>
                </a:lnTo>
                <a:cubicBezTo>
                  <a:pt x="22842" y="185814"/>
                  <a:pt x="26723" y="187425"/>
                  <a:pt x="30749" y="187425"/>
                </a:cubicBezTo>
                <a:cubicBezTo>
                  <a:pt x="34776" y="187425"/>
                  <a:pt x="38656" y="185814"/>
                  <a:pt x="41548" y="182959"/>
                </a:cubicBezTo>
                <a:lnTo>
                  <a:pt x="138263" y="86245"/>
                </a:lnTo>
                <a:lnTo>
                  <a:pt x="101180" y="49162"/>
                </a:lnTo>
                <a:close/>
              </a:path>
            </a:pathLst>
          </a:custGeom>
          <a:solidFill>
            <a:srgbClr val="C8A45C"/>
          </a:solidFill>
        </p:spPr>
      </p:sp>
      <p:sp>
        <p:nvSpPr>
          <p:cNvPr id="70" name="Text 34"/>
          <p:cNvSpPr/>
          <p:nvPr/>
        </p:nvSpPr>
        <p:spPr>
          <a:xfrm>
            <a:off x="6661204" y="5757091"/>
            <a:ext cx="5079219" cy="449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看！</a:t>
            </a:r>
            <a:r>
              <a:rPr lang="en-US" sz="118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SQL自动生成了，而且WHERE条件里的</a:t>
            </a:r>
            <a:r>
              <a:rPr lang="en-US" sz="1180" dirty="0">
                <a:solidFill>
                  <a:srgbClr val="00A9E0"/>
                </a:solidFill>
                <a:highlight>
                  <a:srgbClr val="00A9E0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省份 </a:t>
            </a:r>
            <a:r>
              <a:rPr lang="en-US" sz="118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、</a:t>
            </a:r>
            <a:r>
              <a:rPr lang="en-US" sz="1180" dirty="0">
                <a:solidFill>
                  <a:srgbClr val="00A9E0"/>
                </a:solidFill>
                <a:highlight>
                  <a:srgbClr val="00A9E0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车型 </a:t>
            </a:r>
            <a:r>
              <a:rPr lang="en-US" sz="118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全是从知识库查出来的准确值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1" name="Text 35"/>
          <p:cNvSpPr/>
          <p:nvPr/>
        </p:nvSpPr>
        <p:spPr>
          <a:xfrm>
            <a:off x="6661204" y="6281881"/>
            <a:ext cx="5069848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这就是"检索增强生成"（RAG）的威力</a:t>
            </a:r>
            <a:endParaRPr lang="en-US" sz="1600" dirty="0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43" name="Shape 12"/>
          <p:cNvSpPr/>
          <p:nvPr/>
        </p:nvSpPr>
        <p:spPr>
          <a:xfrm>
            <a:off x="2131060" y="2038350"/>
            <a:ext cx="7929245" cy="2781300"/>
          </a:xfrm>
          <a:prstGeom prst="roundRect">
            <a:avLst>
              <a:gd name="adj" fmla="val 6043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13"/>
          <p:cNvSpPr/>
          <p:nvPr/>
        </p:nvSpPr>
        <p:spPr>
          <a:xfrm>
            <a:off x="2131695" y="2038350"/>
            <a:ext cx="7880985" cy="27971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BMWGroupTN Condensed TT" charset="0"/>
                <a:cs typeface="BMWGroupTN Condensed TT" charset="0"/>
                <a:sym typeface="+mn-ea"/>
              </a:rPr>
              <a:t>使用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BMWGroupTN Condensed TT" charset="0"/>
                <a:cs typeface="BMWGroupTN Condensed TT" charset="0"/>
                <a:sym typeface="+mn-ea"/>
              </a:rPr>
              <a:t>Dify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进行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LLM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节点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Prompt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配置与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SQL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生成</a:t>
            </a:r>
            <a:endParaRPr lang="zh-CN" altLang="en-US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" charset="0"/>
              <a:ea typeface="宋体" panose="02010600030101010101" pitchFamily="2" charset="-122"/>
              <a:cs typeface="BMWGroupTN Condensed TT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节点</a:t>
            </a:r>
            <a:r>
              <a:rPr lang="en-US" altLang="zh-CN"/>
              <a:t>4+5</a:t>
            </a:r>
            <a:r>
              <a:rPr lang="zh-CN" altLang="en-US"/>
              <a:t>：</a:t>
            </a:r>
            <a:r>
              <a:rPr lang="en-US" altLang="zh-CN"/>
              <a:t>SQL</a:t>
            </a:r>
            <a:r>
              <a:rPr lang="zh-CN" altLang="en-US"/>
              <a:t>执行器与图表生成</a:t>
            </a:r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85763" y="1190308"/>
            <a:ext cx="5610225" cy="4257675"/>
          </a:xfrm>
          <a:custGeom>
            <a:avLst/>
            <a:gdLst/>
            <a:ahLst/>
            <a:cxnLst/>
            <a:rect l="l" t="t" r="r" b="b"/>
            <a:pathLst>
              <a:path w="5610225" h="4257675">
                <a:moveTo>
                  <a:pt x="152382" y="0"/>
                </a:moveTo>
                <a:lnTo>
                  <a:pt x="5457843" y="0"/>
                </a:lnTo>
                <a:cubicBezTo>
                  <a:pt x="5542001" y="0"/>
                  <a:pt x="5610225" y="68224"/>
                  <a:pt x="5610225" y="152382"/>
                </a:cubicBezTo>
                <a:lnTo>
                  <a:pt x="5610225" y="4105293"/>
                </a:lnTo>
                <a:cubicBezTo>
                  <a:pt x="5610225" y="4189451"/>
                  <a:pt x="5542001" y="4257675"/>
                  <a:pt x="5457843" y="4257675"/>
                </a:cubicBezTo>
                <a:lnTo>
                  <a:pt x="152382" y="4257675"/>
                </a:lnTo>
                <a:cubicBezTo>
                  <a:pt x="68224" y="4257675"/>
                  <a:pt x="0" y="4189451"/>
                  <a:pt x="0" y="4105293"/>
                </a:cubicBezTo>
                <a:lnTo>
                  <a:pt x="0" y="152382"/>
                </a:lnTo>
                <a:cubicBezTo>
                  <a:pt x="0" y="68280"/>
                  <a:pt x="68280" y="0"/>
                  <a:pt x="152382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8000"/>
                </a:schemeClr>
              </a:gs>
              <a:gs pos="100000">
                <a:schemeClr val="tx2">
                  <a:alpha val="17000"/>
                </a:schemeClr>
              </a:gs>
            </a:gsLst>
            <a:lin ang="2700000" scaled="1"/>
          </a:gradFill>
          <a:ln w="12700">
            <a:noFill/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1025" y="1385570"/>
            <a:ext cx="5305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节点4：SQL执行器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5788" y="1809433"/>
            <a:ext cx="5210175" cy="1419225"/>
          </a:xfrm>
          <a:custGeom>
            <a:avLst/>
            <a:gdLst/>
            <a:ahLst/>
            <a:cxnLst/>
            <a:rect l="l" t="t" r="r" b="b"/>
            <a:pathLst>
              <a:path w="5210175" h="1419225">
                <a:moveTo>
                  <a:pt x="114304" y="0"/>
                </a:moveTo>
                <a:lnTo>
                  <a:pt x="5095871" y="0"/>
                </a:lnTo>
                <a:cubicBezTo>
                  <a:pt x="5158999" y="0"/>
                  <a:pt x="5210175" y="51176"/>
                  <a:pt x="5210175" y="114304"/>
                </a:cubicBezTo>
                <a:lnTo>
                  <a:pt x="5210175" y="1304921"/>
                </a:lnTo>
                <a:cubicBezTo>
                  <a:pt x="5210175" y="1368049"/>
                  <a:pt x="5158999" y="1419225"/>
                  <a:pt x="5095871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1525" y="200469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10" name="Text 8"/>
          <p:cNvSpPr/>
          <p:nvPr/>
        </p:nvSpPr>
        <p:spPr>
          <a:xfrm>
            <a:off x="1009650" y="1966595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数据库连接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2950" y="2309495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E54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连接名称：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485900" y="2271395"/>
            <a:ext cx="1600200" cy="266700"/>
          </a:xfrm>
          <a:custGeom>
            <a:avLst/>
            <a:gdLst/>
            <a:ahLst/>
            <a:cxnLst/>
            <a:rect l="l" t="t" r="r" b="b"/>
            <a:pathLst>
              <a:path w="1600200" h="266700">
                <a:moveTo>
                  <a:pt x="38101" y="0"/>
                </a:moveTo>
                <a:lnTo>
                  <a:pt x="1562099" y="0"/>
                </a:lnTo>
                <a:cubicBezTo>
                  <a:pt x="1583142" y="0"/>
                  <a:pt x="1600200" y="17058"/>
                  <a:pt x="1600200" y="38101"/>
                </a:cubicBezTo>
                <a:lnTo>
                  <a:pt x="1600200" y="228599"/>
                </a:lnTo>
                <a:cubicBezTo>
                  <a:pt x="1600200" y="249642"/>
                  <a:pt x="1583142" y="266700"/>
                  <a:pt x="1562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9E0">
              <a:alpha val="1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1485900" y="2271395"/>
            <a:ext cx="166687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bmw_sales_readonly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2950" y="2614295"/>
            <a:ext cx="466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E54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权限：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19200" y="2614295"/>
            <a:ext cx="504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5DF72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✓ 只读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2950" y="2880995"/>
            <a:ext cx="466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E54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密码：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19200" y="2880995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E54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••••••••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85788" y="3390583"/>
            <a:ext cx="5210175" cy="885825"/>
          </a:xfrm>
          <a:custGeom>
            <a:avLst/>
            <a:gdLst/>
            <a:ahLst/>
            <a:cxnLst/>
            <a:rect l="l" t="t" r="r" b="b"/>
            <a:pathLst>
              <a:path w="5210175" h="885825">
                <a:moveTo>
                  <a:pt x="114298" y="0"/>
                </a:moveTo>
                <a:lnTo>
                  <a:pt x="5095877" y="0"/>
                </a:lnTo>
                <a:cubicBezTo>
                  <a:pt x="5158960" y="0"/>
                  <a:pt x="5210175" y="51215"/>
                  <a:pt x="5210175" y="114298"/>
                </a:cubicBezTo>
                <a:lnTo>
                  <a:pt x="5210175" y="771527"/>
                </a:lnTo>
                <a:cubicBezTo>
                  <a:pt x="5210175" y="834610"/>
                  <a:pt x="5158960" y="885825"/>
                  <a:pt x="5095877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2475" y="358584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20" name="Text 18"/>
          <p:cNvSpPr/>
          <p:nvPr/>
        </p:nvSpPr>
        <p:spPr>
          <a:xfrm>
            <a:off x="1009650" y="3547745"/>
            <a:ext cx="981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SQL语句来源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2950" y="3890645"/>
            <a:ext cx="466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E54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来源：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219200" y="3852545"/>
            <a:ext cx="1200150" cy="266700"/>
          </a:xfrm>
          <a:custGeom>
            <a:avLst/>
            <a:gdLst/>
            <a:ahLst/>
            <a:cxnLst/>
            <a:rect l="l" t="t" r="r" b="b"/>
            <a:pathLst>
              <a:path w="1200150" h="266700">
                <a:moveTo>
                  <a:pt x="38101" y="0"/>
                </a:moveTo>
                <a:lnTo>
                  <a:pt x="1162049" y="0"/>
                </a:lnTo>
                <a:cubicBezTo>
                  <a:pt x="1183092" y="0"/>
                  <a:pt x="1200150" y="17058"/>
                  <a:pt x="1200150" y="38101"/>
                </a:cubicBezTo>
                <a:lnTo>
                  <a:pt x="1200150" y="228599"/>
                </a:lnTo>
                <a:cubicBezTo>
                  <a:pt x="1200150" y="249642"/>
                  <a:pt x="1183092" y="266700"/>
                  <a:pt x="11620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8A45C">
              <a:alpha val="10196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1219200" y="3852545"/>
            <a:ext cx="126682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{{sql_query}}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85788" y="4438333"/>
            <a:ext cx="5210175" cy="809625"/>
          </a:xfrm>
          <a:custGeom>
            <a:avLst/>
            <a:gdLst/>
            <a:ahLst/>
            <a:cxnLst/>
            <a:rect l="l" t="t" r="r" b="b"/>
            <a:pathLst>
              <a:path w="5210175" h="809625">
                <a:moveTo>
                  <a:pt x="114303" y="0"/>
                </a:moveTo>
                <a:lnTo>
                  <a:pt x="5095872" y="0"/>
                </a:lnTo>
                <a:cubicBezTo>
                  <a:pt x="5158958" y="0"/>
                  <a:pt x="5210175" y="51217"/>
                  <a:pt x="5210175" y="114303"/>
                </a:cubicBezTo>
                <a:lnTo>
                  <a:pt x="5210175" y="695322"/>
                </a:lnTo>
                <a:cubicBezTo>
                  <a:pt x="5210175" y="758408"/>
                  <a:pt x="5158958" y="809625"/>
                  <a:pt x="50958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0D542B">
              <a:alpha val="2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000" y="463359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5DF72"/>
          </a:solidFill>
        </p:spPr>
      </p:sp>
      <p:sp>
        <p:nvSpPr>
          <p:cNvPr id="26" name="Text 24"/>
          <p:cNvSpPr/>
          <p:nvPr/>
        </p:nvSpPr>
        <p:spPr>
          <a:xfrm>
            <a:off x="1009650" y="459549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5DF72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执行结果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2950" y="4900295"/>
            <a:ext cx="4962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返回JSON格式数据表格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85763" y="5609908"/>
            <a:ext cx="5610225" cy="771525"/>
          </a:xfrm>
          <a:custGeom>
            <a:avLst/>
            <a:gdLst/>
            <a:ahLst/>
            <a:cxnLst/>
            <a:rect l="l" t="t" r="r" b="b"/>
            <a:pathLst>
              <a:path w="5610225" h="77152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657224"/>
                </a:lnTo>
                <a:cubicBezTo>
                  <a:pt x="5610225" y="720351"/>
                  <a:pt x="5559051" y="771525"/>
                  <a:pt x="549592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C8A45C">
                  <a:alpha val="1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C8A45C">
                <a:alpha val="3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2925" y="5767070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节点5：图表生成器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2925" y="6033770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使用Python代码节点，将数据转为ECharts格式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196013" y="1190308"/>
            <a:ext cx="5610225" cy="5191125"/>
          </a:xfrm>
          <a:custGeom>
            <a:avLst/>
            <a:gdLst/>
            <a:ahLst/>
            <a:cxnLst/>
            <a:rect l="l" t="t" r="r" b="b"/>
            <a:pathLst>
              <a:path w="5610225" h="5191125">
                <a:moveTo>
                  <a:pt x="152411" y="0"/>
                </a:moveTo>
                <a:lnTo>
                  <a:pt x="5457814" y="0"/>
                </a:lnTo>
                <a:cubicBezTo>
                  <a:pt x="5541932" y="0"/>
                  <a:pt x="5610225" y="68293"/>
                  <a:pt x="5610225" y="152411"/>
                </a:cubicBezTo>
                <a:lnTo>
                  <a:pt x="5610225" y="5038714"/>
                </a:lnTo>
                <a:cubicBezTo>
                  <a:pt x="5610225" y="5122888"/>
                  <a:pt x="5541988" y="5191125"/>
                  <a:pt x="5457814" y="5191125"/>
                </a:cubicBezTo>
                <a:lnTo>
                  <a:pt x="152411" y="5191125"/>
                </a:lnTo>
                <a:cubicBezTo>
                  <a:pt x="68237" y="5191125"/>
                  <a:pt x="0" y="5122888"/>
                  <a:pt x="0" y="503871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4E54">
                  <a:alpha val="2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1275" y="1385570"/>
            <a:ext cx="5305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最终输出效果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96038" y="1809433"/>
            <a:ext cx="5210175" cy="2847975"/>
          </a:xfrm>
          <a:custGeom>
            <a:avLst/>
            <a:gdLst/>
            <a:ahLst/>
            <a:cxnLst/>
            <a:rect l="l" t="t" r="r" b="b"/>
            <a:pathLst>
              <a:path w="5210175" h="2847975">
                <a:moveTo>
                  <a:pt x="114289" y="0"/>
                </a:moveTo>
                <a:lnTo>
                  <a:pt x="5095886" y="0"/>
                </a:lnTo>
                <a:cubicBezTo>
                  <a:pt x="5159006" y="0"/>
                  <a:pt x="5210175" y="51169"/>
                  <a:pt x="5210175" y="114289"/>
                </a:cubicBezTo>
                <a:lnTo>
                  <a:pt x="5210175" y="2733686"/>
                </a:lnTo>
                <a:cubicBezTo>
                  <a:pt x="5210175" y="2796806"/>
                  <a:pt x="5159006" y="2847975"/>
                  <a:pt x="5095886" y="2847975"/>
                </a:cubicBezTo>
                <a:lnTo>
                  <a:pt x="114289" y="2847975"/>
                </a:lnTo>
                <a:cubicBezTo>
                  <a:pt x="51169" y="2847975"/>
                  <a:pt x="0" y="2796806"/>
                  <a:pt x="0" y="2733686"/>
                </a:cubicBezTo>
                <a:lnTo>
                  <a:pt x="0" y="114289"/>
                </a:lnTo>
                <a:cubicBezTo>
                  <a:pt x="0" y="51211"/>
                  <a:pt x="51211" y="0"/>
                  <a:pt x="11428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53200" y="1966595"/>
            <a:ext cx="49625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前端对话界面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553200" y="2271395"/>
            <a:ext cx="4895850" cy="2228850"/>
          </a:xfrm>
          <a:custGeom>
            <a:avLst/>
            <a:gdLst/>
            <a:ahLst/>
            <a:cxnLst/>
            <a:rect l="l" t="t" r="r" b="b"/>
            <a:pathLst>
              <a:path w="4895850" h="2228850">
                <a:moveTo>
                  <a:pt x="76204" y="0"/>
                </a:moveTo>
                <a:lnTo>
                  <a:pt x="4819646" y="0"/>
                </a:lnTo>
                <a:cubicBezTo>
                  <a:pt x="4861732" y="0"/>
                  <a:pt x="4895850" y="34118"/>
                  <a:pt x="4895850" y="76204"/>
                </a:cubicBezTo>
                <a:lnTo>
                  <a:pt x="4895850" y="2152646"/>
                </a:lnTo>
                <a:cubicBezTo>
                  <a:pt x="4895850" y="2194732"/>
                  <a:pt x="4861732" y="2228850"/>
                  <a:pt x="4819646" y="2228850"/>
                </a:cubicBezTo>
                <a:lnTo>
                  <a:pt x="76204" y="2228850"/>
                </a:lnTo>
                <a:cubicBezTo>
                  <a:pt x="34118" y="2228850"/>
                  <a:pt x="0" y="2194732"/>
                  <a:pt x="0" y="21526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6705600" y="242379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8A45C">
              <a:alpha val="2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802041" y="250952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C8A45C"/>
          </a:solidFill>
        </p:spPr>
      </p:sp>
      <p:sp>
        <p:nvSpPr>
          <p:cNvPr id="38" name="Text 36"/>
          <p:cNvSpPr/>
          <p:nvPr/>
        </p:nvSpPr>
        <p:spPr>
          <a:xfrm>
            <a:off x="7086600" y="2480945"/>
            <a:ext cx="2286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"华东区Q3纯电车型销量TOP3是谁？"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710363" y="2885758"/>
            <a:ext cx="4581525" cy="1457325"/>
          </a:xfrm>
          <a:custGeom>
            <a:avLst/>
            <a:gdLst/>
            <a:ahLst/>
            <a:cxnLst/>
            <a:rect l="l" t="t" r="r" b="b"/>
            <a:pathLst>
              <a:path w="4581525" h="1457325">
                <a:moveTo>
                  <a:pt x="76204" y="0"/>
                </a:moveTo>
                <a:lnTo>
                  <a:pt x="4505321" y="0"/>
                </a:lnTo>
                <a:cubicBezTo>
                  <a:pt x="4547408" y="0"/>
                  <a:pt x="4581525" y="34117"/>
                  <a:pt x="4581525" y="76204"/>
                </a:cubicBezTo>
                <a:lnTo>
                  <a:pt x="4581525" y="1381121"/>
                </a:lnTo>
                <a:cubicBezTo>
                  <a:pt x="4581525" y="1423208"/>
                  <a:pt x="4547408" y="1457325"/>
                  <a:pt x="4505321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67525" y="3042920"/>
            <a:ext cx="4333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华东区Q3纯电车型销量TOP3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867525" y="3347720"/>
            <a:ext cx="914400" cy="228600"/>
          </a:xfrm>
          <a:custGeom>
            <a:avLst/>
            <a:gdLst/>
            <a:ahLst/>
            <a:cxnLst/>
            <a:rect l="l" t="t" r="r" b="b"/>
            <a:pathLst>
              <a:path w="914400" h="228600">
                <a:moveTo>
                  <a:pt x="38101" y="0"/>
                </a:moveTo>
                <a:lnTo>
                  <a:pt x="876299" y="0"/>
                </a:lnTo>
                <a:cubicBezTo>
                  <a:pt x="897342" y="0"/>
                  <a:pt x="914400" y="17058"/>
                  <a:pt x="914400" y="38101"/>
                </a:cubicBezTo>
                <a:lnTo>
                  <a:pt x="914400" y="190499"/>
                </a:lnTo>
                <a:cubicBezTo>
                  <a:pt x="914400" y="211542"/>
                  <a:pt x="897342" y="228600"/>
                  <a:pt x="8762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4E54">
              <a:alpha val="4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6943725" y="3385820"/>
            <a:ext cx="819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上海宝诚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2" name="Shape 41"/>
          <p:cNvSpPr/>
          <p:nvPr/>
        </p:nvSpPr>
        <p:spPr>
          <a:xfrm>
            <a:off x="7896225" y="3347720"/>
            <a:ext cx="2667000" cy="228600"/>
          </a:xfrm>
          <a:custGeom>
            <a:avLst/>
            <a:gdLst/>
            <a:ahLst/>
            <a:cxnLst/>
            <a:rect l="l" t="t" r="r" b="b"/>
            <a:pathLst>
              <a:path w="2667000" h="228600">
                <a:moveTo>
                  <a:pt x="114300" y="0"/>
                </a:moveTo>
                <a:lnTo>
                  <a:pt x="2552700" y="0"/>
                </a:lnTo>
                <a:cubicBezTo>
                  <a:pt x="2615784" y="0"/>
                  <a:pt x="2667000" y="51216"/>
                  <a:pt x="2667000" y="114300"/>
                </a:cubicBezTo>
                <a:lnTo>
                  <a:pt x="2667000" y="114300"/>
                </a:lnTo>
                <a:cubicBezTo>
                  <a:pt x="2667000" y="177384"/>
                  <a:pt x="2615784" y="228600"/>
                  <a:pt x="25527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73" name="Text 42"/>
          <p:cNvSpPr/>
          <p:nvPr/>
        </p:nvSpPr>
        <p:spPr>
          <a:xfrm>
            <a:off x="10677525" y="3366770"/>
            <a:ext cx="523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156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4" name="Shape 43"/>
          <p:cNvSpPr/>
          <p:nvPr/>
        </p:nvSpPr>
        <p:spPr>
          <a:xfrm>
            <a:off x="6867525" y="3652520"/>
            <a:ext cx="914400" cy="228600"/>
          </a:xfrm>
          <a:custGeom>
            <a:avLst/>
            <a:gdLst/>
            <a:ahLst/>
            <a:cxnLst/>
            <a:rect l="l" t="t" r="r" b="b"/>
            <a:pathLst>
              <a:path w="914400" h="228600">
                <a:moveTo>
                  <a:pt x="38101" y="0"/>
                </a:moveTo>
                <a:lnTo>
                  <a:pt x="876299" y="0"/>
                </a:lnTo>
                <a:cubicBezTo>
                  <a:pt x="897342" y="0"/>
                  <a:pt x="914400" y="17058"/>
                  <a:pt x="914400" y="38101"/>
                </a:cubicBezTo>
                <a:lnTo>
                  <a:pt x="914400" y="190499"/>
                </a:lnTo>
                <a:cubicBezTo>
                  <a:pt x="914400" y="211542"/>
                  <a:pt x="897342" y="228600"/>
                  <a:pt x="8762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4E54">
              <a:alpha val="40000"/>
            </a:srgbClr>
          </a:solidFill>
        </p:spPr>
      </p:sp>
      <p:sp>
        <p:nvSpPr>
          <p:cNvPr id="75" name="Text 44"/>
          <p:cNvSpPr/>
          <p:nvPr/>
        </p:nvSpPr>
        <p:spPr>
          <a:xfrm>
            <a:off x="6943725" y="3690620"/>
            <a:ext cx="819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杭州宝荣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6" name="Shape 45"/>
          <p:cNvSpPr/>
          <p:nvPr/>
        </p:nvSpPr>
        <p:spPr>
          <a:xfrm>
            <a:off x="7896225" y="3652520"/>
            <a:ext cx="2667000" cy="228600"/>
          </a:xfrm>
          <a:custGeom>
            <a:avLst/>
            <a:gdLst/>
            <a:ahLst/>
            <a:cxnLst/>
            <a:rect l="l" t="t" r="r" b="b"/>
            <a:pathLst>
              <a:path w="2667000" h="228600">
                <a:moveTo>
                  <a:pt x="114300" y="0"/>
                </a:moveTo>
                <a:lnTo>
                  <a:pt x="2552700" y="0"/>
                </a:lnTo>
                <a:cubicBezTo>
                  <a:pt x="2615784" y="0"/>
                  <a:pt x="2667000" y="51216"/>
                  <a:pt x="2667000" y="114300"/>
                </a:cubicBezTo>
                <a:lnTo>
                  <a:pt x="2667000" y="114300"/>
                </a:lnTo>
                <a:cubicBezTo>
                  <a:pt x="2667000" y="177384"/>
                  <a:pt x="2615784" y="228600"/>
                  <a:pt x="25527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A9E0">
              <a:alpha val="80000"/>
            </a:srgbClr>
          </a:solidFill>
        </p:spPr>
      </p:sp>
      <p:sp>
        <p:nvSpPr>
          <p:cNvPr id="77" name="Text 46"/>
          <p:cNvSpPr/>
          <p:nvPr/>
        </p:nvSpPr>
        <p:spPr>
          <a:xfrm>
            <a:off x="10677525" y="3671570"/>
            <a:ext cx="523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128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8" name="Shape 47"/>
          <p:cNvSpPr/>
          <p:nvPr/>
        </p:nvSpPr>
        <p:spPr>
          <a:xfrm>
            <a:off x="6867525" y="3957320"/>
            <a:ext cx="914400" cy="228600"/>
          </a:xfrm>
          <a:custGeom>
            <a:avLst/>
            <a:gdLst/>
            <a:ahLst/>
            <a:cxnLst/>
            <a:rect l="l" t="t" r="r" b="b"/>
            <a:pathLst>
              <a:path w="914400" h="228600">
                <a:moveTo>
                  <a:pt x="38101" y="0"/>
                </a:moveTo>
                <a:lnTo>
                  <a:pt x="876299" y="0"/>
                </a:lnTo>
                <a:cubicBezTo>
                  <a:pt x="897342" y="0"/>
                  <a:pt x="914400" y="17058"/>
                  <a:pt x="914400" y="38101"/>
                </a:cubicBezTo>
                <a:lnTo>
                  <a:pt x="914400" y="190499"/>
                </a:lnTo>
                <a:cubicBezTo>
                  <a:pt x="914400" y="211542"/>
                  <a:pt x="897342" y="228600"/>
                  <a:pt x="8762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4E54">
              <a:alpha val="40000"/>
            </a:srgbClr>
          </a:solidFill>
        </p:spPr>
      </p:sp>
      <p:sp>
        <p:nvSpPr>
          <p:cNvPr id="79" name="Text 48"/>
          <p:cNvSpPr/>
          <p:nvPr/>
        </p:nvSpPr>
        <p:spPr>
          <a:xfrm>
            <a:off x="6943725" y="3995420"/>
            <a:ext cx="819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宁波宝恒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0" name="Shape 49"/>
          <p:cNvSpPr/>
          <p:nvPr/>
        </p:nvSpPr>
        <p:spPr>
          <a:xfrm>
            <a:off x="7896225" y="3957320"/>
            <a:ext cx="2667000" cy="228600"/>
          </a:xfrm>
          <a:custGeom>
            <a:avLst/>
            <a:gdLst/>
            <a:ahLst/>
            <a:cxnLst/>
            <a:rect l="l" t="t" r="r" b="b"/>
            <a:pathLst>
              <a:path w="2667000" h="228600">
                <a:moveTo>
                  <a:pt x="114300" y="0"/>
                </a:moveTo>
                <a:lnTo>
                  <a:pt x="2552700" y="0"/>
                </a:lnTo>
                <a:cubicBezTo>
                  <a:pt x="2615784" y="0"/>
                  <a:pt x="2667000" y="51216"/>
                  <a:pt x="2667000" y="114300"/>
                </a:cubicBezTo>
                <a:lnTo>
                  <a:pt x="2667000" y="114300"/>
                </a:lnTo>
                <a:cubicBezTo>
                  <a:pt x="2667000" y="177384"/>
                  <a:pt x="2615784" y="228600"/>
                  <a:pt x="25527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A9E0">
              <a:alpha val="60000"/>
            </a:srgbClr>
          </a:solidFill>
        </p:spPr>
      </p:sp>
      <p:sp>
        <p:nvSpPr>
          <p:cNvPr id="81" name="Text 50"/>
          <p:cNvSpPr/>
          <p:nvPr/>
        </p:nvSpPr>
        <p:spPr>
          <a:xfrm>
            <a:off x="10677525" y="3976370"/>
            <a:ext cx="523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98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2" name="Shape 51"/>
          <p:cNvSpPr/>
          <p:nvPr/>
        </p:nvSpPr>
        <p:spPr>
          <a:xfrm>
            <a:off x="6396038" y="4819333"/>
            <a:ext cx="5210175" cy="542925"/>
          </a:xfrm>
          <a:custGeom>
            <a:avLst/>
            <a:gdLst/>
            <a:ahLst/>
            <a:cxnLst/>
            <a:rect l="l" t="t" r="r" b="b"/>
            <a:pathLst>
              <a:path w="5210175" h="542925">
                <a:moveTo>
                  <a:pt x="114302" y="0"/>
                </a:moveTo>
                <a:lnTo>
                  <a:pt x="5095873" y="0"/>
                </a:lnTo>
                <a:cubicBezTo>
                  <a:pt x="5159000" y="0"/>
                  <a:pt x="5210175" y="51175"/>
                  <a:pt x="5210175" y="114302"/>
                </a:cubicBezTo>
                <a:lnTo>
                  <a:pt x="5210175" y="428623"/>
                </a:lnTo>
                <a:cubicBezTo>
                  <a:pt x="5210175" y="491750"/>
                  <a:pt x="5159000" y="542925"/>
                  <a:pt x="50958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9E0">
                  <a:alpha val="20000"/>
                </a:srgbClr>
              </a:gs>
              <a:gs pos="100000">
                <a:srgbClr val="C8A45C">
                  <a:alpha val="20000"/>
                </a:srgbClr>
              </a:gs>
            </a:gsLst>
            <a:lin ang="0" scaled="1"/>
          </a:gra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83" name="Shape 52"/>
          <p:cNvSpPr/>
          <p:nvPr/>
        </p:nvSpPr>
        <p:spPr>
          <a:xfrm>
            <a:off x="6577013" y="499554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84" name="Text 53"/>
          <p:cNvSpPr/>
          <p:nvPr/>
        </p:nvSpPr>
        <p:spPr>
          <a:xfrm>
            <a:off x="6905625" y="4976495"/>
            <a:ext cx="39528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工作流完成！老板在钉钉/Teams里直接看到</a:t>
            </a:r>
            <a:r>
              <a:rPr lang="en-US" sz="1200" b="1" dirty="0">
                <a:solidFill>
                  <a:srgbClr val="C8A45C"/>
                </a:solidFill>
                <a:highlight>
                  <a:srgbClr val="C8A45C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可视化图表</a:t>
            </a:r>
            <a:endParaRPr lang="en-US" sz="1600" dirty="0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43" name="Shape 12"/>
          <p:cNvSpPr/>
          <p:nvPr/>
        </p:nvSpPr>
        <p:spPr>
          <a:xfrm>
            <a:off x="2131060" y="2038350"/>
            <a:ext cx="7929245" cy="2781300"/>
          </a:xfrm>
          <a:prstGeom prst="roundRect">
            <a:avLst>
              <a:gd name="adj" fmla="val 6043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13"/>
          <p:cNvSpPr/>
          <p:nvPr/>
        </p:nvSpPr>
        <p:spPr>
          <a:xfrm>
            <a:off x="2131695" y="2038350"/>
            <a:ext cx="7880985" cy="27971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BMWGroupTN Condensed TT" charset="0"/>
                <a:cs typeface="BMWGroupTN Condensed TT" charset="0"/>
                <a:sym typeface="+mn-ea"/>
              </a:rPr>
              <a:t>使用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BMWGroupTN Condensed TT" charset="0"/>
                <a:cs typeface="BMWGroupTN Condensed TT" charset="0"/>
                <a:sym typeface="+mn-ea"/>
              </a:rPr>
              <a:t>Dify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进行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SQL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执行器配置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 + 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图表生成代码</a:t>
            </a:r>
            <a:endParaRPr lang="zh-CN" altLang="en-US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" charset="0"/>
              <a:ea typeface="宋体" panose="02010600030101010101" pitchFamily="2" charset="-122"/>
              <a:cs typeface="BMWGroupTN Condensed TT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2500490" y="2426407"/>
            <a:ext cx="7191021" cy="643045"/>
          </a:xfrm>
        </p:spPr>
        <p:txBody>
          <a:bodyPr/>
          <a:lstStyle/>
          <a:p>
            <a:r>
              <a:rPr lang="zh-CN" altLang="en-US"/>
              <a:t>PART </a:t>
            </a:r>
            <a:r>
              <a:t>FOUR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48653" y="3180080"/>
            <a:ext cx="10894695" cy="1405255"/>
          </a:xfrm>
        </p:spPr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让分析更智能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动态解读</a:t>
            </a:r>
            <a:endParaRPr lang="zh-CN" altLang="en-US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进阶需求：不仅要数据，还要洞察</a:t>
            </a:r>
            <a:endParaRPr lang="zh-CN" altLang="en-US"/>
          </a:p>
        </p:txBody>
      </p:sp>
      <p:sp>
        <p:nvSpPr>
          <p:cNvPr id="2" name="Shape 4"/>
          <p:cNvSpPr/>
          <p:nvPr/>
        </p:nvSpPr>
        <p:spPr>
          <a:xfrm>
            <a:off x="385763" y="1452563"/>
            <a:ext cx="5591175" cy="5019675"/>
          </a:xfrm>
          <a:custGeom>
            <a:avLst/>
            <a:gdLst/>
            <a:ahLst/>
            <a:cxnLst/>
            <a:rect l="l" t="t" r="r" b="b"/>
            <a:pathLst>
              <a:path w="5591175" h="5019675">
                <a:moveTo>
                  <a:pt x="152397" y="0"/>
                </a:moveTo>
                <a:lnTo>
                  <a:pt x="5438778" y="0"/>
                </a:lnTo>
                <a:cubicBezTo>
                  <a:pt x="5522944" y="0"/>
                  <a:pt x="5591175" y="68231"/>
                  <a:pt x="5591175" y="152397"/>
                </a:cubicBezTo>
                <a:lnTo>
                  <a:pt x="5591175" y="4867278"/>
                </a:lnTo>
                <a:cubicBezTo>
                  <a:pt x="5591175" y="4951444"/>
                  <a:pt x="5522944" y="5019675"/>
                  <a:pt x="5438778" y="5019675"/>
                </a:cubicBezTo>
                <a:lnTo>
                  <a:pt x="152397" y="5019675"/>
                </a:lnTo>
                <a:cubicBezTo>
                  <a:pt x="68231" y="5019675"/>
                  <a:pt x="0" y="4951444"/>
                  <a:pt x="0" y="486727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rgbClr val="1A1D21">
                  <a:alpha val="38000"/>
                </a:srgbClr>
              </a:gs>
            </a:gsLst>
            <a:lin ang="2700000" scaled="1"/>
          </a:gradFill>
          <a:ln w="12700">
            <a:noFill/>
            <a:prstDash val="solid"/>
          </a:ln>
        </p:spPr>
      </p:sp>
      <p:sp>
        <p:nvSpPr>
          <p:cNvPr id="3" name="Shape 5"/>
          <p:cNvSpPr/>
          <p:nvPr/>
        </p:nvSpPr>
        <p:spPr>
          <a:xfrm>
            <a:off x="58102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8A45C">
              <a:alpha val="20000"/>
            </a:srgbClr>
          </a:solidFill>
        </p:spPr>
      </p:sp>
      <p:sp>
        <p:nvSpPr>
          <p:cNvPr id="4" name="Shape 6"/>
          <p:cNvSpPr/>
          <p:nvPr/>
        </p:nvSpPr>
        <p:spPr>
          <a:xfrm>
            <a:off x="738188" y="17811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3497"/>
                </a:moveTo>
                <a:cubicBezTo>
                  <a:pt x="67680" y="-1153"/>
                  <a:pt x="75233" y="-1153"/>
                  <a:pt x="79883" y="3497"/>
                </a:cubicBezTo>
                <a:lnTo>
                  <a:pt x="127508" y="51122"/>
                </a:lnTo>
                <a:cubicBezTo>
                  <a:pt x="130932" y="54546"/>
                  <a:pt x="131936" y="59643"/>
                  <a:pt x="130076" y="64108"/>
                </a:cubicBezTo>
                <a:cubicBezTo>
                  <a:pt x="128215" y="68573"/>
                  <a:pt x="123862" y="71438"/>
                  <a:pt x="119063" y="71438"/>
                </a:cubicBezTo>
                <a:lnTo>
                  <a:pt x="95250" y="71438"/>
                </a:lnTo>
                <a:lnTo>
                  <a:pt x="95250" y="130969"/>
                </a:lnTo>
                <a:cubicBezTo>
                  <a:pt x="95250" y="163860"/>
                  <a:pt x="68610" y="190500"/>
                  <a:pt x="35719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lnTo>
                  <a:pt x="0" y="154781"/>
                </a:lnTo>
                <a:cubicBezTo>
                  <a:pt x="0" y="148196"/>
                  <a:pt x="5321" y="142875"/>
                  <a:pt x="11906" y="142875"/>
                </a:cubicBezTo>
                <a:lnTo>
                  <a:pt x="35719" y="142875"/>
                </a:lnTo>
                <a:cubicBezTo>
                  <a:pt x="42304" y="142875"/>
                  <a:pt x="47625" y="137554"/>
                  <a:pt x="47625" y="130969"/>
                </a:cubicBezTo>
                <a:lnTo>
                  <a:pt x="47625" y="71438"/>
                </a:lnTo>
                <a:lnTo>
                  <a:pt x="23812" y="71438"/>
                </a:lnTo>
                <a:cubicBezTo>
                  <a:pt x="19013" y="71438"/>
                  <a:pt x="14660" y="68535"/>
                  <a:pt x="12799" y="64071"/>
                </a:cubicBezTo>
                <a:cubicBezTo>
                  <a:pt x="10939" y="59606"/>
                  <a:pt x="11981" y="54508"/>
                  <a:pt x="15367" y="51085"/>
                </a:cubicBezTo>
                <a:lnTo>
                  <a:pt x="62992" y="3460"/>
                </a:lnTo>
                <a:close/>
              </a:path>
            </a:pathLst>
          </a:custGeom>
          <a:solidFill>
            <a:srgbClr val="C8A45C"/>
          </a:solidFill>
        </p:spPr>
      </p:sp>
      <p:sp>
        <p:nvSpPr>
          <p:cNvPr id="5" name="Text 7"/>
          <p:cNvSpPr/>
          <p:nvPr/>
        </p:nvSpPr>
        <p:spPr>
          <a:xfrm>
            <a:off x="1152525" y="1647825"/>
            <a:ext cx="1209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场景升级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3" name="Text 8"/>
          <p:cNvSpPr/>
          <p:nvPr/>
        </p:nvSpPr>
        <p:spPr>
          <a:xfrm>
            <a:off x="1152525" y="1914525"/>
            <a:ext cx="118110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从"多少"到"为什么"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585788" y="2262188"/>
            <a:ext cx="5191125" cy="847725"/>
          </a:xfrm>
          <a:custGeom>
            <a:avLst/>
            <a:gdLst/>
            <a:ahLst/>
            <a:cxnLst/>
            <a:rect l="l" t="t" r="r" b="b"/>
            <a:pathLst>
              <a:path w="5191125" h="847725">
                <a:moveTo>
                  <a:pt x="114299" y="0"/>
                </a:moveTo>
                <a:lnTo>
                  <a:pt x="5076826" y="0"/>
                </a:lnTo>
                <a:cubicBezTo>
                  <a:pt x="5139952" y="0"/>
                  <a:pt x="5191125" y="51173"/>
                  <a:pt x="5191125" y="114299"/>
                </a:cubicBezTo>
                <a:lnTo>
                  <a:pt x="5191125" y="733426"/>
                </a:lnTo>
                <a:cubicBezTo>
                  <a:pt x="5191125" y="796552"/>
                  <a:pt x="5139952" y="847725"/>
                  <a:pt x="507682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45" name="Shape 10"/>
          <p:cNvSpPr/>
          <p:nvPr/>
        </p:nvSpPr>
        <p:spPr>
          <a:xfrm>
            <a:off x="762000" y="2438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42875"/>
                </a:moveTo>
                <a:cubicBezTo>
                  <a:pt x="118289" y="142875"/>
                  <a:pt x="152400" y="110877"/>
                  <a:pt x="152400" y="71438"/>
                </a:cubicBezTo>
                <a:cubicBezTo>
                  <a:pt x="152400" y="31998"/>
                  <a:pt x="118289" y="0"/>
                  <a:pt x="76200" y="0"/>
                </a:cubicBezTo>
                <a:cubicBezTo>
                  <a:pt x="34111" y="0"/>
                  <a:pt x="0" y="31998"/>
                  <a:pt x="0" y="71438"/>
                </a:cubicBezTo>
                <a:cubicBezTo>
                  <a:pt x="0" y="87600"/>
                  <a:pt x="5715" y="102483"/>
                  <a:pt x="15359" y="114449"/>
                </a:cubicBezTo>
                <a:lnTo>
                  <a:pt x="833" y="141923"/>
                </a:lnTo>
                <a:cubicBezTo>
                  <a:pt x="-595" y="144601"/>
                  <a:pt x="-149" y="147876"/>
                  <a:pt x="1905" y="150108"/>
                </a:cubicBezTo>
                <a:cubicBezTo>
                  <a:pt x="3959" y="152340"/>
                  <a:pt x="7203" y="153025"/>
                  <a:pt x="9971" y="151834"/>
                </a:cubicBezTo>
                <a:lnTo>
                  <a:pt x="45214" y="136743"/>
                </a:lnTo>
                <a:cubicBezTo>
                  <a:pt x="54679" y="140672"/>
                  <a:pt x="65157" y="142875"/>
                  <a:pt x="76200" y="142875"/>
                </a:cubicBezTo>
                <a:close/>
                <a:moveTo>
                  <a:pt x="38100" y="61912"/>
                </a:moveTo>
                <a:cubicBezTo>
                  <a:pt x="43357" y="61912"/>
                  <a:pt x="47625" y="66181"/>
                  <a:pt x="47625" y="71438"/>
                </a:cubicBezTo>
                <a:cubicBezTo>
                  <a:pt x="47625" y="76694"/>
                  <a:pt x="43357" y="80962"/>
                  <a:pt x="38100" y="80962"/>
                </a:cubicBezTo>
                <a:cubicBezTo>
                  <a:pt x="32843" y="80962"/>
                  <a:pt x="28575" y="76694"/>
                  <a:pt x="28575" y="71438"/>
                </a:cubicBezTo>
                <a:cubicBezTo>
                  <a:pt x="28575" y="66181"/>
                  <a:pt x="32843" y="61912"/>
                  <a:pt x="38100" y="61912"/>
                </a:cubicBezTo>
                <a:close/>
                <a:moveTo>
                  <a:pt x="76200" y="61912"/>
                </a:moveTo>
                <a:cubicBezTo>
                  <a:pt x="81457" y="61912"/>
                  <a:pt x="85725" y="66181"/>
                  <a:pt x="85725" y="71438"/>
                </a:cubicBezTo>
                <a:cubicBezTo>
                  <a:pt x="85725" y="76694"/>
                  <a:pt x="81457" y="80962"/>
                  <a:pt x="76200" y="80962"/>
                </a:cubicBezTo>
                <a:cubicBezTo>
                  <a:pt x="70943" y="80962"/>
                  <a:pt x="66675" y="76694"/>
                  <a:pt x="66675" y="71438"/>
                </a:cubicBezTo>
                <a:cubicBezTo>
                  <a:pt x="66675" y="66181"/>
                  <a:pt x="70943" y="61912"/>
                  <a:pt x="76200" y="61912"/>
                </a:cubicBezTo>
                <a:close/>
                <a:moveTo>
                  <a:pt x="104775" y="71438"/>
                </a:moveTo>
                <a:cubicBezTo>
                  <a:pt x="104775" y="66181"/>
                  <a:pt x="109043" y="61912"/>
                  <a:pt x="114300" y="61912"/>
                </a:cubicBezTo>
                <a:cubicBezTo>
                  <a:pt x="119557" y="61912"/>
                  <a:pt x="123825" y="66181"/>
                  <a:pt x="123825" y="71438"/>
                </a:cubicBezTo>
                <a:cubicBezTo>
                  <a:pt x="123825" y="76694"/>
                  <a:pt x="119557" y="80962"/>
                  <a:pt x="114300" y="80962"/>
                </a:cubicBezTo>
                <a:cubicBezTo>
                  <a:pt x="109043" y="80962"/>
                  <a:pt x="104775" y="76694"/>
                  <a:pt x="104775" y="71438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46" name="Text 11"/>
          <p:cNvSpPr/>
          <p:nvPr/>
        </p:nvSpPr>
        <p:spPr>
          <a:xfrm>
            <a:off x="1009650" y="2419350"/>
            <a:ext cx="110109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模拟输入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742950" y="2686050"/>
            <a:ext cx="4962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"为什么北京上个月销量跌了？"</a:t>
            </a:r>
            <a:endParaRPr lang="en-US" sz="1600" b="1" dirty="0">
              <a:solidFill>
                <a:srgbClr val="E8E9EA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8" name="Shape 13"/>
          <p:cNvSpPr/>
          <p:nvPr/>
        </p:nvSpPr>
        <p:spPr>
          <a:xfrm>
            <a:off x="585788" y="3271838"/>
            <a:ext cx="5191125" cy="771525"/>
          </a:xfrm>
          <a:custGeom>
            <a:avLst/>
            <a:gdLst/>
            <a:ahLst/>
            <a:cxnLst/>
            <a:rect l="l" t="t" r="r" b="b"/>
            <a:pathLst>
              <a:path w="5191125" h="771525">
                <a:moveTo>
                  <a:pt x="114301" y="0"/>
                </a:moveTo>
                <a:lnTo>
                  <a:pt x="5076824" y="0"/>
                </a:lnTo>
                <a:cubicBezTo>
                  <a:pt x="5139951" y="0"/>
                  <a:pt x="5191125" y="51174"/>
                  <a:pt x="5191125" y="114301"/>
                </a:cubicBezTo>
                <a:lnTo>
                  <a:pt x="5191125" y="657224"/>
                </a:lnTo>
                <a:cubicBezTo>
                  <a:pt x="5191125" y="720351"/>
                  <a:pt x="5139951" y="771525"/>
                  <a:pt x="507682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49" name="Shape 14"/>
          <p:cNvSpPr/>
          <p:nvPr/>
        </p:nvSpPr>
        <p:spPr>
          <a:xfrm>
            <a:off x="762000" y="3448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50" name="Text 15"/>
          <p:cNvSpPr/>
          <p:nvPr/>
        </p:nvSpPr>
        <p:spPr>
          <a:xfrm>
            <a:off x="1009650" y="3429000"/>
            <a:ext cx="208851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传统BI困境</a:t>
            </a:r>
            <a:endParaRPr lang="en-US" sz="1400" b="1" dirty="0">
              <a:solidFill>
                <a:srgbClr val="FF6467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742950" y="3695700"/>
            <a:ext cx="494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E9EA">
                    <a:alpha val="7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只能给出趋势图，</a:t>
            </a:r>
            <a:r>
              <a:rPr lang="en-US" sz="1400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不能分析原因</a:t>
            </a:r>
            <a:endParaRPr lang="en-US" sz="1400" dirty="0">
              <a:solidFill>
                <a:srgbClr val="FF6467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3" name="Shape 17"/>
          <p:cNvSpPr/>
          <p:nvPr/>
        </p:nvSpPr>
        <p:spPr>
          <a:xfrm>
            <a:off x="585788" y="4205288"/>
            <a:ext cx="5191125" cy="1438275"/>
          </a:xfrm>
          <a:custGeom>
            <a:avLst/>
            <a:gdLst/>
            <a:ahLst/>
            <a:cxnLst/>
            <a:rect l="l" t="t" r="r" b="b"/>
            <a:pathLst>
              <a:path w="5191125" h="1438275">
                <a:moveTo>
                  <a:pt x="114300" y="0"/>
                </a:moveTo>
                <a:lnTo>
                  <a:pt x="5076825" y="0"/>
                </a:lnTo>
                <a:cubicBezTo>
                  <a:pt x="5139951" y="0"/>
                  <a:pt x="5191125" y="51174"/>
                  <a:pt x="5191125" y="114300"/>
                </a:cubicBezTo>
                <a:lnTo>
                  <a:pt x="5191125" y="1323975"/>
                </a:lnTo>
                <a:cubicBezTo>
                  <a:pt x="5191125" y="1387101"/>
                  <a:pt x="5139951" y="1438275"/>
                  <a:pt x="5076825" y="1438275"/>
                </a:cubicBezTo>
                <a:lnTo>
                  <a:pt x="114300" y="1438275"/>
                </a:lnTo>
                <a:cubicBezTo>
                  <a:pt x="51174" y="1438275"/>
                  <a:pt x="0" y="1387101"/>
                  <a:pt x="0" y="13239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54" name="Shape 18"/>
          <p:cNvSpPr/>
          <p:nvPr/>
        </p:nvSpPr>
        <p:spPr>
          <a:xfrm>
            <a:off x="781050" y="44005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55" name="Text 19"/>
          <p:cNvSpPr/>
          <p:nvPr/>
        </p:nvSpPr>
        <p:spPr>
          <a:xfrm>
            <a:off x="1009650" y="4362450"/>
            <a:ext cx="271843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Dify增强方案</a:t>
            </a:r>
            <a:endParaRPr lang="en-US" sz="1600" b="1" dirty="0">
              <a:solidFill>
                <a:srgbClr val="E8E9EA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6" name="Shape 20"/>
          <p:cNvSpPr/>
          <p:nvPr/>
        </p:nvSpPr>
        <p:spPr>
          <a:xfrm>
            <a:off x="742950" y="4724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9E0">
              <a:alpha val="20000"/>
            </a:srgbClr>
          </a:solidFill>
        </p:spPr>
      </p:sp>
      <p:sp>
        <p:nvSpPr>
          <p:cNvPr id="57" name="Text 21"/>
          <p:cNvSpPr/>
          <p:nvPr/>
        </p:nvSpPr>
        <p:spPr>
          <a:xfrm>
            <a:off x="815727" y="4743450"/>
            <a:ext cx="1047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</a:t>
            </a:r>
            <a:endParaRPr lang="en-US" sz="1200" dirty="0">
              <a:solidFill>
                <a:srgbClr val="00A9E0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8" name="Text 22"/>
          <p:cNvSpPr/>
          <p:nvPr/>
        </p:nvSpPr>
        <p:spPr>
          <a:xfrm>
            <a:off x="1009650" y="4705350"/>
            <a:ext cx="351917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增加第二个知识库调用（市场活动记录）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9" name="Shape 23"/>
          <p:cNvSpPr/>
          <p:nvPr/>
        </p:nvSpPr>
        <p:spPr>
          <a:xfrm>
            <a:off x="742950" y="5010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9E0">
              <a:alpha val="20000"/>
            </a:srgbClr>
          </a:solidFill>
        </p:spPr>
      </p:sp>
      <p:sp>
        <p:nvSpPr>
          <p:cNvPr id="60" name="Text 24"/>
          <p:cNvSpPr/>
          <p:nvPr/>
        </p:nvSpPr>
        <p:spPr>
          <a:xfrm>
            <a:off x="806053" y="5029200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2</a:t>
            </a:r>
            <a:endParaRPr lang="en-US" sz="1200" dirty="0">
              <a:solidFill>
                <a:srgbClr val="00A9E0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1" name="Text 25"/>
          <p:cNvSpPr/>
          <p:nvPr/>
        </p:nvSpPr>
        <p:spPr>
          <a:xfrm>
            <a:off x="1009650" y="4991100"/>
            <a:ext cx="349313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增加第二个LLM分析节点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2" name="Shape 26"/>
          <p:cNvSpPr/>
          <p:nvPr/>
        </p:nvSpPr>
        <p:spPr>
          <a:xfrm>
            <a:off x="742950" y="5295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8100" y="0"/>
                </a:moveTo>
                <a:lnTo>
                  <a:pt x="152400" y="0"/>
                </a:lnTo>
                <a:cubicBezTo>
                  <a:pt x="173428" y="0"/>
                  <a:pt x="190500" y="17072"/>
                  <a:pt x="190500" y="38100"/>
                </a:cubicBezTo>
                <a:lnTo>
                  <a:pt x="190500" y="152400"/>
                </a:lnTo>
                <a:cubicBezTo>
                  <a:pt x="190500" y="173428"/>
                  <a:pt x="173428" y="190500"/>
                  <a:pt x="152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9E0">
              <a:alpha val="20000"/>
            </a:srgbClr>
          </a:solidFill>
        </p:spPr>
      </p:sp>
      <p:sp>
        <p:nvSpPr>
          <p:cNvPr id="63" name="Text 27"/>
          <p:cNvSpPr/>
          <p:nvPr/>
        </p:nvSpPr>
        <p:spPr>
          <a:xfrm>
            <a:off x="804565" y="5314950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3</a:t>
            </a:r>
            <a:endParaRPr lang="en-US" sz="1200" dirty="0">
              <a:solidFill>
                <a:srgbClr val="00A9E0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4" name="Text 28"/>
          <p:cNvSpPr/>
          <p:nvPr/>
        </p:nvSpPr>
        <p:spPr>
          <a:xfrm>
            <a:off x="1009650" y="5276850"/>
            <a:ext cx="3489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E9EA">
                    <a:alpha val="8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实现</a:t>
            </a:r>
            <a:r>
              <a:rPr lang="en-US" sz="14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数据 + 背景 = 洞察</a:t>
            </a:r>
            <a:endParaRPr lang="en-US" sz="1400" b="1" dirty="0">
              <a:solidFill>
                <a:srgbClr val="C8A45C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5" name="Shape 29"/>
          <p:cNvSpPr/>
          <p:nvPr/>
        </p:nvSpPr>
        <p:spPr>
          <a:xfrm>
            <a:off x="6215063" y="1452563"/>
            <a:ext cx="5591175" cy="5019675"/>
          </a:xfrm>
          <a:custGeom>
            <a:avLst/>
            <a:gdLst/>
            <a:ahLst/>
            <a:cxnLst/>
            <a:rect l="l" t="t" r="r" b="b"/>
            <a:pathLst>
              <a:path w="5591175" h="5019675">
                <a:moveTo>
                  <a:pt x="152397" y="0"/>
                </a:moveTo>
                <a:lnTo>
                  <a:pt x="5438778" y="0"/>
                </a:lnTo>
                <a:cubicBezTo>
                  <a:pt x="5522944" y="0"/>
                  <a:pt x="5591175" y="68231"/>
                  <a:pt x="5591175" y="152397"/>
                </a:cubicBezTo>
                <a:lnTo>
                  <a:pt x="5591175" y="4867278"/>
                </a:lnTo>
                <a:cubicBezTo>
                  <a:pt x="5591175" y="4951444"/>
                  <a:pt x="5522944" y="5019675"/>
                  <a:pt x="5438778" y="5019675"/>
                </a:cubicBezTo>
                <a:lnTo>
                  <a:pt x="152397" y="5019675"/>
                </a:lnTo>
                <a:cubicBezTo>
                  <a:pt x="68231" y="5019675"/>
                  <a:pt x="0" y="4951444"/>
                  <a:pt x="0" y="486727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4E54">
                  <a:alpha val="2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66" name="Text 30"/>
          <p:cNvSpPr/>
          <p:nvPr/>
        </p:nvSpPr>
        <p:spPr>
          <a:xfrm>
            <a:off x="6410325" y="1647825"/>
            <a:ext cx="5286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能力对比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7" name="Shape 31"/>
          <p:cNvSpPr/>
          <p:nvPr/>
        </p:nvSpPr>
        <p:spPr>
          <a:xfrm>
            <a:off x="6415088" y="2071688"/>
            <a:ext cx="5191125" cy="1800225"/>
          </a:xfrm>
          <a:custGeom>
            <a:avLst/>
            <a:gdLst/>
            <a:ahLst/>
            <a:cxnLst/>
            <a:rect l="l" t="t" r="r" b="b"/>
            <a:pathLst>
              <a:path w="5191125" h="1800225">
                <a:moveTo>
                  <a:pt x="114296" y="0"/>
                </a:moveTo>
                <a:lnTo>
                  <a:pt x="5076829" y="0"/>
                </a:lnTo>
                <a:cubicBezTo>
                  <a:pt x="5139911" y="0"/>
                  <a:pt x="5191125" y="51214"/>
                  <a:pt x="5191125" y="114296"/>
                </a:cubicBezTo>
                <a:lnTo>
                  <a:pt x="5191125" y="1685929"/>
                </a:lnTo>
                <a:cubicBezTo>
                  <a:pt x="5191125" y="1749011"/>
                  <a:pt x="5139911" y="1800225"/>
                  <a:pt x="5076829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68" name="Shape 32"/>
          <p:cNvSpPr/>
          <p:nvPr/>
        </p:nvSpPr>
        <p:spPr>
          <a:xfrm>
            <a:off x="6572250" y="2228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</p:spPr>
      </p:sp>
      <p:sp>
        <p:nvSpPr>
          <p:cNvPr id="69" name="Shape 33"/>
          <p:cNvSpPr/>
          <p:nvPr/>
        </p:nvSpPr>
        <p:spPr>
          <a:xfrm>
            <a:off x="6679406" y="2333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70" name="Text 34"/>
          <p:cNvSpPr/>
          <p:nvPr/>
        </p:nvSpPr>
        <p:spPr>
          <a:xfrm>
            <a:off x="7067550" y="2286000"/>
            <a:ext cx="58102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传统BI</a:t>
            </a:r>
            <a:endParaRPr lang="en-US" sz="135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1" name="Shape 35"/>
          <p:cNvSpPr/>
          <p:nvPr/>
        </p:nvSpPr>
        <p:spPr>
          <a:xfrm>
            <a:off x="6599634" y="27527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4E54"/>
          </a:solidFill>
        </p:spPr>
      </p:sp>
      <p:sp>
        <p:nvSpPr>
          <p:cNvPr id="85" name="Text 36"/>
          <p:cNvSpPr/>
          <p:nvPr/>
        </p:nvSpPr>
        <p:spPr>
          <a:xfrm>
            <a:off x="6815455" y="2724150"/>
            <a:ext cx="237553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展示数据趋势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6" name="Shape 37"/>
          <p:cNvSpPr/>
          <p:nvPr/>
        </p:nvSpPr>
        <p:spPr>
          <a:xfrm>
            <a:off x="6599634" y="30194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4E54"/>
          </a:solidFill>
        </p:spPr>
      </p:sp>
      <p:sp>
        <p:nvSpPr>
          <p:cNvPr id="87" name="Text 38"/>
          <p:cNvSpPr/>
          <p:nvPr/>
        </p:nvSpPr>
        <p:spPr>
          <a:xfrm>
            <a:off x="6815455" y="2990850"/>
            <a:ext cx="237553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生成固定报表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8" name="Shape 39"/>
          <p:cNvSpPr/>
          <p:nvPr/>
        </p:nvSpPr>
        <p:spPr>
          <a:xfrm>
            <a:off x="6607969" y="32861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FF6467"/>
          </a:solidFill>
        </p:spPr>
      </p:sp>
      <p:sp>
        <p:nvSpPr>
          <p:cNvPr id="89" name="Text 40"/>
          <p:cNvSpPr/>
          <p:nvPr/>
        </p:nvSpPr>
        <p:spPr>
          <a:xfrm>
            <a:off x="6815455" y="3257550"/>
            <a:ext cx="237553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无法解释原因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90" name="Shape 41"/>
          <p:cNvSpPr/>
          <p:nvPr/>
        </p:nvSpPr>
        <p:spPr>
          <a:xfrm>
            <a:off x="6607969" y="35528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FF6467"/>
          </a:solidFill>
        </p:spPr>
      </p:sp>
      <p:sp>
        <p:nvSpPr>
          <p:cNvPr id="91" name="Text 42"/>
          <p:cNvSpPr/>
          <p:nvPr/>
        </p:nvSpPr>
        <p:spPr>
          <a:xfrm>
            <a:off x="6815455" y="3524250"/>
            <a:ext cx="237553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无法给出建议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92" name="Shape 43"/>
          <p:cNvSpPr/>
          <p:nvPr/>
        </p:nvSpPr>
        <p:spPr>
          <a:xfrm>
            <a:off x="6415088" y="4033837"/>
            <a:ext cx="5191125" cy="1800225"/>
          </a:xfrm>
          <a:custGeom>
            <a:avLst/>
            <a:gdLst/>
            <a:ahLst/>
            <a:cxnLst/>
            <a:rect l="l" t="t" r="r" b="b"/>
            <a:pathLst>
              <a:path w="5191125" h="1800225">
                <a:moveTo>
                  <a:pt x="114296" y="0"/>
                </a:moveTo>
                <a:lnTo>
                  <a:pt x="5076829" y="0"/>
                </a:lnTo>
                <a:cubicBezTo>
                  <a:pt x="5139911" y="0"/>
                  <a:pt x="5191125" y="51214"/>
                  <a:pt x="5191125" y="114296"/>
                </a:cubicBezTo>
                <a:lnTo>
                  <a:pt x="5191125" y="1685929"/>
                </a:lnTo>
                <a:cubicBezTo>
                  <a:pt x="5191125" y="1749011"/>
                  <a:pt x="5139911" y="1800225"/>
                  <a:pt x="5076829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9E0">
                  <a:alpha val="10000"/>
                </a:srgbClr>
              </a:gs>
              <a:gs pos="100000">
                <a:srgbClr val="C8A45C">
                  <a:alpha val="10000"/>
                </a:srgbClr>
              </a:gs>
            </a:gsLst>
            <a:lin ang="2700000" scaled="1"/>
          </a:gra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93" name="Shape 44"/>
          <p:cNvSpPr/>
          <p:nvPr/>
        </p:nvSpPr>
        <p:spPr>
          <a:xfrm>
            <a:off x="6572250" y="419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9E0">
              <a:alpha val="30196"/>
            </a:srgbClr>
          </a:solidFill>
        </p:spPr>
      </p:sp>
      <p:sp>
        <p:nvSpPr>
          <p:cNvPr id="94" name="Shape 45"/>
          <p:cNvSpPr/>
          <p:nvPr/>
        </p:nvSpPr>
        <p:spPr>
          <a:xfrm>
            <a:off x="6657975" y="42957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95" name="Text 46"/>
          <p:cNvSpPr/>
          <p:nvPr/>
        </p:nvSpPr>
        <p:spPr>
          <a:xfrm>
            <a:off x="7067550" y="4248150"/>
            <a:ext cx="1123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ChatBI + Dify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96" name="Shape 47"/>
          <p:cNvSpPr/>
          <p:nvPr/>
        </p:nvSpPr>
        <p:spPr>
          <a:xfrm>
            <a:off x="6599634" y="47148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97" name="Text 48"/>
          <p:cNvSpPr/>
          <p:nvPr/>
        </p:nvSpPr>
        <p:spPr>
          <a:xfrm>
            <a:off x="6815138" y="4686300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展示数据趋势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98" name="Shape 49"/>
          <p:cNvSpPr/>
          <p:nvPr/>
        </p:nvSpPr>
        <p:spPr>
          <a:xfrm>
            <a:off x="6599634" y="49815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99" name="Text 50"/>
          <p:cNvSpPr/>
          <p:nvPr/>
        </p:nvSpPr>
        <p:spPr>
          <a:xfrm>
            <a:off x="6815138" y="4953000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生成动态报表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00" name="Shape 51"/>
          <p:cNvSpPr/>
          <p:nvPr/>
        </p:nvSpPr>
        <p:spPr>
          <a:xfrm>
            <a:off x="6599634" y="52482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101" name="Text 52"/>
          <p:cNvSpPr/>
          <p:nvPr/>
        </p:nvSpPr>
        <p:spPr>
          <a:xfrm>
            <a:off x="6815138" y="5224463"/>
            <a:ext cx="866775" cy="1762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自动分析原因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02" name="Shape 53"/>
          <p:cNvSpPr/>
          <p:nvPr/>
        </p:nvSpPr>
        <p:spPr>
          <a:xfrm>
            <a:off x="6599634" y="55149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A9E0"/>
          </a:solidFill>
        </p:spPr>
      </p:sp>
      <p:sp>
        <p:nvSpPr>
          <p:cNvPr id="103" name="Text 54"/>
          <p:cNvSpPr/>
          <p:nvPr/>
        </p:nvSpPr>
        <p:spPr>
          <a:xfrm>
            <a:off x="6815138" y="5491163"/>
            <a:ext cx="866775" cy="1762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给出行动建议</a:t>
            </a:r>
            <a:endParaRPr lang="en-US" sz="1600" dirty="0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工作流优化</a:t>
            </a:r>
            <a:r>
              <a:rPr lang="en-US" altLang="zh-CN"/>
              <a:t>——</a:t>
            </a:r>
            <a:r>
              <a:rPr lang="zh-CN" altLang="en-US"/>
              <a:t>增加归因分析链路</a:t>
            </a:r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37971" y="1097348"/>
            <a:ext cx="4506283" cy="4998637"/>
          </a:xfrm>
          <a:custGeom>
            <a:avLst/>
            <a:gdLst/>
            <a:ahLst/>
            <a:cxnLst/>
            <a:rect l="l" t="t" r="r" b="b"/>
            <a:pathLst>
              <a:path w="4506283" h="4998637">
                <a:moveTo>
                  <a:pt x="133521" y="0"/>
                </a:moveTo>
                <a:lnTo>
                  <a:pt x="4372762" y="0"/>
                </a:lnTo>
                <a:cubicBezTo>
                  <a:pt x="4446504" y="0"/>
                  <a:pt x="4506283" y="59779"/>
                  <a:pt x="4506283" y="133521"/>
                </a:cubicBezTo>
                <a:lnTo>
                  <a:pt x="4506283" y="4865115"/>
                </a:lnTo>
                <a:cubicBezTo>
                  <a:pt x="4506283" y="4938857"/>
                  <a:pt x="4446504" y="4998637"/>
                  <a:pt x="4372762" y="4998637"/>
                </a:cubicBezTo>
                <a:lnTo>
                  <a:pt x="133521" y="4998637"/>
                </a:lnTo>
                <a:cubicBezTo>
                  <a:pt x="59779" y="4998637"/>
                  <a:pt x="0" y="4938857"/>
                  <a:pt x="0" y="4865115"/>
                </a:cubicBezTo>
                <a:lnTo>
                  <a:pt x="0" y="133521"/>
                </a:lnTo>
                <a:cubicBezTo>
                  <a:pt x="0" y="59829"/>
                  <a:pt x="59829" y="0"/>
                  <a:pt x="133521" y="0"/>
                </a:cubicBezTo>
                <a:close/>
              </a:path>
            </a:pathLst>
          </a:custGeom>
          <a:solidFill>
            <a:schemeClr val="tx2">
              <a:alpha val="11000"/>
            </a:schemeClr>
          </a:solidFill>
          <a:ln w="12700">
            <a:noFill/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9043" y="1268420"/>
            <a:ext cx="4239244" cy="23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新增节点</a:t>
            </a:r>
            <a:endParaRPr lang="en-US" sz="1185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3216" y="1639771"/>
            <a:ext cx="4155795" cy="675943"/>
          </a:xfrm>
          <a:custGeom>
            <a:avLst/>
            <a:gdLst/>
            <a:ahLst/>
            <a:cxnLst/>
            <a:rect l="l" t="t" r="r" b="b"/>
            <a:pathLst>
              <a:path w="4155795" h="675943">
                <a:moveTo>
                  <a:pt x="100141" y="0"/>
                </a:moveTo>
                <a:lnTo>
                  <a:pt x="4055654" y="0"/>
                </a:lnTo>
                <a:cubicBezTo>
                  <a:pt x="4110960" y="0"/>
                  <a:pt x="4155795" y="44835"/>
                  <a:pt x="4155795" y="100141"/>
                </a:cubicBezTo>
                <a:lnTo>
                  <a:pt x="4155795" y="575802"/>
                </a:lnTo>
                <a:cubicBezTo>
                  <a:pt x="4155795" y="631108"/>
                  <a:pt x="4110960" y="675943"/>
                  <a:pt x="4055654" y="675943"/>
                </a:cubicBezTo>
                <a:lnTo>
                  <a:pt x="100141" y="675943"/>
                </a:lnTo>
                <a:cubicBezTo>
                  <a:pt x="44835" y="675943"/>
                  <a:pt x="0" y="631108"/>
                  <a:pt x="0" y="575802"/>
                </a:cubicBezTo>
                <a:lnTo>
                  <a:pt x="0" y="100141"/>
                </a:lnTo>
                <a:cubicBezTo>
                  <a:pt x="0" y="44872"/>
                  <a:pt x="44872" y="0"/>
                  <a:pt x="10014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C8A45C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908" y="1777463"/>
            <a:ext cx="200279" cy="200279"/>
          </a:xfrm>
          <a:custGeom>
            <a:avLst/>
            <a:gdLst/>
            <a:ahLst/>
            <a:cxnLst/>
            <a:rect l="l" t="t" r="r" b="b"/>
            <a:pathLst>
              <a:path w="200279" h="200279">
                <a:moveTo>
                  <a:pt x="33381" y="0"/>
                </a:moveTo>
                <a:lnTo>
                  <a:pt x="166899" y="0"/>
                </a:lnTo>
                <a:cubicBezTo>
                  <a:pt x="185322" y="0"/>
                  <a:pt x="200279" y="14957"/>
                  <a:pt x="200279" y="33381"/>
                </a:cubicBezTo>
                <a:lnTo>
                  <a:pt x="200279" y="166899"/>
                </a:lnTo>
                <a:cubicBezTo>
                  <a:pt x="200279" y="185322"/>
                  <a:pt x="185322" y="200279"/>
                  <a:pt x="166899" y="200279"/>
                </a:cubicBezTo>
                <a:lnTo>
                  <a:pt x="33381" y="200279"/>
                </a:lnTo>
                <a:cubicBezTo>
                  <a:pt x="14957" y="200279"/>
                  <a:pt x="0" y="185322"/>
                  <a:pt x="0" y="166899"/>
                </a:cubicBezTo>
                <a:lnTo>
                  <a:pt x="0" y="33381"/>
                </a:lnTo>
                <a:cubicBezTo>
                  <a:pt x="0" y="14957"/>
                  <a:pt x="14957" y="0"/>
                  <a:pt x="33381" y="0"/>
                </a:cubicBezTo>
                <a:close/>
              </a:path>
            </a:pathLst>
          </a:custGeom>
          <a:solidFill>
            <a:srgbClr val="C8A45C">
              <a:alpha val="2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718059" y="1810843"/>
            <a:ext cx="116830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7947" y="1794153"/>
            <a:ext cx="942982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并行知识库检索2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0908" y="2044502"/>
            <a:ext cx="3930480" cy="13352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查询《市场活动记录库》，关键词"北京+上月"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3216" y="2424198"/>
            <a:ext cx="4155795" cy="675943"/>
          </a:xfrm>
          <a:custGeom>
            <a:avLst/>
            <a:gdLst/>
            <a:ahLst/>
            <a:cxnLst/>
            <a:rect l="l" t="t" r="r" b="b"/>
            <a:pathLst>
              <a:path w="4155795" h="675943">
                <a:moveTo>
                  <a:pt x="100141" y="0"/>
                </a:moveTo>
                <a:lnTo>
                  <a:pt x="4055654" y="0"/>
                </a:lnTo>
                <a:cubicBezTo>
                  <a:pt x="4110960" y="0"/>
                  <a:pt x="4155795" y="44835"/>
                  <a:pt x="4155795" y="100141"/>
                </a:cubicBezTo>
                <a:lnTo>
                  <a:pt x="4155795" y="575802"/>
                </a:lnTo>
                <a:cubicBezTo>
                  <a:pt x="4155795" y="631108"/>
                  <a:pt x="4110960" y="675943"/>
                  <a:pt x="4055654" y="675943"/>
                </a:cubicBezTo>
                <a:lnTo>
                  <a:pt x="100141" y="675943"/>
                </a:lnTo>
                <a:cubicBezTo>
                  <a:pt x="44835" y="675943"/>
                  <a:pt x="0" y="631108"/>
                  <a:pt x="0" y="575802"/>
                </a:cubicBezTo>
                <a:lnTo>
                  <a:pt x="0" y="100141"/>
                </a:lnTo>
                <a:cubicBezTo>
                  <a:pt x="0" y="44872"/>
                  <a:pt x="44872" y="0"/>
                  <a:pt x="10014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0908" y="2561890"/>
            <a:ext cx="200279" cy="200279"/>
          </a:xfrm>
          <a:custGeom>
            <a:avLst/>
            <a:gdLst/>
            <a:ahLst/>
            <a:cxnLst/>
            <a:rect l="l" t="t" r="r" b="b"/>
            <a:pathLst>
              <a:path w="200279" h="200279">
                <a:moveTo>
                  <a:pt x="33381" y="0"/>
                </a:moveTo>
                <a:lnTo>
                  <a:pt x="166899" y="0"/>
                </a:lnTo>
                <a:cubicBezTo>
                  <a:pt x="185322" y="0"/>
                  <a:pt x="200279" y="14957"/>
                  <a:pt x="200279" y="33381"/>
                </a:cubicBezTo>
                <a:lnTo>
                  <a:pt x="200279" y="166899"/>
                </a:lnTo>
                <a:cubicBezTo>
                  <a:pt x="200279" y="185322"/>
                  <a:pt x="185322" y="200279"/>
                  <a:pt x="166899" y="200279"/>
                </a:cubicBezTo>
                <a:lnTo>
                  <a:pt x="33381" y="200279"/>
                </a:lnTo>
                <a:cubicBezTo>
                  <a:pt x="14957" y="200279"/>
                  <a:pt x="0" y="185322"/>
                  <a:pt x="0" y="166899"/>
                </a:cubicBezTo>
                <a:lnTo>
                  <a:pt x="0" y="33381"/>
                </a:lnTo>
                <a:cubicBezTo>
                  <a:pt x="0" y="14957"/>
                  <a:pt x="14957" y="0"/>
                  <a:pt x="33381" y="0"/>
                </a:cubicBezTo>
                <a:close/>
              </a:path>
            </a:pathLst>
          </a:custGeom>
          <a:solidFill>
            <a:srgbClr val="00A9E0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717928" y="2595270"/>
            <a:ext cx="116830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B</a:t>
            </a:r>
            <a:endParaRPr lang="en-US" sz="79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7947" y="2578580"/>
            <a:ext cx="759392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数据对比节点</a:t>
            </a:r>
            <a:endParaRPr lang="en-US" sz="920" b="1" dirty="0">
              <a:solidFill>
                <a:schemeClr val="accent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0908" y="2828929"/>
            <a:ext cx="3930480" cy="13352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计算环比跌幅（-15%）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13216" y="3208625"/>
            <a:ext cx="4155795" cy="675943"/>
          </a:xfrm>
          <a:custGeom>
            <a:avLst/>
            <a:gdLst/>
            <a:ahLst/>
            <a:cxnLst/>
            <a:rect l="l" t="t" r="r" b="b"/>
            <a:pathLst>
              <a:path w="4155795" h="675943">
                <a:moveTo>
                  <a:pt x="100141" y="0"/>
                </a:moveTo>
                <a:lnTo>
                  <a:pt x="4055654" y="0"/>
                </a:lnTo>
                <a:cubicBezTo>
                  <a:pt x="4110960" y="0"/>
                  <a:pt x="4155795" y="44835"/>
                  <a:pt x="4155795" y="100141"/>
                </a:cubicBezTo>
                <a:lnTo>
                  <a:pt x="4155795" y="575802"/>
                </a:lnTo>
                <a:cubicBezTo>
                  <a:pt x="4155795" y="631108"/>
                  <a:pt x="4110960" y="675943"/>
                  <a:pt x="4055654" y="675943"/>
                </a:cubicBezTo>
                <a:lnTo>
                  <a:pt x="100141" y="675943"/>
                </a:lnTo>
                <a:cubicBezTo>
                  <a:pt x="44835" y="675943"/>
                  <a:pt x="0" y="631108"/>
                  <a:pt x="0" y="575802"/>
                </a:cubicBezTo>
                <a:lnTo>
                  <a:pt x="0" y="100141"/>
                </a:lnTo>
                <a:cubicBezTo>
                  <a:pt x="0" y="44872"/>
                  <a:pt x="44872" y="0"/>
                  <a:pt x="10014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C8A45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0908" y="3346317"/>
            <a:ext cx="200279" cy="200279"/>
          </a:xfrm>
          <a:custGeom>
            <a:avLst/>
            <a:gdLst/>
            <a:ahLst/>
            <a:cxnLst/>
            <a:rect l="l" t="t" r="r" b="b"/>
            <a:pathLst>
              <a:path w="200279" h="200279">
                <a:moveTo>
                  <a:pt x="33381" y="0"/>
                </a:moveTo>
                <a:lnTo>
                  <a:pt x="166899" y="0"/>
                </a:lnTo>
                <a:cubicBezTo>
                  <a:pt x="185322" y="0"/>
                  <a:pt x="200279" y="14957"/>
                  <a:pt x="200279" y="33381"/>
                </a:cubicBezTo>
                <a:lnTo>
                  <a:pt x="200279" y="166899"/>
                </a:lnTo>
                <a:cubicBezTo>
                  <a:pt x="200279" y="185322"/>
                  <a:pt x="185322" y="200279"/>
                  <a:pt x="166899" y="200279"/>
                </a:cubicBezTo>
                <a:lnTo>
                  <a:pt x="33381" y="200279"/>
                </a:lnTo>
                <a:cubicBezTo>
                  <a:pt x="14957" y="200279"/>
                  <a:pt x="0" y="185322"/>
                  <a:pt x="0" y="166899"/>
                </a:cubicBezTo>
                <a:lnTo>
                  <a:pt x="0" y="33381"/>
                </a:lnTo>
                <a:cubicBezTo>
                  <a:pt x="0" y="14957"/>
                  <a:pt x="14957" y="0"/>
                  <a:pt x="33381" y="0"/>
                </a:cubicBezTo>
                <a:close/>
              </a:path>
            </a:pathLst>
          </a:custGeom>
          <a:solidFill>
            <a:srgbClr val="C8A45C">
              <a:alpha val="2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716103" y="3379697"/>
            <a:ext cx="116830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C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7947" y="3363007"/>
            <a:ext cx="993051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归因分析LLM节点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0908" y="3613356"/>
            <a:ext cx="3930480" cy="13352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根据跌幅、市场活动、竞品动态生成分析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7971" y="6237849"/>
            <a:ext cx="4506283" cy="442283"/>
          </a:xfrm>
          <a:custGeom>
            <a:avLst/>
            <a:gdLst/>
            <a:ahLst/>
            <a:cxnLst/>
            <a:rect l="l" t="t" r="r" b="b"/>
            <a:pathLst>
              <a:path w="4506283" h="442283">
                <a:moveTo>
                  <a:pt x="100142" y="0"/>
                </a:moveTo>
                <a:lnTo>
                  <a:pt x="4406142" y="0"/>
                </a:lnTo>
                <a:cubicBezTo>
                  <a:pt x="4461448" y="0"/>
                  <a:pt x="4506283" y="44835"/>
                  <a:pt x="4506283" y="100142"/>
                </a:cubicBezTo>
                <a:lnTo>
                  <a:pt x="4506283" y="342142"/>
                </a:lnTo>
                <a:cubicBezTo>
                  <a:pt x="4506283" y="397448"/>
                  <a:pt x="4461448" y="442283"/>
                  <a:pt x="4406142" y="442283"/>
                </a:cubicBezTo>
                <a:lnTo>
                  <a:pt x="100142" y="442283"/>
                </a:lnTo>
                <a:cubicBezTo>
                  <a:pt x="44835" y="442283"/>
                  <a:pt x="0" y="397448"/>
                  <a:pt x="0" y="342142"/>
                </a:cubicBezTo>
                <a:lnTo>
                  <a:pt x="0" y="100142"/>
                </a:lnTo>
                <a:cubicBezTo>
                  <a:pt x="0" y="44872"/>
                  <a:pt x="44872" y="0"/>
                  <a:pt x="100142" y="0"/>
                </a:cubicBezTo>
                <a:close/>
              </a:path>
            </a:pathLst>
          </a:custGeom>
          <a:solidFill>
            <a:schemeClr val="tx2">
              <a:alpha val="11000"/>
            </a:schemeClr>
          </a:solidFill>
          <a:ln w="12700">
            <a:solidFill>
              <a:srgbClr val="C8A45C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6526" y="6375541"/>
            <a:ext cx="166899" cy="166899"/>
          </a:xfrm>
          <a:custGeom>
            <a:avLst/>
            <a:gdLst/>
            <a:ahLst/>
            <a:cxnLst/>
            <a:rect l="l" t="t" r="r" b="b"/>
            <a:pathLst>
              <a:path w="166899" h="166899">
                <a:moveTo>
                  <a:pt x="0" y="26078"/>
                </a:moveTo>
                <a:cubicBezTo>
                  <a:pt x="0" y="17440"/>
                  <a:pt x="7008" y="10431"/>
                  <a:pt x="15647" y="10431"/>
                </a:cubicBezTo>
                <a:lnTo>
                  <a:pt x="46940" y="10431"/>
                </a:lnTo>
                <a:cubicBezTo>
                  <a:pt x="55579" y="10431"/>
                  <a:pt x="62587" y="17440"/>
                  <a:pt x="62587" y="26078"/>
                </a:cubicBezTo>
                <a:lnTo>
                  <a:pt x="62587" y="31294"/>
                </a:lnTo>
                <a:lnTo>
                  <a:pt x="104312" y="31294"/>
                </a:lnTo>
                <a:lnTo>
                  <a:pt x="104312" y="26078"/>
                </a:lnTo>
                <a:cubicBezTo>
                  <a:pt x="104312" y="17440"/>
                  <a:pt x="111321" y="10431"/>
                  <a:pt x="119959" y="10431"/>
                </a:cubicBezTo>
                <a:lnTo>
                  <a:pt x="151253" y="10431"/>
                </a:lnTo>
                <a:cubicBezTo>
                  <a:pt x="159891" y="10431"/>
                  <a:pt x="166899" y="17440"/>
                  <a:pt x="166899" y="26078"/>
                </a:cubicBezTo>
                <a:lnTo>
                  <a:pt x="166899" y="57372"/>
                </a:lnTo>
                <a:cubicBezTo>
                  <a:pt x="166899" y="66010"/>
                  <a:pt x="159891" y="73018"/>
                  <a:pt x="151253" y="73018"/>
                </a:cubicBezTo>
                <a:lnTo>
                  <a:pt x="119959" y="73018"/>
                </a:lnTo>
                <a:cubicBezTo>
                  <a:pt x="111321" y="73018"/>
                  <a:pt x="104312" y="66010"/>
                  <a:pt x="104312" y="57372"/>
                </a:cubicBezTo>
                <a:lnTo>
                  <a:pt x="104312" y="52156"/>
                </a:lnTo>
                <a:lnTo>
                  <a:pt x="62587" y="52156"/>
                </a:lnTo>
                <a:lnTo>
                  <a:pt x="62587" y="57372"/>
                </a:lnTo>
                <a:cubicBezTo>
                  <a:pt x="62587" y="59751"/>
                  <a:pt x="62033" y="62033"/>
                  <a:pt x="61088" y="64054"/>
                </a:cubicBezTo>
                <a:lnTo>
                  <a:pt x="83450" y="93881"/>
                </a:lnTo>
                <a:lnTo>
                  <a:pt x="109528" y="93881"/>
                </a:lnTo>
                <a:cubicBezTo>
                  <a:pt x="118166" y="93881"/>
                  <a:pt x="125175" y="100889"/>
                  <a:pt x="125175" y="109528"/>
                </a:cubicBezTo>
                <a:lnTo>
                  <a:pt x="125175" y="140821"/>
                </a:lnTo>
                <a:cubicBezTo>
                  <a:pt x="125175" y="149460"/>
                  <a:pt x="118166" y="156468"/>
                  <a:pt x="109528" y="156468"/>
                </a:cubicBezTo>
                <a:lnTo>
                  <a:pt x="78234" y="156468"/>
                </a:lnTo>
                <a:cubicBezTo>
                  <a:pt x="69596" y="156468"/>
                  <a:pt x="62587" y="149460"/>
                  <a:pt x="62587" y="140821"/>
                </a:cubicBezTo>
                <a:lnTo>
                  <a:pt x="62587" y="109528"/>
                </a:lnTo>
                <a:cubicBezTo>
                  <a:pt x="62587" y="107148"/>
                  <a:pt x="63141" y="104866"/>
                  <a:pt x="64087" y="102845"/>
                </a:cubicBezTo>
                <a:lnTo>
                  <a:pt x="41725" y="73018"/>
                </a:lnTo>
                <a:lnTo>
                  <a:pt x="15647" y="73018"/>
                </a:lnTo>
                <a:cubicBezTo>
                  <a:pt x="7008" y="73018"/>
                  <a:pt x="0" y="66010"/>
                  <a:pt x="0" y="57372"/>
                </a:cubicBezTo>
                <a:lnTo>
                  <a:pt x="0" y="26078"/>
                </a:lnTo>
                <a:close/>
              </a:path>
            </a:pathLst>
          </a:custGeom>
          <a:solidFill>
            <a:srgbClr val="C8A45C"/>
          </a:solidFill>
        </p:spPr>
      </p:sp>
      <p:sp>
        <p:nvSpPr>
          <p:cNvPr id="25" name="Text 23"/>
          <p:cNvSpPr/>
          <p:nvPr/>
        </p:nvSpPr>
        <p:spPr>
          <a:xfrm>
            <a:off x="784427" y="6375541"/>
            <a:ext cx="2278177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在工作流画布上增加分支，实现多维度分析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15587" y="1097348"/>
            <a:ext cx="6842875" cy="4965257"/>
          </a:xfrm>
          <a:custGeom>
            <a:avLst/>
            <a:gdLst/>
            <a:ahLst/>
            <a:cxnLst/>
            <a:rect l="l" t="t" r="r" b="b"/>
            <a:pathLst>
              <a:path w="6842875" h="4965257">
                <a:moveTo>
                  <a:pt x="133516" y="0"/>
                </a:moveTo>
                <a:lnTo>
                  <a:pt x="6709359" y="0"/>
                </a:lnTo>
                <a:cubicBezTo>
                  <a:pt x="6783048" y="0"/>
                  <a:pt x="6842875" y="59826"/>
                  <a:pt x="6842875" y="133516"/>
                </a:cubicBezTo>
                <a:lnTo>
                  <a:pt x="6842875" y="4831741"/>
                </a:lnTo>
                <a:cubicBezTo>
                  <a:pt x="6842875" y="4905480"/>
                  <a:pt x="6783098" y="4965257"/>
                  <a:pt x="6709359" y="4965257"/>
                </a:cubicBezTo>
                <a:lnTo>
                  <a:pt x="133516" y="4965257"/>
                </a:lnTo>
                <a:cubicBezTo>
                  <a:pt x="59826" y="4965257"/>
                  <a:pt x="0" y="4905430"/>
                  <a:pt x="0" y="4831741"/>
                </a:cubicBezTo>
                <a:lnTo>
                  <a:pt x="0" y="133516"/>
                </a:lnTo>
                <a:cubicBezTo>
                  <a:pt x="0" y="59777"/>
                  <a:pt x="59777" y="0"/>
                  <a:pt x="13351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4E54">
                  <a:alpha val="20000"/>
                </a:srgbClr>
              </a:gs>
              <a:gs pos="100000">
                <a:srgbClr val="1A1D21"/>
              </a:gs>
            </a:gsLst>
            <a:lin ang="2700000" scaled="1"/>
          </a:gra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6659" y="1268420"/>
            <a:ext cx="6575836" cy="23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最终输出效果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190832" y="1639771"/>
            <a:ext cx="6492386" cy="1610579"/>
          </a:xfrm>
          <a:custGeom>
            <a:avLst/>
            <a:gdLst/>
            <a:ahLst/>
            <a:cxnLst/>
            <a:rect l="l" t="t" r="r" b="b"/>
            <a:pathLst>
              <a:path w="6492386" h="1610579">
                <a:moveTo>
                  <a:pt x="100146" y="0"/>
                </a:moveTo>
                <a:lnTo>
                  <a:pt x="6392240" y="0"/>
                </a:lnTo>
                <a:cubicBezTo>
                  <a:pt x="6447549" y="0"/>
                  <a:pt x="6492386" y="44837"/>
                  <a:pt x="6492386" y="100146"/>
                </a:cubicBezTo>
                <a:lnTo>
                  <a:pt x="6492386" y="1510433"/>
                </a:lnTo>
                <a:cubicBezTo>
                  <a:pt x="6492386" y="1565742"/>
                  <a:pt x="6447549" y="1610579"/>
                  <a:pt x="6392240" y="1610579"/>
                </a:cubicBezTo>
                <a:lnTo>
                  <a:pt x="100146" y="1610579"/>
                </a:lnTo>
                <a:cubicBezTo>
                  <a:pt x="44837" y="1610579"/>
                  <a:pt x="0" y="1565742"/>
                  <a:pt x="0" y="1510433"/>
                </a:cubicBezTo>
                <a:lnTo>
                  <a:pt x="0" y="100146"/>
                </a:lnTo>
                <a:cubicBezTo>
                  <a:pt x="0" y="44874"/>
                  <a:pt x="44874" y="0"/>
                  <a:pt x="100146" y="0"/>
                </a:cubicBezTo>
                <a:close/>
              </a:path>
            </a:pathLst>
          </a:custGeom>
          <a:solidFill>
            <a:schemeClr val="tx1">
              <a:alpha val="0"/>
            </a:scheme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  <p:txBody>
          <a:bodyPr/>
          <a:p>
            <a:endParaRPr lang="zh-CN" altLang="en-US">
              <a:cs typeface="BMWGroupTN Condensed TT Light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28524" y="1777463"/>
            <a:ext cx="6275417" cy="166899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图表：近三个月北京地区销量趋势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62043" y="2712099"/>
            <a:ext cx="1894308" cy="0"/>
          </a:xfrm>
          <a:custGeom>
            <a:avLst/>
            <a:gdLst/>
            <a:ahLst/>
            <a:cxnLst/>
            <a:rect l="l" t="t" r="r" b="b"/>
            <a:pathLst>
              <a:path w="1894308">
                <a:moveTo>
                  <a:pt x="0" y="0"/>
                </a:moveTo>
                <a:lnTo>
                  <a:pt x="1894308" y="0"/>
                </a:lnTo>
                <a:lnTo>
                  <a:pt x="1894308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4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327638" y="2778859"/>
            <a:ext cx="208624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E8E9EA">
                    <a:alpha val="6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8月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331745" y="2979138"/>
            <a:ext cx="200279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142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89284" y="2712099"/>
            <a:ext cx="1894308" cy="0"/>
          </a:xfrm>
          <a:custGeom>
            <a:avLst/>
            <a:gdLst/>
            <a:ahLst/>
            <a:cxnLst/>
            <a:rect l="l" t="t" r="r" b="b"/>
            <a:pathLst>
              <a:path w="1894308">
                <a:moveTo>
                  <a:pt x="0" y="0"/>
                </a:moveTo>
                <a:lnTo>
                  <a:pt x="1894308" y="0"/>
                </a:lnTo>
                <a:lnTo>
                  <a:pt x="1894308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6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8356313" y="2778859"/>
            <a:ext cx="208624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E8E9EA">
                    <a:alpha val="6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9月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355205" y="2979138"/>
            <a:ext cx="208624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168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516590" y="2712099"/>
            <a:ext cx="1894308" cy="0"/>
          </a:xfrm>
          <a:custGeom>
            <a:avLst/>
            <a:gdLst/>
            <a:ahLst/>
            <a:cxnLst/>
            <a:rect l="l" t="t" r="r" b="b"/>
            <a:pathLst>
              <a:path w="1894308">
                <a:moveTo>
                  <a:pt x="0" y="0"/>
                </a:moveTo>
                <a:lnTo>
                  <a:pt x="1894308" y="0"/>
                </a:lnTo>
                <a:lnTo>
                  <a:pt x="1894308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6467">
              <a:alpha val="60000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10297757" y="2778859"/>
            <a:ext cx="383869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b="1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10月 ↓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384988" y="2979138"/>
            <a:ext cx="208624" cy="1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143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190832" y="3392214"/>
            <a:ext cx="6492386" cy="2495146"/>
          </a:xfrm>
          <a:custGeom>
            <a:avLst/>
            <a:gdLst/>
            <a:ahLst/>
            <a:cxnLst/>
            <a:rect l="l" t="t" r="r" b="b"/>
            <a:pathLst>
              <a:path w="6492386" h="2495146">
                <a:moveTo>
                  <a:pt x="100130" y="0"/>
                </a:moveTo>
                <a:lnTo>
                  <a:pt x="6392256" y="0"/>
                </a:lnTo>
                <a:cubicBezTo>
                  <a:pt x="6447556" y="0"/>
                  <a:pt x="6492386" y="44830"/>
                  <a:pt x="6492386" y="100130"/>
                </a:cubicBezTo>
                <a:lnTo>
                  <a:pt x="6492386" y="2395016"/>
                </a:lnTo>
                <a:cubicBezTo>
                  <a:pt x="6492386" y="2450316"/>
                  <a:pt x="6447556" y="2495146"/>
                  <a:pt x="6392256" y="2495146"/>
                </a:cubicBezTo>
                <a:lnTo>
                  <a:pt x="100130" y="2495146"/>
                </a:lnTo>
                <a:cubicBezTo>
                  <a:pt x="44830" y="2495146"/>
                  <a:pt x="0" y="2450316"/>
                  <a:pt x="0" y="2395016"/>
                </a:cubicBezTo>
                <a:lnTo>
                  <a:pt x="0" y="100130"/>
                </a:lnTo>
                <a:cubicBezTo>
                  <a:pt x="0" y="44867"/>
                  <a:pt x="44867" y="0"/>
                  <a:pt x="10013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C8A45C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28524" y="3529906"/>
            <a:ext cx="6275417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4A4E54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文字结论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328524" y="3796945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66760" y="0"/>
                </a:moveTo>
                <a:lnTo>
                  <a:pt x="200279" y="0"/>
                </a:lnTo>
                <a:cubicBezTo>
                  <a:pt x="237125" y="0"/>
                  <a:pt x="267039" y="29914"/>
                  <a:pt x="267039" y="66760"/>
                </a:cubicBezTo>
                <a:lnTo>
                  <a:pt x="267039" y="200279"/>
                </a:lnTo>
                <a:cubicBezTo>
                  <a:pt x="267039" y="237125"/>
                  <a:pt x="237125" y="267039"/>
                  <a:pt x="200279" y="267039"/>
                </a:cubicBezTo>
                <a:lnTo>
                  <a:pt x="66760" y="267039"/>
                </a:lnTo>
                <a:cubicBezTo>
                  <a:pt x="29914" y="267039"/>
                  <a:pt x="0" y="237125"/>
                  <a:pt x="0" y="200279"/>
                </a:cubicBezTo>
                <a:lnTo>
                  <a:pt x="0" y="66760"/>
                </a:lnTo>
                <a:cubicBezTo>
                  <a:pt x="0" y="29914"/>
                  <a:pt x="29914" y="0"/>
                  <a:pt x="66760" y="0"/>
                </a:cubicBezTo>
                <a:close/>
              </a:path>
            </a:pathLst>
          </a:custGeom>
          <a:solidFill>
            <a:srgbClr val="FF6467">
              <a:alpha val="2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5330023" y="3847015"/>
            <a:ext cx="325454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-15%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2" name="Text 41"/>
          <p:cNvSpPr/>
          <p:nvPr/>
        </p:nvSpPr>
        <p:spPr>
          <a:xfrm>
            <a:off x="5695950" y="3796665"/>
            <a:ext cx="3662045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10月北京地区销量环比下降15%</a:t>
            </a:r>
            <a:endParaRPr lang="en-US" sz="1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3" name="Text 42"/>
          <p:cNvSpPr/>
          <p:nvPr/>
        </p:nvSpPr>
        <p:spPr>
          <a:xfrm>
            <a:off x="5695950" y="3997325"/>
            <a:ext cx="3646170" cy="167005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从168台降至143台</a:t>
            </a:r>
            <a:endParaRPr lang="en-US" sz="102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4" name="Shape 43"/>
          <p:cNvSpPr/>
          <p:nvPr/>
        </p:nvSpPr>
        <p:spPr>
          <a:xfrm>
            <a:off x="5328524" y="4264264"/>
            <a:ext cx="6217002" cy="801117"/>
          </a:xfrm>
          <a:custGeom>
            <a:avLst/>
            <a:gdLst/>
            <a:ahLst/>
            <a:cxnLst/>
            <a:rect l="l" t="t" r="r" b="b"/>
            <a:pathLst>
              <a:path w="6217002" h="801117">
                <a:moveTo>
                  <a:pt x="66757" y="0"/>
                </a:moveTo>
                <a:lnTo>
                  <a:pt x="6150245" y="0"/>
                </a:lnTo>
                <a:cubicBezTo>
                  <a:pt x="6187114" y="0"/>
                  <a:pt x="6217002" y="29888"/>
                  <a:pt x="6217002" y="66757"/>
                </a:cubicBezTo>
                <a:lnTo>
                  <a:pt x="6217002" y="734360"/>
                </a:lnTo>
                <a:cubicBezTo>
                  <a:pt x="6217002" y="771229"/>
                  <a:pt x="6187114" y="801117"/>
                  <a:pt x="6150245" y="801117"/>
                </a:cubicBezTo>
                <a:lnTo>
                  <a:pt x="66757" y="801117"/>
                </a:lnTo>
                <a:cubicBezTo>
                  <a:pt x="29888" y="801117"/>
                  <a:pt x="0" y="771229"/>
                  <a:pt x="0" y="734360"/>
                </a:cubicBezTo>
                <a:lnTo>
                  <a:pt x="0" y="66757"/>
                </a:lnTo>
                <a:cubicBezTo>
                  <a:pt x="0" y="29913"/>
                  <a:pt x="29913" y="0"/>
                  <a:pt x="66757" y="0"/>
                </a:cubicBezTo>
                <a:close/>
              </a:path>
            </a:pathLst>
          </a:custGeom>
          <a:solidFill>
            <a:srgbClr val="4A4E54">
              <a:alpha val="20000"/>
            </a:srgbClr>
          </a:solidFill>
        </p:spPr>
      </p:sp>
      <p:sp>
        <p:nvSpPr>
          <p:cNvPr id="75" name="Text 44"/>
          <p:cNvSpPr/>
          <p:nvPr/>
        </p:nvSpPr>
        <p:spPr>
          <a:xfrm>
            <a:off x="5428663" y="4364403"/>
            <a:ext cx="6075138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分析发现：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6" name="Text 45"/>
          <p:cNvSpPr/>
          <p:nvPr/>
        </p:nvSpPr>
        <p:spPr>
          <a:xfrm>
            <a:off x="5428663" y="4598062"/>
            <a:ext cx="6075138" cy="166899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① 上月北京无大型市场活动，而去年同期有"BMW i体验日"</a:t>
            </a:r>
            <a:endParaRPr lang="en-US" sz="92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77" name="Text 46"/>
          <p:cNvSpPr/>
          <p:nvPr/>
        </p:nvSpPr>
        <p:spPr>
          <a:xfrm>
            <a:off x="5428663" y="4798342"/>
            <a:ext cx="6075138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8E9EA">
                    <a:alpha val="8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② 竞品奔驰EQE同期推出大幅终端优惠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8" name="Shape 47"/>
          <p:cNvSpPr/>
          <p:nvPr/>
        </p:nvSpPr>
        <p:spPr>
          <a:xfrm>
            <a:off x="5332696" y="5169693"/>
            <a:ext cx="6208657" cy="575803"/>
          </a:xfrm>
          <a:custGeom>
            <a:avLst/>
            <a:gdLst/>
            <a:ahLst/>
            <a:cxnLst/>
            <a:rect l="l" t="t" r="r" b="b"/>
            <a:pathLst>
              <a:path w="6208657" h="575803">
                <a:moveTo>
                  <a:pt x="66759" y="0"/>
                </a:moveTo>
                <a:lnTo>
                  <a:pt x="6141898" y="0"/>
                </a:lnTo>
                <a:cubicBezTo>
                  <a:pt x="6178768" y="0"/>
                  <a:pt x="6208657" y="29889"/>
                  <a:pt x="6208657" y="66759"/>
                </a:cubicBezTo>
                <a:lnTo>
                  <a:pt x="6208657" y="509044"/>
                </a:lnTo>
                <a:cubicBezTo>
                  <a:pt x="6208657" y="545914"/>
                  <a:pt x="6178768" y="575803"/>
                  <a:pt x="6141898" y="575803"/>
                </a:cubicBezTo>
                <a:lnTo>
                  <a:pt x="66759" y="575803"/>
                </a:lnTo>
                <a:cubicBezTo>
                  <a:pt x="29914" y="575803"/>
                  <a:pt x="0" y="545889"/>
                  <a:pt x="0" y="509044"/>
                </a:cubicBezTo>
                <a:lnTo>
                  <a:pt x="0" y="66759"/>
                </a:lnTo>
                <a:cubicBezTo>
                  <a:pt x="0" y="29914"/>
                  <a:pt x="29914" y="0"/>
                  <a:pt x="66759" y="0"/>
                </a:cubicBez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79" name="Text 48"/>
          <p:cNvSpPr/>
          <p:nvPr/>
        </p:nvSpPr>
        <p:spPr>
          <a:xfrm>
            <a:off x="5437008" y="5274005"/>
            <a:ext cx="6058448" cy="1668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建议：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80" name="Text 49"/>
          <p:cNvSpPr/>
          <p:nvPr/>
        </p:nvSpPr>
        <p:spPr>
          <a:xfrm>
            <a:off x="5437008" y="5474284"/>
            <a:ext cx="6058448" cy="166899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11月结合"i5城市漫游"活动，针对北京市场追加区域营销预算</a:t>
            </a:r>
            <a:endParaRPr lang="en-US" sz="92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1" name="Shape 50"/>
          <p:cNvSpPr/>
          <p:nvPr/>
        </p:nvSpPr>
        <p:spPr>
          <a:xfrm>
            <a:off x="5015587" y="6204469"/>
            <a:ext cx="6842875" cy="475663"/>
          </a:xfrm>
          <a:custGeom>
            <a:avLst/>
            <a:gdLst/>
            <a:ahLst/>
            <a:cxnLst/>
            <a:rect l="l" t="t" r="r" b="b"/>
            <a:pathLst>
              <a:path w="6842875" h="475663">
                <a:moveTo>
                  <a:pt x="100141" y="0"/>
                </a:moveTo>
                <a:lnTo>
                  <a:pt x="6742733" y="0"/>
                </a:lnTo>
                <a:cubicBezTo>
                  <a:pt x="6798040" y="0"/>
                  <a:pt x="6842875" y="44835"/>
                  <a:pt x="6842875" y="100141"/>
                </a:cubicBezTo>
                <a:lnTo>
                  <a:pt x="6842875" y="375522"/>
                </a:lnTo>
                <a:cubicBezTo>
                  <a:pt x="6842875" y="430828"/>
                  <a:pt x="6798040" y="475663"/>
                  <a:pt x="6742733" y="475663"/>
                </a:cubicBezTo>
                <a:lnTo>
                  <a:pt x="100141" y="475663"/>
                </a:lnTo>
                <a:cubicBezTo>
                  <a:pt x="44872" y="475663"/>
                  <a:pt x="0" y="430791"/>
                  <a:pt x="0" y="375522"/>
                </a:cubicBezTo>
                <a:lnTo>
                  <a:pt x="0" y="100141"/>
                </a:lnTo>
                <a:cubicBezTo>
                  <a:pt x="0" y="44872"/>
                  <a:pt x="44872" y="0"/>
                  <a:pt x="100141" y="0"/>
                </a:cubicBezTo>
                <a:close/>
              </a:path>
            </a:pathLst>
          </a:custGeom>
          <a:solidFill>
            <a:schemeClr val="tx2">
              <a:alpha val="11000"/>
            </a:scheme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82" name="Shape 51"/>
          <p:cNvSpPr/>
          <p:nvPr/>
        </p:nvSpPr>
        <p:spPr>
          <a:xfrm>
            <a:off x="5174142" y="6358851"/>
            <a:ext cx="166899" cy="166899"/>
          </a:xfrm>
          <a:custGeom>
            <a:avLst/>
            <a:gdLst/>
            <a:ahLst/>
            <a:cxnLst/>
            <a:rect l="l" t="t" r="r" b="b"/>
            <a:pathLst>
              <a:path w="166899" h="166899">
                <a:moveTo>
                  <a:pt x="39117" y="18255"/>
                </a:moveTo>
                <a:cubicBezTo>
                  <a:pt x="39117" y="8182"/>
                  <a:pt x="47299" y="0"/>
                  <a:pt x="57372" y="0"/>
                </a:cubicBezTo>
                <a:lnTo>
                  <a:pt x="65195" y="0"/>
                </a:lnTo>
                <a:cubicBezTo>
                  <a:pt x="70965" y="0"/>
                  <a:pt x="75626" y="4661"/>
                  <a:pt x="75626" y="10431"/>
                </a:cubicBezTo>
                <a:lnTo>
                  <a:pt x="75626" y="156468"/>
                </a:lnTo>
                <a:cubicBezTo>
                  <a:pt x="75626" y="162238"/>
                  <a:pt x="70965" y="166899"/>
                  <a:pt x="65195" y="166899"/>
                </a:cubicBezTo>
                <a:lnTo>
                  <a:pt x="54764" y="166899"/>
                </a:lnTo>
                <a:cubicBezTo>
                  <a:pt x="45050" y="166899"/>
                  <a:pt x="36868" y="160249"/>
                  <a:pt x="34553" y="151253"/>
                </a:cubicBezTo>
                <a:cubicBezTo>
                  <a:pt x="34325" y="151253"/>
                  <a:pt x="34130" y="151253"/>
                  <a:pt x="33901" y="151253"/>
                </a:cubicBezTo>
                <a:cubicBezTo>
                  <a:pt x="19493" y="151253"/>
                  <a:pt x="7823" y="139583"/>
                  <a:pt x="7823" y="125175"/>
                </a:cubicBezTo>
                <a:cubicBezTo>
                  <a:pt x="7823" y="119307"/>
                  <a:pt x="9779" y="113896"/>
                  <a:pt x="13039" y="109528"/>
                </a:cubicBezTo>
                <a:cubicBezTo>
                  <a:pt x="6715" y="104768"/>
                  <a:pt x="2608" y="97206"/>
                  <a:pt x="2608" y="88665"/>
                </a:cubicBezTo>
                <a:cubicBezTo>
                  <a:pt x="2608" y="78593"/>
                  <a:pt x="8345" y="69824"/>
                  <a:pt x="16690" y="65488"/>
                </a:cubicBezTo>
                <a:cubicBezTo>
                  <a:pt x="14376" y="61577"/>
                  <a:pt x="13039" y="57013"/>
                  <a:pt x="13039" y="52156"/>
                </a:cubicBezTo>
                <a:cubicBezTo>
                  <a:pt x="13039" y="37748"/>
                  <a:pt x="24709" y="26078"/>
                  <a:pt x="39117" y="26078"/>
                </a:cubicBezTo>
                <a:lnTo>
                  <a:pt x="39117" y="18255"/>
                </a:lnTo>
                <a:close/>
                <a:moveTo>
                  <a:pt x="127782" y="18255"/>
                </a:moveTo>
                <a:lnTo>
                  <a:pt x="127782" y="26078"/>
                </a:lnTo>
                <a:cubicBezTo>
                  <a:pt x="142190" y="26078"/>
                  <a:pt x="153860" y="37748"/>
                  <a:pt x="153860" y="52156"/>
                </a:cubicBezTo>
                <a:cubicBezTo>
                  <a:pt x="153860" y="57046"/>
                  <a:pt x="152524" y="61609"/>
                  <a:pt x="150209" y="65488"/>
                </a:cubicBezTo>
                <a:cubicBezTo>
                  <a:pt x="158587" y="69824"/>
                  <a:pt x="164292" y="78560"/>
                  <a:pt x="164292" y="88665"/>
                </a:cubicBezTo>
                <a:cubicBezTo>
                  <a:pt x="164292" y="97206"/>
                  <a:pt x="160184" y="104768"/>
                  <a:pt x="153860" y="109528"/>
                </a:cubicBezTo>
                <a:cubicBezTo>
                  <a:pt x="157120" y="113896"/>
                  <a:pt x="159076" y="119307"/>
                  <a:pt x="159076" y="125175"/>
                </a:cubicBezTo>
                <a:cubicBezTo>
                  <a:pt x="159076" y="139583"/>
                  <a:pt x="147406" y="151253"/>
                  <a:pt x="132998" y="151253"/>
                </a:cubicBezTo>
                <a:cubicBezTo>
                  <a:pt x="132770" y="151253"/>
                  <a:pt x="132574" y="151253"/>
                  <a:pt x="132346" y="151253"/>
                </a:cubicBezTo>
                <a:cubicBezTo>
                  <a:pt x="130032" y="160249"/>
                  <a:pt x="121850" y="166899"/>
                  <a:pt x="112136" y="166899"/>
                </a:cubicBezTo>
                <a:lnTo>
                  <a:pt x="101704" y="166899"/>
                </a:lnTo>
                <a:cubicBezTo>
                  <a:pt x="95935" y="166899"/>
                  <a:pt x="91273" y="162238"/>
                  <a:pt x="91273" y="156468"/>
                </a:cubicBezTo>
                <a:lnTo>
                  <a:pt x="91273" y="10431"/>
                </a:lnTo>
                <a:cubicBezTo>
                  <a:pt x="91273" y="4661"/>
                  <a:pt x="95935" y="0"/>
                  <a:pt x="101704" y="0"/>
                </a:cubicBezTo>
                <a:lnTo>
                  <a:pt x="109528" y="0"/>
                </a:lnTo>
                <a:cubicBezTo>
                  <a:pt x="119600" y="0"/>
                  <a:pt x="127782" y="8182"/>
                  <a:pt x="127782" y="18255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83" name="Text 52"/>
          <p:cNvSpPr/>
          <p:nvPr/>
        </p:nvSpPr>
        <p:spPr>
          <a:xfrm>
            <a:off x="5462043" y="6342161"/>
            <a:ext cx="4280969" cy="200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AI不仅给了数，还给了</a:t>
            </a:r>
            <a:r>
              <a:rPr lang="en-US" sz="1050" b="1" dirty="0">
                <a:solidFill>
                  <a:srgbClr val="C8A45C"/>
                </a:solidFill>
                <a:highlight>
                  <a:srgbClr val="C8A45C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"药方" </a:t>
            </a:r>
            <a:r>
              <a:rPr lang="en-US" sz="105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。小王现在不是取数员了，是策略分析师</a:t>
            </a:r>
            <a:endParaRPr lang="en-US" sz="1600" dirty="0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43" name="Shape 12"/>
          <p:cNvSpPr/>
          <p:nvPr/>
        </p:nvSpPr>
        <p:spPr>
          <a:xfrm>
            <a:off x="2131060" y="2038350"/>
            <a:ext cx="7929245" cy="2781300"/>
          </a:xfrm>
          <a:prstGeom prst="roundRect">
            <a:avLst>
              <a:gd name="adj" fmla="val 6043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13"/>
          <p:cNvSpPr/>
          <p:nvPr/>
        </p:nvSpPr>
        <p:spPr>
          <a:xfrm>
            <a:off x="2131695" y="2038350"/>
            <a:ext cx="7880985" cy="27971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BMWGroupTN Condensed TT" charset="0"/>
                <a:cs typeface="BMWGroupTN Condensed TT" charset="0"/>
                <a:sym typeface="+mn-ea"/>
              </a:rPr>
              <a:t>使用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BMWGroupTN Condensed TT" charset="0"/>
                <a:cs typeface="BMWGroupTN Condensed TT" charset="0"/>
                <a:sym typeface="+mn-ea"/>
              </a:rPr>
              <a:t>Dify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" charset="0"/>
                <a:ea typeface="宋体" panose="02010600030101010101" pitchFamily="2" charset="-122"/>
                <a:cs typeface="BMWGroupTN Condensed TT" charset="0"/>
                <a:sym typeface="+mn-ea"/>
              </a:rPr>
              <a:t>进行归因分析链路新增节点配置</a:t>
            </a:r>
            <a:endParaRPr lang="zh-CN" altLang="en-US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" charset="0"/>
              <a:ea typeface="宋体" panose="02010600030101010101" pitchFamily="2" charset="-122"/>
              <a:cs typeface="BMWGroupTN Condensed TT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2500490" y="2426407"/>
            <a:ext cx="7191021" cy="643045"/>
          </a:xfrm>
        </p:spPr>
        <p:txBody>
          <a:bodyPr/>
          <a:lstStyle/>
          <a:p>
            <a:r>
              <a:rPr lang="zh-CN" altLang="en-US"/>
              <a:t>PART </a:t>
            </a:r>
            <a:r>
              <a:t>FIVE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48653" y="3180080"/>
            <a:ext cx="10894695" cy="1405255"/>
          </a:xfrm>
        </p:spPr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避坑指南与总结</a:t>
            </a:r>
            <a:endParaRPr lang="zh-CN" altLang="en-US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宝马数据安全红线</a:t>
            </a:r>
            <a:r>
              <a:rPr lang="en-US" altLang="zh-CN"/>
              <a:t>——AI</a:t>
            </a:r>
            <a:r>
              <a:rPr lang="zh-CN" altLang="en-US"/>
              <a:t>驾驶请系好</a:t>
            </a:r>
            <a:r>
              <a:rPr lang="en-US" altLang="zh-CN"/>
              <a:t>"</a:t>
            </a:r>
            <a:r>
              <a:rPr lang="zh-CN" altLang="en-US"/>
              <a:t>安全带</a:t>
            </a:r>
            <a:r>
              <a:rPr lang="en-US" altLang="zh-CN"/>
              <a:t>"</a:t>
            </a:r>
            <a:endParaRPr lang="en-US" altLang="zh-CN"/>
          </a:p>
        </p:txBody>
      </p:sp>
      <p:sp>
        <p:nvSpPr>
          <p:cNvPr id="2" name="Shape 4"/>
          <p:cNvSpPr/>
          <p:nvPr/>
        </p:nvSpPr>
        <p:spPr>
          <a:xfrm>
            <a:off x="385763" y="1176338"/>
            <a:ext cx="5610225" cy="2905125"/>
          </a:xfrm>
          <a:custGeom>
            <a:avLst/>
            <a:gdLst/>
            <a:ahLst/>
            <a:cxnLst/>
            <a:rect l="l" t="t" r="r" b="b"/>
            <a:pathLst>
              <a:path w="5610225" h="2905125">
                <a:moveTo>
                  <a:pt x="152403" y="0"/>
                </a:moveTo>
                <a:lnTo>
                  <a:pt x="5457822" y="0"/>
                </a:lnTo>
                <a:cubicBezTo>
                  <a:pt x="5541936" y="0"/>
                  <a:pt x="5610225" y="68289"/>
                  <a:pt x="5610225" y="152403"/>
                </a:cubicBezTo>
                <a:lnTo>
                  <a:pt x="5610225" y="2752722"/>
                </a:lnTo>
                <a:cubicBezTo>
                  <a:pt x="5610225" y="2836836"/>
                  <a:pt x="5541936" y="2905125"/>
                  <a:pt x="5457822" y="2905125"/>
                </a:cubicBezTo>
                <a:lnTo>
                  <a:pt x="152403" y="2905125"/>
                </a:lnTo>
                <a:cubicBezTo>
                  <a:pt x="68289" y="2905125"/>
                  <a:pt x="0" y="2836836"/>
                  <a:pt x="0" y="275272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" name="Shape 5"/>
          <p:cNvSpPr/>
          <p:nvPr/>
        </p:nvSpPr>
        <p:spPr>
          <a:xfrm>
            <a:off x="581025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</p:sp>
      <p:sp>
        <p:nvSpPr>
          <p:cNvPr id="4" name="Text 6"/>
          <p:cNvSpPr/>
          <p:nvPr/>
        </p:nvSpPr>
        <p:spPr>
          <a:xfrm>
            <a:off x="764679" y="1447800"/>
            <a:ext cx="2000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1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5" name="Text 7"/>
          <p:cNvSpPr/>
          <p:nvPr/>
        </p:nvSpPr>
        <p:spPr>
          <a:xfrm>
            <a:off x="1152525" y="1371600"/>
            <a:ext cx="1619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只读权限是生命线</a:t>
            </a:r>
            <a:endParaRPr lang="en-US" sz="1500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3" name="Text 8"/>
          <p:cNvSpPr/>
          <p:nvPr/>
        </p:nvSpPr>
        <p:spPr>
          <a:xfrm>
            <a:off x="1152525" y="1638300"/>
            <a:ext cx="15906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Read-Only Access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600075" y="1981200"/>
            <a:ext cx="5200650" cy="419100"/>
          </a:xfrm>
          <a:custGeom>
            <a:avLst/>
            <a:gdLst/>
            <a:ahLst/>
            <a:cxnLst/>
            <a:rect l="l" t="t" r="r" b="b"/>
            <a:pathLst>
              <a:path w="5200650" h="419100">
                <a:moveTo>
                  <a:pt x="38100" y="0"/>
                </a:moveTo>
                <a:lnTo>
                  <a:pt x="5124449" y="0"/>
                </a:lnTo>
                <a:cubicBezTo>
                  <a:pt x="5166534" y="0"/>
                  <a:pt x="5200650" y="34116"/>
                  <a:pt x="5200650" y="76201"/>
                </a:cubicBezTo>
                <a:lnTo>
                  <a:pt x="5200650" y="342899"/>
                </a:lnTo>
                <a:cubicBezTo>
                  <a:pt x="5200650" y="384984"/>
                  <a:pt x="5166534" y="419100"/>
                  <a:pt x="5124449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</p:spPr>
      </p:sp>
      <p:sp>
        <p:nvSpPr>
          <p:cNvPr id="46" name="Text 11"/>
          <p:cNvSpPr/>
          <p:nvPr/>
        </p:nvSpPr>
        <p:spPr>
          <a:xfrm>
            <a:off x="733425" y="2095500"/>
            <a:ext cx="5019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在Dify配置数据库连接时，务必使用</a:t>
            </a:r>
            <a:r>
              <a:rPr lang="en-US" sz="1400" b="1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只读账号</a:t>
            </a:r>
            <a:endParaRPr lang="en-US" sz="1400" b="1" dirty="0">
              <a:solidFill>
                <a:srgbClr val="FF6467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47" name="Shape 12"/>
          <p:cNvSpPr/>
          <p:nvPr/>
        </p:nvSpPr>
        <p:spPr>
          <a:xfrm>
            <a:off x="585788" y="2519363"/>
            <a:ext cx="5210175" cy="733425"/>
          </a:xfrm>
          <a:custGeom>
            <a:avLst/>
            <a:gdLst/>
            <a:ahLst/>
            <a:cxnLst/>
            <a:rect l="l" t="t" r="r" b="b"/>
            <a:pathLst>
              <a:path w="5210175" h="733425">
                <a:moveTo>
                  <a:pt x="76203" y="0"/>
                </a:moveTo>
                <a:lnTo>
                  <a:pt x="5133972" y="0"/>
                </a:lnTo>
                <a:cubicBezTo>
                  <a:pt x="5176030" y="0"/>
                  <a:pt x="5210175" y="34145"/>
                  <a:pt x="5210175" y="76203"/>
                </a:cubicBezTo>
                <a:lnTo>
                  <a:pt x="5210175" y="657222"/>
                </a:lnTo>
                <a:cubicBezTo>
                  <a:pt x="5210175" y="699280"/>
                  <a:pt x="5176030" y="733425"/>
                  <a:pt x="513397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8" name="Text 13"/>
          <p:cNvSpPr/>
          <p:nvPr/>
        </p:nvSpPr>
        <p:spPr>
          <a:xfrm>
            <a:off x="704850" y="2638425"/>
            <a:ext cx="503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🚫 严禁权限：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49" name="Shape 14"/>
          <p:cNvSpPr/>
          <p:nvPr/>
        </p:nvSpPr>
        <p:spPr>
          <a:xfrm>
            <a:off x="704850" y="2905125"/>
            <a:ext cx="561975" cy="228600"/>
          </a:xfrm>
          <a:custGeom>
            <a:avLst/>
            <a:gdLst/>
            <a:ahLst/>
            <a:cxnLst/>
            <a:rect l="l" t="t" r="r" b="b"/>
            <a:pathLst>
              <a:path w="561975" h="228600">
                <a:moveTo>
                  <a:pt x="38101" y="0"/>
                </a:moveTo>
                <a:lnTo>
                  <a:pt x="523874" y="0"/>
                </a:lnTo>
                <a:cubicBezTo>
                  <a:pt x="544917" y="0"/>
                  <a:pt x="561975" y="17058"/>
                  <a:pt x="561975" y="38101"/>
                </a:cubicBezTo>
                <a:lnTo>
                  <a:pt x="561975" y="190499"/>
                </a:lnTo>
                <a:cubicBezTo>
                  <a:pt x="561975" y="211542"/>
                  <a:pt x="544917" y="228600"/>
                  <a:pt x="5238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</p:sp>
      <p:sp>
        <p:nvSpPr>
          <p:cNvPr id="50" name="Text 15"/>
          <p:cNvSpPr/>
          <p:nvPr/>
        </p:nvSpPr>
        <p:spPr>
          <a:xfrm>
            <a:off x="704850" y="2905125"/>
            <a:ext cx="61912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DELETE</a:t>
            </a:r>
            <a:endParaRPr lang="en-US" sz="9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2" name="Shape 16"/>
          <p:cNvSpPr/>
          <p:nvPr/>
        </p:nvSpPr>
        <p:spPr>
          <a:xfrm>
            <a:off x="1346374" y="2905125"/>
            <a:ext cx="428625" cy="228600"/>
          </a:xfrm>
          <a:custGeom>
            <a:avLst/>
            <a:gdLst/>
            <a:ahLst/>
            <a:cxnLst/>
            <a:rect l="l" t="t" r="r" b="b"/>
            <a:pathLst>
              <a:path w="428625" h="228600">
                <a:moveTo>
                  <a:pt x="38101" y="0"/>
                </a:moveTo>
                <a:lnTo>
                  <a:pt x="390524" y="0"/>
                </a:lnTo>
                <a:cubicBezTo>
                  <a:pt x="411567" y="0"/>
                  <a:pt x="428625" y="17058"/>
                  <a:pt x="428625" y="38101"/>
                </a:cubicBezTo>
                <a:lnTo>
                  <a:pt x="428625" y="190499"/>
                </a:lnTo>
                <a:cubicBezTo>
                  <a:pt x="428625" y="211542"/>
                  <a:pt x="411567" y="228600"/>
                  <a:pt x="3905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</p:sp>
      <p:sp>
        <p:nvSpPr>
          <p:cNvPr id="53" name="Text 17"/>
          <p:cNvSpPr/>
          <p:nvPr/>
        </p:nvSpPr>
        <p:spPr>
          <a:xfrm>
            <a:off x="1346374" y="2905125"/>
            <a:ext cx="48577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DROP</a:t>
            </a:r>
            <a:endParaRPr lang="en-US" sz="9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4" name="Shape 18"/>
          <p:cNvSpPr/>
          <p:nvPr/>
        </p:nvSpPr>
        <p:spPr>
          <a:xfrm>
            <a:off x="1850231" y="2905125"/>
            <a:ext cx="561975" cy="228600"/>
          </a:xfrm>
          <a:custGeom>
            <a:avLst/>
            <a:gdLst/>
            <a:ahLst/>
            <a:cxnLst/>
            <a:rect l="l" t="t" r="r" b="b"/>
            <a:pathLst>
              <a:path w="561975" h="228600">
                <a:moveTo>
                  <a:pt x="38101" y="0"/>
                </a:moveTo>
                <a:lnTo>
                  <a:pt x="523874" y="0"/>
                </a:lnTo>
                <a:cubicBezTo>
                  <a:pt x="544917" y="0"/>
                  <a:pt x="561975" y="17058"/>
                  <a:pt x="561975" y="38101"/>
                </a:cubicBezTo>
                <a:lnTo>
                  <a:pt x="561975" y="190499"/>
                </a:lnTo>
                <a:cubicBezTo>
                  <a:pt x="561975" y="211542"/>
                  <a:pt x="544917" y="228600"/>
                  <a:pt x="5238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</p:sp>
      <p:sp>
        <p:nvSpPr>
          <p:cNvPr id="55" name="Text 19"/>
          <p:cNvSpPr/>
          <p:nvPr/>
        </p:nvSpPr>
        <p:spPr>
          <a:xfrm>
            <a:off x="1850231" y="2905125"/>
            <a:ext cx="61912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UPDATE</a:t>
            </a:r>
            <a:endParaRPr lang="en-US" sz="9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6" name="Shape 20"/>
          <p:cNvSpPr/>
          <p:nvPr/>
        </p:nvSpPr>
        <p:spPr>
          <a:xfrm>
            <a:off x="2491755" y="2905125"/>
            <a:ext cx="561975" cy="228600"/>
          </a:xfrm>
          <a:custGeom>
            <a:avLst/>
            <a:gdLst/>
            <a:ahLst/>
            <a:cxnLst/>
            <a:rect l="l" t="t" r="r" b="b"/>
            <a:pathLst>
              <a:path w="561975" h="228600">
                <a:moveTo>
                  <a:pt x="38101" y="0"/>
                </a:moveTo>
                <a:lnTo>
                  <a:pt x="523874" y="0"/>
                </a:lnTo>
                <a:cubicBezTo>
                  <a:pt x="544917" y="0"/>
                  <a:pt x="561975" y="17058"/>
                  <a:pt x="561975" y="38101"/>
                </a:cubicBezTo>
                <a:lnTo>
                  <a:pt x="561975" y="190499"/>
                </a:lnTo>
                <a:cubicBezTo>
                  <a:pt x="561975" y="211542"/>
                  <a:pt x="544917" y="228600"/>
                  <a:pt x="5238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</p:sp>
      <p:sp>
        <p:nvSpPr>
          <p:cNvPr id="57" name="Text 21"/>
          <p:cNvSpPr/>
          <p:nvPr/>
        </p:nvSpPr>
        <p:spPr>
          <a:xfrm>
            <a:off x="2491755" y="2905125"/>
            <a:ext cx="619125" cy="2286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INSERT</a:t>
            </a:r>
            <a:endParaRPr lang="en-US" sz="90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58" name="Shape 22"/>
          <p:cNvSpPr/>
          <p:nvPr/>
        </p:nvSpPr>
        <p:spPr>
          <a:xfrm>
            <a:off x="585788" y="3376613"/>
            <a:ext cx="5210175" cy="504825"/>
          </a:xfrm>
          <a:custGeom>
            <a:avLst/>
            <a:gdLst/>
            <a:ahLst/>
            <a:cxnLst/>
            <a:rect l="l" t="t" r="r" b="b"/>
            <a:pathLst>
              <a:path w="5210175" h="504825">
                <a:moveTo>
                  <a:pt x="76198" y="0"/>
                </a:moveTo>
                <a:lnTo>
                  <a:pt x="5133977" y="0"/>
                </a:lnTo>
                <a:cubicBezTo>
                  <a:pt x="5176060" y="0"/>
                  <a:pt x="5210175" y="34115"/>
                  <a:pt x="5210175" y="76198"/>
                </a:cubicBezTo>
                <a:lnTo>
                  <a:pt x="5210175" y="428627"/>
                </a:lnTo>
                <a:cubicBezTo>
                  <a:pt x="5210175" y="470710"/>
                  <a:pt x="5176060" y="504825"/>
                  <a:pt x="5133977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noFill/>
          <a:ln w="12700">
            <a:noFill/>
            <a:prstDash val="solid"/>
          </a:ln>
        </p:spPr>
      </p:sp>
      <p:sp>
        <p:nvSpPr>
          <p:cNvPr id="59" name="Text 23"/>
          <p:cNvSpPr/>
          <p:nvPr/>
        </p:nvSpPr>
        <p:spPr>
          <a:xfrm>
            <a:off x="704850" y="3495675"/>
            <a:ext cx="503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✓ 演示如何在Dify中勾选"只读模式"</a:t>
            </a:r>
            <a:endParaRPr lang="en-US" sz="1400" b="1" dirty="0">
              <a:solidFill>
                <a:srgbClr val="05DF72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0" name="Shape 24"/>
          <p:cNvSpPr/>
          <p:nvPr/>
        </p:nvSpPr>
        <p:spPr>
          <a:xfrm>
            <a:off x="385763" y="4243388"/>
            <a:ext cx="5610225" cy="1552575"/>
          </a:xfrm>
          <a:custGeom>
            <a:avLst/>
            <a:gdLst/>
            <a:ahLst/>
            <a:cxnLst/>
            <a:rect l="l" t="t" r="r" b="b"/>
            <a:pathLst>
              <a:path w="5610225" h="1552575">
                <a:moveTo>
                  <a:pt x="152401" y="0"/>
                </a:moveTo>
                <a:lnTo>
                  <a:pt x="5457824" y="0"/>
                </a:lnTo>
                <a:cubicBezTo>
                  <a:pt x="5541993" y="0"/>
                  <a:pt x="5610225" y="68232"/>
                  <a:pt x="5610225" y="152401"/>
                </a:cubicBezTo>
                <a:lnTo>
                  <a:pt x="5610225" y="1400174"/>
                </a:lnTo>
                <a:cubicBezTo>
                  <a:pt x="5610225" y="1484343"/>
                  <a:pt x="5541993" y="1552575"/>
                  <a:pt x="5457824" y="1552575"/>
                </a:cubicBezTo>
                <a:lnTo>
                  <a:pt x="152401" y="1552575"/>
                </a:lnTo>
                <a:cubicBezTo>
                  <a:pt x="68232" y="1552575"/>
                  <a:pt x="0" y="1484343"/>
                  <a:pt x="0" y="1400174"/>
                </a:cubicBezTo>
                <a:lnTo>
                  <a:pt x="0" y="152401"/>
                </a:lnTo>
                <a:cubicBezTo>
                  <a:pt x="0" y="68288"/>
                  <a:pt x="68288" y="0"/>
                  <a:pt x="152401" y="0"/>
                </a:cubicBezTo>
                <a:close/>
              </a:path>
            </a:pathLst>
          </a:custGeom>
          <a:ln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1" name="Shape 25"/>
          <p:cNvSpPr/>
          <p:nvPr/>
        </p:nvSpPr>
        <p:spPr>
          <a:xfrm>
            <a:off x="581025" y="4438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A9E0">
              <a:alpha val="20000"/>
            </a:srgbClr>
          </a:solidFill>
        </p:spPr>
      </p:sp>
      <p:sp>
        <p:nvSpPr>
          <p:cNvPr id="62" name="Text 26"/>
          <p:cNvSpPr/>
          <p:nvPr/>
        </p:nvSpPr>
        <p:spPr>
          <a:xfrm>
            <a:off x="717947" y="4495800"/>
            <a:ext cx="200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2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63" name="Text 27"/>
          <p:cNvSpPr/>
          <p:nvPr/>
        </p:nvSpPr>
        <p:spPr>
          <a:xfrm>
            <a:off x="1076325" y="4495800"/>
            <a:ext cx="111442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敏感字段脱敏</a:t>
            </a:r>
            <a:endParaRPr lang="en-US" sz="135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4" name="Text 28"/>
          <p:cNvSpPr/>
          <p:nvPr/>
        </p:nvSpPr>
        <p:spPr>
          <a:xfrm>
            <a:off x="581025" y="4933950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如果输出结果包含客户手机号、VIN码，需在SQL生成节点增加指令：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5" name="Shape 29"/>
          <p:cNvSpPr/>
          <p:nvPr/>
        </p:nvSpPr>
        <p:spPr>
          <a:xfrm>
            <a:off x="585788" y="5205413"/>
            <a:ext cx="5210175" cy="390525"/>
          </a:xfrm>
          <a:custGeom>
            <a:avLst/>
            <a:gdLst/>
            <a:ahLst/>
            <a:cxnLst/>
            <a:rect l="l" t="t" r="r" b="b"/>
            <a:pathLst>
              <a:path w="5210175" h="390525">
                <a:moveTo>
                  <a:pt x="76199" y="0"/>
                </a:moveTo>
                <a:lnTo>
                  <a:pt x="5133976" y="0"/>
                </a:lnTo>
                <a:cubicBezTo>
                  <a:pt x="5176059" y="0"/>
                  <a:pt x="5210175" y="34116"/>
                  <a:pt x="5210175" y="76199"/>
                </a:cubicBezTo>
                <a:lnTo>
                  <a:pt x="5210175" y="314326"/>
                </a:lnTo>
                <a:cubicBezTo>
                  <a:pt x="5210175" y="356409"/>
                  <a:pt x="5176059" y="390525"/>
                  <a:pt x="51339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66" name="Text 30"/>
          <p:cNvSpPr/>
          <p:nvPr/>
        </p:nvSpPr>
        <p:spPr>
          <a:xfrm>
            <a:off x="704850" y="5324475"/>
            <a:ext cx="50292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"自动对customer_phone字段进行掩码处理"</a:t>
            </a:r>
            <a:endParaRPr lang="en-US" sz="9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7" name="Shape 31"/>
          <p:cNvSpPr/>
          <p:nvPr/>
        </p:nvSpPr>
        <p:spPr>
          <a:xfrm>
            <a:off x="6196013" y="1176338"/>
            <a:ext cx="5610225" cy="2828925"/>
          </a:xfrm>
          <a:custGeom>
            <a:avLst/>
            <a:gdLst/>
            <a:ahLst/>
            <a:cxnLst/>
            <a:rect l="l" t="t" r="r" b="b"/>
            <a:pathLst>
              <a:path w="5610225" h="2828925">
                <a:moveTo>
                  <a:pt x="152394" y="0"/>
                </a:moveTo>
                <a:lnTo>
                  <a:pt x="5457831" y="0"/>
                </a:lnTo>
                <a:cubicBezTo>
                  <a:pt x="5541996" y="0"/>
                  <a:pt x="5610225" y="68229"/>
                  <a:pt x="5610225" y="152394"/>
                </a:cubicBezTo>
                <a:lnTo>
                  <a:pt x="5610225" y="2676531"/>
                </a:lnTo>
                <a:cubicBezTo>
                  <a:pt x="5610225" y="2760696"/>
                  <a:pt x="5541996" y="2828925"/>
                  <a:pt x="5457831" y="2828925"/>
                </a:cubicBezTo>
                <a:lnTo>
                  <a:pt x="152394" y="2828925"/>
                </a:lnTo>
                <a:cubicBezTo>
                  <a:pt x="68229" y="2828925"/>
                  <a:pt x="0" y="2760696"/>
                  <a:pt x="0" y="2676531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noFill/>
          <a:ln w="12700">
            <a:solidFill>
              <a:srgbClr val="C8A45C">
                <a:alpha val="30196"/>
              </a:srgbClr>
            </a:solidFill>
            <a:prstDash val="solid"/>
          </a:ln>
        </p:spPr>
      </p:sp>
      <p:sp>
        <p:nvSpPr>
          <p:cNvPr id="68" name="Shape 32"/>
          <p:cNvSpPr/>
          <p:nvPr/>
        </p:nvSpPr>
        <p:spPr>
          <a:xfrm>
            <a:off x="6391275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8A45C">
              <a:alpha val="20000"/>
            </a:srgbClr>
          </a:solidFill>
        </p:spPr>
      </p:sp>
      <p:sp>
        <p:nvSpPr>
          <p:cNvPr id="69" name="Text 33"/>
          <p:cNvSpPr/>
          <p:nvPr/>
        </p:nvSpPr>
        <p:spPr>
          <a:xfrm>
            <a:off x="6552605" y="1447800"/>
            <a:ext cx="247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3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0" name="Text 34"/>
          <p:cNvSpPr/>
          <p:nvPr/>
        </p:nvSpPr>
        <p:spPr>
          <a:xfrm>
            <a:off x="6962775" y="1371600"/>
            <a:ext cx="952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查询审计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71" name="Text 35"/>
          <p:cNvSpPr/>
          <p:nvPr/>
        </p:nvSpPr>
        <p:spPr>
          <a:xfrm>
            <a:off x="6962775" y="1638300"/>
            <a:ext cx="9239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Audit Logging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4" name="Shape 36"/>
          <p:cNvSpPr/>
          <p:nvPr/>
        </p:nvSpPr>
        <p:spPr>
          <a:xfrm>
            <a:off x="6396038" y="1985963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4E54">
                <a:alpha val="30196"/>
              </a:srgbClr>
            </a:solidFill>
            <a:prstDash val="solid"/>
          </a:ln>
        </p:spPr>
      </p:sp>
      <p:sp>
        <p:nvSpPr>
          <p:cNvPr id="85" name="Text 37"/>
          <p:cNvSpPr/>
          <p:nvPr/>
        </p:nvSpPr>
        <p:spPr>
          <a:xfrm>
            <a:off x="6515100" y="2105025"/>
            <a:ext cx="503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提醒IT部门开启Dify日志，记录：</a:t>
            </a:r>
            <a:endParaRPr lang="en-US" sz="1050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6" name="Shape 38"/>
          <p:cNvSpPr/>
          <p:nvPr/>
        </p:nvSpPr>
        <p:spPr>
          <a:xfrm>
            <a:off x="6418659" y="25622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87" name="Text 39"/>
          <p:cNvSpPr/>
          <p:nvPr/>
        </p:nvSpPr>
        <p:spPr>
          <a:xfrm>
            <a:off x="6634480" y="2533650"/>
            <a:ext cx="259588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谁在什么时间问了什么数据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88" name="Shape 40"/>
          <p:cNvSpPr/>
          <p:nvPr/>
        </p:nvSpPr>
        <p:spPr>
          <a:xfrm>
            <a:off x="6418659" y="28289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89" name="Text 41"/>
          <p:cNvSpPr/>
          <p:nvPr/>
        </p:nvSpPr>
        <p:spPr>
          <a:xfrm>
            <a:off x="6634480" y="2800350"/>
            <a:ext cx="173545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AI生成了什么SQL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90" name="Shape 42"/>
          <p:cNvSpPr/>
          <p:nvPr/>
        </p:nvSpPr>
        <p:spPr>
          <a:xfrm>
            <a:off x="6418659" y="30956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8A45C"/>
          </a:solidFill>
        </p:spPr>
      </p:sp>
      <p:sp>
        <p:nvSpPr>
          <p:cNvPr id="91" name="Text 43"/>
          <p:cNvSpPr/>
          <p:nvPr/>
        </p:nvSpPr>
        <p:spPr>
          <a:xfrm>
            <a:off x="6634480" y="3067050"/>
            <a:ext cx="155702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返回了什么结果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93" name="Text 45"/>
          <p:cNvSpPr/>
          <p:nvPr/>
        </p:nvSpPr>
        <p:spPr>
          <a:xfrm>
            <a:off x="6515100" y="3495675"/>
            <a:ext cx="503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符合宝马合规审计要求</a:t>
            </a:r>
            <a:endParaRPr lang="en-US" sz="1600" dirty="0">
              <a:solidFill>
                <a:srgbClr val="C8A45C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94" name="Shape 46"/>
          <p:cNvSpPr/>
          <p:nvPr/>
        </p:nvSpPr>
        <p:spPr>
          <a:xfrm>
            <a:off x="6196013" y="4167188"/>
            <a:ext cx="5610225" cy="1628775"/>
          </a:xfrm>
          <a:custGeom>
            <a:avLst/>
            <a:gdLst/>
            <a:ahLst/>
            <a:cxnLst/>
            <a:rect l="l" t="t" r="r" b="b"/>
            <a:pathLst>
              <a:path w="5610225" h="1628775">
                <a:moveTo>
                  <a:pt x="152404" y="0"/>
                </a:moveTo>
                <a:lnTo>
                  <a:pt x="5457821" y="0"/>
                </a:lnTo>
                <a:cubicBezTo>
                  <a:pt x="5541991" y="0"/>
                  <a:pt x="5610225" y="68234"/>
                  <a:pt x="5610225" y="152404"/>
                </a:cubicBezTo>
                <a:lnTo>
                  <a:pt x="5610225" y="1476371"/>
                </a:lnTo>
                <a:cubicBezTo>
                  <a:pt x="5610225" y="1560541"/>
                  <a:pt x="5541991" y="1628775"/>
                  <a:pt x="5457821" y="1628775"/>
                </a:cubicBezTo>
                <a:lnTo>
                  <a:pt x="152404" y="1628775"/>
                </a:lnTo>
                <a:cubicBezTo>
                  <a:pt x="68234" y="1628775"/>
                  <a:pt x="0" y="1560541"/>
                  <a:pt x="0" y="1476371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noFill/>
          <a:ln w="12700">
            <a:noFill/>
            <a:prstDash val="solid"/>
          </a:ln>
        </p:spPr>
      </p:sp>
      <p:sp>
        <p:nvSpPr>
          <p:cNvPr id="95" name="Shape 47"/>
          <p:cNvSpPr/>
          <p:nvPr/>
        </p:nvSpPr>
        <p:spPr>
          <a:xfrm>
            <a:off x="6391275" y="4362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A9E0">
              <a:alpha val="20000"/>
            </a:srgbClr>
          </a:solidFill>
        </p:spPr>
      </p:sp>
      <p:sp>
        <p:nvSpPr>
          <p:cNvPr id="96" name="Text 48"/>
          <p:cNvSpPr/>
          <p:nvPr/>
        </p:nvSpPr>
        <p:spPr>
          <a:xfrm>
            <a:off x="6525890" y="4419600"/>
            <a:ext cx="209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4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97" name="Text 49"/>
          <p:cNvSpPr/>
          <p:nvPr/>
        </p:nvSpPr>
        <p:spPr>
          <a:xfrm>
            <a:off x="6886575" y="44196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内网部署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98" name="Shape 50"/>
          <p:cNvSpPr/>
          <p:nvPr/>
        </p:nvSpPr>
        <p:spPr>
          <a:xfrm>
            <a:off x="6396038" y="4862513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99" name="Text 51"/>
          <p:cNvSpPr/>
          <p:nvPr/>
        </p:nvSpPr>
        <p:spPr>
          <a:xfrm>
            <a:off x="6515100" y="4981575"/>
            <a:ext cx="503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强调Dify可部署在</a:t>
            </a:r>
            <a:r>
              <a:rPr lang="en-US" sz="1050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宝马内网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00" name="Shape 52"/>
          <p:cNvSpPr/>
          <p:nvPr/>
        </p:nvSpPr>
        <p:spPr>
          <a:xfrm>
            <a:off x="6426994" y="54387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33337" y="25003"/>
                </a:moveTo>
                <a:lnTo>
                  <a:pt x="33337" y="41672"/>
                </a:lnTo>
                <a:lnTo>
                  <a:pt x="66675" y="41672"/>
                </a:lnTo>
                <a:lnTo>
                  <a:pt x="66675" y="25003"/>
                </a:lnTo>
                <a:cubicBezTo>
                  <a:pt x="66675" y="15809"/>
                  <a:pt x="59200" y="8334"/>
                  <a:pt x="50006" y="8334"/>
                </a:cubicBezTo>
                <a:cubicBezTo>
                  <a:pt x="40812" y="8334"/>
                  <a:pt x="33337" y="15809"/>
                  <a:pt x="33337" y="25003"/>
                </a:cubicBezTo>
                <a:close/>
                <a:moveTo>
                  <a:pt x="16669" y="41672"/>
                </a:moveTo>
                <a:lnTo>
                  <a:pt x="16669" y="25003"/>
                </a:lnTo>
                <a:cubicBezTo>
                  <a:pt x="16669" y="6589"/>
                  <a:pt x="31592" y="-8334"/>
                  <a:pt x="50006" y="-8334"/>
                </a:cubicBezTo>
                <a:cubicBezTo>
                  <a:pt x="68420" y="-8334"/>
                  <a:pt x="83344" y="6589"/>
                  <a:pt x="83344" y="25003"/>
                </a:cubicBezTo>
                <a:lnTo>
                  <a:pt x="83344" y="41672"/>
                </a:lnTo>
                <a:cubicBezTo>
                  <a:pt x="92538" y="41672"/>
                  <a:pt x="100013" y="49147"/>
                  <a:pt x="100013" y="58341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58341"/>
                </a:lnTo>
                <a:cubicBezTo>
                  <a:pt x="0" y="49147"/>
                  <a:pt x="7475" y="41672"/>
                  <a:pt x="16669" y="41672"/>
                </a:cubicBezTo>
                <a:close/>
              </a:path>
            </a:pathLst>
          </a:custGeom>
          <a:solidFill>
            <a:srgbClr val="05DF72"/>
          </a:solidFill>
        </p:spPr>
      </p:sp>
      <p:sp>
        <p:nvSpPr>
          <p:cNvPr id="101" name="Text 53"/>
          <p:cNvSpPr/>
          <p:nvPr/>
        </p:nvSpPr>
        <p:spPr>
          <a:xfrm>
            <a:off x="6634163" y="5410200"/>
            <a:ext cx="140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5DF72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数据不出域，安全可控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102" name="Shape 54"/>
          <p:cNvSpPr/>
          <p:nvPr/>
        </p:nvSpPr>
        <p:spPr>
          <a:xfrm>
            <a:off x="385763" y="5957888"/>
            <a:ext cx="11420475" cy="581025"/>
          </a:xfrm>
          <a:custGeom>
            <a:avLst/>
            <a:gdLst/>
            <a:ahLst/>
            <a:cxnLst/>
            <a:rect l="l" t="t" r="r" b="b"/>
            <a:pathLst>
              <a:path w="11420475" h="581025">
                <a:moveTo>
                  <a:pt x="114299" y="0"/>
                </a:moveTo>
                <a:lnTo>
                  <a:pt x="11306176" y="0"/>
                </a:lnTo>
                <a:cubicBezTo>
                  <a:pt x="11369301" y="0"/>
                  <a:pt x="11420475" y="51174"/>
                  <a:pt x="11420475" y="114299"/>
                </a:cubicBezTo>
                <a:lnTo>
                  <a:pt x="11420475" y="466726"/>
                </a:lnTo>
                <a:cubicBezTo>
                  <a:pt x="11420475" y="529851"/>
                  <a:pt x="11369301" y="581025"/>
                  <a:pt x="11306176" y="581025"/>
                </a:cubicBezTo>
                <a:lnTo>
                  <a:pt x="114299" y="581025"/>
                </a:lnTo>
                <a:cubicBezTo>
                  <a:pt x="51174" y="581025"/>
                  <a:pt x="0" y="529851"/>
                  <a:pt x="0" y="466726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noFill/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103" name="Shape 55"/>
          <p:cNvSpPr/>
          <p:nvPr/>
        </p:nvSpPr>
        <p:spPr>
          <a:xfrm>
            <a:off x="571500" y="6134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04" name="Text 56"/>
          <p:cNvSpPr/>
          <p:nvPr/>
        </p:nvSpPr>
        <p:spPr>
          <a:xfrm>
            <a:off x="981075" y="6115050"/>
            <a:ext cx="5762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6467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技术很酷，但安全第一。</a:t>
            </a:r>
            <a:r>
              <a:rPr lang="en-US" sz="135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我们搭建的是一条数据</a:t>
            </a:r>
            <a:r>
              <a:rPr lang="en-US" sz="1350" dirty="0">
                <a:solidFill>
                  <a:srgbClr val="00A9E0"/>
                </a:solidFill>
                <a:highlight>
                  <a:srgbClr val="00A9E0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"展示窗" </a:t>
            </a:r>
            <a:r>
              <a:rPr lang="en-US" sz="1350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，不是</a:t>
            </a:r>
            <a:r>
              <a:rPr lang="en-US" sz="1350" dirty="0">
                <a:solidFill>
                  <a:srgbClr val="FF6467"/>
                </a:solidFill>
                <a:highlight>
                  <a:srgbClr val="FF6467">
                    <a:alpha val="20000"/>
                  </a:srgbClr>
                </a:highlight>
                <a:latin typeface="BMWGroupTN Condensed TT Light" charset="0"/>
                <a:ea typeface="BMWGroupTN Condensed TT Light" charset="0"/>
                <a:cs typeface="BMWGroupTN Condensed TT Light" charset="0"/>
              </a:rPr>
              <a:t> "改造门"</a:t>
            </a:r>
            <a:endParaRPr lang="en-US" sz="1600" dirty="0">
              <a:cs typeface="BMWGroupTN Condensed TT Light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8000" y="205740"/>
            <a:ext cx="4203065" cy="720090"/>
          </a:xfrm>
        </p:spPr>
        <p:txBody>
          <a:bodyPr>
            <a:normAutofit/>
          </a:bodyPr>
          <a:lstStyle/>
          <a:p>
            <a:pPr algn="ctr"/>
            <a:r>
              <a:rPr lang="zh-CN" altLang="en-US"/>
              <a:t>课程注意事项与总结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048000" y="130048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E8E9EA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  <a:sym typeface="+mn-ea"/>
              </a:rPr>
              <a:t>让老板自己去问数据</a:t>
            </a:r>
            <a:endParaRPr lang="en-US" altLang="en-US" sz="4000" b="1" dirty="0">
              <a:solidFill>
                <a:srgbClr val="E8E9EA"/>
              </a:solidFill>
              <a:latin typeface="BMWGroupTN Condensed TT Light" charset="0"/>
              <a:ea typeface="BMWGroupTN Condensed TT Light" charset="0"/>
              <a:cs typeface="BMWGroupTN Condensed TT Light" charset="0"/>
              <a:sym typeface="+mn-ea"/>
            </a:endParaRPr>
          </a:p>
        </p:txBody>
      </p:sp>
      <p:sp>
        <p:nvSpPr>
          <p:cNvPr id="5" name="Text 6"/>
          <p:cNvSpPr/>
          <p:nvPr/>
        </p:nvSpPr>
        <p:spPr>
          <a:xfrm>
            <a:off x="1529510" y="2381882"/>
            <a:ext cx="9132980" cy="282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E8E9EA">
                    <a:alpha val="8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你把时间花在</a:t>
            </a:r>
            <a:r>
              <a:rPr lang="en-US" b="1" dirty="0">
                <a:solidFill>
                  <a:schemeClr val="accent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解读数据</a:t>
            </a:r>
            <a:r>
              <a:rPr lang="en-US" dirty="0">
                <a:solidFill>
                  <a:srgbClr val="E8E9EA">
                    <a:alpha val="8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和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制定策略</a:t>
            </a:r>
            <a:r>
              <a:rPr lang="en-US" dirty="0">
                <a:solidFill>
                  <a:srgbClr val="E8E9EA">
                    <a:alpha val="80000"/>
                  </a:srgbClr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上</a:t>
            </a:r>
            <a:endParaRPr lang="en-US" dirty="0">
              <a:solidFill>
                <a:srgbClr val="E8E9EA">
                  <a:alpha val="80000"/>
                </a:srgbClr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6" name="Shape 7"/>
          <p:cNvSpPr/>
          <p:nvPr>
            <p:custDataLst>
              <p:tags r:id="rId2"/>
            </p:custDataLst>
          </p:nvPr>
        </p:nvSpPr>
        <p:spPr>
          <a:xfrm>
            <a:off x="504825" y="3296285"/>
            <a:ext cx="3540760" cy="1917065"/>
          </a:xfrm>
          <a:custGeom>
            <a:avLst/>
            <a:gdLst/>
            <a:ahLst/>
            <a:cxnLst/>
            <a:rect l="l" t="t" r="r" b="b"/>
            <a:pathLst>
              <a:path w="2882707" h="1560364">
                <a:moveTo>
                  <a:pt x="141057" y="0"/>
                </a:moveTo>
                <a:lnTo>
                  <a:pt x="2741650" y="0"/>
                </a:lnTo>
                <a:cubicBezTo>
                  <a:pt x="2819554" y="0"/>
                  <a:pt x="2882707" y="63153"/>
                  <a:pt x="2882707" y="141057"/>
                </a:cubicBezTo>
                <a:lnTo>
                  <a:pt x="2882707" y="1419307"/>
                </a:lnTo>
                <a:cubicBezTo>
                  <a:pt x="2882707" y="1497159"/>
                  <a:pt x="2819502" y="1560364"/>
                  <a:pt x="2741650" y="1560364"/>
                </a:cubicBezTo>
                <a:lnTo>
                  <a:pt x="141057" y="1560364"/>
                </a:lnTo>
                <a:cubicBezTo>
                  <a:pt x="63153" y="1560364"/>
                  <a:pt x="0" y="1497211"/>
                  <a:pt x="0" y="1419307"/>
                </a:cubicBezTo>
                <a:lnTo>
                  <a:pt x="0" y="141057"/>
                </a:lnTo>
                <a:cubicBezTo>
                  <a:pt x="0" y="63153"/>
                  <a:pt x="63153" y="0"/>
                  <a:pt x="141057" y="0"/>
                </a:cubicBezTo>
                <a:close/>
              </a:path>
            </a:pathLst>
          </a:custGeom>
          <a:ln>
            <a:solidFill>
              <a:schemeClr val="accent2">
                <a:alpha val="51000"/>
              </a:schemeClr>
            </a:solidFill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" name="Shape 8"/>
          <p:cNvSpPr/>
          <p:nvPr>
            <p:custDataLst>
              <p:tags r:id="rId3"/>
            </p:custDataLst>
          </p:nvPr>
        </p:nvSpPr>
        <p:spPr>
          <a:xfrm>
            <a:off x="722630" y="358394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105787" y="0"/>
                </a:moveTo>
                <a:lnTo>
                  <a:pt x="317362" y="0"/>
                </a:lnTo>
                <a:cubicBezTo>
                  <a:pt x="375787" y="0"/>
                  <a:pt x="423150" y="47363"/>
                  <a:pt x="423150" y="105787"/>
                </a:cubicBezTo>
                <a:lnTo>
                  <a:pt x="423150" y="317362"/>
                </a:lnTo>
                <a:cubicBezTo>
                  <a:pt x="423150" y="375787"/>
                  <a:pt x="375787" y="423150"/>
                  <a:pt x="317362" y="423150"/>
                </a:cubicBezTo>
                <a:lnTo>
                  <a:pt x="105787" y="423150"/>
                </a:lnTo>
                <a:cubicBezTo>
                  <a:pt x="47363" y="423150"/>
                  <a:pt x="0" y="375787"/>
                  <a:pt x="0" y="317362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00A9E0">
              <a:alpha val="30196"/>
            </a:srgbClr>
          </a:solidFill>
        </p:spPr>
      </p:sp>
      <p:sp>
        <p:nvSpPr>
          <p:cNvPr id="19" name="Shape 9"/>
          <p:cNvSpPr/>
          <p:nvPr>
            <p:custDataLst>
              <p:tags r:id="rId4"/>
            </p:custDataLst>
          </p:nvPr>
        </p:nvSpPr>
        <p:spPr>
          <a:xfrm>
            <a:off x="887730" y="3735705"/>
            <a:ext cx="189230" cy="216535"/>
          </a:xfrm>
          <a:custGeom>
            <a:avLst/>
            <a:gdLst/>
            <a:ahLst/>
            <a:cxnLst/>
            <a:rect l="l" t="t" r="r" b="b"/>
            <a:pathLst>
              <a:path w="154273" h="176312">
                <a:moveTo>
                  <a:pt x="132234" y="176312"/>
                </a:moveTo>
                <a:lnTo>
                  <a:pt x="33059" y="176312"/>
                </a:lnTo>
                <a:cubicBezTo>
                  <a:pt x="14807" y="176312"/>
                  <a:pt x="0" y="161505"/>
                  <a:pt x="0" y="143254"/>
                </a:cubicBezTo>
                <a:lnTo>
                  <a:pt x="0" y="33059"/>
                </a:lnTo>
                <a:cubicBezTo>
                  <a:pt x="0" y="14807"/>
                  <a:pt x="14807" y="0"/>
                  <a:pt x="33059" y="0"/>
                </a:cubicBezTo>
                <a:lnTo>
                  <a:pt x="137744" y="0"/>
                </a:lnTo>
                <a:cubicBezTo>
                  <a:pt x="146870" y="0"/>
                  <a:pt x="154273" y="7404"/>
                  <a:pt x="154273" y="16529"/>
                </a:cubicBezTo>
                <a:lnTo>
                  <a:pt x="154273" y="115705"/>
                </a:lnTo>
                <a:cubicBezTo>
                  <a:pt x="154273" y="122902"/>
                  <a:pt x="149659" y="129032"/>
                  <a:pt x="143254" y="131305"/>
                </a:cubicBezTo>
                <a:lnTo>
                  <a:pt x="143254" y="154273"/>
                </a:lnTo>
                <a:cubicBezTo>
                  <a:pt x="149349" y="154273"/>
                  <a:pt x="154273" y="159198"/>
                  <a:pt x="154273" y="165293"/>
                </a:cubicBezTo>
                <a:cubicBezTo>
                  <a:pt x="154273" y="171388"/>
                  <a:pt x="149349" y="176312"/>
                  <a:pt x="143254" y="176312"/>
                </a:cubicBezTo>
                <a:lnTo>
                  <a:pt x="132234" y="176312"/>
                </a:lnTo>
                <a:close/>
                <a:moveTo>
                  <a:pt x="33059" y="132234"/>
                </a:moveTo>
                <a:cubicBezTo>
                  <a:pt x="26963" y="132234"/>
                  <a:pt x="22039" y="137159"/>
                  <a:pt x="22039" y="143254"/>
                </a:cubicBezTo>
                <a:cubicBezTo>
                  <a:pt x="22039" y="149349"/>
                  <a:pt x="26963" y="154273"/>
                  <a:pt x="33059" y="154273"/>
                </a:cubicBezTo>
                <a:lnTo>
                  <a:pt x="121215" y="154273"/>
                </a:lnTo>
                <a:lnTo>
                  <a:pt x="121215" y="132234"/>
                </a:lnTo>
                <a:lnTo>
                  <a:pt x="33059" y="132234"/>
                </a:lnTo>
                <a:close/>
                <a:moveTo>
                  <a:pt x="44078" y="52343"/>
                </a:moveTo>
                <a:cubicBezTo>
                  <a:pt x="44078" y="56923"/>
                  <a:pt x="47763" y="60607"/>
                  <a:pt x="52343" y="60607"/>
                </a:cubicBezTo>
                <a:lnTo>
                  <a:pt x="112950" y="60607"/>
                </a:lnTo>
                <a:cubicBezTo>
                  <a:pt x="117530" y="60607"/>
                  <a:pt x="121215" y="56923"/>
                  <a:pt x="121215" y="52343"/>
                </a:cubicBezTo>
                <a:cubicBezTo>
                  <a:pt x="121215" y="47763"/>
                  <a:pt x="117530" y="44078"/>
                  <a:pt x="112950" y="44078"/>
                </a:cubicBezTo>
                <a:lnTo>
                  <a:pt x="52343" y="44078"/>
                </a:lnTo>
                <a:cubicBezTo>
                  <a:pt x="47763" y="44078"/>
                  <a:pt x="44078" y="47763"/>
                  <a:pt x="44078" y="52343"/>
                </a:cubicBezTo>
                <a:close/>
                <a:moveTo>
                  <a:pt x="52343" y="77137"/>
                </a:moveTo>
                <a:cubicBezTo>
                  <a:pt x="47763" y="77137"/>
                  <a:pt x="44078" y="80821"/>
                  <a:pt x="44078" y="85401"/>
                </a:cubicBezTo>
                <a:cubicBezTo>
                  <a:pt x="44078" y="89981"/>
                  <a:pt x="47763" y="93666"/>
                  <a:pt x="52343" y="93666"/>
                </a:cubicBezTo>
                <a:lnTo>
                  <a:pt x="112950" y="93666"/>
                </a:lnTo>
                <a:cubicBezTo>
                  <a:pt x="117530" y="93666"/>
                  <a:pt x="121215" y="89981"/>
                  <a:pt x="121215" y="85401"/>
                </a:cubicBezTo>
                <a:cubicBezTo>
                  <a:pt x="121215" y="80821"/>
                  <a:pt x="117530" y="77137"/>
                  <a:pt x="112950" y="77137"/>
                </a:cubicBezTo>
                <a:lnTo>
                  <a:pt x="52343" y="77137"/>
                </a:lnTo>
                <a:close/>
              </a:path>
            </a:pathLst>
          </a:custGeom>
          <a:solidFill>
            <a:schemeClr val="tx1"/>
          </a:solidFill>
        </p:spPr>
      </p:sp>
      <p:sp>
        <p:nvSpPr>
          <p:cNvPr id="21" name="Text 10"/>
          <p:cNvSpPr/>
          <p:nvPr/>
        </p:nvSpPr>
        <p:spPr>
          <a:xfrm>
            <a:off x="1372870" y="3518535"/>
            <a:ext cx="714375" cy="346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5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📚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2" name="Text 11"/>
          <p:cNvSpPr/>
          <p:nvPr>
            <p:custDataLst>
              <p:tags r:id="rId5"/>
            </p:custDataLst>
          </p:nvPr>
        </p:nvSpPr>
        <p:spPr>
          <a:xfrm>
            <a:off x="1372870" y="3865245"/>
            <a:ext cx="1930400" cy="303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知识库</a:t>
            </a:r>
            <a:endParaRPr lang="en-US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3" name="Text 12"/>
          <p:cNvSpPr/>
          <p:nvPr>
            <p:custDataLst>
              <p:tags r:id="rId6"/>
            </p:custDataLst>
          </p:nvPr>
        </p:nvSpPr>
        <p:spPr>
          <a:xfrm>
            <a:off x="769620" y="4507865"/>
            <a:ext cx="3096895" cy="281305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让AI懂宝马"黑话"，解决口径陷阱问题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4" name="Shape 13"/>
          <p:cNvSpPr/>
          <p:nvPr>
            <p:custDataLst>
              <p:tags r:id="rId7"/>
            </p:custDataLst>
          </p:nvPr>
        </p:nvSpPr>
        <p:spPr>
          <a:xfrm>
            <a:off x="4272915" y="3296285"/>
            <a:ext cx="3540760" cy="1917065"/>
          </a:xfrm>
          <a:custGeom>
            <a:avLst/>
            <a:gdLst/>
            <a:ahLst/>
            <a:cxnLst/>
            <a:rect l="l" t="t" r="r" b="b"/>
            <a:pathLst>
              <a:path w="2882707" h="1560364">
                <a:moveTo>
                  <a:pt x="141057" y="0"/>
                </a:moveTo>
                <a:lnTo>
                  <a:pt x="2741650" y="0"/>
                </a:lnTo>
                <a:cubicBezTo>
                  <a:pt x="2819554" y="0"/>
                  <a:pt x="2882707" y="63153"/>
                  <a:pt x="2882707" y="141057"/>
                </a:cubicBezTo>
                <a:lnTo>
                  <a:pt x="2882707" y="1419307"/>
                </a:lnTo>
                <a:cubicBezTo>
                  <a:pt x="2882707" y="1497159"/>
                  <a:pt x="2819502" y="1560364"/>
                  <a:pt x="2741650" y="1560364"/>
                </a:cubicBezTo>
                <a:lnTo>
                  <a:pt x="141057" y="1560364"/>
                </a:lnTo>
                <a:cubicBezTo>
                  <a:pt x="63153" y="1560364"/>
                  <a:pt x="0" y="1497211"/>
                  <a:pt x="0" y="1419307"/>
                </a:cubicBezTo>
                <a:lnTo>
                  <a:pt x="0" y="141057"/>
                </a:lnTo>
                <a:cubicBezTo>
                  <a:pt x="0" y="63153"/>
                  <a:pt x="63153" y="0"/>
                  <a:pt x="141057" y="0"/>
                </a:cubicBezTo>
                <a:close/>
              </a:path>
            </a:pathLst>
          </a:custGeom>
          <a:ln>
            <a:solidFill>
              <a:schemeClr val="accent1">
                <a:alpha val="51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5" name="Shape 14"/>
          <p:cNvSpPr/>
          <p:nvPr>
            <p:custDataLst>
              <p:tags r:id="rId8"/>
            </p:custDataLst>
          </p:nvPr>
        </p:nvSpPr>
        <p:spPr>
          <a:xfrm>
            <a:off x="4491355" y="358394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105787" y="0"/>
                </a:moveTo>
                <a:lnTo>
                  <a:pt x="317362" y="0"/>
                </a:lnTo>
                <a:cubicBezTo>
                  <a:pt x="375787" y="0"/>
                  <a:pt x="423150" y="47363"/>
                  <a:pt x="423150" y="105787"/>
                </a:cubicBezTo>
                <a:lnTo>
                  <a:pt x="423150" y="317362"/>
                </a:lnTo>
                <a:cubicBezTo>
                  <a:pt x="423150" y="375787"/>
                  <a:pt x="375787" y="423150"/>
                  <a:pt x="317362" y="423150"/>
                </a:cubicBezTo>
                <a:lnTo>
                  <a:pt x="105787" y="423150"/>
                </a:lnTo>
                <a:cubicBezTo>
                  <a:pt x="47363" y="423150"/>
                  <a:pt x="0" y="375787"/>
                  <a:pt x="0" y="317362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C8A45C">
              <a:alpha val="30196"/>
            </a:srgbClr>
          </a:solidFill>
        </p:spPr>
      </p:sp>
      <p:sp>
        <p:nvSpPr>
          <p:cNvPr id="26" name="Shape 15"/>
          <p:cNvSpPr/>
          <p:nvPr>
            <p:custDataLst>
              <p:tags r:id="rId9"/>
            </p:custDataLst>
          </p:nvPr>
        </p:nvSpPr>
        <p:spPr>
          <a:xfrm>
            <a:off x="4615815" y="3735705"/>
            <a:ext cx="270510" cy="216535"/>
          </a:xfrm>
          <a:custGeom>
            <a:avLst/>
            <a:gdLst/>
            <a:ahLst/>
            <a:cxnLst/>
            <a:rect l="l" t="t" r="r" b="b"/>
            <a:pathLst>
              <a:path w="220390" h="176312">
                <a:moveTo>
                  <a:pt x="143219" y="72488"/>
                </a:moveTo>
                <a:cubicBezTo>
                  <a:pt x="147421" y="71351"/>
                  <a:pt x="151828" y="73349"/>
                  <a:pt x="153722" y="77240"/>
                </a:cubicBezTo>
                <a:lnTo>
                  <a:pt x="160127" y="90188"/>
                </a:lnTo>
                <a:cubicBezTo>
                  <a:pt x="163674" y="90670"/>
                  <a:pt x="167152" y="91634"/>
                  <a:pt x="170424" y="92977"/>
                </a:cubicBezTo>
                <a:lnTo>
                  <a:pt x="182476" y="84954"/>
                </a:lnTo>
                <a:cubicBezTo>
                  <a:pt x="186092" y="82543"/>
                  <a:pt x="190879" y="83025"/>
                  <a:pt x="193944" y="86090"/>
                </a:cubicBezTo>
                <a:lnTo>
                  <a:pt x="200555" y="92702"/>
                </a:lnTo>
                <a:cubicBezTo>
                  <a:pt x="203620" y="95767"/>
                  <a:pt x="204102" y="100588"/>
                  <a:pt x="201692" y="104169"/>
                </a:cubicBezTo>
                <a:lnTo>
                  <a:pt x="193668" y="116187"/>
                </a:lnTo>
                <a:cubicBezTo>
                  <a:pt x="194322" y="117806"/>
                  <a:pt x="194908" y="119493"/>
                  <a:pt x="195390" y="121249"/>
                </a:cubicBezTo>
                <a:cubicBezTo>
                  <a:pt x="195872" y="123005"/>
                  <a:pt x="196182" y="124727"/>
                  <a:pt x="196423" y="126483"/>
                </a:cubicBezTo>
                <a:lnTo>
                  <a:pt x="209405" y="132889"/>
                </a:lnTo>
                <a:cubicBezTo>
                  <a:pt x="213297" y="134817"/>
                  <a:pt x="215294" y="139225"/>
                  <a:pt x="214158" y="143392"/>
                </a:cubicBezTo>
                <a:lnTo>
                  <a:pt x="211747" y="152414"/>
                </a:lnTo>
                <a:cubicBezTo>
                  <a:pt x="210611" y="156581"/>
                  <a:pt x="206719" y="159404"/>
                  <a:pt x="202380" y="159129"/>
                </a:cubicBezTo>
                <a:lnTo>
                  <a:pt x="187917" y="158199"/>
                </a:lnTo>
                <a:cubicBezTo>
                  <a:pt x="185748" y="160988"/>
                  <a:pt x="183234" y="163571"/>
                  <a:pt x="180376" y="165775"/>
                </a:cubicBezTo>
                <a:lnTo>
                  <a:pt x="181306" y="180204"/>
                </a:lnTo>
                <a:cubicBezTo>
                  <a:pt x="181581" y="184543"/>
                  <a:pt x="178757" y="188468"/>
                  <a:pt x="174591" y="189570"/>
                </a:cubicBezTo>
                <a:lnTo>
                  <a:pt x="165568" y="191981"/>
                </a:lnTo>
                <a:cubicBezTo>
                  <a:pt x="161367" y="193117"/>
                  <a:pt x="156994" y="191120"/>
                  <a:pt x="155065" y="187229"/>
                </a:cubicBezTo>
                <a:lnTo>
                  <a:pt x="148660" y="174281"/>
                </a:lnTo>
                <a:cubicBezTo>
                  <a:pt x="145113" y="173799"/>
                  <a:pt x="141635" y="172834"/>
                  <a:pt x="138364" y="171491"/>
                </a:cubicBezTo>
                <a:lnTo>
                  <a:pt x="126311" y="179515"/>
                </a:lnTo>
                <a:cubicBezTo>
                  <a:pt x="122695" y="181925"/>
                  <a:pt x="117909" y="181443"/>
                  <a:pt x="114844" y="178379"/>
                </a:cubicBezTo>
                <a:lnTo>
                  <a:pt x="108232" y="171767"/>
                </a:lnTo>
                <a:cubicBezTo>
                  <a:pt x="105168" y="168702"/>
                  <a:pt x="104685" y="163915"/>
                  <a:pt x="107096" y="160300"/>
                </a:cubicBezTo>
                <a:lnTo>
                  <a:pt x="115120" y="148247"/>
                </a:lnTo>
                <a:cubicBezTo>
                  <a:pt x="114465" y="146629"/>
                  <a:pt x="113880" y="144941"/>
                  <a:pt x="113398" y="143185"/>
                </a:cubicBezTo>
                <a:cubicBezTo>
                  <a:pt x="112916" y="141429"/>
                  <a:pt x="112606" y="139672"/>
                  <a:pt x="112365" y="137951"/>
                </a:cubicBezTo>
                <a:lnTo>
                  <a:pt x="99382" y="131546"/>
                </a:lnTo>
                <a:cubicBezTo>
                  <a:pt x="95491" y="129617"/>
                  <a:pt x="93528" y="125209"/>
                  <a:pt x="94630" y="121043"/>
                </a:cubicBezTo>
                <a:lnTo>
                  <a:pt x="97041" y="112020"/>
                </a:lnTo>
                <a:cubicBezTo>
                  <a:pt x="98177" y="107854"/>
                  <a:pt x="102068" y="105030"/>
                  <a:pt x="106407" y="105305"/>
                </a:cubicBezTo>
                <a:lnTo>
                  <a:pt x="120836" y="106235"/>
                </a:lnTo>
                <a:cubicBezTo>
                  <a:pt x="123005" y="103446"/>
                  <a:pt x="125519" y="100863"/>
                  <a:pt x="128377" y="98659"/>
                </a:cubicBezTo>
                <a:lnTo>
                  <a:pt x="127448" y="84265"/>
                </a:lnTo>
                <a:cubicBezTo>
                  <a:pt x="127172" y="79926"/>
                  <a:pt x="129996" y="76000"/>
                  <a:pt x="134163" y="74898"/>
                </a:cubicBezTo>
                <a:lnTo>
                  <a:pt x="143185" y="72488"/>
                </a:lnTo>
                <a:close/>
                <a:moveTo>
                  <a:pt x="154411" y="117082"/>
                </a:moveTo>
                <a:cubicBezTo>
                  <a:pt x="146049" y="117092"/>
                  <a:pt x="139267" y="123889"/>
                  <a:pt x="139276" y="132251"/>
                </a:cubicBezTo>
                <a:cubicBezTo>
                  <a:pt x="139286" y="140614"/>
                  <a:pt x="146083" y="147396"/>
                  <a:pt x="154445" y="147386"/>
                </a:cubicBezTo>
                <a:cubicBezTo>
                  <a:pt x="162808" y="147377"/>
                  <a:pt x="169590" y="140580"/>
                  <a:pt x="169580" y="132217"/>
                </a:cubicBezTo>
                <a:cubicBezTo>
                  <a:pt x="169571" y="123855"/>
                  <a:pt x="162774" y="117073"/>
                  <a:pt x="154411" y="117082"/>
                </a:cubicBezTo>
                <a:close/>
                <a:moveTo>
                  <a:pt x="77447" y="-15668"/>
                </a:moveTo>
                <a:lnTo>
                  <a:pt x="86469" y="-13258"/>
                </a:lnTo>
                <a:cubicBezTo>
                  <a:pt x="90636" y="-12121"/>
                  <a:pt x="93459" y="-8196"/>
                  <a:pt x="93184" y="-3891"/>
                </a:cubicBezTo>
                <a:lnTo>
                  <a:pt x="92254" y="10503"/>
                </a:lnTo>
                <a:cubicBezTo>
                  <a:pt x="95112" y="12707"/>
                  <a:pt x="97626" y="15255"/>
                  <a:pt x="99796" y="18079"/>
                </a:cubicBezTo>
                <a:lnTo>
                  <a:pt x="114259" y="17149"/>
                </a:lnTo>
                <a:cubicBezTo>
                  <a:pt x="118563" y="16874"/>
                  <a:pt x="122489" y="19697"/>
                  <a:pt x="123625" y="23864"/>
                </a:cubicBezTo>
                <a:lnTo>
                  <a:pt x="126036" y="32886"/>
                </a:lnTo>
                <a:cubicBezTo>
                  <a:pt x="127138" y="37053"/>
                  <a:pt x="125175" y="41461"/>
                  <a:pt x="121284" y="43389"/>
                </a:cubicBezTo>
                <a:lnTo>
                  <a:pt x="108301" y="49794"/>
                </a:lnTo>
                <a:cubicBezTo>
                  <a:pt x="108060" y="51551"/>
                  <a:pt x="107716" y="53307"/>
                  <a:pt x="107268" y="55029"/>
                </a:cubicBezTo>
                <a:cubicBezTo>
                  <a:pt x="106820" y="56751"/>
                  <a:pt x="106201" y="58472"/>
                  <a:pt x="105546" y="60091"/>
                </a:cubicBezTo>
                <a:lnTo>
                  <a:pt x="113570" y="72143"/>
                </a:lnTo>
                <a:cubicBezTo>
                  <a:pt x="115980" y="75759"/>
                  <a:pt x="115498" y="80546"/>
                  <a:pt x="112434" y="83611"/>
                </a:cubicBezTo>
                <a:lnTo>
                  <a:pt x="105822" y="90222"/>
                </a:lnTo>
                <a:cubicBezTo>
                  <a:pt x="102757" y="93287"/>
                  <a:pt x="97970" y="93769"/>
                  <a:pt x="94355" y="91359"/>
                </a:cubicBezTo>
                <a:lnTo>
                  <a:pt x="82302" y="83335"/>
                </a:lnTo>
                <a:cubicBezTo>
                  <a:pt x="79031" y="84678"/>
                  <a:pt x="75553" y="85642"/>
                  <a:pt x="72006" y="86124"/>
                </a:cubicBezTo>
                <a:lnTo>
                  <a:pt x="65601" y="99072"/>
                </a:lnTo>
                <a:cubicBezTo>
                  <a:pt x="63672" y="102964"/>
                  <a:pt x="59264" y="104927"/>
                  <a:pt x="55098" y="103825"/>
                </a:cubicBezTo>
                <a:lnTo>
                  <a:pt x="46075" y="101414"/>
                </a:lnTo>
                <a:cubicBezTo>
                  <a:pt x="41874" y="100278"/>
                  <a:pt x="39085" y="96352"/>
                  <a:pt x="39360" y="92047"/>
                </a:cubicBezTo>
                <a:lnTo>
                  <a:pt x="40290" y="77619"/>
                </a:lnTo>
                <a:cubicBezTo>
                  <a:pt x="37432" y="75415"/>
                  <a:pt x="34918" y="72867"/>
                  <a:pt x="32749" y="70043"/>
                </a:cubicBezTo>
                <a:lnTo>
                  <a:pt x="18286" y="70973"/>
                </a:lnTo>
                <a:cubicBezTo>
                  <a:pt x="13981" y="71248"/>
                  <a:pt x="10055" y="68424"/>
                  <a:pt x="8919" y="64258"/>
                </a:cubicBezTo>
                <a:lnTo>
                  <a:pt x="6508" y="55235"/>
                </a:lnTo>
                <a:cubicBezTo>
                  <a:pt x="5406" y="51069"/>
                  <a:pt x="7369" y="46661"/>
                  <a:pt x="11261" y="44732"/>
                </a:cubicBezTo>
                <a:lnTo>
                  <a:pt x="24243" y="38327"/>
                </a:lnTo>
                <a:cubicBezTo>
                  <a:pt x="24484" y="36571"/>
                  <a:pt x="24828" y="34849"/>
                  <a:pt x="25276" y="33093"/>
                </a:cubicBezTo>
                <a:cubicBezTo>
                  <a:pt x="25758" y="31337"/>
                  <a:pt x="26309" y="29649"/>
                  <a:pt x="26998" y="28031"/>
                </a:cubicBezTo>
                <a:lnTo>
                  <a:pt x="18974" y="16013"/>
                </a:lnTo>
                <a:cubicBezTo>
                  <a:pt x="16564" y="12397"/>
                  <a:pt x="17046" y="7610"/>
                  <a:pt x="20111" y="4546"/>
                </a:cubicBezTo>
                <a:lnTo>
                  <a:pt x="26722" y="-2066"/>
                </a:lnTo>
                <a:cubicBezTo>
                  <a:pt x="29787" y="-5131"/>
                  <a:pt x="34574" y="-5613"/>
                  <a:pt x="38190" y="-3203"/>
                </a:cubicBezTo>
                <a:lnTo>
                  <a:pt x="50242" y="4821"/>
                </a:lnTo>
                <a:cubicBezTo>
                  <a:pt x="53514" y="3478"/>
                  <a:pt x="56992" y="2514"/>
                  <a:pt x="60539" y="2032"/>
                </a:cubicBezTo>
                <a:lnTo>
                  <a:pt x="66944" y="-10916"/>
                </a:lnTo>
                <a:cubicBezTo>
                  <a:pt x="68872" y="-14807"/>
                  <a:pt x="73245" y="-16770"/>
                  <a:pt x="77447" y="-15668"/>
                </a:cubicBezTo>
                <a:close/>
                <a:moveTo>
                  <a:pt x="66255" y="28926"/>
                </a:moveTo>
                <a:cubicBezTo>
                  <a:pt x="57892" y="28926"/>
                  <a:pt x="51103" y="35716"/>
                  <a:pt x="51103" y="44078"/>
                </a:cubicBezTo>
                <a:cubicBezTo>
                  <a:pt x="51103" y="52441"/>
                  <a:pt x="57892" y="59230"/>
                  <a:pt x="66255" y="59230"/>
                </a:cubicBezTo>
                <a:cubicBezTo>
                  <a:pt x="74617" y="59230"/>
                  <a:pt x="81407" y="52441"/>
                  <a:pt x="81407" y="44078"/>
                </a:cubicBezTo>
                <a:cubicBezTo>
                  <a:pt x="81407" y="35716"/>
                  <a:pt x="74617" y="28926"/>
                  <a:pt x="66255" y="28926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27" name="Text 16"/>
          <p:cNvSpPr/>
          <p:nvPr/>
        </p:nvSpPr>
        <p:spPr>
          <a:xfrm>
            <a:off x="5140960" y="3518535"/>
            <a:ext cx="714375" cy="346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5" b="1" dirty="0">
                <a:solidFill>
                  <a:srgbClr val="C8A45C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🔧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28" name="Text 17"/>
          <p:cNvSpPr/>
          <p:nvPr>
            <p:custDataLst>
              <p:tags r:id="rId10"/>
            </p:custDataLst>
          </p:nvPr>
        </p:nvSpPr>
        <p:spPr>
          <a:xfrm>
            <a:off x="5140960" y="3865245"/>
            <a:ext cx="1930400" cy="303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工作流</a:t>
            </a:r>
            <a:endParaRPr lang="en-US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29" name="Text 18"/>
          <p:cNvSpPr/>
          <p:nvPr>
            <p:custDataLst>
              <p:tags r:id="rId11"/>
            </p:custDataLst>
          </p:nvPr>
        </p:nvSpPr>
        <p:spPr>
          <a:xfrm>
            <a:off x="4538345" y="4507865"/>
            <a:ext cx="3096895" cy="563245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检索 → 生成SQL → 执行 → 出图，全流程自动化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0" name="Shape 19"/>
          <p:cNvSpPr/>
          <p:nvPr>
            <p:custDataLst>
              <p:tags r:id="rId12"/>
            </p:custDataLst>
          </p:nvPr>
        </p:nvSpPr>
        <p:spPr>
          <a:xfrm>
            <a:off x="8041005" y="3296285"/>
            <a:ext cx="3540760" cy="1917065"/>
          </a:xfrm>
          <a:custGeom>
            <a:avLst/>
            <a:gdLst/>
            <a:ahLst/>
            <a:cxnLst/>
            <a:rect l="l" t="t" r="r" b="b"/>
            <a:pathLst>
              <a:path w="2882707" h="1560364">
                <a:moveTo>
                  <a:pt x="141057" y="0"/>
                </a:moveTo>
                <a:lnTo>
                  <a:pt x="2741650" y="0"/>
                </a:lnTo>
                <a:cubicBezTo>
                  <a:pt x="2819554" y="0"/>
                  <a:pt x="2882707" y="63153"/>
                  <a:pt x="2882707" y="141057"/>
                </a:cubicBezTo>
                <a:lnTo>
                  <a:pt x="2882707" y="1419307"/>
                </a:lnTo>
                <a:cubicBezTo>
                  <a:pt x="2882707" y="1497159"/>
                  <a:pt x="2819502" y="1560364"/>
                  <a:pt x="2741650" y="1560364"/>
                </a:cubicBezTo>
                <a:lnTo>
                  <a:pt x="141057" y="1560364"/>
                </a:lnTo>
                <a:cubicBezTo>
                  <a:pt x="63153" y="1560364"/>
                  <a:pt x="0" y="1497211"/>
                  <a:pt x="0" y="1419307"/>
                </a:cubicBezTo>
                <a:lnTo>
                  <a:pt x="0" y="141057"/>
                </a:lnTo>
                <a:cubicBezTo>
                  <a:pt x="0" y="63153"/>
                  <a:pt x="63153" y="0"/>
                  <a:pt x="141057" y="0"/>
                </a:cubicBezTo>
                <a:close/>
              </a:path>
            </a:pathLst>
          </a:custGeom>
          <a:ln>
            <a:solidFill>
              <a:schemeClr val="accent2">
                <a:alpha val="51000"/>
              </a:schemeClr>
            </a:solidFill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1" name="Shape 20"/>
          <p:cNvSpPr/>
          <p:nvPr>
            <p:custDataLst>
              <p:tags r:id="rId13"/>
            </p:custDataLst>
          </p:nvPr>
        </p:nvSpPr>
        <p:spPr>
          <a:xfrm>
            <a:off x="8259445" y="358394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105787" y="0"/>
                </a:moveTo>
                <a:lnTo>
                  <a:pt x="317362" y="0"/>
                </a:lnTo>
                <a:cubicBezTo>
                  <a:pt x="375787" y="0"/>
                  <a:pt x="423150" y="47363"/>
                  <a:pt x="423150" y="105787"/>
                </a:cubicBezTo>
                <a:lnTo>
                  <a:pt x="423150" y="317362"/>
                </a:lnTo>
                <a:cubicBezTo>
                  <a:pt x="423150" y="375787"/>
                  <a:pt x="375787" y="423150"/>
                  <a:pt x="317362" y="423150"/>
                </a:cubicBezTo>
                <a:lnTo>
                  <a:pt x="105787" y="423150"/>
                </a:lnTo>
                <a:cubicBezTo>
                  <a:pt x="47363" y="423150"/>
                  <a:pt x="0" y="375787"/>
                  <a:pt x="0" y="317362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00A9E0">
              <a:alpha val="30196"/>
            </a:srgbClr>
          </a:solidFill>
        </p:spPr>
      </p:sp>
      <p:sp>
        <p:nvSpPr>
          <p:cNvPr id="32" name="Shape 21"/>
          <p:cNvSpPr/>
          <p:nvPr>
            <p:custDataLst>
              <p:tags r:id="rId14"/>
            </p:custDataLst>
          </p:nvPr>
        </p:nvSpPr>
        <p:spPr>
          <a:xfrm>
            <a:off x="8411210" y="3735705"/>
            <a:ext cx="216535" cy="216535"/>
          </a:xfrm>
          <a:custGeom>
            <a:avLst/>
            <a:gdLst/>
            <a:ahLst/>
            <a:cxnLst/>
            <a:rect l="l" t="t" r="r" b="b"/>
            <a:pathLst>
              <a:path w="176312" h="176312">
                <a:moveTo>
                  <a:pt x="41323" y="19284"/>
                </a:moveTo>
                <a:cubicBezTo>
                  <a:pt x="41323" y="8643"/>
                  <a:pt x="49967" y="0"/>
                  <a:pt x="60607" y="0"/>
                </a:cubicBezTo>
                <a:lnTo>
                  <a:pt x="68872" y="0"/>
                </a:lnTo>
                <a:cubicBezTo>
                  <a:pt x="74967" y="0"/>
                  <a:pt x="79892" y="4924"/>
                  <a:pt x="79892" y="11020"/>
                </a:cubicBezTo>
                <a:lnTo>
                  <a:pt x="79892" y="165293"/>
                </a:lnTo>
                <a:cubicBezTo>
                  <a:pt x="79892" y="171388"/>
                  <a:pt x="74967" y="176312"/>
                  <a:pt x="68872" y="176312"/>
                </a:cubicBezTo>
                <a:lnTo>
                  <a:pt x="57852" y="176312"/>
                </a:lnTo>
                <a:cubicBezTo>
                  <a:pt x="47591" y="176312"/>
                  <a:pt x="38947" y="169287"/>
                  <a:pt x="36502" y="159783"/>
                </a:cubicBezTo>
                <a:cubicBezTo>
                  <a:pt x="36261" y="159783"/>
                  <a:pt x="36055" y="159783"/>
                  <a:pt x="35813" y="159783"/>
                </a:cubicBezTo>
                <a:cubicBezTo>
                  <a:pt x="20593" y="159783"/>
                  <a:pt x="8265" y="147455"/>
                  <a:pt x="8265" y="132234"/>
                </a:cubicBezTo>
                <a:cubicBezTo>
                  <a:pt x="8265" y="126036"/>
                  <a:pt x="10331" y="120319"/>
                  <a:pt x="13774" y="115705"/>
                </a:cubicBezTo>
                <a:cubicBezTo>
                  <a:pt x="7094" y="110677"/>
                  <a:pt x="2755" y="102688"/>
                  <a:pt x="2755" y="93666"/>
                </a:cubicBezTo>
                <a:cubicBezTo>
                  <a:pt x="2755" y="83025"/>
                  <a:pt x="8816" y="73762"/>
                  <a:pt x="17631" y="69182"/>
                </a:cubicBezTo>
                <a:cubicBezTo>
                  <a:pt x="15186" y="65050"/>
                  <a:pt x="13774" y="60229"/>
                  <a:pt x="13774" y="55098"/>
                </a:cubicBezTo>
                <a:cubicBezTo>
                  <a:pt x="13774" y="39877"/>
                  <a:pt x="26102" y="27549"/>
                  <a:pt x="41323" y="27549"/>
                </a:cubicBezTo>
                <a:lnTo>
                  <a:pt x="41323" y="19284"/>
                </a:lnTo>
                <a:close/>
                <a:moveTo>
                  <a:pt x="134989" y="19284"/>
                </a:moveTo>
                <a:lnTo>
                  <a:pt x="134989" y="27549"/>
                </a:lnTo>
                <a:cubicBezTo>
                  <a:pt x="150210" y="27549"/>
                  <a:pt x="162538" y="39877"/>
                  <a:pt x="162538" y="55098"/>
                </a:cubicBezTo>
                <a:cubicBezTo>
                  <a:pt x="162538" y="60263"/>
                  <a:pt x="161126" y="65084"/>
                  <a:pt x="158681" y="69182"/>
                </a:cubicBezTo>
                <a:cubicBezTo>
                  <a:pt x="167531" y="73762"/>
                  <a:pt x="173557" y="82991"/>
                  <a:pt x="173557" y="93666"/>
                </a:cubicBezTo>
                <a:cubicBezTo>
                  <a:pt x="173557" y="102688"/>
                  <a:pt x="169219" y="110677"/>
                  <a:pt x="162538" y="115705"/>
                </a:cubicBezTo>
                <a:cubicBezTo>
                  <a:pt x="165982" y="120319"/>
                  <a:pt x="168048" y="126036"/>
                  <a:pt x="168048" y="132234"/>
                </a:cubicBezTo>
                <a:cubicBezTo>
                  <a:pt x="168048" y="147455"/>
                  <a:pt x="155720" y="159783"/>
                  <a:pt x="140499" y="159783"/>
                </a:cubicBezTo>
                <a:cubicBezTo>
                  <a:pt x="140258" y="159783"/>
                  <a:pt x="140051" y="159783"/>
                  <a:pt x="139810" y="159783"/>
                </a:cubicBezTo>
                <a:cubicBezTo>
                  <a:pt x="137365" y="169287"/>
                  <a:pt x="128722" y="176312"/>
                  <a:pt x="118460" y="176312"/>
                </a:cubicBezTo>
                <a:lnTo>
                  <a:pt x="107440" y="176312"/>
                </a:lnTo>
                <a:cubicBezTo>
                  <a:pt x="101345" y="176312"/>
                  <a:pt x="96421" y="171388"/>
                  <a:pt x="96421" y="165293"/>
                </a:cubicBezTo>
                <a:lnTo>
                  <a:pt x="96421" y="11020"/>
                </a:lnTo>
                <a:cubicBezTo>
                  <a:pt x="96421" y="4924"/>
                  <a:pt x="101345" y="0"/>
                  <a:pt x="107440" y="0"/>
                </a:cubicBezTo>
                <a:lnTo>
                  <a:pt x="115705" y="0"/>
                </a:lnTo>
                <a:cubicBezTo>
                  <a:pt x="126346" y="0"/>
                  <a:pt x="134989" y="8643"/>
                  <a:pt x="134989" y="19284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33" name="Text 22"/>
          <p:cNvSpPr/>
          <p:nvPr/>
        </p:nvSpPr>
        <p:spPr>
          <a:xfrm>
            <a:off x="8909050" y="3518535"/>
            <a:ext cx="909320" cy="346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5" b="1" dirty="0">
                <a:solidFill>
                  <a:srgbClr val="00A9E0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🧠</a:t>
            </a:r>
            <a:endParaRPr lang="en-US" sz="1600" dirty="0">
              <a:cs typeface="BMWGroupTN Condensed TT Light" charset="0"/>
            </a:endParaRPr>
          </a:p>
        </p:txBody>
      </p:sp>
      <p:sp>
        <p:nvSpPr>
          <p:cNvPr id="34" name="Text 23"/>
          <p:cNvSpPr/>
          <p:nvPr>
            <p:custDataLst>
              <p:tags r:id="rId15"/>
            </p:custDataLst>
          </p:nvPr>
        </p:nvSpPr>
        <p:spPr>
          <a:xfrm>
            <a:off x="8909050" y="3865245"/>
            <a:ext cx="2481580" cy="303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chemeClr val="tx1"/>
                </a:solidFill>
                <a:latin typeface="BMWGroupTN Condensed TT Light" charset="0"/>
                <a:ea typeface="BMWGroupTN Condensed TT Light" charset="0"/>
                <a:cs typeface="BMWGroupTN Condensed TT Light" charset="0"/>
              </a:rPr>
              <a:t>归因分析</a:t>
            </a:r>
            <a:endParaRPr lang="en-US" b="1" dirty="0">
              <a:solidFill>
                <a:schemeClr val="tx1"/>
              </a:solidFill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  <p:sp>
        <p:nvSpPr>
          <p:cNvPr id="35" name="Text 24"/>
          <p:cNvSpPr/>
          <p:nvPr>
            <p:custDataLst>
              <p:tags r:id="rId16"/>
            </p:custDataLst>
          </p:nvPr>
        </p:nvSpPr>
        <p:spPr>
          <a:xfrm>
            <a:off x="8306435" y="4507865"/>
            <a:ext cx="3096895" cy="563245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Light" charset="0"/>
                <a:ea typeface="BMWGroupTN Condensed TT Light" charset="0"/>
                <a:cs typeface="BMWGroupTN Condensed TT Light" charset="0"/>
              </a:rPr>
              <a:t>数据 + 背景 = 洞察，从取数员升级为策略分析师</a:t>
            </a:r>
            <a:endParaRPr 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Light" charset="0"/>
              <a:ea typeface="BMWGroupTN Condensed TT Light" charset="0"/>
              <a:cs typeface="BMWGroupTN Condensed TT Light" charset="0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12800" y="205740"/>
            <a:ext cx="4203065" cy="720090"/>
          </a:xfrm>
        </p:spPr>
        <p:txBody>
          <a:bodyPr>
            <a:normAutofit/>
          </a:bodyPr>
          <a:lstStyle/>
          <a:p>
            <a:pPr algn="l"/>
            <a:r>
              <a:rPr lang="zh-CN" altLang="en-US"/>
              <a:t>课后作业</a:t>
            </a:r>
            <a:endParaRPr lang="zh-CN" altLang="en-US"/>
          </a:p>
        </p:txBody>
      </p:sp>
      <p:sp>
        <p:nvSpPr>
          <p:cNvPr id="36" name="Shape 25"/>
          <p:cNvSpPr/>
          <p:nvPr/>
        </p:nvSpPr>
        <p:spPr>
          <a:xfrm>
            <a:off x="1144905" y="1278890"/>
            <a:ext cx="9700260" cy="2241550"/>
          </a:xfrm>
          <a:custGeom>
            <a:avLst/>
            <a:gdLst/>
            <a:ahLst/>
            <a:cxnLst/>
            <a:rect l="l" t="t" r="r" b="b"/>
            <a:pathLst>
              <a:path w="9018377" h="1868911">
                <a:moveTo>
                  <a:pt x="141047" y="0"/>
                </a:moveTo>
                <a:lnTo>
                  <a:pt x="8877331" y="0"/>
                </a:lnTo>
                <a:cubicBezTo>
                  <a:pt x="8955229" y="0"/>
                  <a:pt x="9018377" y="63149"/>
                  <a:pt x="9018377" y="141047"/>
                </a:cubicBezTo>
                <a:lnTo>
                  <a:pt x="9018377" y="1727864"/>
                </a:lnTo>
                <a:cubicBezTo>
                  <a:pt x="9018377" y="1805762"/>
                  <a:pt x="8955229" y="1868911"/>
                  <a:pt x="8877331" y="1868911"/>
                </a:cubicBezTo>
                <a:lnTo>
                  <a:pt x="141047" y="1868911"/>
                </a:lnTo>
                <a:cubicBezTo>
                  <a:pt x="63149" y="1868911"/>
                  <a:pt x="0" y="1805762"/>
                  <a:pt x="0" y="1727864"/>
                </a:cubicBezTo>
                <a:lnTo>
                  <a:pt x="0" y="141047"/>
                </a:lnTo>
                <a:cubicBezTo>
                  <a:pt x="0" y="63201"/>
                  <a:pt x="63201" y="0"/>
                  <a:pt x="141047" y="0"/>
                </a:cubicBezTo>
                <a:close/>
              </a:path>
            </a:pathLst>
          </a:custGeom>
          <a:ln>
            <a:solidFill>
              <a:schemeClr val="accent1">
                <a:alpha val="4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7" name="Shape 26"/>
          <p:cNvSpPr/>
          <p:nvPr/>
        </p:nvSpPr>
        <p:spPr>
          <a:xfrm>
            <a:off x="1789644" y="1620319"/>
            <a:ext cx="264469" cy="264469"/>
          </a:xfrm>
          <a:custGeom>
            <a:avLst/>
            <a:gdLst/>
            <a:ahLst/>
            <a:cxnLst/>
            <a:rect l="l" t="t" r="r" b="b"/>
            <a:pathLst>
              <a:path w="264469" h="264469">
                <a:moveTo>
                  <a:pt x="166068" y="35538"/>
                </a:moveTo>
                <a:cubicBezTo>
                  <a:pt x="169993" y="28875"/>
                  <a:pt x="177122" y="24794"/>
                  <a:pt x="184818" y="24794"/>
                </a:cubicBezTo>
                <a:lnTo>
                  <a:pt x="185954" y="24794"/>
                </a:lnTo>
                <a:cubicBezTo>
                  <a:pt x="197370" y="24794"/>
                  <a:pt x="206616" y="34040"/>
                  <a:pt x="206616" y="45456"/>
                </a:cubicBezTo>
                <a:cubicBezTo>
                  <a:pt x="206616" y="56871"/>
                  <a:pt x="197370" y="66117"/>
                  <a:pt x="185954" y="66117"/>
                </a:cubicBezTo>
                <a:lnTo>
                  <a:pt x="148092" y="66117"/>
                </a:lnTo>
                <a:lnTo>
                  <a:pt x="166068" y="35538"/>
                </a:lnTo>
                <a:close/>
                <a:moveTo>
                  <a:pt x="98401" y="35538"/>
                </a:moveTo>
                <a:lnTo>
                  <a:pt x="116376" y="66117"/>
                </a:lnTo>
                <a:lnTo>
                  <a:pt x="78514" y="66117"/>
                </a:lnTo>
                <a:cubicBezTo>
                  <a:pt x="67099" y="66117"/>
                  <a:pt x="57852" y="56871"/>
                  <a:pt x="57852" y="45456"/>
                </a:cubicBezTo>
                <a:cubicBezTo>
                  <a:pt x="57852" y="34040"/>
                  <a:pt x="67099" y="24794"/>
                  <a:pt x="78514" y="24794"/>
                </a:cubicBezTo>
                <a:lnTo>
                  <a:pt x="79650" y="24794"/>
                </a:lnTo>
                <a:cubicBezTo>
                  <a:pt x="87347" y="24794"/>
                  <a:pt x="94527" y="28875"/>
                  <a:pt x="98401" y="35538"/>
                </a:cubicBezTo>
                <a:close/>
                <a:moveTo>
                  <a:pt x="144683" y="22986"/>
                </a:moveTo>
                <a:lnTo>
                  <a:pt x="132234" y="44164"/>
                </a:lnTo>
                <a:lnTo>
                  <a:pt x="119786" y="22986"/>
                </a:lnTo>
                <a:cubicBezTo>
                  <a:pt x="111418" y="8730"/>
                  <a:pt x="96128" y="0"/>
                  <a:pt x="79650" y="0"/>
                </a:cubicBezTo>
                <a:lnTo>
                  <a:pt x="78514" y="0"/>
                </a:lnTo>
                <a:cubicBezTo>
                  <a:pt x="53410" y="0"/>
                  <a:pt x="33059" y="20352"/>
                  <a:pt x="33059" y="45456"/>
                </a:cubicBezTo>
                <a:cubicBezTo>
                  <a:pt x="33059" y="52894"/>
                  <a:pt x="34866" y="59919"/>
                  <a:pt x="38017" y="66117"/>
                </a:cubicBezTo>
                <a:lnTo>
                  <a:pt x="16529" y="66117"/>
                </a:lnTo>
                <a:cubicBezTo>
                  <a:pt x="7387" y="66117"/>
                  <a:pt x="0" y="73504"/>
                  <a:pt x="0" y="82646"/>
                </a:cubicBezTo>
                <a:lnTo>
                  <a:pt x="0" y="99176"/>
                </a:lnTo>
                <a:cubicBezTo>
                  <a:pt x="0" y="108318"/>
                  <a:pt x="7387" y="115705"/>
                  <a:pt x="16529" y="115705"/>
                </a:cubicBezTo>
                <a:lnTo>
                  <a:pt x="247939" y="115705"/>
                </a:lnTo>
                <a:cubicBezTo>
                  <a:pt x="257082" y="115705"/>
                  <a:pt x="264469" y="108318"/>
                  <a:pt x="264469" y="99176"/>
                </a:cubicBezTo>
                <a:lnTo>
                  <a:pt x="264469" y="82646"/>
                </a:lnTo>
                <a:cubicBezTo>
                  <a:pt x="264469" y="73504"/>
                  <a:pt x="257082" y="66117"/>
                  <a:pt x="247939" y="66117"/>
                </a:cubicBezTo>
                <a:lnTo>
                  <a:pt x="226451" y="66117"/>
                </a:lnTo>
                <a:cubicBezTo>
                  <a:pt x="229602" y="59919"/>
                  <a:pt x="231410" y="52894"/>
                  <a:pt x="231410" y="45456"/>
                </a:cubicBezTo>
                <a:cubicBezTo>
                  <a:pt x="231410" y="20352"/>
                  <a:pt x="211058" y="0"/>
                  <a:pt x="185954" y="0"/>
                </a:cubicBezTo>
                <a:lnTo>
                  <a:pt x="184818" y="0"/>
                </a:lnTo>
                <a:cubicBezTo>
                  <a:pt x="168340" y="0"/>
                  <a:pt x="153051" y="8730"/>
                  <a:pt x="144683" y="22934"/>
                </a:cubicBezTo>
                <a:close/>
                <a:moveTo>
                  <a:pt x="247939" y="140499"/>
                </a:moveTo>
                <a:lnTo>
                  <a:pt x="144631" y="140499"/>
                </a:lnTo>
                <a:lnTo>
                  <a:pt x="144631" y="247939"/>
                </a:lnTo>
                <a:lnTo>
                  <a:pt x="214881" y="247939"/>
                </a:lnTo>
                <a:cubicBezTo>
                  <a:pt x="233115" y="247939"/>
                  <a:pt x="247939" y="233115"/>
                  <a:pt x="247939" y="214881"/>
                </a:cubicBezTo>
                <a:lnTo>
                  <a:pt x="247939" y="140499"/>
                </a:lnTo>
                <a:close/>
                <a:moveTo>
                  <a:pt x="119837" y="140499"/>
                </a:moveTo>
                <a:lnTo>
                  <a:pt x="16529" y="140499"/>
                </a:lnTo>
                <a:lnTo>
                  <a:pt x="16529" y="214881"/>
                </a:lnTo>
                <a:cubicBezTo>
                  <a:pt x="16529" y="233115"/>
                  <a:pt x="31354" y="247939"/>
                  <a:pt x="49588" y="247939"/>
                </a:cubicBezTo>
                <a:lnTo>
                  <a:pt x="119837" y="247939"/>
                </a:lnTo>
                <a:lnTo>
                  <a:pt x="119837" y="140499"/>
                </a:lnTo>
                <a:close/>
              </a:path>
            </a:pathLst>
          </a:custGeom>
          <a:solidFill>
            <a:srgbClr val="C8A45C"/>
          </a:solidFill>
        </p:spPr>
      </p:sp>
      <p:sp>
        <p:nvSpPr>
          <p:cNvPr id="38" name="Text 27"/>
          <p:cNvSpPr/>
          <p:nvPr/>
        </p:nvSpPr>
        <p:spPr>
          <a:xfrm>
            <a:off x="2226017" y="1523347"/>
            <a:ext cx="1216555" cy="24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b="1" dirty="0">
                <a:solidFill>
                  <a:srgbClr val="C8A45C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课后作业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39" name="Text 28"/>
          <p:cNvSpPr/>
          <p:nvPr/>
        </p:nvSpPr>
        <p:spPr>
          <a:xfrm>
            <a:off x="2226017" y="1770184"/>
            <a:ext cx="1198924" cy="211575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极具吸引力的挑战</a:t>
            </a:r>
            <a:endParaRPr lang="en-US" sz="111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18945" y="2032000"/>
            <a:ext cx="8508365" cy="1511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400">
                <a:cs typeface="BMWGroupTN Condensed TT Medium" charset="0"/>
              </a:rPr>
              <a:t>实践任务：</a:t>
            </a:r>
            <a:r>
              <a:rPr lang="en-US" altLang="zh-CN" sz="1400">
                <a:cs typeface="BMWGroupTN Condensed TT Medium" charset="0"/>
              </a:rPr>
              <a:t> </a:t>
            </a:r>
            <a:r>
              <a:rPr lang="zh-CN" altLang="en-US" sz="1400">
                <a:cs typeface="BMWGroupTN Condensed TT Medium" charset="0"/>
              </a:rPr>
              <a:t>搭建一个</a:t>
            </a:r>
            <a:r>
              <a:rPr lang="en-US" altLang="zh-CN" sz="1400">
                <a:cs typeface="BMWGroupTN Condensed TT Medium" charset="0"/>
              </a:rPr>
              <a:t>“</a:t>
            </a:r>
            <a:r>
              <a:rPr lang="zh-CN" altLang="en-US" sz="1400">
                <a:cs typeface="BMWGroupTN Condensed TT Medium" charset="0"/>
              </a:rPr>
              <a:t>自然语言</a:t>
            </a:r>
            <a:r>
              <a:rPr lang="en-US" altLang="en-US" sz="1400">
                <a:cs typeface="BMWGroupTN Condensed TT Medium" charset="0"/>
              </a:rPr>
              <a:t>→</a:t>
            </a:r>
            <a:r>
              <a:rPr lang="en-US" altLang="zh-CN" sz="1400">
                <a:cs typeface="BMWGroupTN Condensed TT Medium" charset="0"/>
              </a:rPr>
              <a:t>SQL</a:t>
            </a:r>
            <a:r>
              <a:rPr lang="en-US" altLang="en-US" sz="1400">
                <a:cs typeface="BMWGroupTN Condensed TT Medium" charset="0"/>
              </a:rPr>
              <a:t>→</a:t>
            </a:r>
            <a:r>
              <a:rPr lang="zh-CN" altLang="en-US" sz="1400">
                <a:cs typeface="BMWGroupTN Condensed TT Medium" charset="0"/>
              </a:rPr>
              <a:t>查结果</a:t>
            </a:r>
            <a:r>
              <a:rPr lang="en-US" altLang="zh-CN" sz="1400">
                <a:cs typeface="BMWGroupTN Condensed TT Medium" charset="0"/>
              </a:rPr>
              <a:t>”</a:t>
            </a:r>
            <a:r>
              <a:rPr lang="zh-CN" altLang="en-US" sz="1400">
                <a:cs typeface="BMWGroupTN Condensed TT Medium" charset="0"/>
              </a:rPr>
              <a:t>的最小</a:t>
            </a:r>
            <a:r>
              <a:rPr lang="en-US" altLang="zh-CN" sz="1400">
                <a:cs typeface="BMWGroupTN Condensed TT Medium" charset="0"/>
              </a:rPr>
              <a:t> ChatBI</a:t>
            </a:r>
            <a:endParaRPr lang="en-US" altLang="zh-CN" sz="1400">
              <a:cs typeface="BMWGroupTN Condensed TT Medium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400">
                <a:cs typeface="BMWGroupTN Condensed TT Medium" charset="0"/>
              </a:rPr>
              <a:t>准备两张小表（销量</a:t>
            </a:r>
            <a:r>
              <a:rPr lang="en-US" altLang="zh-CN" sz="1400">
                <a:cs typeface="BMWGroupTN Condensed TT Medium" charset="0"/>
              </a:rPr>
              <a:t> + </a:t>
            </a:r>
            <a:r>
              <a:rPr lang="zh-CN" altLang="en-US" sz="1400">
                <a:cs typeface="BMWGroupTN Condensed TT Medium" charset="0"/>
              </a:rPr>
              <a:t>经销商，</a:t>
            </a:r>
            <a:r>
              <a:rPr lang="en-US" altLang="zh-CN" sz="1400">
                <a:cs typeface="BMWGroupTN Condensed TT Medium" charset="0"/>
              </a:rPr>
              <a:t>10~20</a:t>
            </a:r>
            <a:r>
              <a:rPr lang="zh-CN" altLang="en-US" sz="1400">
                <a:cs typeface="BMWGroupTN Condensed TT Medium" charset="0"/>
              </a:rPr>
              <a:t>行演示数据）</a:t>
            </a:r>
            <a:endParaRPr lang="zh-CN" altLang="en-US" sz="1400">
              <a:cs typeface="BMWGroupTN Condensed TT Medium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400">
                <a:cs typeface="BMWGroupTN Condensed TT Medium" charset="0"/>
              </a:rPr>
              <a:t>建口径知识库：《销售黑话翻译》</a:t>
            </a:r>
            <a:r>
              <a:rPr lang="en-US" altLang="zh-CN" sz="1400">
                <a:cs typeface="BMWGroupTN Condensed TT Medium" charset="0"/>
              </a:rPr>
              <a:t>+</a:t>
            </a:r>
            <a:r>
              <a:rPr lang="zh-CN" altLang="en-US" sz="1400">
                <a:cs typeface="BMWGroupTN Condensed TT Medium" charset="0"/>
              </a:rPr>
              <a:t>《表结构说明》</a:t>
            </a:r>
            <a:endParaRPr lang="zh-CN" altLang="en-US" sz="1400">
              <a:cs typeface="BMWGroupTN Condensed TT Medium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400">
                <a:cs typeface="BMWGroupTN Condensed TT Medium" charset="0"/>
              </a:rPr>
              <a:t>搭工作流：开始</a:t>
            </a:r>
            <a:r>
              <a:rPr lang="en-US" altLang="en-US" sz="1400">
                <a:cs typeface="BMWGroupTN Condensed TT Medium" charset="0"/>
              </a:rPr>
              <a:t>→</a:t>
            </a:r>
            <a:r>
              <a:rPr lang="zh-CN" altLang="en-US" sz="1400">
                <a:cs typeface="BMWGroupTN Condensed TT Medium" charset="0"/>
              </a:rPr>
              <a:t>知识库检索</a:t>
            </a:r>
            <a:r>
              <a:rPr lang="en-US" altLang="en-US" sz="1400">
                <a:cs typeface="BMWGroupTN Condensed TT Medium" charset="0"/>
              </a:rPr>
              <a:t>→</a:t>
            </a:r>
            <a:r>
              <a:rPr lang="en-US" altLang="zh-CN" sz="1400">
                <a:cs typeface="BMWGroupTN Condensed TT Medium" charset="0"/>
              </a:rPr>
              <a:t>LLM</a:t>
            </a:r>
            <a:r>
              <a:rPr lang="zh-CN" altLang="en-US" sz="1400">
                <a:cs typeface="BMWGroupTN Condensed TT Medium" charset="0"/>
              </a:rPr>
              <a:t>生成</a:t>
            </a:r>
            <a:r>
              <a:rPr lang="en-US" altLang="zh-CN" sz="1400">
                <a:cs typeface="BMWGroupTN Condensed TT Medium" charset="0"/>
              </a:rPr>
              <a:t>SQL</a:t>
            </a:r>
            <a:r>
              <a:rPr lang="en-US" altLang="en-US" sz="1400">
                <a:cs typeface="BMWGroupTN Condensed TT Medium" charset="0"/>
              </a:rPr>
              <a:t>→</a:t>
            </a:r>
            <a:r>
              <a:rPr lang="zh-CN" altLang="en-US" sz="1400">
                <a:cs typeface="BMWGroupTN Condensed TT Medium" charset="0"/>
              </a:rPr>
              <a:t>执行</a:t>
            </a:r>
            <a:r>
              <a:rPr lang="en-US" altLang="en-US" sz="1400">
                <a:cs typeface="BMWGroupTN Condensed TT Medium" charset="0"/>
              </a:rPr>
              <a:t>→</a:t>
            </a:r>
            <a:r>
              <a:rPr lang="zh-CN" altLang="en-US" sz="1400">
                <a:cs typeface="BMWGroupTN Condensed TT Medium" charset="0"/>
              </a:rPr>
              <a:t>返回结果</a:t>
            </a:r>
            <a:endParaRPr lang="zh-CN" altLang="en-US" sz="1400">
              <a:cs typeface="BMWGroupTN Condensed TT Medium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400">
                <a:cs typeface="BMWGroupTN Condensed TT Medium" charset="0"/>
              </a:rPr>
              <a:t>测试两个问题，记录：第一次</a:t>
            </a:r>
            <a:r>
              <a:rPr lang="en-US" altLang="zh-CN" sz="1400">
                <a:cs typeface="BMWGroupTN Condensed TT Medium" charset="0"/>
              </a:rPr>
              <a:t> SQL </a:t>
            </a:r>
            <a:r>
              <a:rPr lang="zh-CN" altLang="en-US" sz="1400">
                <a:cs typeface="BMWGroupTN Condensed TT Medium" charset="0"/>
              </a:rPr>
              <a:t>是否正确？迭代</a:t>
            </a:r>
            <a:r>
              <a:rPr lang="en-US" altLang="zh-CN" sz="1400">
                <a:cs typeface="BMWGroupTN Condensed TT Medium" charset="0"/>
              </a:rPr>
              <a:t> Prompt </a:t>
            </a:r>
            <a:r>
              <a:rPr lang="zh-CN" altLang="en-US" sz="1400">
                <a:cs typeface="BMWGroupTN Condensed TT Medium" charset="0"/>
              </a:rPr>
              <a:t>后如何修正？</a:t>
            </a:r>
            <a:endParaRPr lang="zh-CN" altLang="en-US" sz="1400">
              <a:cs typeface="BMWGroupTN Condensed TT Medium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720" y="4104640"/>
            <a:ext cx="9815195" cy="1576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cs typeface="BMWGroupTN Condensed TT Medium" charset="0"/>
              </a:rPr>
              <a:t>描述你所搭建的工作流作用与功能</a:t>
            </a:r>
            <a:endParaRPr lang="zh-CN" altLang="en-US">
              <a:cs typeface="BMWGroupTN Condensed TT Medium" charset="0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>
              <a:cs typeface="BMWGroupTN Condensed TT Medium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ea typeface="宋体" panose="02010600030101010101" pitchFamily="2" charset="-122"/>
                <a:cs typeface="BMWGroupTN Condensed TT Medium" charset="0"/>
              </a:rPr>
              <a:t>将你的</a:t>
            </a:r>
            <a:r>
              <a:rPr lang="en-US" altLang="zh-CN">
                <a:cs typeface="BMWGroupTN Condensed TT Medium" charset="0"/>
              </a:rPr>
              <a:t>Dify</a:t>
            </a:r>
            <a:r>
              <a:rPr lang="zh-CN" altLang="en-US">
                <a:cs typeface="BMWGroupTN Condensed TT Medium" charset="0"/>
              </a:rPr>
              <a:t>工作流导出为</a:t>
            </a:r>
            <a:r>
              <a:rPr lang="en-US" altLang="zh-CN">
                <a:cs typeface="BMWGroupTN Condensed TT Medium" charset="0"/>
              </a:rPr>
              <a:t>“</a:t>
            </a:r>
            <a:r>
              <a:rPr lang="zh-CN" altLang="en-US">
                <a:ea typeface="宋体" panose="02010600030101010101" pitchFamily="2" charset="-122"/>
                <a:cs typeface="BMWGroupTN Condensed TT Medium" charset="0"/>
              </a:rPr>
              <a:t>图片</a:t>
            </a:r>
            <a:r>
              <a:rPr lang="en-US" altLang="zh-CN">
                <a:cs typeface="BMWGroupTN Condensed TT Medium" charset="0"/>
              </a:rPr>
              <a:t>”</a:t>
            </a:r>
            <a:r>
              <a:rPr lang="zh-CN" altLang="en-US">
                <a:cs typeface="BMWGroupTN Condensed TT Medium" charset="0"/>
              </a:rPr>
              <a:t>提交</a:t>
            </a:r>
            <a:endParaRPr lang="zh-CN" altLang="en-US">
              <a:cs typeface="BMWGroupTN Condensed TT Medium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2378075" y="2023745"/>
            <a:ext cx="7190740" cy="257619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问题答疑</a:t>
            </a:r>
            <a:br>
              <a:rPr lang="zh-CN" altLang="en-US"/>
            </a:br>
            <a:r>
              <a:rPr lang="en-US" altLang="zh-CN"/>
              <a:t>Q&amp;A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下一课</a:t>
            </a:r>
            <a:r>
              <a:rPr lang="zh-CN" altLang="en-US"/>
              <a:t>见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2026</a:t>
            </a:r>
            <a:r>
              <a:t>年</a:t>
            </a: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PRESET_TEXT" val="单击此处编辑母版文本样式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3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</p:tagLst>
</file>

<file path=ppt/tags/tag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TYPE" val="i"/>
  <p:tag name="KSO_WM_UNIT_INDEX" val="4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32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</p:tagLst>
</file>

<file path=ppt/tags/tag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7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75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3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6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0296"/>
</p:tagLst>
</file>

<file path=ppt/tags/tag8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96"/>
  <p:tag name="KSO_WM_TEMPLATE_THUMBS_INDEX" val="1、9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1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单击添加文档标题"/>
  <p:tag name="KSO_WM_UNIT_TEXT_TYPE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202_9*f*1"/>
  <p:tag name="KSO_WM_TEMPLATE_CATEGORY" val="custom"/>
  <p:tag name="KSO_WM_TEMPLATE_INDEX" val="40495202"/>
  <p:tag name="KSO_WM_UNIT_LAYERLEVEL" val="1"/>
  <p:tag name="KSO_WM_TAG_VERSION" val="3.0"/>
  <p:tag name="KSO_WM_BEAUTIFY_FLAG" val="#wm#"/>
  <p:tag name="KSO_WM_UNIT_SUBTYPE" val="b"/>
  <p:tag name="KSO_WM_UNIT_TEXT_LAYER_COUNT" val="1"/>
  <p:tag name="KSO_WM_UNIT_VALUE" val="44"/>
  <p:tag name="KSO_WM_UNIT_TYPE" val="f"/>
  <p:tag name="KSO_WM_UNIT_INDEX" val="1"/>
  <p:tag name="KSO_WM_UNIT_TEXT_TYPE" val="1"/>
  <p:tag name="KSO_WM_UNIT_NOCLEAR" val="0"/>
  <p:tag name="KSO_WM_UNIT_PRESET_TEXT" val="汇报人：WPS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202_9*a*1"/>
  <p:tag name="KSO_WM_TEMPLATE_CATEGORY" val="custom"/>
  <p:tag name="KSO_WM_TEMPLATE_INDEX" val="4049520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YPE" val="a"/>
  <p:tag name="KSO_WM_UNIT_INDEX" val="1"/>
  <p:tag name="KSO_WM_UNIT_TEXT_TYPE" val="0"/>
  <p:tag name="KSO_WM_UNIT_NOCLEAR" val="0"/>
  <p:tag name="KSO_WM_UNIT_PRESET_TEXT" val="感谢您的观看"/>
</p:tagLst>
</file>

<file path=ppt/tags/tag91.xml><?xml version="1.0" encoding="utf-8"?>
<p:tagLst xmlns:p="http://schemas.openxmlformats.org/presentationml/2006/main">
  <p:tag name="KSO_WM_SLIDE_ID" val="custom20230296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296"/>
  <p:tag name="KSO_WM_SLIDE_LAYOUT" val="a_b_f"/>
  <p:tag name="KSO_WM_SLIDE_LAYOUT_CNT" val="1_1_1"/>
  <p:tag name="KSO_WM_TEMPLATE_THUMBS_INDEX" val="1、9"/>
  <p:tag name="KSO_WM_SLIDE_CONTENT_AREA" val="{&quot;left&quot;:&quot;140.25&quot;,&quot;top&quot;:&quot;121.15&quot;,&quot;width&quot;:&quot;679.5&quot;,&quot;height&quot;:&quot;208.75&quot;}"/>
</p:tagLst>
</file>

<file path=ppt/tags/tag92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4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DIAGRAM_GROUP_CODE" val="l1-1"/>
  <p:tag name="KSO_WM_UNIT_TEXT_FILL_FORE_SCHEMECOLOR_INDEX" val="5"/>
  <p:tag name="KSO_WM_UNIT_USESOURCEFORMAT_APPLY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296_4*l_h_i*1_1_1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352.3215351302980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TEXT_FILL_TYPE" val="1"/>
  <p:tag name="KSO_WM_UNIT_USESOURCEFORMAT_APPLY" val="1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UNIT_TYPE" val="l_h_a"/>
  <p:tag name="KSO_WM_UNIT_ID" val="custom20230296_4*l_h_a*1_1_1"/>
  <p:tag name="KSO_WM_DIAGRAM_VERSION" val="3"/>
  <p:tag name="KSO_WM_DIAGRAM_MAX_ITEMCNT" val="6"/>
  <p:tag name="KSO_WM_DIAGRAM_MIN_ITEMCNT" val="2"/>
  <p:tag name="KSO_WM_DIAGRAM_VIRTUALLY_FRAME" val="{&quot;height&quot;:352.3215351302980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标题"/>
  <p:tag name="KSO_WM_UNIT_TEXT_TYPE" val="1"/>
  <p:tag name="KSO_WM_UNIT_TEXT_FILL_FORE_SCHEMECOLOR_INDEX" val="5"/>
  <p:tag name="KSO_WM_UNIT_USESOURCEFORMAT_APPLY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296_4*l_h_i*1_1_2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MAX_ITEMCNT" val="6"/>
  <p:tag name="KSO_WM_DIAGRAM_MIN_ITEMCNT" val="2"/>
  <p:tag name="KSO_WM_DIAGRAM_VIRTUALLY_FRAME" val="{&quot;height&quot;:352.3215351302980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296_4*l_h_i*1_2_1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352.3215351302980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TEXT_FILL_TYPE" val="1"/>
  <p:tag name="KSO_WM_UNIT_USESOURCEFORMAT_APPLY" val="1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UNIT_TYPE" val="l_h_a"/>
  <p:tag name="KSO_WM_UNIT_ID" val="custom20230296_4*l_h_a*1_2_1"/>
  <p:tag name="KSO_WM_DIAGRAM_VERSION" val="3"/>
  <p:tag name="KSO_WM_DIAGRAM_MAX_ITEMCNT" val="6"/>
  <p:tag name="KSO_WM_DIAGRAM_MIN_ITEMCNT" val="2"/>
  <p:tag name="KSO_WM_DIAGRAM_VIRTUALLY_FRAME" val="{&quot;height&quot;:352.3215351302980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标题"/>
  <p:tag name="KSO_WM_UNIT_TEXT_TYPE" val="1"/>
  <p:tag name="KSO_WM_UNIT_TEXT_FILL_FORE_SCHEMECOLOR_INDEX" val="5"/>
  <p:tag name="KSO_WM_UNIT_USESOURCEFORMAT_APPLY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296_4*l_h_i*1_2_2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MAX_ITEMCNT" val="6"/>
  <p:tag name="KSO_WM_DIAGRAM_MIN_ITEMCNT" val="2"/>
  <p:tag name="KSO_WM_DIAGRAM_VIRTUALLY_FRAME" val="{&quot;height&quot;:352.3215351302980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296_4*l_h_i*1_3_1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352.3215351302980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TEXT_FILL_TYPE" val="1"/>
  <p:tag name="KSO_WM_UNIT_USESOURCEFORMAT_APPLY" val="1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UNIT_TYPE" val="l_h_a"/>
  <p:tag name="KSO_WM_UNIT_ID" val="custom20230296_4*l_h_a*1_3_1"/>
  <p:tag name="KSO_WM_DIAGRAM_VERSION" val="3"/>
  <p:tag name="KSO_WM_DIAGRAM_MAX_ITEMCNT" val="6"/>
  <p:tag name="KSO_WM_DIAGRAM_MIN_ITEMCNT" val="2"/>
  <p:tag name="KSO_WM_DIAGRAM_VIRTUALLY_FRAME" val="{&quot;height&quot;:352.3215351302980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标题"/>
  <p:tag name="KSO_WM_UNIT_TEXT_TYPE" val="1"/>
  <p:tag name="KSO_WM_UNIT_TEXT_FILL_FORE_SCHEMECOLOR_INDEX" val="5"/>
  <p:tag name="KSO_WM_UNIT_USESOURCEFORMAT_APPLY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296_4*l_h_i*1_3_2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MAX_ITEMCNT" val="6"/>
  <p:tag name="KSO_WM_DIAGRAM_MIN_ITEMCNT" val="2"/>
  <p:tag name="KSO_WM_DIAGRAM_VIRTUALLY_FRAME" val="{&quot;height&quot;:352.3215351302980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102.xml><?xml version="1.0" encoding="utf-8"?>
<p:tagLst xmlns:p="http://schemas.openxmlformats.org/presentationml/2006/main">
  <p:tag name="KSO_WM_DIAGRAM_VIRTUALLY_FRAME" val="{&quot;height&quot;:352.32153513029806,&quot;left&quot;:47.83520977831258,&quot;top&quot;:146.07846486970192,&quot;width&quot;:871.6235961914062}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296_4*l_h_i*1_4_1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352.3215351302980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TEXT_FILL_TYPE" val="1"/>
  <p:tag name="KSO_WM_UNIT_USESOURCEFORMAT_APPLY" val="1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UNIT_TYPE" val="l_h_a"/>
  <p:tag name="KSO_WM_UNIT_ID" val="custom20230296_4*l_h_a*1_4_1"/>
  <p:tag name="KSO_WM_DIAGRAM_VERSION" val="3"/>
  <p:tag name="KSO_WM_DIAGRAM_MAX_ITEMCNT" val="6"/>
  <p:tag name="KSO_WM_DIAGRAM_MIN_ITEMCNT" val="2"/>
  <p:tag name="KSO_WM_DIAGRAM_VIRTUALLY_FRAME" val="{&quot;height&quot;:352.3215351302980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标题"/>
  <p:tag name="KSO_WM_UNIT_TEXT_TYPE" val="1"/>
  <p:tag name="KSO_WM_UNIT_TEXT_FILL_FORE_SCHEMECOLOR_INDEX" val="5"/>
  <p:tag name="KSO_WM_UNIT_USESOURCEFORMAT_APPLY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296_4*l_h_i*1_4_2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MAX_ITEMCNT" val="6"/>
  <p:tag name="KSO_WM_DIAGRAM_MIN_ITEMCNT" val="2"/>
  <p:tag name="KSO_WM_DIAGRAM_VIRTUALLY_FRAME" val="{&quot;height&quot;:352.3215351302980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296_4*l_h_i*1_4_1"/>
  <p:tag name="KSO_WM_TEMPLATE_CATEGORY" val="custom"/>
  <p:tag name="KSO_WM_TEMPLATE_INDEX" val="20230296"/>
  <p:tag name="KSO_WM_UNIT_LAYERLEVEL" val="1_1_1"/>
  <p:tag name="KSO_WM_TAG_VERSION" val="3.0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352.317519382266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TEXT_FILL_TYPE" val="1"/>
  <p:tag name="KSO_WM_UNIT_USESOURCEFORMAT_APPLY" val="1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96"/>
  <p:tag name="KSO_WM_UNIT_LAYERLEVEL" val="1_1_1"/>
  <p:tag name="KSO_WM_TAG_VERSION" val="3.0"/>
  <p:tag name="KSO_WM_DIAGRAM_GROUP_CODE" val="l1-1"/>
  <p:tag name="KSO_WM_UNIT_TYPE" val="l_h_a"/>
  <p:tag name="KSO_WM_UNIT_ID" val="custom20230296_4*l_h_a*1_4_1"/>
  <p:tag name="KSO_WM_DIAGRAM_VERSION" val="3"/>
  <p:tag name="KSO_WM_DIAGRAM_MAX_ITEMCNT" val="6"/>
  <p:tag name="KSO_WM_DIAGRAM_MIN_ITEMCNT" val="2"/>
  <p:tag name="KSO_WM_DIAGRAM_VIRTUALLY_FRAME" val="{&quot;height&quot;:352.317519382266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标题"/>
  <p:tag name="KSO_WM_UNIT_TEXT_TYPE" val="1"/>
  <p:tag name="KSO_WM_UNIT_TEXT_FILL_FORE_SCHEMECOLOR_INDEX" val="5"/>
  <p:tag name="KSO_WM_UNIT_USESOURCEFORMAT_APPLY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296_4*l_h_i*1_4_2"/>
  <p:tag name="KSO_WM_TEMPLATE_CATEGORY" val="custom"/>
  <p:tag name="KSO_WM_TEMPLATE_INDEX" val="20230296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MAX_ITEMCNT" val="6"/>
  <p:tag name="KSO_WM_DIAGRAM_MIN_ITEMCNT" val="2"/>
  <p:tag name="KSO_WM_DIAGRAM_VIRTUALLY_FRAME" val="{&quot;height&quot;:352.317519382266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109.xml><?xml version="1.0" encoding="utf-8"?>
<p:tagLst xmlns:p="http://schemas.openxmlformats.org/presentationml/2006/main">
  <p:tag name="KSO_WM_SLIDE_ID" val="custom20230296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96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11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6_7*e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7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12.xml><?xml version="1.0" encoding="utf-8"?>
<p:tagLst xmlns:p="http://schemas.openxmlformats.org/presentationml/2006/main">
  <p:tag name="KSO_WM_SLIDE_ID" val="custom202302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96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172.55&quot;,&quot;top&quot;:&quot;71.7&quot;,&quot;width&quot;:&quot;610.65&quot;,&quot;height&quot;:&quot;313.05&quot;}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14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16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6_7*e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7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19.xml><?xml version="1.0" encoding="utf-8"?>
<p:tagLst xmlns:p="http://schemas.openxmlformats.org/presentationml/2006/main">
  <p:tag name="KSO_WM_SLIDE_ID" val="custom202302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96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172.55&quot;,&quot;top&quot;:&quot;71.7&quot;,&quot;width&quot;:&quot;610.65&quot;,&quot;height&quot;:&quot;313.05&quot;}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1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3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5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0296],&quot;70&quot;:[3318475]}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7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9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0296],&quot;70&quot;:[3318475]}"/>
</p:tagLst>
</file>

<file path=ppt/tags/tag13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6_7*e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7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32.xml><?xml version="1.0" encoding="utf-8"?>
<p:tagLst xmlns:p="http://schemas.openxmlformats.org/presentationml/2006/main">
  <p:tag name="KSO_WM_SLIDE_ID" val="custom202302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96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172.55&quot;,&quot;top&quot;:&quot;71.7&quot;,&quot;width&quot;:&quot;610.65&quot;,&quot;height&quot;:&quot;313.05&quot;}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34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36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38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0296],&quot;70&quot;:[3318475]}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40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42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0296],&quot;70&quot;:[3318475]}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44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46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0296],&quot;70&quot;:[3318475]}"/>
</p:tagLst>
</file>

<file path=ppt/tags/tag14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6_7*e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7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49.xml><?xml version="1.0" encoding="utf-8"?>
<p:tagLst xmlns:p="http://schemas.openxmlformats.org/presentationml/2006/main">
  <p:tag name="KSO_WM_SLIDE_ID" val="custom202302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96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172.55&quot;,&quot;top&quot;:&quot;71.7&quot;,&quot;width&quot;:&quot;610.65&quot;,&quot;height&quot;:&quot;313.05&quot;}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51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53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55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0296],&quot;70&quot;:[3318475]}"/>
</p:tagLst>
</file>

<file path=ppt/tags/tag156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6_7*e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</p:tagLst>
</file>

<file path=ppt/tags/tag1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7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58.xml><?xml version="1.0" encoding="utf-8"?>
<p:tagLst xmlns:p="http://schemas.openxmlformats.org/presentationml/2006/main">
  <p:tag name="KSO_WM_SLIDE_ID" val="custom202302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96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172.55&quot;,&quot;top&quot;:&quot;71.7&quot;,&quot;width&quot;:&quot;610.65&quot;,&quot;height&quot;:&quot;313.05&quot;}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60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62.xml><?xml version="1.0" encoding="utf-8"?>
<p:tagLst xmlns:p="http://schemas.openxmlformats.org/presentationml/2006/main">
  <p:tag name="KSO_WM_DIAGRAM_VIRTUALLY_FRAME" val="{&quot;height&quot;:153.55,&quot;left&quot;:34.25,&quot;top&quot;:259.4,&quot;width&quot;:917.4}"/>
</p:tagLst>
</file>

<file path=ppt/tags/tag163.xml><?xml version="1.0" encoding="utf-8"?>
<p:tagLst xmlns:p="http://schemas.openxmlformats.org/presentationml/2006/main">
  <p:tag name="KSO_WM_DIAGRAM_VIRTUALLY_FRAME" val="{&quot;height&quot;:153.55,&quot;left&quot;:34.25,&quot;top&quot;:259.4,&quot;width&quot;:917.4}"/>
</p:tagLst>
</file>

<file path=ppt/tags/tag164.xml><?xml version="1.0" encoding="utf-8"?>
<p:tagLst xmlns:p="http://schemas.openxmlformats.org/presentationml/2006/main">
  <p:tag name="KSO_WM_DIAGRAM_VIRTUALLY_FRAME" val="{&quot;height&quot;:153.55,&quot;left&quot;:34.25,&quot;top&quot;:259.4,&quot;width&quot;:917.4}"/>
</p:tagLst>
</file>

<file path=ppt/tags/tag165.xml><?xml version="1.0" encoding="utf-8"?>
<p:tagLst xmlns:p="http://schemas.openxmlformats.org/presentationml/2006/main">
  <p:tag name="KSO_WM_DIAGRAM_VIRTUALLY_FRAME" val="{&quot;height&quot;:153.55,&quot;left&quot;:34.25,&quot;top&quot;:259.4,&quot;width&quot;:917.4}"/>
</p:tagLst>
</file>

<file path=ppt/tags/tag166.xml><?xml version="1.0" encoding="utf-8"?>
<p:tagLst xmlns:p="http://schemas.openxmlformats.org/presentationml/2006/main">
  <p:tag name="KSO_WM_DIAGRAM_VIRTUALLY_FRAME" val="{&quot;height&quot;:153.55,&quot;left&quot;:34.25,&quot;top&quot;:259.4,&quot;width&quot;:917.4}"/>
</p:tagLst>
</file>

<file path=ppt/tags/tag167.xml><?xml version="1.0" encoding="utf-8"?>
<p:tagLst xmlns:p="http://schemas.openxmlformats.org/presentationml/2006/main">
  <p:tag name="KSO_WM_DIAGRAM_VIRTUALLY_FRAME" val="{&quot;height&quot;:153.55,&quot;left&quot;:34.25,&quot;top&quot;:259.4,&quot;width&quot;:917.4}"/>
</p:tagLst>
</file>

<file path=ppt/tags/tag168.xml><?xml version="1.0" encoding="utf-8"?>
<p:tagLst xmlns:p="http://schemas.openxmlformats.org/presentationml/2006/main">
  <p:tag name="KSO_WM_DIAGRAM_VIRTUALLY_FRAME" val="{&quot;height&quot;:153.55,&quot;left&quot;:34.25,&quot;top&quot;:259.4,&quot;width&quot;:917.4}"/>
</p:tagLst>
</file>

<file path=ppt/tags/tag169.xml><?xml version="1.0" encoding="utf-8"?>
<p:tagLst xmlns:p="http://schemas.openxmlformats.org/presentationml/2006/main">
  <p:tag name="KSO_WM_DIAGRAM_VIRTUALLY_FRAME" val="{&quot;height&quot;:153.55,&quot;left&quot;:34.25,&quot;top&quot;:259.4,&quot;width&quot;:917.4}"/>
</p:tagLst>
</file>

<file path=ppt/tags/tag170.xml><?xml version="1.0" encoding="utf-8"?>
<p:tagLst xmlns:p="http://schemas.openxmlformats.org/presentationml/2006/main">
  <p:tag name="KSO_WM_DIAGRAM_VIRTUALLY_FRAME" val="{&quot;height&quot;:153.55,&quot;left&quot;:34.25,&quot;top&quot;:259.4,&quot;width&quot;:917.4}"/>
</p:tagLst>
</file>

<file path=ppt/tags/tag171.xml><?xml version="1.0" encoding="utf-8"?>
<p:tagLst xmlns:p="http://schemas.openxmlformats.org/presentationml/2006/main">
  <p:tag name="KSO_WM_DIAGRAM_VIRTUALLY_FRAME" val="{&quot;height&quot;:153.55,&quot;left&quot;:34.25,&quot;top&quot;:259.4,&quot;width&quot;:917.4}"/>
</p:tagLst>
</file>

<file path=ppt/tags/tag172.xml><?xml version="1.0" encoding="utf-8"?>
<p:tagLst xmlns:p="http://schemas.openxmlformats.org/presentationml/2006/main">
  <p:tag name="KSO_WM_DIAGRAM_VIRTUALLY_FRAME" val="{&quot;height&quot;:153.55,&quot;left&quot;:34.25,&quot;top&quot;:259.4,&quot;width&quot;:917.4}"/>
</p:tagLst>
</file>

<file path=ppt/tags/tag173.xml><?xml version="1.0" encoding="utf-8"?>
<p:tagLst xmlns:p="http://schemas.openxmlformats.org/presentationml/2006/main">
  <p:tag name="KSO_WM_DIAGRAM_VIRTUALLY_FRAME" val="{&quot;height&quot;:153.55,&quot;left&quot;:34.25,&quot;top&quot;:259.4,&quot;width&quot;:917.4}"/>
</p:tagLst>
</file>

<file path=ppt/tags/tag174.xml><?xml version="1.0" encoding="utf-8"?>
<p:tagLst xmlns:p="http://schemas.openxmlformats.org/presentationml/2006/main">
  <p:tag name="KSO_WM_DIAGRAM_VIRTUALLY_FRAME" val="{&quot;height&quot;:153.55,&quot;left&quot;:34.25,&quot;top&quot;:259.4,&quot;width&quot;:917.4}"/>
</p:tagLst>
</file>

<file path=ppt/tags/tag175.xml><?xml version="1.0" encoding="utf-8"?>
<p:tagLst xmlns:p="http://schemas.openxmlformats.org/presentationml/2006/main">
  <p:tag name="KSO_WM_DIAGRAM_VIRTUALLY_FRAME" val="{&quot;height&quot;:153.55,&quot;left&quot;:34.25,&quot;top&quot;:259.4,&quot;width&quot;:917.4}"/>
</p:tagLst>
</file>

<file path=ppt/tags/tag176.xml><?xml version="1.0" encoding="utf-8"?>
<p:tagLst xmlns:p="http://schemas.openxmlformats.org/presentationml/2006/main">
  <p:tag name="KSO_WM_DIAGRAM_VIRTUALLY_FRAME" val="{&quot;height&quot;:153.55,&quot;left&quot;:34.25,&quot;top&quot;:259.4,&quot;width&quot;:917.4}"/>
</p:tagLst>
</file>

<file path=ppt/tags/tag177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79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7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81.xml><?xml version="1.0" encoding="utf-8"?>
<p:tagLst xmlns:p="http://schemas.openxmlformats.org/presentationml/2006/main">
  <p:tag name="KSO_WM_SLIDE_ID" val="custom202302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96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172.55&quot;,&quot;top&quot;:&quot;71.7&quot;,&quot;width&quot;:&quot;610.65&quot;,&quot;height&quot;:&quot;313.05&quot;}"/>
</p:tagLst>
</file>

<file path=ppt/tags/tag1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9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</p:tagLst>
</file>

<file path=ppt/tags/tag183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96_9*f*1"/>
  <p:tag name="KSO_WM_TEMPLATE_CATEGORY" val="custom"/>
  <p:tag name="KSO_WM_TEMPLATE_INDEX" val="20230296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SLIDE_ID" val="custom20230296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96"/>
  <p:tag name="KSO_WM_SLIDE_LAYOUT" val="a_f"/>
  <p:tag name="KSO_WM_SLIDE_LAYOUT_CNT" val="1_1"/>
  <p:tag name="KSO_WM_SLIDE_TYPE" val="endPage"/>
  <p:tag name="KSO_WM_SLIDE_SUBTYPE" val="pureTxt"/>
  <p:tag name="KSO_WM_SLIDE_CONTENT_AREA" val="{&quot;left&quot;:&quot;140.25&quot;,&quot;top&quot;:&quot;121.15&quot;,&quot;width&quot;:&quot;679.5&quot;,&quot;height&quot;:&quot;208.75&quot;}"/>
</p:tagLst>
</file>

<file path=ppt/theme/theme1.xml><?xml version="1.0" encoding="utf-8"?>
<a:theme xmlns:a="http://schemas.openxmlformats.org/drawingml/2006/main" name="科技风蓝色渐变职场办公">
  <a:themeElements>
    <a:clrScheme name="自定义 57">
      <a:dk1>
        <a:srgbClr val="000000"/>
      </a:dk1>
      <a:lt1>
        <a:srgbClr val="FFFFFF"/>
      </a:lt1>
      <a:dk2>
        <a:srgbClr val="043460"/>
      </a:dk2>
      <a:lt2>
        <a:srgbClr val="EFFFFF"/>
      </a:lt2>
      <a:accent1>
        <a:srgbClr val="09FFFF"/>
      </a:accent1>
      <a:accent2>
        <a:srgbClr val="1ADCFF"/>
      </a:accent2>
      <a:accent3>
        <a:srgbClr val="0F54FF"/>
      </a:accent3>
      <a:accent4>
        <a:srgbClr val="3D97FF"/>
      </a:accent4>
      <a:accent5>
        <a:srgbClr val="4F74FF"/>
      </a:accent5>
      <a:accent6>
        <a:srgbClr val="6051FF"/>
      </a:accent6>
      <a:hlink>
        <a:srgbClr val="4472C4"/>
      </a:hlink>
      <a:folHlink>
        <a:srgbClr val="BFBFBF"/>
      </a:folHlink>
    </a:clrScheme>
    <a:fontScheme name="自定义 77">
      <a:majorFont>
        <a:latin typeface="BMWGroupTN Condensed TT"/>
        <a:ea typeface="BMWGroupTN Condensed TT"/>
        <a:cs typeface=""/>
      </a:majorFont>
      <a:minorFont>
        <a:latin typeface="BMWGroupTN Condensed TT"/>
        <a:ea typeface="BMWGroupTN Condensed T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MWGroupTN Condensed TT"/>
        <a:ea typeface=""/>
        <a:cs typeface=""/>
        <a:font script="Jpan" typeface="游ゴシック"/>
        <a:font script="Hang" typeface="맑은 고딕"/>
        <a:font script="Hans" typeface="BMWGroupTN Condensed TT"/>
        <a:font script="Hant" typeface="新細明體"/>
        <a:font script="Arab" typeface="BMWGroupTN Condensed TT"/>
        <a:font script="Hebr" typeface="BMWGroupTN Condensed T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MWGroupTN Condensed T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BMWGroupTN Condensed T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MWGroupTN Condensed TT"/>
        <a:ea typeface=""/>
        <a:cs typeface=""/>
        <a:font script="Jpan" typeface="ＭＳ Ｐゴシック"/>
        <a:font script="Hang" typeface="맑은 고딕"/>
        <a:font script="Hans" typeface="BMWGroupTN Condensed TT"/>
        <a:font script="Hant" typeface="新細明體"/>
        <a:font script="Arab" typeface="BMWGroupTN Condensed TT"/>
        <a:font script="Hebr" typeface="BMWGroupTN Condensed T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MWGroupTN Condensed T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4812</Words>
  <Application>WPS 演示</Application>
  <PresentationFormat>On-screen Show (16:9)</PresentationFormat>
  <Paragraphs>724</Paragraphs>
  <Slides>29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Arial</vt:lpstr>
      <vt:lpstr>宋体</vt:lpstr>
      <vt:lpstr>Wingdings</vt:lpstr>
      <vt:lpstr>BMWGroupTN Condensed TT</vt:lpstr>
      <vt:lpstr>BMWGroupTN Condensed TT Light</vt:lpstr>
      <vt:lpstr>微软雅黑</vt:lpstr>
      <vt:lpstr>Noto Sans SC</vt:lpstr>
      <vt:lpstr>Noto Sans SC</vt:lpstr>
      <vt:lpstr>Arial Unicode MS</vt:lpstr>
      <vt:lpstr>BMWGroupTN Condensed TT Medium</vt:lpstr>
      <vt:lpstr>Wingdings</vt:lpstr>
      <vt:lpstr>科技风蓝色渐变职场办公</vt:lpstr>
      <vt:lpstr>AI EASY OFFICE LEARNING CAMP</vt:lpstr>
      <vt:lpstr>目录</vt:lpstr>
      <vt:lpstr>场景代入——从“人工取数”到“AI 对话”</vt:lpstr>
      <vt:lpstr>情景短剧：老板的夺命连环问</vt:lpstr>
      <vt:lpstr>ChatBI概念解析</vt:lpstr>
      <vt:lpstr>搭地基——构建“统计口径知识库”</vt:lpstr>
      <vt:lpstr>AI最容易在哪翻车？——口径陷阱</vt:lpstr>
      <vt:lpstr>创建知识库——《销售指标口径定义》</vt:lpstr>
      <vt:lpstr>演示</vt:lpstr>
      <vt:lpstr>创建知识库——《数据库表结构说明》</vt:lpstr>
      <vt:lpstr>演示</vt:lpstr>
      <vt:lpstr>核心工作流搭建——手把手教你组装</vt:lpstr>
      <vt:lpstr>Dify工作流总览——乐高式组装</vt:lpstr>
      <vt:lpstr>节点1+2：开始与知识库检索</vt:lpstr>
      <vt:lpstr>演示</vt:lpstr>
      <vt:lpstr>节点3：SQL代码生成器（LLM节点）</vt:lpstr>
      <vt:lpstr>演示</vt:lpstr>
      <vt:lpstr>节点4+5：SQL执行器与图表生成</vt:lpstr>
      <vt:lpstr>演示</vt:lpstr>
      <vt:lpstr>让分析更智能——动态解读</vt:lpstr>
      <vt:lpstr>进阶需求：不仅要数据，还要洞察</vt:lpstr>
      <vt:lpstr>工作流优化——增加归因分析链路</vt:lpstr>
      <vt:lpstr>演示</vt:lpstr>
      <vt:lpstr>避坑指南与总结</vt:lpstr>
      <vt:lpstr>宝马数据安全红线——AI驾驶请系好"安全带"</vt:lpstr>
      <vt:lpstr>课程注意事项与总结</vt:lpstr>
      <vt:lpstr>课后作业</vt:lpstr>
      <vt:lpstr>问题答疑 Q&amp;A</vt:lpstr>
      <vt:lpstr>下一课见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AI赋能高效文档处理</dc:title>
  <dc:creator>Kimi</dc:creator>
  <dc:subject>AI赋能高效文档处理</dc:subject>
  <cp:lastModifiedBy>卿</cp:lastModifiedBy>
  <cp:revision>22</cp:revision>
  <dcterms:created xsi:type="dcterms:W3CDTF">2025-11-18T15:44:00Z</dcterms:created>
  <dcterms:modified xsi:type="dcterms:W3CDTF">2026-04-22T02:48:13Z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{"Label":"AI赋能高效文档处理","ContentProducer":"001191110108MACG2KBH8F10000","ProduceID":"d45m05vahd887atuib4g","ReservedCode1":"","ContentPropagator":"001191110108MACG2KBH8F20000","PropagateID":"d45m05vahd887atuib4g","ReservedCode2":""}</vt:lpwstr>
  </property>
  <property fmtid="{D5CDD505-2E9C-101B-9397-08002B2CF9AE}" pid="3" name="ICV">
    <vt:lpwstr>8962DFD92DAB4F4AA618B8FC596C840E_13</vt:lpwstr>
  </property>
  <property fmtid="{D5CDD505-2E9C-101B-9397-08002B2CF9AE}" pid="4" name="KSOProductBuildVer">
    <vt:lpwstr>2052-12.1.0.25225</vt:lpwstr>
  </property>
</Properties>
</file>