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handoutMasterIdLst>
    <p:handoutMasterId r:id="rId36"/>
  </p:handoutMasterIdLst>
  <p:sldIdLst>
    <p:sldId id="384" r:id="rId3"/>
    <p:sldId id="401" r:id="rId4"/>
    <p:sldId id="309" r:id="rId5"/>
    <p:sldId id="410" r:id="rId7"/>
    <p:sldId id="411" r:id="rId8"/>
    <p:sldId id="409" r:id="rId9"/>
    <p:sldId id="385" r:id="rId10"/>
    <p:sldId id="400" r:id="rId11"/>
    <p:sldId id="386" r:id="rId12"/>
    <p:sldId id="402" r:id="rId13"/>
    <p:sldId id="387" r:id="rId14"/>
    <p:sldId id="403" r:id="rId15"/>
    <p:sldId id="415" r:id="rId16"/>
    <p:sldId id="414" r:id="rId17"/>
    <p:sldId id="416" r:id="rId18"/>
    <p:sldId id="417" r:id="rId19"/>
    <p:sldId id="418" r:id="rId20"/>
    <p:sldId id="419" r:id="rId21"/>
    <p:sldId id="420" r:id="rId22"/>
    <p:sldId id="422" r:id="rId23"/>
    <p:sldId id="423" r:id="rId24"/>
    <p:sldId id="389" r:id="rId25"/>
    <p:sldId id="424" r:id="rId26"/>
    <p:sldId id="425" r:id="rId27"/>
    <p:sldId id="390" r:id="rId28"/>
    <p:sldId id="426" r:id="rId29"/>
    <p:sldId id="427" r:id="rId30"/>
    <p:sldId id="428" r:id="rId31"/>
    <p:sldId id="429" r:id="rId32"/>
    <p:sldId id="395" r:id="rId33"/>
    <p:sldId id="319" r:id="rId34"/>
    <p:sldId id="295" r:id="rId35"/>
  </p:sldIdLst>
  <p:sldSz cx="12192000" cy="6858000"/>
  <p:notesSz cx="6858000" cy="12192000"/>
  <p:embeddedFontLst>
    <p:embeddedFont>
      <p:font typeface="BMWGroupTN Condensed TT Medium" charset="0"/>
      <p:regular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BM" initials="A" lastIdx="3" clrIdx="0"/>
  <p:cmAuthor id="151" name="未知用户95" initials="未" lastIdx="4" clrIdx="0"/>
  <p:cmAuthor id="1" name="Li,Chen(ECR_VAS)" initials="L" lastIdx="1" clrIdx="0"/>
  <p:cmAuthor id="2" name="He,Yanan" initials="H" lastIdx="2" clrIdx="1"/>
  <p:cmAuthor id="153" name="未知用户96" initials="未" lastIdx="13" clrIdx="0"/>
  <p:cmAuthor id="3" name="Lenovo" initials="L" lastIdx="1" clrIdx="2"/>
  <p:cmAuthor id="4" name="未知用户" initials="未" lastIdx="2" clrIdx="0"/>
  <p:cmAuthor id="155" name="未知用户97" initials="未" lastIdx="2" clrIdx="0"/>
  <p:cmAuthor id="5" name="新萝卜家园" initials="新" lastIdx="0" clrIdx="0"/>
  <p:cmAuthor id="6" name="李正" initials="李" lastIdx="1" clrIdx="0"/>
  <p:cmAuthor id="157" name="未知用户98" initials="未" lastIdx="2" clrIdx="1"/>
  <p:cmAuthor id="7" name="China" initials="C" lastIdx="1" clrIdx="1"/>
  <p:cmAuthor id="8" name="吴铭锐" initials="吴" lastIdx="2" clrIdx="0"/>
  <p:cmAuthor id="159" name="未知用户99" initials="未" lastIdx="16" clrIdx="2"/>
  <p:cmAuthor id="9" name="张杰" initials="张" lastIdx="7" clrIdx="0"/>
  <p:cmAuthor id="10" name="孟祥超" initials="孟" lastIdx="4" clrIdx="1"/>
  <p:cmAuthor id="161" name="未知用户100" initials="未" lastIdx="0" clrIdx="0"/>
  <p:cmAuthor id="11" name="杨艳霞" initials="杨" lastIdx="34" clrIdx="1"/>
  <p:cmAuthor id="12" name="陶川" initials="陶" lastIdx="1" clrIdx="0"/>
  <p:cmAuthor id="163" name="未知用户101" initials="未" lastIdx="3" clrIdx="0"/>
  <p:cmAuthor id="13" name="user" initials="u" lastIdx="92" clrIdx="0"/>
  <p:cmAuthor id="14" name="周开雷" initials="周" lastIdx="8" clrIdx="0"/>
  <p:cmAuthor id="15" name="未定义" initials="未" lastIdx="1" clrIdx="1"/>
  <p:cmAuthor id="16" name="未知用户22" initials="未" lastIdx="34" clrIdx="0"/>
  <p:cmAuthor id="167" name="Microsoft Office 用户" initials="M" lastIdx="0" clrIdx="104"/>
  <p:cmAuthor id="17" name="未知用户4" initials="未" lastIdx="1" clrIdx="0"/>
  <p:cmAuthor id="18" name="lx" initials="l" lastIdx="2" clrIdx="0"/>
  <p:cmAuthor id="169" name="段振华" initials="段" lastIdx="1" clrIdx="0"/>
  <p:cmAuthor id="19" name="andres.x.gomez" initials="a" lastIdx="4" clrIdx="0"/>
  <p:cmAuthor id="20" name="赵兰玉" initials="赵" lastIdx="1" clrIdx="0"/>
  <p:cmAuthor id="171" name="lou cynthia" initials="l" lastIdx="1" clrIdx="0"/>
  <p:cmAuthor id="21" name="微软用户" initials="微" lastIdx="1" clrIdx="0"/>
  <p:cmAuthor id="22" name="李振宇" initials="李" lastIdx="1" clrIdx="5"/>
  <p:cmAuthor id="173" name="Author" initials="A" lastIdx="1" clrIdx="0"/>
  <p:cmAuthor id="23" name="nine" initials="n" lastIdx="1" clrIdx="0"/>
  <p:cmAuthor id="24" name="邹洋" initials="邹" lastIdx="2" clrIdx="0"/>
  <p:cmAuthor id="175" name="马红" initials="马" lastIdx="7" clrIdx="0"/>
  <p:cmAuthor id="25" name="王志刚" initials="王" lastIdx="1" clrIdx="0"/>
  <p:cmAuthor id="26" name="未知用户13" initials="未" lastIdx="1" clrIdx="0"/>
  <p:cmAuthor id="27" name="未知用户5" initials="未" lastIdx="1" clrIdx="0"/>
  <p:cmAuthor id="28" name="yangkun" initials="y" lastIdx="0" clrIdx="0"/>
  <p:cmAuthor id="29" name="王明明" initials="王" lastIdx="3" clrIdx="0"/>
  <p:cmAuthor id="30" name="Lenovo User" initials="L" lastIdx="1" clrIdx="0"/>
  <p:cmAuthor id="31" name="hys2" initials="h" lastIdx="1" clrIdx="0"/>
  <p:cmAuthor id="32" name="赵琦" initials="赵" lastIdx="4" clrIdx="1"/>
  <p:cmAuthor id="33" name="朱绍春" initials="朱" lastIdx="13" clrIdx="0"/>
  <p:cmAuthor id="34" name="番茄花园" initials="番" lastIdx="1" clrIdx="0"/>
  <p:cmAuthor id="35" name="朱悦龙" initials="朱" lastIdx="1" clrIdx="0"/>
  <p:cmAuthor id="36" name="evil" initials="e" lastIdx="0" clrIdx="0"/>
  <p:cmAuthor id="37" name="dell" initials="d" lastIdx="1" clrIdx="4"/>
  <p:cmAuthor id="38" name="吕志勇" initials="吕" lastIdx="8" clrIdx="0"/>
  <p:cmAuthor id="39" name="何已龙" initials="何" lastIdx="2" clrIdx="2"/>
  <p:cmAuthor id="40" name="叶得会" initials="叶" lastIdx="8" clrIdx="0"/>
  <p:cmAuthor id="41" name="未知用户6" initials="未" lastIdx="1" clrIdx="0"/>
  <p:cmAuthor id="42" name="未知用户8" initials="未" lastIdx="1" clrIdx="0"/>
  <p:cmAuthor id="43" name="未知用户7" initials="未" lastIdx="1" clrIdx="0"/>
  <p:cmAuthor id="44" name="未知用户9" initials="未" lastIdx="1" clrIdx="0"/>
  <p:cmAuthor id="45" name="未知用户17" initials="未" lastIdx="1" clrIdx="1"/>
  <p:cmAuthor id="46" name="未知用户18" initials="未" lastIdx="1" clrIdx="0"/>
  <p:cmAuthor id="47" name="未知用户20" initials="未" lastIdx="1" clrIdx="0"/>
  <p:cmAuthor id="48" name="未知用户19" initials="未" lastIdx="1" clrIdx="0"/>
  <p:cmAuthor id="49" name="未知用户21" initials="未" lastIdx="1" clrIdx="0"/>
  <p:cmAuthor id="50" name="未知用户14" initials="未" lastIdx="1" clrIdx="0"/>
  <p:cmAuthor id="51" name="未知用户15" initials="未" lastIdx="1" clrIdx="0"/>
  <p:cmAuthor id="52" name="未知用户16" initials="未" lastIdx="4" clrIdx="0"/>
  <p:cmAuthor id="53" name="郝崇" initials="郝" lastIdx="4" clrIdx="1"/>
  <p:cmAuthor id="54" name="吴杰" initials="吴" lastIdx="1" clrIdx="0"/>
  <p:cmAuthor id="55" name="刘丽仙" initials="刘" lastIdx="4" clrIdx="33"/>
  <p:cmAuthor id="56" name="马静" initials="马" lastIdx="0" clrIdx="0"/>
  <p:cmAuthor id="57" name="李百秋" initials="李" lastIdx="3" clrIdx="21"/>
  <p:cmAuthor id="58" name="范作霖" initials="范" lastIdx="1" clrIdx="22"/>
  <p:cmAuthor id="59" name="rq fan" initials="r" lastIdx="3" clrIdx="1"/>
  <p:cmAuthor id="210" name="李刚" initials="李" lastIdx="3" clrIdx="0"/>
  <p:cmAuthor id="60" name="dingbo" initials="d" lastIdx="1" clrIdx="0"/>
  <p:cmAuthor id="61" name="李永欣" initials="李" lastIdx="1" clrIdx="0"/>
  <p:cmAuthor id="62" name="仝德志" initials="仝" lastIdx="1" clrIdx="0"/>
  <p:cmAuthor id="63" name="丁芙蓉" initials="丁" lastIdx="4" clrIdx="1"/>
  <p:cmAuthor id="64" name="许弘扬" initials="许" lastIdx="1" clrIdx="0"/>
  <p:cmAuthor id="65" name="未知用户23" initials="未" lastIdx="1" clrIdx="1"/>
  <p:cmAuthor id="66" name="未知用户24" initials="未" lastIdx="1" clrIdx="0"/>
  <p:cmAuthor id="67" name="未知用户25" initials="未" lastIdx="1" clrIdx="0"/>
  <p:cmAuthor id="68" name="未知用户26" initials="未" lastIdx="1" clrIdx="0"/>
  <p:cmAuthor id="69" name="未知用户27" initials="未" lastIdx="1" clrIdx="0"/>
  <p:cmAuthor id="70" name="未知用户28" initials="未" lastIdx="1" clrIdx="0"/>
  <p:cmAuthor id="71" name="未知用户29" initials="未" lastIdx="1" clrIdx="0"/>
  <p:cmAuthor id="72" name="未知用户30" initials="未" lastIdx="4" clrIdx="0"/>
  <p:cmAuthor id="73" name="未知用户10" initials="未" lastIdx="7" clrIdx="0"/>
  <p:cmAuthor id="74" name="未知用户12" initials="未" lastIdx="1" clrIdx="0"/>
  <p:cmAuthor id="75" name="未知用户11" initials="未" lastIdx="23" clrIdx="0"/>
  <p:cmAuthor id="76" name="贡鑫" initials="贡" lastIdx="2" clrIdx="0"/>
  <p:cmAuthor id="77" name="administrator1" initials="a" lastIdx="16" clrIdx="2"/>
  <p:cmAuthor id="78" name="杜雪梅" initials="杜" lastIdx="1" clrIdx="0"/>
  <p:cmAuthor id="79" name="lijin" initials="l" lastIdx="33" clrIdx="0"/>
  <p:cmAuthor id="80" name="gtmc" initials="g" lastIdx="0" clrIdx="0"/>
  <p:cmAuthor id="81" name="chunsong_hu" initials="c" lastIdx="0" clrIdx="0"/>
  <p:cmAuthor id="82" name="张雁" initials="张" lastIdx="1" clrIdx="19"/>
  <p:cmAuthor id="83" name="贾清山" initials="贾" lastIdx="1" clrIdx="0"/>
  <p:cmAuthor id="84" name="陈桂枝" initials="陈" lastIdx="1" clrIdx="0"/>
  <p:cmAuthor id="85" name="王向羽" initials="王" lastIdx="1" clrIdx="0"/>
  <p:cmAuthor id="86" name="thinkpad" initials="t" lastIdx="2" clrIdx="0"/>
  <p:cmAuthor id="87" name="LEO L" initials="L" lastIdx="1" clrIdx="0"/>
  <p:cmAuthor id="88" name="马海燕" initials="马" lastIdx="1" clrIdx="18"/>
  <p:cmAuthor id="89" name="libin1204@163.com" initials="l" lastIdx="1" clrIdx="102"/>
  <p:cmAuthor id="90" name="Qingyunli" initials="Q" lastIdx="24" clrIdx="0"/>
  <p:cmAuthor id="91" name="吴军" initials="吴" lastIdx="1" clrIdx="0"/>
  <p:cmAuthor id="92" name="USER" initials="U" lastIdx="18" clrIdx="0"/>
  <p:cmAuthor id="93" name="陈尚文" initials="陈" lastIdx="1" clrIdx="1"/>
  <p:cmAuthor id="94" name="张宏伟" initials="张" lastIdx="46" clrIdx="0"/>
  <p:cmAuthor id="95" name="未知用户36" initials="未" lastIdx="2" clrIdx="0"/>
  <p:cmAuthor id="96" name="Pei" initials="P" lastIdx="0" clrIdx="1"/>
  <p:cmAuthor id="97" name="徐光宇" initials="徐" lastIdx="1" clrIdx="0"/>
  <p:cmAuthor id="98" name="mac" initials="m" lastIdx="1" clrIdx="0"/>
  <p:cmAuthor id="99" name="Liu, Leo (MBSHR cs)" initials="L" lastIdx="2" clrIdx="0"/>
  <p:cmAuthor id="100" name="刘豹" initials="刘" lastIdx="0" clrIdx="0"/>
  <p:cmAuthor id="101" name="张艳芳" initials="张" lastIdx="3" clrIdx="0"/>
  <p:cmAuthor id="102" name="刘广艳" initials="刘" lastIdx="10" clrIdx="1"/>
  <p:cmAuthor id="103" name="邹积逊" initials="邹" lastIdx="1" clrIdx="0"/>
  <p:cmAuthor id="104" name="yangyanxia" initials="y" lastIdx="1" clrIdx="0"/>
  <p:cmAuthor id="105" name="刘春辉" initials="刘" lastIdx="4" clrIdx="28"/>
  <p:cmAuthor id="106" name="Youwen Sun" initials="Y" lastIdx="3" clrIdx="1"/>
  <p:cmAuthor id="107" name="杜娇龙" initials="杜" lastIdx="2" clrIdx="1"/>
  <p:cmAuthor id="108" name="张钦" initials="张" lastIdx="4" clrIdx="4"/>
  <p:cmAuthor id="109" name="涛娜" initials="涛" lastIdx="1" clrIdx="11"/>
  <p:cmAuthor id="110" name="未知用户80" initials="未" lastIdx="1" clrIdx="0"/>
  <p:cmAuthor id="111" name="李丽华" initials="李" lastIdx="12" clrIdx="1"/>
  <p:cmAuthor id="112" name="Microsoft 帐户" initials="M" lastIdx="1" clrIdx="0"/>
  <p:cmAuthor id="113" name="王志虎" initials="王" lastIdx="1" clrIdx="24"/>
  <p:cmAuthor id="114" name="魏永生" initials="魏" lastIdx="4" clrIdx="17"/>
  <p:cmAuthor id="115" name="Zhou, Judy" initials="Z" lastIdx="9" clrIdx="0"/>
  <p:cmAuthor id="116" name=" " initials=" " lastIdx="3" clrIdx="6"/>
  <p:cmAuthor id="117" name="未知用户51" initials="未" lastIdx="4" clrIdx="0"/>
  <p:cmAuthor id="118" name="未知用户82" initials="未" lastIdx="4" clrIdx="0"/>
  <p:cmAuthor id="119" name="未知用户52" initials="未" lastIdx="13" clrIdx="0"/>
  <p:cmAuthor id="120" name="侯 林" initials="侯" lastIdx="2" clrIdx="35"/>
  <p:cmAuthor id="121" name="孙大威" initials="孙" lastIdx="21" clrIdx="4"/>
  <p:cmAuthor id="122" name="未知用户83" initials="未" lastIdx="13" clrIdx="0"/>
  <p:cmAuthor id="123" name="李明" initials="李" lastIdx="4" clrIdx="73"/>
  <p:cmAuthor id="124" name="未知用户2" initials="未" lastIdx="0" clrIdx="0"/>
  <p:cmAuthor id="125" name="徐仕超" initials="徐" lastIdx="1" clrIdx="3"/>
  <p:cmAuthor id="126" name="未知用户84" initials="未" lastIdx="2" clrIdx="0"/>
  <p:cmAuthor id="127" name="Lzy" initials="L" lastIdx="1" clrIdx="0"/>
  <p:cmAuthor id="128" name="未知用户3" initials="未" lastIdx="4" clrIdx="1"/>
  <p:cmAuthor id="129" name="未知用户62" initials="未" lastIdx="3" clrIdx="0"/>
  <p:cmAuthor id="130" name="未知用户85" initials="未" lastIdx="2" clrIdx="1"/>
  <p:cmAuthor id="131" name="未知用户63" initials="未" lastIdx="21" clrIdx="4"/>
  <p:cmAuthor id="133" name="未知用户86" initials="未" lastIdx="16" clrIdx="2"/>
  <p:cmAuthor id="135" name="未知用户87" initials="未" lastIdx="0" clrIdx="0"/>
  <p:cmAuthor id="137" name="未知用户88" initials="未" lastIdx="3" clrIdx="0"/>
  <p:cmAuthor id="138" name="宋少霞" initials="宋" lastIdx="1" clrIdx="2"/>
  <p:cmAuthor id="139" name="未知用户89" initials="未" lastIdx="21" clrIdx="4"/>
  <p:cmAuthor id="141" name="未知用户90" initials="未" lastIdx="1" clrIdx="1"/>
  <p:cmAuthor id="142" name="张惠" initials="张" lastIdx="1" clrIdx="0"/>
  <p:cmAuthor id="143" name="未知用户91" initials="未" lastIdx="1" clrIdx="0"/>
  <p:cmAuthor id="145" name="未知用户92" initials="未" lastIdx="1" clrIdx="0"/>
  <p:cmAuthor id="146" name="panhong" initials="p" lastIdx="18" clrIdx="0"/>
  <p:cmAuthor id="147" name="未知用户93" initials="未" lastIdx="1" clrIdx="0"/>
  <p:cmAuthor id="149" name="未知用户94" initials="未" lastIdx="1" clrIdx="0"/>
  <p:cmAuthor id="158" name="Dannerbeck Anke, CB-1" initials="DAC" lastIdx="0" clrIdx="157"/>
  <p:cmAuthor id="160" name="Karen" initials="K" lastIdx="0" clrIdx="15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1" Type="http://schemas.openxmlformats.org/officeDocument/2006/relationships/font" Target="fonts/font1.fntdata"/><Relationship Id="rId40" Type="http://schemas.openxmlformats.org/officeDocument/2006/relationships/commentAuthors" Target="commentAuthors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BMWGroupTN Condensed TT Medium" charset="0"/>
                <a:ea typeface="BMWGroupTN Condensed TT Medium" charset="0"/>
                <a:cs typeface="BMWGroupTN Condensed TT Medium" charset="0"/>
              </a:rPr>
            </a:fld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BMWGroupTN Condensed TT Medium" charset="0"/>
                <a:ea typeface="BMWGroupTN Condensed TT Medium" charset="0"/>
                <a:cs typeface="BMWGroupTN Condensed TT Medium" charset="0"/>
              </a:rPr>
            </a:fld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tags" Target="../tags/tag21.xml"/><Relationship Id="rId4" Type="http://schemas.openxmlformats.org/officeDocument/2006/relationships/image" Target="../media/image1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2.png"/><Relationship Id="rId5" Type="http://schemas.openxmlformats.org/officeDocument/2006/relationships/tags" Target="../tags/tag29.xml"/><Relationship Id="rId4" Type="http://schemas.openxmlformats.org/officeDocument/2006/relationships/image" Target="../media/image1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image" Target="../media/image2.png"/><Relationship Id="rId5" Type="http://schemas.openxmlformats.org/officeDocument/2006/relationships/tags" Target="../tags/tag69.xml"/><Relationship Id="rId4" Type="http://schemas.openxmlformats.org/officeDocument/2006/relationships/image" Target="../media/image1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/>
            <p:custDataLst>
              <p:tags r:id="rId12"/>
            </p:custDataLst>
          </p:nvPr>
        </p:nvSpPr>
        <p:spPr>
          <a:xfrm>
            <a:off x="1929130" y="3429000"/>
            <a:ext cx="8334375" cy="43299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929130" y="1586230"/>
            <a:ext cx="8334375" cy="1676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cxnSp>
        <p:nvCxnSpPr>
          <p:cNvPr id="47" name="直接连接符 46"/>
          <p:cNvCxnSpPr/>
          <p:nvPr userDrawn="1">
            <p:custDataLst>
              <p:tags r:id="rId7"/>
            </p:custDataLst>
          </p:nvPr>
        </p:nvCxnSpPr>
        <p:spPr>
          <a:xfrm>
            <a:off x="2482182" y="1122981"/>
            <a:ext cx="96132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854243" y="699376"/>
            <a:ext cx="2656708" cy="831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0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sp>
        <p:nvSpPr>
          <p:cNvPr id="57" name="燕尾形 56"/>
          <p:cNvSpPr/>
          <p:nvPr userDrawn="1">
            <p:custDataLst>
              <p:tags r:id="rId7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8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2500489" y="2426407"/>
            <a:ext cx="7191021" cy="6430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800" b="1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2500630" y="3180080"/>
            <a:ext cx="7190740" cy="1405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2233930" y="1696085"/>
            <a:ext cx="7724140" cy="2343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 err="1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3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14"/>
            </p:custDataLst>
          </p:nvPr>
        </p:nvCxnSpPr>
        <p:spPr>
          <a:xfrm flipV="1">
            <a:off x="583974" y="0"/>
            <a:ext cx="0" cy="644044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15"/>
            </p:custDataLst>
          </p:nvPr>
        </p:nvCxnSpPr>
        <p:spPr>
          <a:xfrm flipV="1">
            <a:off x="405554" y="0"/>
            <a:ext cx="0" cy="805603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BMWGroupTN Condensed TT Medium" charset="0"/>
          <a:ea typeface="BMWGroupTN Condensed TT Medium" charset="0"/>
          <a:cs typeface="BMWGroupTN Condensed TT Medium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dirty="0">
          <a:ln>
            <a:noFill/>
            <a:prstDash val="sysDot"/>
          </a:ln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976755" y="0"/>
            <a:ext cx="8334375" cy="842645"/>
          </a:xfrm>
        </p:spPr>
        <p:txBody>
          <a:bodyPr>
            <a:noAutofit/>
          </a:bodyPr>
          <a:lstStyle/>
          <a:p>
            <a:r>
              <a:rPr lang="en-US" altLang="zh-CN" sz="3600" b="1"/>
              <a:t>AI EASY OFFICE LEARNING CAMP</a:t>
            </a:r>
            <a:endParaRPr lang="en-US" altLang="zh-CN" sz="3600" b="1"/>
          </a:p>
        </p:txBody>
      </p:sp>
      <p:sp>
        <p:nvSpPr>
          <p:cNvPr id="6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10188" y="5735320"/>
            <a:ext cx="1571625" cy="4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第六课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4510" y="1449070"/>
            <a:ext cx="11142980" cy="176466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7200" b="1" i="0" u="none" strike="noStrike" kern="1200" cap="none" spc="0" normalizeH="0" baseline="0" noProof="1">
                <a:solidFill>
                  <a:srgbClr val="FFFFFF"/>
                </a:solidFill>
                <a:effectLst>
                  <a:outerShdw blurRad="127000" dist="63500" dir="2700000" algn="tl" rotWithShape="0">
                    <a:schemeClr val="tx2">
                      <a:alpha val="2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4000">
                <a:cs typeface="BMWGroupTN Condensed TT Medium" charset="0"/>
                <a:sym typeface="+mn-ea"/>
              </a:rPr>
              <a:t>【</a:t>
            </a:r>
            <a:r>
              <a:rPr lang="en-US" altLang="zh-CN" sz="4000">
                <a:cs typeface="BMWGroupTN Condensed TT Medium" charset="0"/>
                <a:sym typeface="+mn-ea"/>
              </a:rPr>
              <a:t>Microsoft Copilot </a:t>
            </a:r>
            <a:r>
              <a:rPr lang="zh-CN" altLang="en-US" sz="4000">
                <a:cs typeface="BMWGroupTN Condensed TT Medium" charset="0"/>
                <a:sym typeface="+mn-ea"/>
              </a:rPr>
              <a:t>】</a:t>
            </a:r>
            <a:endParaRPr lang="zh-CN" altLang="en-US" sz="4000">
              <a:cs typeface="BMWGroupTN Condensed TT Medium" charset="0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4000">
                <a:cs typeface="BMWGroupTN Condensed TT Medium" charset="0"/>
                <a:sym typeface="+mn-ea"/>
              </a:rPr>
              <a:t>实战进阶</a:t>
            </a:r>
            <a:r>
              <a:rPr lang="en-US" altLang="zh-CN" sz="4000">
                <a:cs typeface="BMWGroupTN Condensed TT Medium" charset="0"/>
                <a:sym typeface="+mn-ea"/>
              </a:rPr>
              <a:t>:</a:t>
            </a:r>
            <a:r>
              <a:rPr lang="zh-CN" altLang="en-US" sz="4000">
                <a:cs typeface="BMWGroupTN Condensed TT Medium" charset="0"/>
                <a:sym typeface="+mn-ea"/>
              </a:rPr>
              <a:t>从</a:t>
            </a:r>
            <a:r>
              <a:rPr lang="en-US" altLang="zh-CN" sz="4000">
                <a:cs typeface="BMWGroupTN Condensed TT Medium" charset="0"/>
                <a:sym typeface="+mn-ea"/>
              </a:rPr>
              <a:t>"</a:t>
            </a:r>
            <a:r>
              <a:rPr lang="zh-CN" altLang="en-US" sz="4000">
                <a:cs typeface="BMWGroupTN Condensed TT Medium" charset="0"/>
                <a:sym typeface="+mn-ea"/>
              </a:rPr>
              <a:t>基础使用</a:t>
            </a:r>
            <a:r>
              <a:rPr lang="en-US" altLang="zh-CN" sz="4000">
                <a:cs typeface="BMWGroupTN Condensed TT Medium" charset="0"/>
                <a:sym typeface="+mn-ea"/>
              </a:rPr>
              <a:t>"</a:t>
            </a:r>
            <a:r>
              <a:rPr lang="zh-CN" altLang="en-US" sz="4000">
                <a:cs typeface="BMWGroupTN Condensed TT Medium" charset="0"/>
                <a:sym typeface="+mn-ea"/>
              </a:rPr>
              <a:t>到</a:t>
            </a:r>
            <a:r>
              <a:rPr lang="en-US" altLang="zh-CN" sz="4000">
                <a:cs typeface="BMWGroupTN Condensed TT Medium" charset="0"/>
                <a:sym typeface="+mn-ea"/>
              </a:rPr>
              <a:t>"</a:t>
            </a:r>
            <a:r>
              <a:rPr lang="zh-CN" altLang="en-US" sz="4000">
                <a:cs typeface="BMWGroupTN Condensed TT Medium" charset="0"/>
                <a:sym typeface="+mn-ea"/>
              </a:rPr>
              <a:t>高效协作</a:t>
            </a:r>
            <a:r>
              <a:rPr lang="en-US" altLang="zh-CN" sz="4000">
                <a:cs typeface="BMWGroupTN Condensed TT Medium" charset="0"/>
                <a:sym typeface="+mn-ea"/>
              </a:rPr>
              <a:t>"</a:t>
            </a:r>
            <a:endParaRPr lang="en-US" altLang="zh-CN" sz="4000">
              <a:cs typeface="BMWGroupTN Condensed TT Medium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3564255"/>
            <a:ext cx="1219073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Medium" charset="0"/>
                <a:cs typeface="BMWGroupTN Condensed TT Medium" charset="0"/>
              </a:rPr>
              <a:t>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BMWGroupTN Condensed TT Medium" charset="0"/>
              </a:rPr>
              <a:t>Microsoft Copilot Workflow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Medium" charset="0"/>
                <a:cs typeface="BMWGroupTN Condensed TT Medium" charset="0"/>
                <a:sym typeface="+mn-ea"/>
              </a:rPr>
              <a:t>】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BMWGroupTN Condensed TT Medium" charset="0"/>
              <a:cs typeface="BMWGroupTN Condensed TT Medium" charset="0"/>
              <a:sym typeface="+mn-ea"/>
            </a:endParaRPr>
          </a:p>
          <a:p>
            <a:pPr algn="ctr"/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BMWGroupTN Condensed TT Medium" charset="0"/>
              </a:rPr>
              <a:t> Practical Advancement: From "Basic Usage" to "Efficient Collaboration"</a:t>
            </a:r>
            <a:endParaRPr lang="en-US" altLang="zh-CN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BMWGroupTN Condensed TT Medium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74595" y="1530985"/>
            <a:ext cx="6621145" cy="512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版本澄清：你用的是哪个 Copilot？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核心能力一览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先说实话：PPT/Excel 能做什么、不能做什么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四场景对比（文本内容质量）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spcBef>
                <a:spcPts val="400"/>
              </a:spcBef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PPT 大纲生成 / Excel 分析 / Word 会议纪要 / 邮件生成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转折亮点：图像生成 —— 让你的 PPT 告别单调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Prompt 高级技巧（文本 + 图像）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附赠：多轮交互 Prompt 生成器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常见错误 &amp; 最佳实践</a:t>
            </a:r>
            <a:endParaRPr 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marL="400050" indent="-400050">
              <a:lnSpc>
                <a:spcPct val="180000"/>
              </a:lnSpc>
              <a:buFont typeface="+mj-lt"/>
              <a:buAutoNum type="romanUcPeriod"/>
            </a:pPr>
            <a:r>
              <a:rPr 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Q&amp;A + 行动号召</a:t>
            </a:r>
            <a:endParaRPr lang="en-US" alt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版本澄清</a:t>
            </a:r>
            <a:r>
              <a:rPr lang="en-US" altLang="zh-CN"/>
              <a:t> —— Copilot Chat ≠ M365 Copilot</a:t>
            </a:r>
            <a:endParaRPr lang="en-US" altLang="zh-CN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91515" y="1422400"/>
          <a:ext cx="10804525" cy="31203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6805"/>
                <a:gridCol w="4213860"/>
                <a:gridCol w="4213860"/>
              </a:tblGrid>
              <a:tr h="438785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对比项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Copilot Chat（Lite版）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M365 Copilot（旗舰版）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3878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定价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免费（含在 M365 订阅中）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$30/用户/月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43878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数据源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基于 Web（公开数据）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Web + 工作数据（邮件/会议/文档）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43878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图像生成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支持（GPT-Image-2，每日限额）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无限制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43878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文本生成质量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与旗舰版一致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一致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直接生成排版好的 PPT/Excel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✗ 不能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能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43878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企业数据保护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支持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支持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2150" y="5348605"/>
            <a:ext cx="10785475" cy="808990"/>
          </a:xfrm>
          <a:prstGeom prst="roundRect">
            <a:avLst>
              <a:gd name="adj" fmla="val 8000"/>
            </a:avLst>
          </a:prstGeom>
          <a:solidFill>
            <a:srgbClr val="E6F0FA">
              <a:alpha val="43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50595" y="5348605"/>
            <a:ext cx="10304145" cy="71882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结论</a:t>
            </a:r>
            <a:r>
              <a:rPr lang="en-US" sz="1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：Lite 版的内容生成能力（文本 + 图像）与旗舰版</a:t>
            </a:r>
            <a:r>
              <a:rPr lang="en-US" sz="1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完全相同</a:t>
            </a:r>
            <a:r>
              <a:rPr lang="en-US" sz="1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，差异仅在于能否直接操作文件排版。</a:t>
            </a:r>
            <a:endParaRPr lang="en-US" sz="18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Copilot Chat </a:t>
            </a:r>
            <a:r>
              <a:rPr lang="zh-CN" altLang="en-US"/>
              <a:t>核心能力一览</a:t>
            </a:r>
            <a:endParaRPr lang="zh-CN" alt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645795" y="1586230"/>
          <a:ext cx="10858500" cy="43573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57550"/>
                <a:gridCol w="1628140"/>
                <a:gridCol w="597281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能力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是否支持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说明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联网搜索 + 信息聚合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核心能力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实时搜索、引用来源、结构化摘要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75819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高质量文本生成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核心能力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PPT 大纲、分析结论、邮件、报告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72644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图像生成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支持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底层为 GPT-Image-2，可生成配图、海报等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7270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文件上传分析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支持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上传 Excel/Word/PDF 分析内容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90424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直接排版 PPT/Excel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✗ 不支持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需人工复制内容和图片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2515870" y="3441700"/>
            <a:ext cx="7064375" cy="1875155"/>
          </a:xfrm>
          <a:prstGeom prst="roundRect">
            <a:avLst/>
          </a:prstGeom>
          <a:solidFill>
            <a:schemeClr val="tx1">
              <a:alpha val="12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402551" y="1386840"/>
            <a:ext cx="11317644" cy="4747904"/>
            <a:chOff x="-630" y="596"/>
            <a:chExt cx="20122" cy="9244"/>
          </a:xfrm>
        </p:grpSpPr>
        <p:sp>
          <p:nvSpPr>
            <p:cNvPr id="4" name="Text 0"/>
            <p:cNvSpPr/>
            <p:nvPr/>
          </p:nvSpPr>
          <p:spPr>
            <a:xfrm>
              <a:off x="-508" y="596"/>
              <a:ext cx="20000" cy="12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sz="2800" b="1" kern="0" spc="1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</a:rPr>
                <a:t>Copilot Chat 不能</a:t>
              </a:r>
              <a:r>
                <a:rPr lang="en-US" sz="2800" b="1" kern="0" spc="1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</a:rPr>
                <a:t>直接生成排版精美的</a:t>
              </a:r>
              <a:r>
                <a:rPr lang="en-US" sz="2800" b="1" kern="0" spc="1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  <a:sym typeface="+mn-ea"/>
                </a:rPr>
                <a:t>PPT 或 Excel 图表</a:t>
              </a:r>
              <a:endParaRPr lang="en-US" sz="2800" b="1" kern="0" spc="100" dirty="0">
                <a:solidFill>
                  <a:srgbClr val="FFFFFF"/>
                </a:solidFill>
                <a:ea typeface="Liter" panose="02000503030000020004" pitchFamily="34" charset="-122"/>
                <a:cs typeface="+mn-lt"/>
                <a:sym typeface="+mn-ea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-630" y="2897"/>
              <a:ext cx="200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200" b="1" kern="0" spc="3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你可能会遇到的问题</a:t>
              </a:r>
              <a:endParaRPr lang="en-US" sz="3200" b="1" kern="0" spc="3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7" name="Text 3"/>
            <p:cNvSpPr/>
            <p:nvPr/>
          </p:nvSpPr>
          <p:spPr>
            <a:xfrm>
              <a:off x="492" y="4596"/>
              <a:ext cx="18000" cy="26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>
                <a:lnSpc>
                  <a:spcPct val="180000"/>
                </a:lnSpc>
              </a:pPr>
              <a:r>
                <a:rPr lang="en-US" sz="1600" dirty="0">
                  <a:solidFill>
                    <a:srgbClr val="FFFFFF">
                      <a:alpha val="73333"/>
                    </a:srgbClr>
                  </a:solidFill>
                  <a:ea typeface="Liter" panose="02000503030000020004" pitchFamily="34" charset="-122"/>
                  <a:cs typeface="+mn-lt"/>
                </a:rPr>
                <a:t>告诉 Copilot "帮我做个 PPT" → 只输出纯文字大纲</a:t>
              </a:r>
              <a:endParaRPr lang="en-US" sz="1600" dirty="0">
                <a:cs typeface="+mn-lt"/>
              </a:endParaRPr>
            </a:p>
            <a:p>
              <a:pPr algn="ctr">
                <a:lnSpc>
                  <a:spcPct val="180000"/>
                </a:lnSpc>
              </a:pPr>
              <a:r>
                <a:rPr lang="en-US" sz="1600" dirty="0">
                  <a:solidFill>
                    <a:srgbClr val="FFFFFF">
                      <a:alpha val="73333"/>
                    </a:srgbClr>
                  </a:solidFill>
                  <a:ea typeface="Liter" panose="02000503030000020004" pitchFamily="34" charset="-122"/>
                  <a:cs typeface="+mn-lt"/>
                </a:rPr>
                <a:t>告诉 Copilot "分析 Excel 并出图" → 只输出表格文本</a:t>
              </a:r>
              <a:endParaRPr lang="en-US" sz="1600" dirty="0">
                <a:cs typeface="+mn-lt"/>
              </a:endParaRPr>
            </a:p>
            <a:p>
              <a:pPr algn="ctr">
                <a:lnSpc>
                  <a:spcPct val="180000"/>
                </a:lnSpc>
              </a:pPr>
              <a:r>
                <a:rPr lang="en-US" sz="1600" dirty="0">
                  <a:solidFill>
                    <a:srgbClr val="FFFFFF">
                      <a:alpha val="73333"/>
                    </a:srgbClr>
                  </a:solidFill>
                  <a:ea typeface="Liter" panose="02000503030000020004" pitchFamily="34" charset="-122"/>
                  <a:cs typeface="+mn-lt"/>
                </a:rPr>
                <a:t>生成的文字需要你手动复制到 PPT 里排版</a:t>
              </a:r>
              <a:endParaRPr lang="en-US" sz="1600" dirty="0">
                <a:cs typeface="+mn-lt"/>
              </a:endParaRPr>
            </a:p>
          </p:txBody>
        </p:sp>
        <p:sp>
          <p:nvSpPr>
            <p:cNvPr id="8" name="Text 4"/>
            <p:cNvSpPr/>
            <p:nvPr/>
          </p:nvSpPr>
          <p:spPr>
            <a:xfrm>
              <a:off x="492" y="7396"/>
              <a:ext cx="1800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原因：Lite 版没有直接操作 Office 文件的能力。这是旗舰版才有的功能。</a:t>
              </a:r>
              <a:endParaRPr lang="en-US" sz="1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491" y="9140"/>
              <a:ext cx="18000" cy="7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但请不要离开 —— 接下来的内容会让你收回这个失望</a:t>
              </a:r>
              <a:endParaRPr lang="en-US" sz="3200" b="1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ea typeface="Liter" panose="02000503030000020004" pitchFamily="34" charset="-122"/>
                <a:cs typeface="+mn-lt"/>
              </a:endParaRPr>
            </a:p>
          </p:txBody>
        </p:sp>
      </p:grpSp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>
                <a:ea typeface="宋体" panose="02010600030101010101" pitchFamily="2" charset="-122"/>
              </a:rPr>
              <a:t>注意</a:t>
            </a:r>
            <a:endParaRPr lang="zh-CN"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 Copilot </a:t>
            </a:r>
            <a:r>
              <a:rPr lang="zh-CN" altLang="en-US"/>
              <a:t>能帮我们做什么？</a:t>
            </a:r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0420" y="1029335"/>
            <a:ext cx="11523980" cy="3810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35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它不负责排版，但能给你</a:t>
            </a:r>
            <a:r>
              <a:rPr lang="en-US" sz="135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"可以直接用的内容"</a:t>
            </a:r>
            <a:endParaRPr lang="en-US" sz="135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604520" y="1802765"/>
            <a:ext cx="11097895" cy="4257463"/>
            <a:chOff x="1200" y="2800"/>
            <a:chExt cx="23200" cy="8900"/>
          </a:xfrm>
        </p:grpSpPr>
        <p:sp>
          <p:nvSpPr>
            <p:cNvPr id="5" name="Shape 3"/>
            <p:cNvSpPr/>
            <p:nvPr/>
          </p:nvSpPr>
          <p:spPr>
            <a:xfrm>
              <a:off x="1200" y="2800"/>
              <a:ext cx="7401" cy="7357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25000"/>
              </a:srgbClr>
            </a:solidFill>
            <a:effectLst>
              <a:outerShdw blurRad="127000" dist="50800" dir="5400000" algn="bl" rotWithShape="0">
                <a:srgbClr val="000000">
                  <a:alpha val="6275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1690" y="3200"/>
              <a:ext cx="540" cy="72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0" y="57150"/>
                  </a:moveTo>
                  <a:cubicBezTo>
                    <a:pt x="0" y="25628"/>
                    <a:pt x="25628" y="0"/>
                    <a:pt x="57150" y="0"/>
                  </a:cubicBezTo>
                  <a:lnTo>
                    <a:pt x="190649" y="0"/>
                  </a:lnTo>
                  <a:cubicBezTo>
                    <a:pt x="205829" y="0"/>
                    <a:pt x="220385" y="5983"/>
                    <a:pt x="231100" y="16699"/>
                  </a:cubicBezTo>
                  <a:lnTo>
                    <a:pt x="326201" y="111889"/>
                  </a:lnTo>
                  <a:cubicBezTo>
                    <a:pt x="336917" y="122605"/>
                    <a:pt x="342900" y="137160"/>
                    <a:pt x="342900" y="152340"/>
                  </a:cubicBezTo>
                  <a:lnTo>
                    <a:pt x="342900" y="400050"/>
                  </a:lnTo>
                  <a:cubicBezTo>
                    <a:pt x="342900" y="431572"/>
                    <a:pt x="317272" y="457200"/>
                    <a:pt x="285750" y="457200"/>
                  </a:cubicBezTo>
                  <a:lnTo>
                    <a:pt x="57150" y="457200"/>
                  </a:lnTo>
                  <a:cubicBezTo>
                    <a:pt x="25628" y="457200"/>
                    <a:pt x="0" y="431572"/>
                    <a:pt x="0" y="400050"/>
                  </a:cubicBezTo>
                  <a:lnTo>
                    <a:pt x="0" y="57150"/>
                  </a:lnTo>
                  <a:close/>
                  <a:moveTo>
                    <a:pt x="185738" y="52239"/>
                  </a:moveTo>
                  <a:lnTo>
                    <a:pt x="185738" y="135731"/>
                  </a:lnTo>
                  <a:cubicBezTo>
                    <a:pt x="185738" y="147608"/>
                    <a:pt x="195292" y="157163"/>
                    <a:pt x="207169" y="157163"/>
                  </a:cubicBezTo>
                  <a:lnTo>
                    <a:pt x="290661" y="157163"/>
                  </a:lnTo>
                  <a:lnTo>
                    <a:pt x="185738" y="52239"/>
                  </a:lnTo>
                  <a:close/>
                  <a:moveTo>
                    <a:pt x="135731" y="228600"/>
                  </a:moveTo>
                  <a:cubicBezTo>
                    <a:pt x="123855" y="228600"/>
                    <a:pt x="114300" y="238155"/>
                    <a:pt x="114300" y="250031"/>
                  </a:cubicBezTo>
                  <a:lnTo>
                    <a:pt x="114300" y="378619"/>
                  </a:lnTo>
                  <a:cubicBezTo>
                    <a:pt x="114300" y="390495"/>
                    <a:pt x="123855" y="400050"/>
                    <a:pt x="135731" y="400050"/>
                  </a:cubicBezTo>
                  <a:cubicBezTo>
                    <a:pt x="147608" y="400050"/>
                    <a:pt x="157163" y="390495"/>
                    <a:pt x="157163" y="378619"/>
                  </a:cubicBezTo>
                  <a:lnTo>
                    <a:pt x="157163" y="357188"/>
                  </a:lnTo>
                  <a:lnTo>
                    <a:pt x="178594" y="357188"/>
                  </a:lnTo>
                  <a:cubicBezTo>
                    <a:pt x="214134" y="357188"/>
                    <a:pt x="242888" y="328434"/>
                    <a:pt x="242888" y="292894"/>
                  </a:cubicBezTo>
                  <a:cubicBezTo>
                    <a:pt x="242888" y="257354"/>
                    <a:pt x="214134" y="228600"/>
                    <a:pt x="178594" y="228600"/>
                  </a:cubicBezTo>
                  <a:lnTo>
                    <a:pt x="135731" y="228600"/>
                  </a:lnTo>
                  <a:close/>
                  <a:moveTo>
                    <a:pt x="178594" y="314325"/>
                  </a:moveTo>
                  <a:lnTo>
                    <a:pt x="157163" y="314325"/>
                  </a:lnTo>
                  <a:lnTo>
                    <a:pt x="157163" y="271463"/>
                  </a:lnTo>
                  <a:lnTo>
                    <a:pt x="178594" y="271463"/>
                  </a:lnTo>
                  <a:cubicBezTo>
                    <a:pt x="190470" y="271463"/>
                    <a:pt x="200025" y="281017"/>
                    <a:pt x="200025" y="292894"/>
                  </a:cubicBezTo>
                  <a:cubicBezTo>
                    <a:pt x="200025" y="304770"/>
                    <a:pt x="190470" y="314325"/>
                    <a:pt x="178594" y="314325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1600" y="4160"/>
              <a:ext cx="660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一份 PPT</a:t>
              </a:r>
              <a:endParaRPr lang="en-US" sz="2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600" y="4960"/>
              <a:ext cx="6600" cy="4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70000"/>
                </a:lnSpc>
              </a:pPr>
              <a:r>
                <a:rPr lang="en-US" sz="16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Copilot 能给：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每页的核心观点 + 数据占位 + 动作建议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1200"/>
                </a:spcBef>
              </a:pPr>
              <a:r>
                <a:rPr lang="en-US" sz="16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你需要做：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复制文字到 PPT，调整字体大小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9100" y="2800"/>
              <a:ext cx="7401" cy="7357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25000"/>
              </a:srgbClr>
            </a:solidFill>
            <a:effectLst>
              <a:outerShdw blurRad="127000" dist="50800" dir="5400000" algn="bl" rotWithShape="0">
                <a:srgbClr val="000000">
                  <a:alpha val="6275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9590" y="3200"/>
              <a:ext cx="540" cy="72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0" y="57150"/>
                  </a:moveTo>
                  <a:cubicBezTo>
                    <a:pt x="0" y="25628"/>
                    <a:pt x="25628" y="0"/>
                    <a:pt x="57150" y="0"/>
                  </a:cubicBezTo>
                  <a:lnTo>
                    <a:pt x="190649" y="0"/>
                  </a:lnTo>
                  <a:cubicBezTo>
                    <a:pt x="205829" y="0"/>
                    <a:pt x="220385" y="5983"/>
                    <a:pt x="231100" y="16699"/>
                  </a:cubicBezTo>
                  <a:lnTo>
                    <a:pt x="326201" y="111889"/>
                  </a:lnTo>
                  <a:cubicBezTo>
                    <a:pt x="336917" y="122605"/>
                    <a:pt x="342900" y="137160"/>
                    <a:pt x="342900" y="152340"/>
                  </a:cubicBezTo>
                  <a:lnTo>
                    <a:pt x="342900" y="400050"/>
                  </a:lnTo>
                  <a:cubicBezTo>
                    <a:pt x="342900" y="431572"/>
                    <a:pt x="317272" y="457200"/>
                    <a:pt x="285750" y="457200"/>
                  </a:cubicBezTo>
                  <a:lnTo>
                    <a:pt x="57150" y="457200"/>
                  </a:lnTo>
                  <a:cubicBezTo>
                    <a:pt x="25628" y="457200"/>
                    <a:pt x="0" y="431572"/>
                    <a:pt x="0" y="400050"/>
                  </a:cubicBezTo>
                  <a:lnTo>
                    <a:pt x="0" y="57150"/>
                  </a:lnTo>
                  <a:close/>
                  <a:moveTo>
                    <a:pt x="185738" y="52239"/>
                  </a:moveTo>
                  <a:lnTo>
                    <a:pt x="185738" y="135731"/>
                  </a:lnTo>
                  <a:cubicBezTo>
                    <a:pt x="185738" y="147608"/>
                    <a:pt x="195292" y="157163"/>
                    <a:pt x="207169" y="157163"/>
                  </a:cubicBezTo>
                  <a:lnTo>
                    <a:pt x="290661" y="157163"/>
                  </a:lnTo>
                  <a:lnTo>
                    <a:pt x="185738" y="52239"/>
                  </a:lnTo>
                  <a:close/>
                  <a:moveTo>
                    <a:pt x="146447" y="238155"/>
                  </a:moveTo>
                  <a:cubicBezTo>
                    <a:pt x="139839" y="228332"/>
                    <a:pt x="126534" y="225653"/>
                    <a:pt x="116711" y="232172"/>
                  </a:cubicBezTo>
                  <a:cubicBezTo>
                    <a:pt x="106888" y="238691"/>
                    <a:pt x="104209" y="252085"/>
                    <a:pt x="110728" y="261908"/>
                  </a:cubicBezTo>
                  <a:lnTo>
                    <a:pt x="145733" y="314325"/>
                  </a:lnTo>
                  <a:lnTo>
                    <a:pt x="110728" y="366742"/>
                  </a:lnTo>
                  <a:cubicBezTo>
                    <a:pt x="104120" y="376565"/>
                    <a:pt x="106799" y="389870"/>
                    <a:pt x="116711" y="396478"/>
                  </a:cubicBezTo>
                  <a:cubicBezTo>
                    <a:pt x="126623" y="403086"/>
                    <a:pt x="139839" y="400407"/>
                    <a:pt x="146447" y="390495"/>
                  </a:cubicBezTo>
                  <a:lnTo>
                    <a:pt x="171450" y="352991"/>
                  </a:lnTo>
                  <a:lnTo>
                    <a:pt x="196453" y="390495"/>
                  </a:lnTo>
                  <a:cubicBezTo>
                    <a:pt x="203061" y="400318"/>
                    <a:pt x="216366" y="402997"/>
                    <a:pt x="226189" y="396478"/>
                  </a:cubicBezTo>
                  <a:cubicBezTo>
                    <a:pt x="236012" y="389959"/>
                    <a:pt x="238691" y="376565"/>
                    <a:pt x="232172" y="366742"/>
                  </a:cubicBezTo>
                  <a:lnTo>
                    <a:pt x="197168" y="314325"/>
                  </a:lnTo>
                  <a:lnTo>
                    <a:pt x="232172" y="261908"/>
                  </a:lnTo>
                  <a:cubicBezTo>
                    <a:pt x="238780" y="252085"/>
                    <a:pt x="236101" y="238780"/>
                    <a:pt x="226189" y="232172"/>
                  </a:cubicBezTo>
                  <a:cubicBezTo>
                    <a:pt x="216277" y="225564"/>
                    <a:pt x="203061" y="228243"/>
                    <a:pt x="196453" y="238155"/>
                  </a:cubicBezTo>
                  <a:lnTo>
                    <a:pt x="171450" y="275659"/>
                  </a:lnTo>
                  <a:lnTo>
                    <a:pt x="146447" y="238155"/>
                  </a:ln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9500" y="4160"/>
              <a:ext cx="660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Excel 图表</a:t>
              </a:r>
              <a:endParaRPr lang="en-US" sz="2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9500" y="4960"/>
              <a:ext cx="6600" cy="4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70000"/>
                </a:lnSpc>
              </a:pPr>
              <a:r>
                <a:rPr lang="en-US" sz="16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Copilot 能给：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带排名的表格 + 业务解读 + 趋势结论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1200"/>
                </a:spcBef>
              </a:pPr>
              <a:r>
                <a:rPr lang="en-US" sz="16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你需要做：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复制表格到 Excel，一键生成图表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16999" y="2800"/>
              <a:ext cx="7401" cy="7357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25000"/>
              </a:srgbClr>
            </a:solidFill>
            <a:effectLst>
              <a:outerShdw blurRad="127000" dist="50800" dir="5400000" algn="bl" rotWithShape="0">
                <a:srgbClr val="000000">
                  <a:alpha val="6275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17445" y="3200"/>
              <a:ext cx="630" cy="72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57150" y="28575"/>
                  </a:moveTo>
                  <a:cubicBezTo>
                    <a:pt x="25628" y="28575"/>
                    <a:pt x="0" y="54203"/>
                    <a:pt x="0" y="85725"/>
                  </a:cubicBezTo>
                  <a:lnTo>
                    <a:pt x="0" y="371475"/>
                  </a:lnTo>
                  <a:cubicBezTo>
                    <a:pt x="0" y="402997"/>
                    <a:pt x="25628" y="428625"/>
                    <a:pt x="57150" y="428625"/>
                  </a:cubicBezTo>
                  <a:lnTo>
                    <a:pt x="342900" y="428625"/>
                  </a:lnTo>
                  <a:cubicBezTo>
                    <a:pt x="374422" y="428625"/>
                    <a:pt x="400050" y="402997"/>
                    <a:pt x="400050" y="371475"/>
                  </a:cubicBezTo>
                  <a:lnTo>
                    <a:pt x="400050" y="85725"/>
                  </a:lnTo>
                  <a:cubicBezTo>
                    <a:pt x="400050" y="54203"/>
                    <a:pt x="374422" y="28575"/>
                    <a:pt x="342900" y="28575"/>
                  </a:cubicBezTo>
                  <a:lnTo>
                    <a:pt x="57150" y="28575"/>
                  </a:lnTo>
                  <a:close/>
                  <a:moveTo>
                    <a:pt x="114300" y="100013"/>
                  </a:moveTo>
                  <a:cubicBezTo>
                    <a:pt x="137956" y="100013"/>
                    <a:pt x="157163" y="119219"/>
                    <a:pt x="157163" y="142875"/>
                  </a:cubicBezTo>
                  <a:cubicBezTo>
                    <a:pt x="157163" y="166531"/>
                    <a:pt x="137956" y="185738"/>
                    <a:pt x="114300" y="185738"/>
                  </a:cubicBezTo>
                  <a:cubicBezTo>
                    <a:pt x="90644" y="185738"/>
                    <a:pt x="71438" y="166531"/>
                    <a:pt x="71438" y="142875"/>
                  </a:cubicBezTo>
                  <a:cubicBezTo>
                    <a:pt x="71438" y="119219"/>
                    <a:pt x="90644" y="100013"/>
                    <a:pt x="114300" y="100013"/>
                  </a:cubicBezTo>
                  <a:close/>
                  <a:moveTo>
                    <a:pt x="242888" y="200025"/>
                  </a:moveTo>
                  <a:cubicBezTo>
                    <a:pt x="250388" y="200025"/>
                    <a:pt x="257264" y="203954"/>
                    <a:pt x="261193" y="210294"/>
                  </a:cubicBezTo>
                  <a:lnTo>
                    <a:pt x="339775" y="338882"/>
                  </a:lnTo>
                  <a:cubicBezTo>
                    <a:pt x="343793" y="345490"/>
                    <a:pt x="343972" y="353794"/>
                    <a:pt x="340221" y="360581"/>
                  </a:cubicBezTo>
                  <a:cubicBezTo>
                    <a:pt x="336471" y="367367"/>
                    <a:pt x="329238" y="371475"/>
                    <a:pt x="321469" y="371475"/>
                  </a:cubicBezTo>
                  <a:lnTo>
                    <a:pt x="78581" y="371475"/>
                  </a:lnTo>
                  <a:cubicBezTo>
                    <a:pt x="70634" y="371475"/>
                    <a:pt x="63222" y="367010"/>
                    <a:pt x="59561" y="359956"/>
                  </a:cubicBezTo>
                  <a:cubicBezTo>
                    <a:pt x="55900" y="352901"/>
                    <a:pt x="56436" y="344329"/>
                    <a:pt x="60990" y="337810"/>
                  </a:cubicBezTo>
                  <a:lnTo>
                    <a:pt x="110996" y="266373"/>
                  </a:lnTo>
                  <a:cubicBezTo>
                    <a:pt x="115014" y="260658"/>
                    <a:pt x="121533" y="257264"/>
                    <a:pt x="128588" y="257264"/>
                  </a:cubicBezTo>
                  <a:cubicBezTo>
                    <a:pt x="135642" y="257264"/>
                    <a:pt x="142161" y="260658"/>
                    <a:pt x="146179" y="266373"/>
                  </a:cubicBezTo>
                  <a:lnTo>
                    <a:pt x="169753" y="300127"/>
                  </a:lnTo>
                  <a:lnTo>
                    <a:pt x="224582" y="210383"/>
                  </a:lnTo>
                  <a:cubicBezTo>
                    <a:pt x="228511" y="204043"/>
                    <a:pt x="235387" y="200114"/>
                    <a:pt x="242888" y="200114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17400" y="4160"/>
              <a:ext cx="660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精美配图</a:t>
              </a:r>
              <a:endParaRPr lang="en-US" sz="2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7400" y="4960"/>
              <a:ext cx="6600" cy="4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70000"/>
                </a:lnSpc>
              </a:pPr>
              <a:r>
                <a:rPr lang="en-US" sz="16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Copilot 能给：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生成 PPT 背景、插图、海报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1200"/>
                </a:spcBef>
              </a:pPr>
              <a:r>
                <a:rPr lang="en-US" sz="16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你需要做：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下载图片，插入幻灯片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600" y="10300"/>
              <a:ext cx="22400" cy="1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60000"/>
                </a:lnSpc>
              </a:pPr>
              <a:r>
                <a:rPr lang="en-US" sz="18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结论</a:t>
              </a:r>
              <a:r>
                <a:rPr lang="en-US" sz="18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：Copilot 节省的是</a:t>
              </a:r>
              <a:r>
                <a:rPr lang="en-US" sz="1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"想内容"</a:t>
              </a:r>
              <a:r>
                <a:rPr lang="en-US" sz="18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的时间，而不是"做排版"的时间。两者结合，依然能省下 </a:t>
              </a:r>
              <a:r>
                <a:rPr lang="en-US" sz="1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70%</a:t>
              </a:r>
              <a:r>
                <a:rPr lang="en-US" sz="18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 的工作量。</a:t>
              </a:r>
              <a:endParaRPr lang="en-US" sz="1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场景一</a:t>
            </a:r>
            <a:r>
              <a:rPr lang="en-US" altLang="zh-CN">
                <a:ea typeface="BMWGroupTN Condensed TT Medium" charset="0"/>
              </a:rPr>
              <a:t> · PPT</a:t>
            </a:r>
            <a:r>
              <a:rPr lang="zh-CN" altLang="en-US">
                <a:ea typeface="宋体" panose="02010600030101010101" pitchFamily="2" charset="-122"/>
              </a:rPr>
              <a:t>大纲</a:t>
            </a:r>
            <a:r>
              <a:rPr lang="zh-CN" altLang="en-US">
                <a:ea typeface="BMWGroupTN Condensed TT Medium" charset="0"/>
              </a:rPr>
              <a:t>生成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85763" y="1427163"/>
            <a:ext cx="5610225" cy="4562475"/>
          </a:xfrm>
          <a:custGeom>
            <a:avLst/>
            <a:gdLst/>
            <a:ahLst/>
            <a:cxnLst/>
            <a:rect l="l" t="t" r="r" b="b"/>
            <a:pathLst>
              <a:path w="5610225" h="4562475">
                <a:moveTo>
                  <a:pt x="76193" y="0"/>
                </a:moveTo>
                <a:lnTo>
                  <a:pt x="5534032" y="0"/>
                </a:lnTo>
                <a:cubicBezTo>
                  <a:pt x="5576112" y="0"/>
                  <a:pt x="5610225" y="34113"/>
                  <a:pt x="5610225" y="76193"/>
                </a:cubicBezTo>
                <a:lnTo>
                  <a:pt x="5610225" y="4486282"/>
                </a:lnTo>
                <a:cubicBezTo>
                  <a:pt x="5610225" y="4528362"/>
                  <a:pt x="5576112" y="4562475"/>
                  <a:pt x="5534032" y="4562475"/>
                </a:cubicBezTo>
                <a:lnTo>
                  <a:pt x="76193" y="4562475"/>
                </a:lnTo>
                <a:cubicBezTo>
                  <a:pt x="34113" y="4562475"/>
                  <a:pt x="0" y="4528362"/>
                  <a:pt x="0" y="4486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9" name="Shape 4"/>
          <p:cNvSpPr/>
          <p:nvPr/>
        </p:nvSpPr>
        <p:spPr>
          <a:xfrm>
            <a:off x="581025" y="1622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F7D8C">
              <a:alpha val="30196"/>
            </a:srgbClr>
          </a:solidFill>
        </p:spPr>
      </p:sp>
      <p:sp>
        <p:nvSpPr>
          <p:cNvPr id="100" name="Text 5"/>
          <p:cNvSpPr/>
          <p:nvPr/>
        </p:nvSpPr>
        <p:spPr>
          <a:xfrm>
            <a:off x="676275" y="1679575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</a:t>
            </a:r>
            <a:endParaRPr lang="en-US" sz="15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1076325" y="1679575"/>
            <a:ext cx="158877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 Prompt</a:t>
            </a:r>
            <a:endParaRPr lang="en-US" sz="15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600075" y="2155825"/>
            <a:ext cx="5200650" cy="552450"/>
          </a:xfrm>
          <a:custGeom>
            <a:avLst/>
            <a:gdLst/>
            <a:ahLst/>
            <a:cxnLst/>
            <a:rect l="l" t="t" r="r" b="b"/>
            <a:pathLst>
              <a:path w="5200650" h="5524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476251"/>
                </a:lnTo>
                <a:cubicBezTo>
                  <a:pt x="5200650" y="518334"/>
                  <a:pt x="5166534" y="552450"/>
                  <a:pt x="5124451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lumMod val="95000"/>
              <a:alpha val="24000"/>
            </a:schemeClr>
          </a:solidFill>
        </p:spPr>
      </p:sp>
      <p:sp>
        <p:nvSpPr>
          <p:cNvPr id="103" name="Shape 8"/>
          <p:cNvSpPr/>
          <p:nvPr/>
        </p:nvSpPr>
        <p:spPr>
          <a:xfrm>
            <a:off x="600075" y="2155825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04" name="Text 9"/>
          <p:cNvSpPr/>
          <p:nvPr/>
        </p:nvSpPr>
        <p:spPr>
          <a:xfrm>
            <a:off x="771525" y="2308225"/>
            <a:ext cx="495300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"帮我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宋体" panose="02010600030101010101" pitchFamily="2" charset="-122"/>
                <a:cs typeface="BMWGroupTN Condensed TT Medium" charset="0"/>
              </a:rPr>
              <a:t>写一份</a:t>
            </a: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宝马 X3 下半年营销计划的 PPT"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6196013" y="1427163"/>
            <a:ext cx="5610225" cy="4562475"/>
          </a:xfrm>
          <a:custGeom>
            <a:avLst/>
            <a:gdLst/>
            <a:ahLst/>
            <a:cxnLst/>
            <a:rect l="l" t="t" r="r" b="b"/>
            <a:pathLst>
              <a:path w="5610225" h="4562475">
                <a:moveTo>
                  <a:pt x="76193" y="0"/>
                </a:moveTo>
                <a:lnTo>
                  <a:pt x="5534032" y="0"/>
                </a:lnTo>
                <a:cubicBezTo>
                  <a:pt x="5576112" y="0"/>
                  <a:pt x="5610225" y="34113"/>
                  <a:pt x="5610225" y="76193"/>
                </a:cubicBezTo>
                <a:lnTo>
                  <a:pt x="5610225" y="4486282"/>
                </a:lnTo>
                <a:cubicBezTo>
                  <a:pt x="5610225" y="4528362"/>
                  <a:pt x="5576112" y="4562475"/>
                  <a:pt x="5534032" y="4562475"/>
                </a:cubicBezTo>
                <a:lnTo>
                  <a:pt x="76193" y="4562475"/>
                </a:lnTo>
                <a:cubicBezTo>
                  <a:pt x="34113" y="4562475"/>
                  <a:pt x="0" y="4528362"/>
                  <a:pt x="0" y="4486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5" name="Shape 20"/>
          <p:cNvSpPr/>
          <p:nvPr/>
        </p:nvSpPr>
        <p:spPr>
          <a:xfrm>
            <a:off x="6391275" y="1622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E2">
              <a:alpha val="30196"/>
            </a:srgbClr>
          </a:solidFill>
        </p:spPr>
      </p:sp>
      <p:sp>
        <p:nvSpPr>
          <p:cNvPr id="116" name="Text 21"/>
          <p:cNvSpPr/>
          <p:nvPr/>
        </p:nvSpPr>
        <p:spPr>
          <a:xfrm>
            <a:off x="6486525" y="1679575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5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</a:t>
            </a:r>
            <a:endParaRPr lang="en-US" sz="15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6886575" y="1679575"/>
            <a:ext cx="155765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5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 Prompt</a:t>
            </a:r>
            <a:endParaRPr lang="en-US" sz="15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8480" y="306641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FFFF00"/>
                </a:solidFill>
                <a:cs typeface="+mn-lt"/>
              </a:rPr>
              <a:t>✗</a:t>
            </a:r>
            <a:r>
              <a:rPr lang="en-US" altLang="zh-CN">
                <a:solidFill>
                  <a:srgbClr val="FFFF00"/>
                </a:solidFill>
                <a:cs typeface="+mn-lt"/>
              </a:rPr>
              <a:t> </a:t>
            </a:r>
            <a:r>
              <a:rPr lang="zh-CN" altLang="en-US">
                <a:cs typeface="+mn-lt"/>
              </a:rPr>
              <a:t>只有</a:t>
            </a:r>
            <a:r>
              <a:rPr lang="en-US" altLang="zh-CN">
                <a:cs typeface="+mn-lt"/>
              </a:rPr>
              <a:t>"</a:t>
            </a:r>
            <a:r>
              <a:rPr lang="zh-CN" altLang="en-US">
                <a:cs typeface="+mn-lt"/>
              </a:rPr>
              <a:t>市场概况、策略、预算</a:t>
            </a:r>
            <a:r>
              <a:rPr lang="en-US" altLang="zh-CN">
                <a:cs typeface="+mn-lt"/>
              </a:rPr>
              <a:t>"</a:t>
            </a:r>
            <a:r>
              <a:rPr lang="zh-CN" altLang="en-US">
                <a:cs typeface="+mn-lt"/>
              </a:rPr>
              <a:t>等空洞标题</a:t>
            </a:r>
            <a:endParaRPr lang="zh-CN" altLang="en-US">
              <a:cs typeface="+mn-lt"/>
            </a:endParaRPr>
          </a:p>
          <a:p>
            <a:r>
              <a:rPr lang="en-US" altLang="en-US">
                <a:solidFill>
                  <a:srgbClr val="FFFF00"/>
                </a:solidFill>
                <a:cs typeface="+mn-lt"/>
              </a:rPr>
              <a:t>✗</a:t>
            </a:r>
            <a:r>
              <a:rPr lang="en-US" altLang="zh-CN">
                <a:solidFill>
                  <a:srgbClr val="FFFF00"/>
                </a:solidFill>
                <a:cs typeface="+mn-lt"/>
              </a:rPr>
              <a:t> </a:t>
            </a:r>
            <a:r>
              <a:rPr lang="zh-CN" altLang="en-US">
                <a:cs typeface="+mn-lt"/>
              </a:rPr>
              <a:t>每页只有一句话，无数据、无建议</a:t>
            </a:r>
            <a:endParaRPr lang="zh-CN" altLang="en-US">
              <a:cs typeface="+mn-lt"/>
            </a:endParaRPr>
          </a:p>
          <a:p>
            <a:r>
              <a:rPr lang="en-US" altLang="en-US">
                <a:solidFill>
                  <a:srgbClr val="FFFF00"/>
                </a:solidFill>
                <a:cs typeface="+mn-lt"/>
              </a:rPr>
              <a:t>✗</a:t>
            </a:r>
            <a:r>
              <a:rPr lang="en-US" altLang="zh-CN">
                <a:solidFill>
                  <a:srgbClr val="FFFF00"/>
                </a:solidFill>
                <a:cs typeface="+mn-lt"/>
              </a:rPr>
              <a:t> </a:t>
            </a:r>
            <a:r>
              <a:rPr lang="zh-CN" altLang="en-US">
                <a:cs typeface="+mn-lt"/>
              </a:rPr>
              <a:t>复制到</a:t>
            </a:r>
            <a:r>
              <a:rPr lang="en-US" altLang="zh-CN">
                <a:cs typeface="+mn-lt"/>
              </a:rPr>
              <a:t> PPT </a:t>
            </a:r>
            <a:r>
              <a:rPr lang="zh-CN" altLang="en-US">
                <a:cs typeface="+mn-lt"/>
              </a:rPr>
              <a:t>后内容几乎不可用</a:t>
            </a:r>
            <a:endParaRPr lang="zh-CN" altLang="en-US">
              <a:cs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379210" y="2113280"/>
            <a:ext cx="5280660" cy="3590925"/>
            <a:chOff x="13200" y="2640"/>
            <a:chExt cx="11200" cy="10060"/>
          </a:xfrm>
        </p:grpSpPr>
        <p:sp>
          <p:nvSpPr>
            <p:cNvPr id="10" name="Shape 8"/>
            <p:cNvSpPr/>
            <p:nvPr/>
          </p:nvSpPr>
          <p:spPr>
            <a:xfrm>
              <a:off x="13200" y="2640"/>
              <a:ext cx="11200" cy="2900"/>
            </a:xfrm>
            <a:prstGeom prst="roundRect">
              <a:avLst>
                <a:gd name="adj" fmla="val 5000"/>
              </a:avLst>
            </a:prstGeom>
            <a:solidFill>
              <a:srgbClr val="E6F0FA">
                <a:alpha val="33000"/>
              </a:srgbClr>
            </a:solidFill>
          </p:spPr>
        </p:sp>
        <p:sp>
          <p:nvSpPr>
            <p:cNvPr id="11" name="Text 9"/>
            <p:cNvSpPr/>
            <p:nvPr/>
          </p:nvSpPr>
          <p:spPr>
            <a:xfrm>
              <a:off x="13500" y="2760"/>
              <a:ext cx="10600" cy="26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20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"你是宝马营销策略专家。请为 X3 下半年营销计划生成一份 PPT 大纲。每页需要包含：核心观点（一句话）+ 数据支撑（用占位标注）+ 具体执行动作。用'第1页：……'的方式分页。"</a:t>
              </a:r>
              <a:endParaRPr lang="en-US" sz="1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3200" y="5900"/>
              <a:ext cx="11200" cy="68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7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✓ 每页 3-5 个要点，包含可执行建议</a:t>
              </a:r>
              <a:endParaRPr lang="en-US" sz="1600" dirty="0">
                <a:ln/>
                <a:solidFill>
                  <a:schemeClr val="tx1"/>
                </a:solidFill>
                <a:effectLst/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800"/>
                </a:spcBef>
              </a:pPr>
              <a:r>
                <a:rPr lang="en-US" sz="1400" dirty="0">
                  <a:ln/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示例输出：</a:t>
              </a:r>
              <a:endParaRPr lang="en-US" sz="1600" dirty="0">
                <a:ln/>
                <a:solidFill>
                  <a:schemeClr val="tx1"/>
                </a:solidFill>
                <a:effectLst/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400" dirty="0">
                  <a:ln/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"8 月启动车主口碑短视频征集，预算 50 万"</a:t>
              </a:r>
              <a:endParaRPr lang="en-US" sz="1600" dirty="0">
                <a:ln/>
                <a:solidFill>
                  <a:schemeClr val="tx1"/>
                </a:solidFill>
                <a:effectLst/>
                <a:cs typeface="+mn-lt"/>
              </a:endParaRPr>
            </a:p>
            <a:p>
              <a:pPr>
                <a:lnSpc>
                  <a:spcPct val="170000"/>
                </a:lnSpc>
                <a:spcBef>
                  <a:spcPts val="1200"/>
                </a:spcBef>
              </a:pPr>
              <a:r>
                <a:rPr lang="en-US" sz="1600" dirty="0">
                  <a:ln/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✓ 复制到 PPT 后只需简单排版</a:t>
              </a:r>
              <a:endParaRPr lang="en-US" sz="1600" dirty="0">
                <a:ln/>
                <a:solidFill>
                  <a:schemeClr val="tx1"/>
                </a:solidFill>
                <a:effectLst/>
                <a:cs typeface="+mn-lt"/>
              </a:endParaRPr>
            </a:p>
            <a:p>
              <a:pPr>
                <a:lnSpc>
                  <a:spcPct val="17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/>
                  <a:ea typeface="Liter" panose="02000503030000020004" pitchFamily="34" charset="-122"/>
                  <a:cs typeface="+mn-lt"/>
                </a:rPr>
                <a:t>✓ 内容无需重写，直接可用</a:t>
              </a:r>
              <a:endParaRPr lang="en-US" sz="1600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529840" y="3263900"/>
            <a:ext cx="7077075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Copilot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进行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PPT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宋体" panose="02010600030101010101" pitchFamily="2" charset="-122"/>
                <a:cs typeface="BMWGroupTN Condensed TT Medium" charset="0"/>
                <a:sym typeface="+mn-ea"/>
              </a:rPr>
              <a:t>大纲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自动生成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场景二</a:t>
            </a:r>
            <a:r>
              <a:rPr lang="en-US" altLang="zh-CN">
                <a:ea typeface="BMWGroupTN Condensed TT Medium" charset="0"/>
              </a:rPr>
              <a:t> · Excel </a:t>
            </a:r>
            <a:r>
              <a:rPr lang="zh-CN" altLang="en-US">
                <a:ea typeface="BMWGroupTN Condensed TT Medium" charset="0"/>
              </a:rPr>
              <a:t>分析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76" name="Text 2"/>
          <p:cNvSpPr/>
          <p:nvPr/>
        </p:nvSpPr>
        <p:spPr>
          <a:xfrm>
            <a:off x="734060" y="1041400"/>
            <a:ext cx="111626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从统计到洞察：不是不能用，是你没告诉它"怎么分析"</a:t>
            </a:r>
            <a:endParaRPr lang="en-US" sz="1350" dirty="0">
              <a:solidFill>
                <a:schemeClr val="accent1"/>
              </a:solidFill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2" name="Text 3"/>
          <p:cNvSpPr/>
          <p:nvPr/>
        </p:nvSpPr>
        <p:spPr>
          <a:xfrm>
            <a:off x="762000" y="16510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普通 PROMPT</a:t>
            </a:r>
            <a:endParaRPr lang="en-US" sz="1400" kern="0" spc="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" name="Shape 4"/>
          <p:cNvSpPr/>
          <p:nvPr/>
        </p:nvSpPr>
        <p:spPr>
          <a:xfrm>
            <a:off x="762000" y="2057400"/>
            <a:ext cx="4020820" cy="57150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5" name="Text 5"/>
          <p:cNvSpPr/>
          <p:nvPr/>
        </p:nvSpPr>
        <p:spPr>
          <a:xfrm>
            <a:off x="952500" y="2120900"/>
            <a:ext cx="235204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"分析这份销量数据"</a:t>
            </a:r>
            <a:endParaRPr lang="en-US" sz="15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62000" y="2794000"/>
            <a:ext cx="2867025" cy="127000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sz="1600" dirty="0">
                <a:ln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 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只有总销量、平均值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ln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 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无环比、无排名、无结论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189220" y="2352040"/>
            <a:ext cx="8255" cy="3900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8"/>
          <p:cNvSpPr>
            <a:spLocks noChangeAspect="1"/>
          </p:cNvSpPr>
          <p:nvPr/>
        </p:nvSpPr>
        <p:spPr>
          <a:xfrm>
            <a:off x="5662930" y="16510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高级 PROMPT</a:t>
            </a:r>
            <a:endParaRPr lang="en-US" sz="1400" kern="0" spc="2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22" name="Shape 9"/>
          <p:cNvSpPr>
            <a:spLocks noChangeAspect="1"/>
          </p:cNvSpPr>
          <p:nvPr/>
        </p:nvSpPr>
        <p:spPr>
          <a:xfrm>
            <a:off x="5673090" y="2049145"/>
            <a:ext cx="6130925" cy="960755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23" name="Text 10"/>
          <p:cNvSpPr>
            <a:spLocks noChangeAspect="1"/>
          </p:cNvSpPr>
          <p:nvPr/>
        </p:nvSpPr>
        <p:spPr>
          <a:xfrm>
            <a:off x="5793740" y="2127250"/>
            <a:ext cx="6102985" cy="73660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"你是宝马销售运营分析师。请计算各区域 Q1 销量、环比 Q4 增长率，找出增长最高和最低的区域，给出 2 条原因推测，输出表格，并一句话总结。"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graphicFrame>
        <p:nvGraphicFramePr>
          <p:cNvPr id="24" name="Table 0"/>
          <p:cNvGraphicFramePr>
            <a:graphicFrameLocks noGrp="1" noChangeAspect="1"/>
          </p:cNvGraphicFramePr>
          <p:nvPr>
            <p:custDataLst>
              <p:tags r:id="rId2"/>
            </p:custDataLst>
          </p:nvPr>
        </p:nvGraphicFramePr>
        <p:xfrm>
          <a:off x="5658485" y="3209925"/>
          <a:ext cx="6169660" cy="19208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2415"/>
                <a:gridCol w="1542415"/>
                <a:gridCol w="1542415"/>
                <a:gridCol w="1542415"/>
              </a:tblGrid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区域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Q1销量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环比增长率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排名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东区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1,520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+4.8%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北区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1,142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-4.0%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2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南区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1,210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-5.5%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3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西区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980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+10.1%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4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  <p:sp>
        <p:nvSpPr>
          <p:cNvPr id="25" name="Text 11"/>
          <p:cNvSpPr>
            <a:spLocks noChangeAspect="1"/>
          </p:cNvSpPr>
          <p:nvPr/>
        </p:nvSpPr>
        <p:spPr>
          <a:xfrm>
            <a:off x="5667375" y="5431790"/>
            <a:ext cx="6311265" cy="1303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增长率最高：</a:t>
            </a:r>
            <a:r>
              <a:rPr lang="en-US" sz="1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西区（+10.1%）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增长率最低：</a:t>
            </a:r>
            <a:r>
              <a:rPr lang="en-US" sz="1400" b="1" dirty="0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南区（-5.5%）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一句话总结</a:t>
            </a:r>
            <a:r>
              <a:rPr lang="en-US" sz="1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：南区需要重点关注，建议复盘促销政策和竞品动作。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529840" y="3263900"/>
            <a:ext cx="7077075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Copilot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进行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Excel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自动分析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场景三</a:t>
            </a:r>
            <a:r>
              <a:rPr lang="en-US" altLang="zh-CN">
                <a:ea typeface="BMWGroupTN Condensed TT Medium" charset="0"/>
              </a:rPr>
              <a:t>  · Word </a:t>
            </a:r>
            <a:r>
              <a:rPr lang="zh-CN" altLang="en-US">
                <a:ea typeface="BMWGroupTN Condensed TT Medium" charset="0"/>
              </a:rPr>
              <a:t>会议纪要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92" name="Text 2"/>
          <p:cNvSpPr/>
          <p:nvPr/>
        </p:nvSpPr>
        <p:spPr>
          <a:xfrm>
            <a:off x="695325" y="1079500"/>
            <a:ext cx="1120140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zh-CN" alt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整理跨部门会议记录，生成可追踪的纪要</a:t>
            </a:r>
            <a:endParaRPr lang="zh-CN" alt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5325" y="1565910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普通 PROMPT</a:t>
            </a:r>
            <a:endParaRPr lang="en-US" sz="1400" kern="0" spc="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5325" y="1833245"/>
            <a:ext cx="4980305" cy="3759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33755" y="1875155"/>
            <a:ext cx="222948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1"/>
                </a:solidFill>
                <a:ea typeface="Liter" panose="02000503030000020004" pitchFamily="34" charset="-122"/>
                <a:cs typeface="+mn-lt"/>
              </a:rPr>
              <a:t>"帮我写一份会议纪要"</a:t>
            </a:r>
            <a:endParaRPr lang="en-US" sz="1500" dirty="0">
              <a:solidFill>
                <a:schemeClr val="tx1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5325" y="2318385"/>
            <a:ext cx="4980305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sz="1600" dirty="0">
                <a:ln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 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流水账，无议题结论区分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ln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 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无待办事项、负责人、截止时间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59780" y="1565910"/>
            <a:ext cx="9525" cy="443103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6044565" y="1565910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高级 PROMPT</a:t>
            </a:r>
            <a:endParaRPr lang="en-US" sz="1400" kern="0" spc="2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44565" y="1833245"/>
            <a:ext cx="5349240" cy="11252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182360" y="1883410"/>
            <a:ext cx="5072380" cy="84836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"你是宝马售后业务助理。请将以下会议记录转化为正式会议纪要。要求结构：议题 → 结论 → 待办事项（负责人+截止日），待办事项用 [ ] 标注状态。"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44565" y="3193415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高级输出效果</a:t>
            </a:r>
            <a:endParaRPr lang="en-US" sz="14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4565" y="3460750"/>
            <a:ext cx="5349240" cy="30810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228715" y="3544570"/>
            <a:ext cx="4980305" cy="259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2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会议纪要：</a:t>
            </a:r>
            <a:r>
              <a:rPr lang="en-US" sz="12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售后满意度提升专项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议题</a:t>
            </a:r>
            <a:r>
              <a:rPr lang="en-US" sz="1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：</a:t>
            </a:r>
            <a:r>
              <a:rPr lang="en-US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Q1 NPS 下滑原因分析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2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结论</a:t>
            </a:r>
            <a:r>
              <a:rPr lang="en-US" sz="1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：</a:t>
            </a:r>
            <a:r>
              <a:rPr lang="en-US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主因是等待时间过长（45分钟 vs 目标30分钟）及配件缺货。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待办事项</a:t>
            </a:r>
            <a:r>
              <a:rPr lang="en-US" sz="1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：</a:t>
            </a:r>
            <a:endParaRPr lang="en-US" sz="14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1. 优化预约流程 → 李经理，4/30，[ ]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2. 建立安全库存预警 → 李经理，4/25，[ ]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3. 编制安抚话术并培训 SA → 王主管，4/21，[ ]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下次会议：4月24日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74240" y="3263900"/>
            <a:ext cx="7856855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Copilot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生成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Word 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会议纪要演示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场景三</a:t>
            </a:r>
            <a:r>
              <a:rPr lang="en-US" altLang="zh-CN">
                <a:ea typeface="BMWGroupTN Condensed TT Medium" charset="0"/>
              </a:rPr>
              <a:t>  ·</a:t>
            </a:r>
            <a:r>
              <a:rPr lang="zh-CN">
                <a:ea typeface="宋体" panose="02010600030101010101" pitchFamily="2" charset="-122"/>
              </a:rPr>
              <a:t>邮件生成</a:t>
            </a:r>
            <a:endParaRPr lang="zh-CN">
              <a:ea typeface="宋体" panose="02010600030101010101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5325" y="1565910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普通 PROMPT</a:t>
            </a:r>
            <a:endParaRPr lang="en-US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5325" y="1833245"/>
            <a:ext cx="4980305" cy="3759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33755" y="1875155"/>
            <a:ext cx="222948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1500" dirty="0">
                <a:solidFill>
                  <a:schemeClr val="tx1"/>
                </a:solidFill>
                <a:ea typeface="Liter" panose="02000503030000020004" pitchFamily="34" charset="-122"/>
                <a:cs typeface="+mn-lt"/>
              </a:rPr>
              <a:t>"</a:t>
            </a:r>
            <a:r>
              <a:rPr lang="zh-CN" altLang="en-US" sz="1500" dirty="0">
                <a:solidFill>
                  <a:schemeClr val="tx1"/>
                </a:solidFill>
                <a:ea typeface="Liter" panose="02000503030000020004" pitchFamily="34" charset="-122"/>
                <a:cs typeface="+mn-lt"/>
              </a:rPr>
              <a:t>写邮件催交周报</a:t>
            </a:r>
            <a:r>
              <a:rPr lang="en-US" altLang="zh-CN" sz="1500" dirty="0">
                <a:solidFill>
                  <a:schemeClr val="tx1"/>
                </a:solidFill>
                <a:ea typeface="Liter" panose="02000503030000020004" pitchFamily="34" charset="-122"/>
                <a:cs typeface="+mn-lt"/>
              </a:rPr>
              <a:t>"</a:t>
            </a:r>
            <a:endParaRPr lang="en-US" altLang="zh-CN" sz="1500" dirty="0">
              <a:solidFill>
                <a:schemeClr val="tx1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5325" y="2318385"/>
            <a:ext cx="4980305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altLang="en-US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</a:t>
            </a:r>
            <a:r>
              <a:rPr lang="en-US" altLang="zh-CN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语气生硬（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请尽快提交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）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altLang="en-US" sz="1600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✗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无背景、无截止时间、无支持选项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59780" y="1565910"/>
            <a:ext cx="9525" cy="443103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6044565" y="1565910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高级 PROMPT</a:t>
            </a:r>
            <a:endParaRPr lang="en-US" sz="1400" kern="0" spc="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44565" y="1833245"/>
            <a:ext cx="5349240" cy="1125220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182360" y="1883410"/>
            <a:ext cx="5072380" cy="84836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你是宝马销售运营总监。写邮件给区域经理。背景：本周周报用于月度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executive review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。语气专业但温和。要求：截止时间周四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18:00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，附模板链接，询问是否需要支持，最后感谢配合。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44565" y="3193415"/>
            <a:ext cx="1844675" cy="21717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高级输出效果</a:t>
            </a:r>
            <a:endParaRPr lang="en-US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4565" y="3460750"/>
            <a:ext cx="5349240" cy="2502535"/>
          </a:xfrm>
          <a:prstGeom prst="roundRect">
            <a:avLst>
              <a:gd name="adj" fmla="val 5000"/>
            </a:avLst>
          </a:prstGeom>
          <a:solidFill>
            <a:srgbClr val="E8E8E8">
              <a:alpha val="42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228715" y="3544570"/>
            <a:ext cx="4980305" cy="259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主题：【重要】本周周报截止提醒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– 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用于月度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executive review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各位区域经理：</a:t>
            </a:r>
            <a:endParaRPr lang="zh-CN" alt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本周周报将直接用于月度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executive review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，管理层非常关注数据完整性。</a:t>
            </a:r>
            <a:endParaRPr lang="zh-CN" alt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恳请各位在周四（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4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月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18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日）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18:00 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前提交周报。模板链接：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[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链接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]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如需支持，请随时联系。</a:t>
            </a:r>
            <a:endParaRPr lang="zh-CN" alt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感谢配合！</a:t>
            </a:r>
            <a:endParaRPr lang="zh-CN" alt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[</a:t>
            </a:r>
            <a:r>
              <a:rPr lang="zh-CN" alt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签名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]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74240" y="3263900"/>
            <a:ext cx="7856855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Copilot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宋体" panose="02010600030101010101" pitchFamily="2" charset="-122"/>
                <a:cs typeface="BMWGroupTN Condensed TT Medium" charset="0"/>
                <a:sym typeface="+mn-ea"/>
              </a:rPr>
              <a:t>进行邮件生成演示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Medium" charset="0"/>
              <a:ea typeface="宋体" panose="02010600030101010101" pitchFamily="2" charset="-122"/>
              <a:cs typeface="BMWGroupTN Condensed TT Medium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1460500" y="2598420"/>
            <a:ext cx="9364980" cy="2899410"/>
          </a:xfrm>
          <a:prstGeom prst="roundRect">
            <a:avLst>
              <a:gd name="adj" fmla="val 11500"/>
            </a:avLst>
          </a:prstGeom>
          <a:solidFill>
            <a:schemeClr val="tx1">
              <a:alpha val="12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402551" y="1078668"/>
            <a:ext cx="11317644" cy="5520389"/>
            <a:chOff x="-630" y="-4"/>
            <a:chExt cx="20122" cy="10748"/>
          </a:xfrm>
        </p:grpSpPr>
        <p:sp>
          <p:nvSpPr>
            <p:cNvPr id="4" name="Text 0"/>
            <p:cNvSpPr/>
            <p:nvPr/>
          </p:nvSpPr>
          <p:spPr>
            <a:xfrm>
              <a:off x="-508" y="-4"/>
              <a:ext cx="20000" cy="12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altLang="zh-CN" sz="2800" b="1" kern="0" spc="1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  <a:sym typeface="+mn-ea"/>
                </a:rPr>
                <a:t>Copilot </a:t>
              </a:r>
              <a:r>
                <a:rPr lang="zh-CN" altLang="en-US" sz="2800" b="1" kern="0" spc="1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  <a:sym typeface="+mn-ea"/>
                </a:rPr>
                <a:t>能生成</a:t>
              </a:r>
              <a:r>
                <a:rPr lang="en-US" altLang="zh-CN" sz="2800" b="1" kern="0" spc="1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  <a:sym typeface="+mn-ea"/>
                </a:rPr>
                <a:t> PPT </a:t>
              </a:r>
              <a:r>
                <a:rPr lang="zh-CN" altLang="en-US" sz="2800" b="1" kern="0" spc="1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  <a:sym typeface="+mn-ea"/>
                </a:rPr>
                <a:t>配图和背景</a:t>
              </a:r>
              <a:endParaRPr lang="zh-CN" altLang="en-US" sz="2800" b="1" kern="0" spc="100" dirty="0">
                <a:solidFill>
                  <a:srgbClr val="FFFFFF"/>
                </a:solidFill>
                <a:ea typeface="Liter" panose="02000503030000020004" pitchFamily="34" charset="-122"/>
                <a:cs typeface="+mn-lt"/>
                <a:sym typeface="+mn-ea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-630" y="1697"/>
              <a:ext cx="200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3200" b="1" kern="0" spc="3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刚才让你失望了，现在给你一个惊喜</a:t>
              </a:r>
              <a:endParaRPr lang="zh-CN" altLang="en-US" sz="3200" b="1" kern="0" spc="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491" y="9065"/>
              <a:ext cx="17999" cy="167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2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不再需要到处找版权图片</a:t>
              </a:r>
              <a:r>
                <a:rPr lang="en-US" altLang="zh-CN" sz="2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 · </a:t>
              </a:r>
              <a:r>
                <a:rPr lang="zh-CN" altLang="en-US" sz="2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不再需要花时间调背景渐变</a:t>
              </a:r>
              <a:endParaRPr lang="zh-CN" altLang="en-US" sz="2800" b="1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ea typeface="Liter" panose="02000503030000020004" pitchFamily="34" charset="-122"/>
                <a:cs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2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输入一句话，</a:t>
              </a:r>
              <a:r>
                <a:rPr lang="en-US" altLang="zh-CN" sz="2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3 </a:t>
              </a:r>
              <a:r>
                <a:rPr lang="zh-CN" altLang="en-US" sz="2800" b="1" dirty="0">
                  <a:ln w="15875"/>
                  <a:gradFill>
                    <a:gsLst>
                      <a:gs pos="0">
                        <a:schemeClr val="accent1"/>
                      </a:gs>
                      <a:gs pos="100000">
                        <a:schemeClr val="accent6"/>
                      </a:gs>
                    </a:gsLst>
                    <a:lin ang="2700000" scaled="0"/>
                  </a:gradFill>
                  <a:effectLst/>
                  <a:ea typeface="Liter" panose="02000503030000020004" pitchFamily="34" charset="-122"/>
                  <a:cs typeface="+mn-lt"/>
                </a:rPr>
                <a:t>秒钟获得一张专属配图</a:t>
              </a:r>
              <a:endParaRPr lang="zh-CN" altLang="en-US" sz="2800" b="1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ea typeface="Liter" panose="02000503030000020004" pitchFamily="34" charset="-122"/>
                <a:cs typeface="+mn-lt"/>
              </a:endParaRPr>
            </a:p>
          </p:txBody>
        </p:sp>
      </p:grpSp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>
                <a:ea typeface="宋体" panose="02010600030101010101" pitchFamily="2" charset="-122"/>
              </a:rPr>
              <a:t>好消息</a:t>
            </a:r>
            <a:endParaRPr lang="zh-CN">
              <a:ea typeface="宋体" panose="02010600030101010101" pitchFamily="2" charset="-122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2018030" y="2823210"/>
            <a:ext cx="8155940" cy="2038985"/>
            <a:chOff x="3800" y="7300"/>
            <a:chExt cx="18000" cy="4500"/>
          </a:xfrm>
        </p:grpSpPr>
        <p:sp>
          <p:nvSpPr>
            <p:cNvPr id="2" name="Text 4"/>
            <p:cNvSpPr/>
            <p:nvPr/>
          </p:nvSpPr>
          <p:spPr>
            <a:xfrm>
              <a:off x="3800" y="7300"/>
              <a:ext cx="18000" cy="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600" dirty="0">
                  <a:solidFill>
                    <a:srgbClr val="FFFFFF">
                      <a:alpha val="80000"/>
                    </a:srgbClr>
                  </a:solidFill>
                  <a:ea typeface="Liter" panose="02000503030000020004" pitchFamily="34" charset="-122"/>
                  <a:cs typeface="+mn-lt"/>
                </a:rPr>
                <a:t>Copilot Chat 集成了最新的 </a:t>
              </a:r>
              <a:r>
                <a:rPr lang="en-US" sz="1600" b="1" dirty="0">
                  <a:solidFill>
                    <a:srgbClr val="FFFFFF">
                      <a:alpha val="80000"/>
                    </a:srgbClr>
                  </a:solidFill>
                  <a:ea typeface="Liter" panose="02000503030000020004" pitchFamily="34" charset="-122"/>
                  <a:cs typeface="+mn-lt"/>
                </a:rPr>
                <a:t>GPT-Image-2</a:t>
              </a:r>
              <a:r>
                <a:rPr lang="en-US" sz="1600" dirty="0">
                  <a:solidFill>
                    <a:srgbClr val="FFFFFF">
                      <a:alpha val="80000"/>
                    </a:srgbClr>
                  </a:solidFill>
                  <a:ea typeface="Liter" panose="02000503030000020004" pitchFamily="34" charset="-122"/>
                  <a:cs typeface="+mn-lt"/>
                </a:rPr>
                <a:t> 模型，可以：</a:t>
              </a:r>
              <a:endParaRPr lang="en-US" sz="1600" dirty="0">
                <a:cs typeface="+mn-lt"/>
              </a:endParaRPr>
            </a:p>
          </p:txBody>
        </p:sp>
        <p:sp>
          <p:nvSpPr>
            <p:cNvPr id="3" name="Text 5"/>
            <p:cNvSpPr/>
            <p:nvPr/>
          </p:nvSpPr>
          <p:spPr>
            <a:xfrm>
              <a:off x="4800" y="8300"/>
              <a:ext cx="16000" cy="35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>
                <a:lnSpc>
                  <a:spcPct val="190000"/>
                </a:lnSpc>
              </a:pPr>
              <a:r>
                <a:rPr lang="en-US" sz="1800" dirty="0">
                  <a:solidFill>
                    <a:srgbClr val="00D4AA"/>
                  </a:solidFill>
                  <a:ea typeface="Liter" panose="02000503030000020004" pitchFamily="34" charset="-122"/>
                  <a:cs typeface="+mn-lt"/>
                </a:rPr>
                <a:t>✓</a:t>
              </a:r>
              <a:r>
                <a:rPr lang="en-US" sz="18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</a:rPr>
                <a:t> 生成 16:9 的 PPT 背景图</a:t>
              </a:r>
              <a:endParaRPr lang="en-US" sz="1600" dirty="0">
                <a:cs typeface="+mn-lt"/>
              </a:endParaRPr>
            </a:p>
            <a:p>
              <a:pPr algn="ctr">
                <a:lnSpc>
                  <a:spcPct val="190000"/>
                </a:lnSpc>
              </a:pPr>
              <a:r>
                <a:rPr lang="en-US" sz="1800" dirty="0">
                  <a:solidFill>
                    <a:srgbClr val="00D4AA"/>
                  </a:solidFill>
                  <a:ea typeface="Liter" panose="02000503030000020004" pitchFamily="34" charset="-122"/>
                  <a:cs typeface="+mn-lt"/>
                </a:rPr>
                <a:t>✓</a:t>
              </a:r>
              <a:r>
                <a:rPr lang="en-US" sz="18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</a:rPr>
                <a:t> 生成带文字的活动海报</a:t>
              </a:r>
              <a:endParaRPr lang="en-US" sz="1600" dirty="0">
                <a:cs typeface="+mn-lt"/>
              </a:endParaRPr>
            </a:p>
            <a:p>
              <a:pPr algn="ctr">
                <a:lnSpc>
                  <a:spcPct val="190000"/>
                </a:lnSpc>
              </a:pPr>
              <a:r>
                <a:rPr lang="en-US" sz="1800" dirty="0">
                  <a:solidFill>
                    <a:srgbClr val="00D4AA"/>
                  </a:solidFill>
                  <a:ea typeface="Liter" panose="02000503030000020004" pitchFamily="34" charset="-122"/>
                  <a:cs typeface="+mn-lt"/>
                </a:rPr>
                <a:t>✓</a:t>
              </a:r>
              <a:r>
                <a:rPr lang="en-US" sz="18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</a:rPr>
                <a:t> 生成产品展示图、UI 界面模拟</a:t>
              </a:r>
              <a:endParaRPr lang="en-US" sz="1600" dirty="0">
                <a:cs typeface="+mn-lt"/>
              </a:endParaRPr>
            </a:p>
            <a:p>
              <a:pPr algn="ctr">
                <a:lnSpc>
                  <a:spcPct val="190000"/>
                </a:lnSpc>
              </a:pPr>
              <a:r>
                <a:rPr lang="en-US" sz="1800" dirty="0">
                  <a:solidFill>
                    <a:srgbClr val="00D4AA"/>
                  </a:solidFill>
                  <a:ea typeface="Liter" panose="02000503030000020004" pitchFamily="34" charset="-122"/>
                  <a:cs typeface="+mn-lt"/>
                </a:rPr>
                <a:t>✓</a:t>
              </a:r>
              <a:r>
                <a:rPr lang="en-US" sz="1800" dirty="0">
                  <a:solidFill>
                    <a:srgbClr val="FFFFFF"/>
                  </a:solidFill>
                  <a:ea typeface="Liter" panose="02000503030000020004" pitchFamily="34" charset="-122"/>
                  <a:cs typeface="+mn-lt"/>
                </a:rPr>
                <a:t> 生成社交媒体风格截图</a:t>
              </a:r>
              <a:endParaRPr lang="en-US" sz="1600" dirty="0">
                <a:cs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图像生成</a:t>
            </a:r>
            <a:r>
              <a:rPr lang="en-US" altLang="zh-CN">
                <a:ea typeface="宋体" panose="02010600030101010101" pitchFamily="2" charset="-122"/>
              </a:rPr>
              <a:t> —— </a:t>
            </a:r>
            <a:r>
              <a:rPr lang="zh-CN" altLang="en-US">
                <a:ea typeface="宋体" panose="02010600030101010101" pitchFamily="2" charset="-122"/>
              </a:rPr>
              <a:t>通用</a:t>
            </a:r>
            <a:r>
              <a:rPr lang="en-US" altLang="zh-CN">
                <a:ea typeface="宋体" panose="02010600030101010101" pitchFamily="2" charset="-122"/>
              </a:rPr>
              <a:t> Prompt </a:t>
            </a:r>
            <a:r>
              <a:rPr lang="zh-CN" altLang="en-US">
                <a:ea typeface="宋体" panose="02010600030101010101" pitchFamily="2" charset="-122"/>
              </a:rPr>
              <a:t>模板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7" name="组合 26"/>
          <p:cNvGrpSpPr>
            <a:grpSpLocks noChangeAspect="1"/>
          </p:cNvGrpSpPr>
          <p:nvPr/>
        </p:nvGrpSpPr>
        <p:grpSpPr>
          <a:xfrm>
            <a:off x="443230" y="1833880"/>
            <a:ext cx="11304905" cy="4474120"/>
            <a:chOff x="1200" y="2100"/>
            <a:chExt cx="23200" cy="9181"/>
          </a:xfrm>
        </p:grpSpPr>
        <p:sp>
          <p:nvSpPr>
            <p:cNvPr id="5" name="Text 2"/>
            <p:cNvSpPr/>
            <p:nvPr/>
          </p:nvSpPr>
          <p:spPr>
            <a:xfrm>
              <a:off x="1200" y="2100"/>
              <a:ext cx="4000" cy="5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1400" kern="0" spc="2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公式</a:t>
              </a:r>
              <a:endParaRPr lang="en-US" sz="1400" kern="0" spc="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1200" y="2740"/>
              <a:ext cx="23200" cy="1100"/>
            </a:xfrm>
            <a:prstGeom prst="roundRect">
              <a:avLst>
                <a:gd name="adj" fmla="val 5000"/>
              </a:avLst>
            </a:prstGeom>
            <a:solidFill>
              <a:srgbClr val="E6F0FA">
                <a:alpha val="29000"/>
              </a:srgbClr>
            </a:solidFill>
          </p:spPr>
        </p:sp>
        <p:sp>
          <p:nvSpPr>
            <p:cNvPr id="8" name="Text 4"/>
            <p:cNvSpPr/>
            <p:nvPr/>
          </p:nvSpPr>
          <p:spPr>
            <a:xfrm>
              <a:off x="1600" y="2840"/>
              <a:ext cx="22400" cy="9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8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[场景描述]</a:t>
              </a:r>
              <a:r>
                <a:rPr lang="en-US" sz="180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，</a:t>
              </a:r>
              <a:r>
                <a:rPr lang="en-US" sz="18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[文字内容（可选）]</a:t>
              </a:r>
              <a:r>
                <a:rPr lang="en-US" sz="180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，</a:t>
              </a:r>
              <a:r>
                <a:rPr lang="en-US" sz="18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[风格关键词]</a:t>
              </a:r>
              <a:r>
                <a:rPr lang="en-US" sz="180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，</a:t>
              </a:r>
              <a:r>
                <a:rPr lang="en-US" sz="18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[光影/视角]</a:t>
              </a:r>
              <a:r>
                <a:rPr lang="en-US" sz="180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，</a:t>
              </a:r>
              <a:r>
                <a:rPr lang="en-US" sz="18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[宽高比]</a:t>
              </a:r>
              <a:endParaRPr lang="en-US" sz="1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4" name="Text 5"/>
            <p:cNvSpPr/>
            <p:nvPr/>
          </p:nvSpPr>
          <p:spPr>
            <a:xfrm>
              <a:off x="1200" y="4300"/>
              <a:ext cx="4000" cy="52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00" kern="0" spc="200" dirty="0">
                  <a:solidFill>
                    <a:srgbClr val="00D4AA"/>
                  </a:solidFill>
                  <a:ea typeface="Liter" panose="02000503030000020004" pitchFamily="34" charset="-122"/>
                  <a:cs typeface="+mn-lt"/>
                </a:rPr>
                <a:t>示例（PPT 背景）</a:t>
              </a:r>
              <a:endParaRPr lang="en-US" sz="1400" kern="0" spc="200" dirty="0">
                <a:solidFill>
                  <a:srgbClr val="00D4AA"/>
                </a:solidFill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5" name="Shape 6"/>
            <p:cNvSpPr/>
            <p:nvPr/>
          </p:nvSpPr>
          <p:spPr>
            <a:xfrm>
              <a:off x="1200" y="4940"/>
              <a:ext cx="23200" cy="1600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39000"/>
              </a:srgbClr>
            </a:solidFill>
            <a:effectLst>
              <a:outerShdw blurRad="76200" dist="25400" dir="5400000" algn="bl" rotWithShape="0">
                <a:srgbClr val="000000">
                  <a:alpha val="3137"/>
                </a:srgbClr>
              </a:outerShdw>
            </a:effectLst>
          </p:spPr>
          <p:txBody>
            <a:bodyPr>
              <a:scene3d>
                <a:camera prst="orthographicFront"/>
                <a:lightRig rig="threePt" dir="t"/>
              </a:scene3d>
            </a:bodyPr>
            <a:p>
              <a:endPara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" name="Text 7"/>
            <p:cNvSpPr/>
            <p:nvPr/>
          </p:nvSpPr>
          <p:spPr>
            <a:xfrm>
              <a:off x="1600" y="5059"/>
              <a:ext cx="22400" cy="13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5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Create a 16:9 image for PowerPoint background, dark blue gradient with abstract light streaks, minimalistic, space for text on the left.</a:t>
              </a:r>
              <a:endParaRPr 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17" name="Text 8"/>
            <p:cNvSpPr/>
            <p:nvPr/>
          </p:nvSpPr>
          <p:spPr>
            <a:xfrm>
              <a:off x="1200" y="7100"/>
              <a:ext cx="4000" cy="5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1400" kern="0" spc="2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核心法则</a:t>
              </a:r>
              <a:endParaRPr lang="en-US" sz="1400" kern="0" spc="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18" name="Shape 9"/>
            <p:cNvSpPr/>
            <p:nvPr/>
          </p:nvSpPr>
          <p:spPr>
            <a:xfrm>
              <a:off x="1200" y="7900"/>
              <a:ext cx="7401" cy="3381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33000"/>
              </a:srgbClr>
            </a:solidFill>
            <a:effectLst>
              <a:outerShdw blurRad="76200" dist="25400" dir="5400000" algn="bl" rotWithShape="0">
                <a:srgbClr val="000000">
                  <a:alpha val="3137"/>
                </a:srgbClr>
              </a:outerShdw>
            </a:effectLst>
          </p:spPr>
        </p:sp>
        <p:sp>
          <p:nvSpPr>
            <p:cNvPr id="19" name="Text 10"/>
            <p:cNvSpPr/>
            <p:nvPr/>
          </p:nvSpPr>
          <p:spPr>
            <a:xfrm>
              <a:off x="1600" y="8100"/>
              <a:ext cx="8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1</a:t>
              </a:r>
              <a:endParaRPr lang="en-US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20" name="Text 11"/>
            <p:cNvSpPr/>
            <p:nvPr/>
          </p:nvSpPr>
          <p:spPr>
            <a:xfrm>
              <a:off x="1600" y="8900"/>
              <a:ext cx="660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指定 </a:t>
              </a:r>
              <a:r>
                <a:rPr lang="en-US" sz="16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16:9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6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PPT 标准比例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21" name="Shape 12"/>
            <p:cNvSpPr/>
            <p:nvPr/>
          </p:nvSpPr>
          <p:spPr>
            <a:xfrm>
              <a:off x="9100" y="7900"/>
              <a:ext cx="7401" cy="3381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33000"/>
              </a:srgbClr>
            </a:solidFill>
            <a:effectLst>
              <a:outerShdw blurRad="76200" dist="25400" dir="5400000" algn="bl" rotWithShape="0">
                <a:srgbClr val="000000">
                  <a:alpha val="3137"/>
                </a:srgbClr>
              </a:outerShdw>
            </a:effectLst>
          </p:spPr>
        </p:sp>
        <p:sp>
          <p:nvSpPr>
            <p:cNvPr id="22" name="Text 13"/>
            <p:cNvSpPr/>
            <p:nvPr/>
          </p:nvSpPr>
          <p:spPr>
            <a:xfrm>
              <a:off x="9500" y="8100"/>
              <a:ext cx="8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2</a:t>
              </a:r>
              <a:endParaRPr lang="en-US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23" name="Text 14"/>
            <p:cNvSpPr/>
            <p:nvPr/>
          </p:nvSpPr>
          <p:spPr>
            <a:xfrm>
              <a:off x="9500" y="8900"/>
              <a:ext cx="660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留白区域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>
                <a:lnSpc>
                  <a:spcPct val="16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Liter" panose="02000503030000020004" pitchFamily="34" charset="-120"/>
                </a:rPr>
                <a:t>用于放文字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  <p:sp>
          <p:nvSpPr>
            <p:cNvPr id="24" name="Shape 15"/>
            <p:cNvSpPr/>
            <p:nvPr/>
          </p:nvSpPr>
          <p:spPr>
            <a:xfrm>
              <a:off x="16999" y="7900"/>
              <a:ext cx="7401" cy="3381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33000"/>
              </a:srgbClr>
            </a:solidFill>
            <a:effectLst>
              <a:outerShdw blurRad="76200" dist="25400" dir="5400000" algn="bl" rotWithShape="0">
                <a:srgbClr val="000000">
                  <a:alpha val="3137"/>
                </a:srgbClr>
              </a:outerShdw>
            </a:effectLst>
          </p:spPr>
        </p:sp>
        <p:sp>
          <p:nvSpPr>
            <p:cNvPr id="25" name="Text 16"/>
            <p:cNvSpPr/>
            <p:nvPr/>
          </p:nvSpPr>
          <p:spPr>
            <a:xfrm>
              <a:off x="17400" y="8100"/>
              <a:ext cx="800" cy="7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Liter" panose="02000503030000020004" pitchFamily="34" charset="-122"/>
                  <a:cs typeface="+mn-lt"/>
                </a:rPr>
                <a:t>3</a:t>
              </a:r>
              <a:endParaRPr lang="en-US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  <p:sp>
          <p:nvSpPr>
            <p:cNvPr id="26" name="Text 17"/>
            <p:cNvSpPr/>
            <p:nvPr/>
          </p:nvSpPr>
          <p:spPr>
            <a:xfrm>
              <a:off x="17400" y="8900"/>
              <a:ext cx="660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cene3d>
                <a:camera prst="orthographicFront"/>
                <a:lightRig rig="threePt" dir="t"/>
              </a:scene3d>
            </a:bodyPr>
            <a:lstStyle/>
            <a:p>
              <a:pPr>
                <a:lnSpc>
                  <a:spcPct val="16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风格关键词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lt"/>
              </a:endParaRPr>
            </a:p>
            <a:p>
              <a:pPr>
                <a:lnSpc>
                  <a:spcPct val="160000"/>
                </a:lnSpc>
              </a:pPr>
              <a:r>
                <a:rPr lang="en-US" sz="160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Liter" panose="02000503030000020004" pitchFamily="34" charset="-122"/>
                  <a:cs typeface="+mn-lt"/>
                </a:rPr>
                <a:t>"极简""科技感""商务蓝"</a:t>
              </a:r>
              <a:endPara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现场演示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en-US">
                <a:ea typeface="宋体" panose="02010600030101010101" pitchFamily="2" charset="-122"/>
              </a:rPr>
              <a:t>①</a:t>
            </a:r>
            <a:r>
              <a:rPr lang="en-US" altLang="zh-CN">
                <a:ea typeface="宋体" panose="02010600030101010101" pitchFamily="2" charset="-122"/>
              </a:rPr>
              <a:t> —— </a:t>
            </a:r>
            <a:r>
              <a:rPr lang="zh-CN" altLang="en-US">
                <a:ea typeface="宋体" panose="02010600030101010101" pitchFamily="2" charset="-122"/>
              </a:rPr>
              <a:t>生成</a:t>
            </a:r>
            <a:r>
              <a:rPr lang="en-US" altLang="zh-CN">
                <a:ea typeface="宋体" panose="02010600030101010101" pitchFamily="2" charset="-122"/>
              </a:rPr>
              <a:t> PPT </a:t>
            </a:r>
            <a:r>
              <a:rPr lang="zh-CN" altLang="en-US">
                <a:ea typeface="宋体" panose="02010600030101010101" pitchFamily="2" charset="-122"/>
              </a:rPr>
              <a:t>背景图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3230" y="152209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PROMPT</a:t>
            </a:r>
            <a:endParaRPr lang="en-US" altLang="zh-CN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3230" y="1833880"/>
            <a:ext cx="11304905" cy="535940"/>
          </a:xfrm>
          <a:prstGeom prst="roundRect">
            <a:avLst>
              <a:gd name="adj" fmla="val 5000"/>
            </a:avLst>
          </a:prstGeom>
          <a:solidFill>
            <a:srgbClr val="E6F0FA">
              <a:alpha val="29000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638175" y="1882775"/>
            <a:ext cx="10915015" cy="438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Create a 16:9 PowerPoint background, deep blue to black gradient, subtle glowing lines forming a road perspective, BMW logo silhouette in bottom right, left side 40% dark solid area for text, modern corporate style.</a:t>
            </a:r>
            <a:endParaRPr lang="en-US" altLang="zh-CN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43230" y="259397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400" kern="0" spc="200" dirty="0">
                <a:solidFill>
                  <a:srgbClr val="00D4AA"/>
                </a:solidFill>
                <a:ea typeface="Liter" panose="02000503030000020004" pitchFamily="34" charset="-122"/>
                <a:cs typeface="+mn-lt"/>
              </a:rPr>
              <a:t>使用流程</a:t>
            </a:r>
            <a:endParaRPr lang="zh-CN" altLang="en-US" sz="1400" kern="0" spc="200" dirty="0">
              <a:solidFill>
                <a:srgbClr val="00D4AA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2" name="Shape 6"/>
          <p:cNvSpPr/>
          <p:nvPr/>
        </p:nvSpPr>
        <p:spPr>
          <a:xfrm>
            <a:off x="443230" y="3248660"/>
            <a:ext cx="3508375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175" y="331152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1</a:t>
            </a:r>
            <a:endParaRPr lang="en-US" sz="24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8175" y="3602355"/>
            <a:ext cx="3118485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复制 Prompt → 发送给 Copilot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" name="Shape 9"/>
          <p:cNvSpPr/>
          <p:nvPr/>
        </p:nvSpPr>
        <p:spPr>
          <a:xfrm>
            <a:off x="4097655" y="3523615"/>
            <a:ext cx="233680" cy="18859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0066B1"/>
          </a:solidFill>
        </p:spPr>
      </p:sp>
      <p:sp>
        <p:nvSpPr>
          <p:cNvPr id="12" name="Shape 10"/>
          <p:cNvSpPr/>
          <p:nvPr/>
        </p:nvSpPr>
        <p:spPr>
          <a:xfrm>
            <a:off x="4487545" y="3248660"/>
            <a:ext cx="3021330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2490" y="331152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2</a:t>
            </a:r>
            <a:endParaRPr lang="en-US" sz="24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4" name="Text 12"/>
          <p:cNvSpPr/>
          <p:nvPr/>
        </p:nvSpPr>
        <p:spPr>
          <a:xfrm>
            <a:off x="4682490" y="3602355"/>
            <a:ext cx="263144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下载图片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6" name="Shape 13"/>
          <p:cNvSpPr/>
          <p:nvPr/>
        </p:nvSpPr>
        <p:spPr>
          <a:xfrm>
            <a:off x="7654925" y="3523615"/>
            <a:ext cx="233680" cy="18859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0066B1"/>
          </a:solidFill>
        </p:spPr>
      </p:sp>
      <p:sp>
        <p:nvSpPr>
          <p:cNvPr id="28" name="Shape 14"/>
          <p:cNvSpPr/>
          <p:nvPr/>
        </p:nvSpPr>
        <p:spPr>
          <a:xfrm>
            <a:off x="8044815" y="3248660"/>
            <a:ext cx="3703320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9" name="Text 15"/>
          <p:cNvSpPr/>
          <p:nvPr/>
        </p:nvSpPr>
        <p:spPr>
          <a:xfrm>
            <a:off x="8239760" y="331152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3</a:t>
            </a:r>
            <a:endParaRPr lang="en-US" sz="24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8239760" y="3602355"/>
            <a:ext cx="361061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PPT 右键 → 设置背景格式 → 图片填充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443230" y="4335145"/>
            <a:ext cx="11304905" cy="1571625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32" name="Shape 18"/>
          <p:cNvSpPr/>
          <p:nvPr/>
        </p:nvSpPr>
        <p:spPr>
          <a:xfrm>
            <a:off x="716280" y="4466590"/>
            <a:ext cx="273050" cy="25146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00D4AA"/>
          </a:solidFill>
        </p:spPr>
      </p:sp>
      <p:sp>
        <p:nvSpPr>
          <p:cNvPr id="33" name="Text 19"/>
          <p:cNvSpPr/>
          <p:nvPr/>
        </p:nvSpPr>
        <p:spPr>
          <a:xfrm>
            <a:off x="1174115" y="4466590"/>
            <a:ext cx="2923540" cy="2514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效果</a:t>
            </a:r>
            <a:endParaRPr lang="en-US" sz="1800" b="1" dirty="0">
              <a:solidFill>
                <a:srgbClr val="00D4AA"/>
              </a:solidFill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735330" y="4859655"/>
            <a:ext cx="10720070" cy="78613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sz="1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一张专业级背景图，无需设计师。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深蓝色渐变 + 发光线条构成的道路透视感 + 右下角 BMW logo 剪影 + 左侧 40% 深色区域用于文字。</a:t>
            </a:r>
            <a:endParaRPr lang="en-US" sz="18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现场演示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en-US">
                <a:ea typeface="宋体" panose="02010600030101010101" pitchFamily="2" charset="-122"/>
              </a:rPr>
              <a:t>②</a:t>
            </a:r>
            <a:r>
              <a:rPr lang="en-US" altLang="zh-CN">
                <a:ea typeface="宋体" panose="02010600030101010101" pitchFamily="2" charset="-122"/>
              </a:rPr>
              <a:t> —— </a:t>
            </a:r>
            <a:r>
              <a:rPr lang="zh-CN" altLang="en-US">
                <a:ea typeface="宋体" panose="02010600030101010101" pitchFamily="2" charset="-122"/>
              </a:rPr>
              <a:t>生成带文字的活动海报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3230" y="150558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PROMPT</a:t>
            </a:r>
            <a:endParaRPr lang="en-US" altLang="zh-CN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3230" y="1817370"/>
            <a:ext cx="11304905" cy="535940"/>
          </a:xfrm>
          <a:prstGeom prst="roundRect">
            <a:avLst>
              <a:gd name="adj" fmla="val 5000"/>
            </a:avLst>
          </a:prstGeom>
          <a:solidFill>
            <a:srgbClr val="E6F0FA">
              <a:alpha val="29000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638175" y="1866265"/>
            <a:ext cx="10915015" cy="438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A corporate event poster, title "BMW JOY FEST 2026" in large bold white letters, subtitle "JUNE 20-22 | SHANGHAI", neon purple and blue gradient background, silhouette of a car and crowd, 16:9, modern festival style.</a:t>
            </a:r>
            <a:endParaRPr lang="en-US" altLang="zh-CN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43230" y="257746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400" kern="0" spc="200" dirty="0">
                <a:solidFill>
                  <a:srgbClr val="00D4AA"/>
                </a:solidFill>
                <a:ea typeface="Liter" panose="02000503030000020004" pitchFamily="34" charset="-122"/>
                <a:cs typeface="+mn-lt"/>
              </a:rPr>
              <a:t>应用场景</a:t>
            </a:r>
            <a:endParaRPr lang="zh-CN" altLang="en-US" sz="1400" kern="0" spc="200" dirty="0">
              <a:solidFill>
                <a:srgbClr val="00D4AA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2" name="Shape 6"/>
          <p:cNvSpPr/>
          <p:nvPr/>
        </p:nvSpPr>
        <p:spPr>
          <a:xfrm>
            <a:off x="443230" y="3232150"/>
            <a:ext cx="3508375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175" y="329501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1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8175" y="3585845"/>
            <a:ext cx="3118485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经销商活动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7545" y="3232150"/>
            <a:ext cx="3021330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2490" y="329501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2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4" name="Text 12"/>
          <p:cNvSpPr/>
          <p:nvPr/>
        </p:nvSpPr>
        <p:spPr>
          <a:xfrm>
            <a:off x="4682490" y="3585845"/>
            <a:ext cx="263144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内部年会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8044815" y="3232150"/>
            <a:ext cx="3703320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9" name="Text 15"/>
          <p:cNvSpPr/>
          <p:nvPr/>
        </p:nvSpPr>
        <p:spPr>
          <a:xfrm>
            <a:off x="8239760" y="329501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3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8239760" y="3585845"/>
            <a:ext cx="331343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产品发布会预热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443230" y="4253865"/>
            <a:ext cx="11304905" cy="2064385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32" name="Shape 18"/>
          <p:cNvSpPr/>
          <p:nvPr/>
        </p:nvSpPr>
        <p:spPr>
          <a:xfrm>
            <a:off x="716280" y="4450080"/>
            <a:ext cx="252095" cy="23749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00D4AA"/>
          </a:solidFill>
        </p:spPr>
      </p:sp>
      <p:sp>
        <p:nvSpPr>
          <p:cNvPr id="33" name="Text 19"/>
          <p:cNvSpPr/>
          <p:nvPr/>
        </p:nvSpPr>
        <p:spPr>
          <a:xfrm>
            <a:off x="1108710" y="4442460"/>
            <a:ext cx="2923540" cy="2514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关键要点</a:t>
            </a:r>
            <a:endParaRPr lang="zh-CN" altLang="en-US" sz="1800" b="1" dirty="0">
              <a:solidFill>
                <a:srgbClr val="00D4AA"/>
              </a:solidFill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695960" y="4755515"/>
            <a:ext cx="10720070" cy="78613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• 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明确指定文字内容、位置和字体样式（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"large bold white letters"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）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• 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描述背景风格（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"neon purple and blue gradient"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）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• 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添加场景元素丰富画面（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"silhouette of a car and crowd"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）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• 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指定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16:9 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比例确保适配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PPT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更多场景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en-US">
                <a:ea typeface="宋体" panose="02010600030101010101" pitchFamily="2" charset="-122"/>
              </a:rPr>
              <a:t>①</a:t>
            </a:r>
            <a:r>
              <a:rPr lang="en-US" altLang="zh-CN">
                <a:ea typeface="宋体" panose="02010600030101010101" pitchFamily="2" charset="-122"/>
              </a:rPr>
              <a:t> —— </a:t>
            </a:r>
            <a:r>
              <a:rPr lang="zh-CN" altLang="en-US">
                <a:ea typeface="宋体" panose="02010600030101010101" pitchFamily="2" charset="-122"/>
              </a:rPr>
              <a:t>社交媒体截图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3230" y="141287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PROMPT</a:t>
            </a:r>
            <a:endParaRPr lang="en-US" altLang="zh-CN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3230" y="1724660"/>
            <a:ext cx="11304905" cy="535940"/>
          </a:xfrm>
          <a:prstGeom prst="roundRect">
            <a:avLst>
              <a:gd name="adj" fmla="val 5000"/>
            </a:avLst>
          </a:prstGeom>
          <a:solidFill>
            <a:srgbClr val="E6F0FA">
              <a:alpha val="29000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638175" y="1773555"/>
            <a:ext cx="10915015" cy="438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A TikTok video screenshot, driving POV from a BMW i5, view count "2.5M", heart icon "189k", caption "Highway autopilot is insane", verified blue check, 9:16 ratio.</a:t>
            </a:r>
            <a:endParaRPr lang="en-US" altLang="zh-CN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43230" y="248475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400" kern="0" spc="200" dirty="0">
                <a:solidFill>
                  <a:srgbClr val="00D4AA"/>
                </a:solidFill>
                <a:ea typeface="Liter" panose="02000503030000020004" pitchFamily="34" charset="-122"/>
                <a:cs typeface="+mn-lt"/>
              </a:rPr>
              <a:t>应用场景</a:t>
            </a:r>
            <a:endParaRPr lang="zh-CN" altLang="en-US" sz="1400" kern="0" spc="200" dirty="0">
              <a:solidFill>
                <a:srgbClr val="00D4AA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2" name="Shape 6"/>
          <p:cNvSpPr/>
          <p:nvPr/>
        </p:nvSpPr>
        <p:spPr>
          <a:xfrm>
            <a:off x="443230" y="2962275"/>
            <a:ext cx="11304905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p>
            <a:pPr>
              <a:lnSpc>
                <a:spcPct val="160000"/>
              </a:lnSpc>
            </a:pPr>
            <a:r>
              <a:rPr lang="en-US" sz="1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快速构思短视频内容，可视化创意提案</a:t>
            </a:r>
            <a:endParaRPr lang="en-US" sz="14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在提案阶段用模拟截图展示创意方向，无需实际拍摄</a:t>
            </a:r>
            <a:endParaRPr lang="en-US" alt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43230" y="4563745"/>
            <a:ext cx="3606165" cy="1284605"/>
          </a:xfrm>
          <a:prstGeom prst="roundRect">
            <a:avLst>
              <a:gd name="adj" fmla="val 5000"/>
            </a:avLst>
          </a:prstGeom>
          <a:solidFill>
            <a:srgbClr val="FFFFFF">
              <a:alpha val="31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38175" y="4702175"/>
            <a:ext cx="3216275" cy="103759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5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指定平台风格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TikTok / Instagram / 小红书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不同平台 UI 差异大</a:t>
            </a:r>
            <a:endParaRPr lang="en-US" sz="15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292600" y="4563745"/>
            <a:ext cx="3606165" cy="1284605"/>
          </a:xfrm>
          <a:prstGeom prst="roundRect">
            <a:avLst>
              <a:gd name="adj" fmla="val 5000"/>
            </a:avLst>
          </a:prstGeom>
          <a:solidFill>
            <a:srgbClr val="FFFFFF">
              <a:alpha val="31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487545" y="4702175"/>
            <a:ext cx="3216275" cy="103759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5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包含数据元素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view count、likes、comments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增加真实感</a:t>
            </a:r>
            <a:endParaRPr lang="en-US" sz="15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141970" y="4563745"/>
            <a:ext cx="3606165" cy="1284605"/>
          </a:xfrm>
          <a:prstGeom prst="roundRect">
            <a:avLst>
              <a:gd name="adj" fmla="val 5000"/>
            </a:avLst>
          </a:prstGeom>
          <a:solidFill>
            <a:srgbClr val="FFFFFF">
              <a:alpha val="31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336915" y="4702175"/>
            <a:ext cx="3216275" cy="103759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5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指定比例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9:16 竖屏比例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匹配手机截图</a:t>
            </a:r>
            <a:endParaRPr lang="en-US" sz="15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443230" y="406019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400" b="1" kern="0" spc="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技巧要点</a:t>
            </a:r>
            <a:endParaRPr lang="en-US" sz="1400" b="1" kern="0" spc="2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更多场景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en-US">
                <a:ea typeface="宋体" panose="02010600030101010101" pitchFamily="2" charset="-122"/>
              </a:rPr>
              <a:t>②</a:t>
            </a:r>
            <a:r>
              <a:rPr lang="en-US" altLang="zh-CN">
                <a:ea typeface="宋体" panose="02010600030101010101" pitchFamily="2" charset="-122"/>
              </a:rPr>
              <a:t> —— </a:t>
            </a:r>
            <a:r>
              <a:rPr lang="zh-CN" altLang="en-US">
                <a:ea typeface="宋体" panose="02010600030101010101" pitchFamily="2" charset="-122"/>
              </a:rPr>
              <a:t>复古旅行海报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3230" y="153352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PROMPT</a:t>
            </a:r>
            <a:endParaRPr lang="en-US" altLang="zh-CN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3230" y="1845310"/>
            <a:ext cx="11304905" cy="535940"/>
          </a:xfrm>
          <a:prstGeom prst="roundRect">
            <a:avLst>
              <a:gd name="adj" fmla="val 5000"/>
            </a:avLst>
          </a:prstGeom>
          <a:solidFill>
            <a:srgbClr val="E6F0FA">
              <a:alpha val="29000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638175" y="1894205"/>
            <a:ext cx="10915015" cy="438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Amalfi Coast vintage travel poster, hand-drawn pencil illustration, pastel Mediterranean colors, Italian coastline with lemon trees and sailboats, text "DRIVE THE DREAM" in elegant serif, BMW logo small at bottom, 1950s tourism aesthetic, 3:4 ratio.</a:t>
            </a:r>
            <a:endParaRPr lang="en-US" altLang="zh-CN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43230" y="260540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400" kern="0" spc="200" dirty="0">
                <a:solidFill>
                  <a:srgbClr val="00D4AA"/>
                </a:solidFill>
                <a:ea typeface="Liter" panose="02000503030000020004" pitchFamily="34" charset="-122"/>
                <a:cs typeface="+mn-lt"/>
              </a:rPr>
              <a:t>应用场景</a:t>
            </a:r>
            <a:endParaRPr lang="zh-CN" altLang="en-US" sz="1400" kern="0" spc="200" dirty="0">
              <a:solidFill>
                <a:srgbClr val="00D4AA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2" name="Shape 6"/>
          <p:cNvSpPr/>
          <p:nvPr/>
        </p:nvSpPr>
        <p:spPr>
          <a:xfrm>
            <a:off x="443230" y="3260090"/>
            <a:ext cx="3508375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175" y="332295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1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8175" y="3613785"/>
            <a:ext cx="3118485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品牌周边设计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7545" y="3260090"/>
            <a:ext cx="3021330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2490" y="332295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2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4" name="Text 12"/>
          <p:cNvSpPr/>
          <p:nvPr/>
        </p:nvSpPr>
        <p:spPr>
          <a:xfrm>
            <a:off x="4682490" y="3613785"/>
            <a:ext cx="263144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文化宣传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8044815" y="3260090"/>
            <a:ext cx="3703320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9" name="Text 15"/>
          <p:cNvSpPr/>
          <p:nvPr/>
        </p:nvSpPr>
        <p:spPr>
          <a:xfrm>
            <a:off x="8239760" y="332295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3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8239760" y="3613785"/>
            <a:ext cx="331343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内部装饰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443230" y="4281805"/>
            <a:ext cx="11304905" cy="2064385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2" name="Shape 18"/>
          <p:cNvSpPr/>
          <p:nvPr/>
        </p:nvSpPr>
        <p:spPr>
          <a:xfrm>
            <a:off x="716280" y="4478020"/>
            <a:ext cx="252095" cy="23749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00D4AA"/>
          </a:solidFill>
        </p:spPr>
      </p:sp>
      <p:sp>
        <p:nvSpPr>
          <p:cNvPr id="33" name="Text 19"/>
          <p:cNvSpPr/>
          <p:nvPr/>
        </p:nvSpPr>
        <p:spPr>
          <a:xfrm>
            <a:off x="1108710" y="4470400"/>
            <a:ext cx="2923540" cy="2514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风格关键词</a:t>
            </a:r>
            <a:endParaRPr lang="zh-CN" altLang="en-US" sz="1800" b="1" dirty="0">
              <a:solidFill>
                <a:srgbClr val="00D4AA"/>
              </a:solidFill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8175" y="4877435"/>
            <a:ext cx="1069467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sz="16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hand-drawn pencil illustration pastel Mediterranean colors 1950s tourism aesthetic</a:t>
            </a:r>
            <a:endParaRPr lang="en-US" sz="16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l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16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  <a:sym typeface="+mn-ea"/>
              </a:rPr>
              <a:t>elegant serif 3:4 ratio vintage travel poster</a:t>
            </a:r>
            <a:endParaRPr lang="en-US" sz="16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lt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1600" dirty="0">
                <a:solidFill>
                  <a:schemeClr val="tx1"/>
                </a:solidFill>
                <a:ea typeface="Liter" panose="02000503030000020004" pitchFamily="34" charset="-122"/>
                <a:cs typeface="+mn-lt"/>
                <a:sym typeface="+mn-ea"/>
              </a:rPr>
              <a:t>技巧：明确指定艺术风格年代和绘画技法，可获得更精准的复古效果</a:t>
            </a:r>
            <a:endParaRPr lang="en-US" altLang="en-US" sz="1600" dirty="0">
              <a:solidFill>
                <a:schemeClr val="tx1"/>
              </a:solidFill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宋体" panose="02010600030101010101" pitchFamily="2" charset="-122"/>
              </a:rPr>
              <a:t>更多场景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en-US">
                <a:ea typeface="宋体" panose="02010600030101010101" pitchFamily="2" charset="-122"/>
              </a:rPr>
              <a:t>③</a:t>
            </a:r>
            <a:r>
              <a:rPr lang="en-US" altLang="zh-CN">
                <a:ea typeface="宋体" panose="02010600030101010101" pitchFamily="2" charset="-122"/>
              </a:rPr>
              <a:t> —— UI </a:t>
            </a:r>
            <a:r>
              <a:rPr lang="zh-CN" altLang="en-US">
                <a:ea typeface="宋体" panose="02010600030101010101" pitchFamily="2" charset="-122"/>
              </a:rPr>
              <a:t>模拟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3230" y="153352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kern="0" spc="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PROMPT</a:t>
            </a:r>
            <a:endParaRPr lang="en-US" altLang="zh-CN" sz="1400" kern="0" spc="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3230" y="1845310"/>
            <a:ext cx="11304905" cy="535940"/>
          </a:xfrm>
          <a:prstGeom prst="roundRect">
            <a:avLst>
              <a:gd name="adj" fmla="val 5000"/>
            </a:avLst>
          </a:prstGeom>
          <a:solidFill>
            <a:srgbClr val="E6F0FA">
              <a:alpha val="29000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638175" y="1894205"/>
            <a:ext cx="10915015" cy="438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0000"/>
              </a:lnSpc>
            </a:pPr>
            <a:r>
              <a:rPr lang="en-US" altLang="zh-CN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iPhone 17 Pro mockup showing a BMW owner app dashboard, dark mode, large "MY i5" text, battery range "412 km", tire pressure all green, bottom navigation with 4 icons, clean modern UI.</a:t>
            </a:r>
            <a:endParaRPr lang="en-US" altLang="zh-CN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43230" y="2605405"/>
            <a:ext cx="1948815" cy="2533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400" kern="0" spc="200" dirty="0">
                <a:solidFill>
                  <a:srgbClr val="00D4AA"/>
                </a:solidFill>
                <a:ea typeface="Liter" panose="02000503030000020004" pitchFamily="34" charset="-122"/>
                <a:cs typeface="+mn-lt"/>
              </a:rPr>
              <a:t>应用场景</a:t>
            </a:r>
            <a:endParaRPr lang="zh-CN" altLang="en-US" sz="1400" kern="0" spc="200" dirty="0">
              <a:solidFill>
                <a:srgbClr val="00D4AA"/>
              </a:solidFill>
              <a:ea typeface="Liter" panose="02000503030000020004" pitchFamily="34" charset="-122"/>
              <a:cs typeface="+mn-lt"/>
            </a:endParaRPr>
          </a:p>
        </p:txBody>
      </p:sp>
      <p:sp>
        <p:nvSpPr>
          <p:cNvPr id="2" name="Shape 6"/>
          <p:cNvSpPr/>
          <p:nvPr/>
        </p:nvSpPr>
        <p:spPr>
          <a:xfrm>
            <a:off x="443230" y="3260090"/>
            <a:ext cx="3508375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175" y="332295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1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8175" y="3613785"/>
            <a:ext cx="3118485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产品团队汇报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7545" y="3260090"/>
            <a:ext cx="3021330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2490" y="332295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2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4" name="Text 12"/>
          <p:cNvSpPr/>
          <p:nvPr/>
        </p:nvSpPr>
        <p:spPr>
          <a:xfrm>
            <a:off x="4682490" y="3613785"/>
            <a:ext cx="263144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设计方案讨论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8044815" y="3260090"/>
            <a:ext cx="3703320" cy="786130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9" name="Text 15"/>
          <p:cNvSpPr/>
          <p:nvPr/>
        </p:nvSpPr>
        <p:spPr>
          <a:xfrm>
            <a:off x="8239760" y="3322955"/>
            <a:ext cx="351155" cy="25146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3</a:t>
            </a:r>
            <a:endParaRPr 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8239760" y="3613785"/>
            <a:ext cx="331343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用户手册配图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443230" y="4281805"/>
            <a:ext cx="11304905" cy="2064385"/>
          </a:xfrm>
          <a:prstGeom prst="roundRect">
            <a:avLst>
              <a:gd name="adj" fmla="val 5000"/>
            </a:avLst>
          </a:prstGeom>
          <a:solidFill>
            <a:srgbClr val="FFFFFF">
              <a:alpha val="32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2" name="Shape 18"/>
          <p:cNvSpPr/>
          <p:nvPr/>
        </p:nvSpPr>
        <p:spPr>
          <a:xfrm>
            <a:off x="716280" y="4478020"/>
            <a:ext cx="252095" cy="23749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00D4AA"/>
          </a:solidFill>
        </p:spPr>
      </p:sp>
      <p:sp>
        <p:nvSpPr>
          <p:cNvPr id="33" name="Text 19"/>
          <p:cNvSpPr/>
          <p:nvPr/>
        </p:nvSpPr>
        <p:spPr>
          <a:xfrm>
            <a:off x="1108710" y="4470400"/>
            <a:ext cx="2923540" cy="2514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UI </a:t>
            </a:r>
            <a:r>
              <a:rPr lang="zh-CN" altLang="en-US" sz="1800" b="1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模拟</a:t>
            </a:r>
            <a:r>
              <a:rPr lang="en-US" altLang="zh-CN" sz="1800" b="1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 Prompt </a:t>
            </a:r>
            <a:r>
              <a:rPr lang="zh-CN" altLang="en-US" sz="1800" b="1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技巧</a:t>
            </a:r>
            <a:endParaRPr lang="zh-CN" altLang="en-US" sz="1800" b="1" dirty="0">
              <a:solidFill>
                <a:srgbClr val="00D4AA"/>
              </a:solidFill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8175" y="4877435"/>
            <a:ext cx="106946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lt"/>
              </a:rPr>
              <a:t>• </a:t>
            </a:r>
            <a:r>
              <a:rPr lang="zh-CN" altLang="en-US" sz="1600" dirty="0">
                <a:solidFill>
                  <a:schemeClr val="tx1"/>
                </a:solidFill>
                <a:cs typeface="+mn-lt"/>
              </a:rPr>
              <a:t>指定设备型号（</a:t>
            </a:r>
            <a:r>
              <a:rPr lang="en-US" altLang="zh-CN" sz="1600" dirty="0">
                <a:solidFill>
                  <a:schemeClr val="tx1"/>
                </a:solidFill>
                <a:cs typeface="+mn-lt"/>
              </a:rPr>
              <a:t>"iPhone 17 Pro mockup"</a:t>
            </a:r>
            <a:r>
              <a:rPr lang="zh-CN" altLang="en-US" sz="1600" dirty="0">
                <a:solidFill>
                  <a:schemeClr val="tx1"/>
                </a:solidFill>
                <a:cs typeface="+mn-lt"/>
              </a:rPr>
              <a:t>）获得准确屏幕比例</a:t>
            </a:r>
            <a:endParaRPr lang="zh-CN" altLang="en-US" sz="1600" dirty="0">
              <a:solidFill>
                <a:schemeClr val="tx1"/>
              </a:solidFill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lt"/>
              </a:rPr>
              <a:t>• </a:t>
            </a:r>
            <a:r>
              <a:rPr lang="zh-CN" altLang="en-US" sz="1600" dirty="0">
                <a:solidFill>
                  <a:schemeClr val="tx1"/>
                </a:solidFill>
                <a:cs typeface="+mn-lt"/>
              </a:rPr>
              <a:t>描述具体</a:t>
            </a:r>
            <a:r>
              <a:rPr lang="en-US" altLang="zh-CN" sz="1600" dirty="0">
                <a:solidFill>
                  <a:schemeClr val="tx1"/>
                </a:solidFill>
                <a:cs typeface="+mn-lt"/>
              </a:rPr>
              <a:t> UI </a:t>
            </a:r>
            <a:r>
              <a:rPr lang="zh-CN" altLang="en-US" sz="1600" dirty="0">
                <a:solidFill>
                  <a:schemeClr val="tx1"/>
                </a:solidFill>
                <a:cs typeface="+mn-lt"/>
              </a:rPr>
              <a:t>元素（文字内容、颜色状态、导航结构）</a:t>
            </a:r>
            <a:endParaRPr lang="zh-CN" altLang="en-US" sz="1600" dirty="0">
              <a:solidFill>
                <a:schemeClr val="tx1"/>
              </a:solidFill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lt"/>
              </a:rPr>
              <a:t>• </a:t>
            </a:r>
            <a:r>
              <a:rPr lang="zh-CN" altLang="en-US" sz="1600" dirty="0">
                <a:solidFill>
                  <a:schemeClr val="tx1"/>
                </a:solidFill>
                <a:cs typeface="+mn-lt"/>
              </a:rPr>
              <a:t>使用</a:t>
            </a:r>
            <a:r>
              <a:rPr lang="en-US" altLang="zh-CN" sz="1600" dirty="0">
                <a:solidFill>
                  <a:schemeClr val="tx1"/>
                </a:solidFill>
                <a:cs typeface="+mn-lt"/>
              </a:rPr>
              <a:t> "dark mode" / "light mode" </a:t>
            </a:r>
            <a:r>
              <a:rPr lang="zh-CN" altLang="en-US" sz="1600" dirty="0">
                <a:solidFill>
                  <a:schemeClr val="tx1"/>
                </a:solidFill>
                <a:cs typeface="+mn-lt"/>
              </a:rPr>
              <a:t>控制整体色调</a:t>
            </a:r>
            <a:endParaRPr lang="zh-CN" altLang="en-US" sz="1600" dirty="0">
              <a:solidFill>
                <a:schemeClr val="tx1"/>
              </a:solidFill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cs typeface="+mn-lt"/>
              </a:rPr>
              <a:t>• </a:t>
            </a:r>
            <a:r>
              <a:rPr lang="zh-CN" altLang="en-US" sz="1600" dirty="0">
                <a:solidFill>
                  <a:schemeClr val="tx1"/>
                </a:solidFill>
                <a:cs typeface="+mn-lt"/>
              </a:rPr>
              <a:t>添加</a:t>
            </a:r>
            <a:r>
              <a:rPr lang="en-US" altLang="zh-CN" sz="1600" dirty="0">
                <a:solidFill>
                  <a:schemeClr val="tx1"/>
                </a:solidFill>
                <a:cs typeface="+mn-lt"/>
              </a:rPr>
              <a:t> "clean modern UI" </a:t>
            </a:r>
            <a:r>
              <a:rPr lang="zh-CN" altLang="en-US" sz="1600" dirty="0">
                <a:solidFill>
                  <a:schemeClr val="tx1"/>
                </a:solidFill>
                <a:cs typeface="+mn-lt"/>
              </a:rPr>
              <a:t>确保界面简洁专业</a:t>
            </a:r>
            <a:endParaRPr lang="zh-CN" altLang="en-US" sz="1600" dirty="0">
              <a:solidFill>
                <a:schemeClr val="tx1"/>
              </a:solidFill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图像生成</a:t>
            </a:r>
            <a:r>
              <a:rPr lang="en-US" altLang="zh-CN">
                <a:ea typeface="BMWGroupTN Condensed TT Medium" charset="0"/>
              </a:rPr>
              <a:t> —— </a:t>
            </a:r>
            <a:r>
              <a:rPr lang="zh-CN" altLang="en-US">
                <a:ea typeface="BMWGroupTN Condensed TT Medium" charset="0"/>
              </a:rPr>
              <a:t>风格速查表</a:t>
            </a:r>
            <a:endParaRPr lang="zh-CN" altLang="en-US">
              <a:ea typeface="BMWGroupTN Condensed TT Medium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688340" y="1369060"/>
          <a:ext cx="10436860" cy="44265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7245"/>
                <a:gridCol w="4697095"/>
                <a:gridCol w="365252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场景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推荐风格关键词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宽高比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PPT 背景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极简、渐变、抽象、留白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16:9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活动海报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霓虹、赛博朋克、音乐节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16:9 或 3:4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5024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产品展示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工作室打光、白背景、商业摄影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1:1 或 4:5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5024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社交截图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TikTok/IG 风格、数据展示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9:16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5024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复古海报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手绘、铅笔插画、1950s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3:4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5024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UI 界面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深色/浅色模式、无衬线字体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手机比例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9230" y="6097270"/>
            <a:ext cx="11812905" cy="571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💡 </a:t>
            </a:r>
            <a:r>
              <a:rPr lang="en-US" sz="1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提示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：宽高比是图像生成中最容易被忽略但最重要的参数。始终在 Prompt 末尾明确指定比例，可避免后续裁剪调整的麻烦。</a:t>
            </a:r>
            <a:endParaRPr 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图像生成</a:t>
            </a:r>
            <a:r>
              <a:rPr lang="en-US" altLang="zh-CN">
                <a:ea typeface="BMWGroupTN Condensed TT Medium" charset="0"/>
              </a:rPr>
              <a:t> —— </a:t>
            </a:r>
            <a:r>
              <a:rPr lang="zh-CN" altLang="en-US">
                <a:ea typeface="BMWGroupTN Condensed TT Medium" charset="0"/>
              </a:rPr>
              <a:t>进阶技巧与注意事项</a:t>
            </a:r>
            <a:endParaRPr lang="zh-CN" altLang="en-US">
              <a:ea typeface="BMWGroupTN Condensed TT Medium" charset="0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695960" y="1479550"/>
          <a:ext cx="10804525" cy="45129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25140"/>
                <a:gridCol w="7779385"/>
              </a:tblGrid>
              <a:tr h="45148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技巧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说明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文字超过 30 字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拆成多块，分别标注位置（"左上角：xxx，右下角：yyy"）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小字体优化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指定 "highly legible at small sizes"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多语言混排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明确每段语言（"English headline, Chinese subtitle"）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二维码/条形码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生成后用 Canva/Figma 替换真实码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每日限额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无旗舰版许可证有每日限额，高峰期限流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所有权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sz="1600" u="none" dirty="0"/>
                        <a:t>Microsoft 不声明所有权，可商用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文本生成的四个要素</a:t>
            </a:r>
            <a:endParaRPr lang="zh-CN" altLang="en-US">
              <a:ea typeface="BMWGroupTN Condensed TT Medium" charset="0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762000" y="1397000"/>
          <a:ext cx="10489565" cy="36595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72895"/>
                <a:gridCol w="1574165"/>
                <a:gridCol w="7342505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要素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作用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chemeClr val="bg1"/>
                          </a:solidFill>
                        </a:rPr>
                        <a:t>示例</a:t>
                      </a:r>
                      <a:endParaRPr lang="en-US" sz="16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79946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角色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定视角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"你是宝马市场分析师"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79883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结构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定逻辑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"分三部分：现状-问题-建议"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深度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定价值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"每点给出可执行动作+数据占位"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79883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格式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定效率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"用表格呈现"或"分页列出"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5960" y="5373370"/>
            <a:ext cx="10555605" cy="1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80000"/>
              </a:lnSpc>
            </a:pPr>
            <a:r>
              <a:rPr lang="en-US" sz="22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口诀</a:t>
            </a:r>
            <a:endParaRPr lang="en-US" sz="16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>
              <a:lnSpc>
                <a:spcPct val="180000"/>
              </a:lnSpc>
            </a:pPr>
            <a:r>
              <a:rPr lang="en-US" sz="2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角色定视角，结构定逻辑，深度定价值，格式定效率。</a:t>
            </a:r>
            <a:endParaRPr lang="en-US" sz="22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图像生成专属技巧回顾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285" y="1203325"/>
            <a:ext cx="2893060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Liter" panose="02000503030000020004" pitchFamily="34" charset="-120"/>
              </a:rPr>
              <a:t>快速模板</a:t>
            </a:r>
            <a:endParaRPr lang="en-US" sz="1400" kern="0" spc="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285" y="1585595"/>
            <a:ext cx="11186795" cy="637540"/>
          </a:xfrm>
          <a:prstGeom prst="roundRect">
            <a:avLst>
              <a:gd name="adj" fmla="val 5000"/>
            </a:avLst>
          </a:prstGeom>
          <a:solidFill>
            <a:srgbClr val="E6F0FA">
              <a:alpha val="4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695325" y="1649730"/>
            <a:ext cx="10801350" cy="509905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[场景] + [文字] + [风格] + [光影/视角] + [宽高比]</a:t>
            </a:r>
            <a:endParaRPr lang="en-US" sz="20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285" y="2401570"/>
            <a:ext cx="2893060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示例</a:t>
            </a:r>
            <a:endParaRPr lang="en-US" sz="1400" kern="0" spc="200" dirty="0">
              <a:solidFill>
                <a:srgbClr val="00D4AA"/>
              </a:solidFill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285" y="2783840"/>
            <a:ext cx="11186795" cy="2390140"/>
          </a:xfrm>
          <a:prstGeom prst="roundRect">
            <a:avLst>
              <a:gd name="adj" fmla="val 5000"/>
            </a:avLst>
          </a:prstGeom>
          <a:solidFill>
            <a:srgbClr val="FFFFFF">
              <a:alpha val="44000"/>
            </a:srgbClr>
          </a:solidFill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7730" y="2995930"/>
            <a:ext cx="10415270" cy="1964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PPT背景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+ 无文字 + 极简渐变 + 左侧留白 +</a:t>
            </a:r>
            <a:r>
              <a:rPr lang="en-US" sz="1600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ea typeface="Liter" panose="02000503030000020004" pitchFamily="34" charset="-122"/>
                <a:cs typeface="+mn-lt"/>
              </a:rPr>
              <a:t> </a:t>
            </a:r>
            <a:r>
              <a:rPr lang="en-US" sz="16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16:9</a:t>
            </a:r>
            <a:endParaRPr lang="en-US" sz="14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lt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en-US" sz="1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活动海报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 + "BMW JOY FEST" +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霓虹赛博朋克 + 居中大字 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+ 16:9</a:t>
            </a:r>
            <a:endParaRPr lang="en-US" sz="1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US" sz="1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产品展示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+ 无文字 + 工作室打光白背景 + 正面视角 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+ 1:1</a:t>
            </a:r>
            <a:endParaRPr lang="en-US" sz="1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en-US" sz="1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社交截图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 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+ view count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数据 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+ TikTok</a:t>
            </a:r>
            <a:r>
              <a:rPr 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风格 + 手机屏幕 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+ 9:16</a:t>
            </a:r>
            <a:endParaRPr lang="en-US" sz="1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285" y="5269230"/>
            <a:ext cx="11186795" cy="1186180"/>
          </a:xfrm>
          <a:prstGeom prst="roundRect">
            <a:avLst>
              <a:gd name="adj" fmla="val 5000"/>
            </a:avLst>
          </a:prstGeom>
          <a:solidFill>
            <a:srgbClr val="E6F0FA">
              <a:alpha val="44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887730" y="5535930"/>
            <a:ext cx="308610" cy="29083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00D4AA"/>
          </a:solidFill>
        </p:spPr>
      </p:sp>
      <p:sp>
        <p:nvSpPr>
          <p:cNvPr id="12" name="Text 10"/>
          <p:cNvSpPr/>
          <p:nvPr/>
        </p:nvSpPr>
        <p:spPr>
          <a:xfrm>
            <a:off x="1369695" y="5383530"/>
            <a:ext cx="10029825" cy="955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记住这个公式，任何图像生成场景都能快速上手。</a:t>
            </a:r>
            <a:endParaRPr lang="en-US" sz="16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lt"/>
            </a:endParaRPr>
          </a:p>
          <a:p>
            <a:pPr>
              <a:lnSpc>
                <a:spcPct val="170000"/>
              </a:lnSpc>
            </a:pPr>
            <a:r>
              <a:rPr lang="en-US" sz="1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不需要背诵复杂的 Prompt 语法，只需要按这个顺序填充五个模块即可。</a:t>
            </a:r>
            <a:endParaRPr lang="en-US" sz="18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23900" y="457200"/>
            <a:ext cx="8572500" cy="361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32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附赠 —— 多轮交互 Prompt</a:t>
            </a:r>
            <a:r>
              <a:rPr lang="en-US" sz="2100" b="1" kern="0" spc="100" dirty="0">
                <a:solidFill>
                  <a:srgbClr val="0066B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zh-CN" altLang="en-US" sz="32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生成器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71500" y="1438275"/>
            <a:ext cx="11049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8000"/>
            </a:srgbClr>
          </a:solidFill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7250" y="158115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00D4AA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模板（可复制）</a:t>
            </a:r>
            <a:endParaRPr lang="en-US" sz="1600" kern="0" spc="200" dirty="0">
              <a:solidFill>
                <a:srgbClr val="00D4AA"/>
              </a:solidFill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7250" y="1914525"/>
            <a:ext cx="10477500" cy="314325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你是一个 Prompt 工程师。请通过多轮提问帮我生成一个专业 Prompt。</a:t>
            </a:r>
            <a:endParaRPr lang="en-US" sz="1600" b="1" dirty="0">
              <a:ln/>
              <a:solidFill>
                <a:schemeClr val="tx1"/>
              </a:solidFill>
              <a:effectLst/>
              <a:cs typeface="+mn-lt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依次问我：</a:t>
            </a:r>
            <a:endParaRPr lang="en-US" sz="1600" b="1" dirty="0">
              <a:ln/>
              <a:solidFill>
                <a:schemeClr val="tx1"/>
              </a:solidFill>
              <a:effectLst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1. 任务类型（PPT大纲/Excel分析/Word报告/邮件/搜索聚合/图像生成）</a:t>
            </a:r>
            <a:endParaRPr lang="en-US" sz="1600" b="1" dirty="0">
              <a:ln/>
              <a:solidFill>
                <a:schemeClr val="tx1"/>
              </a:solidFill>
              <a:effectLst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2. 目标受众</a:t>
            </a:r>
            <a:endParaRPr lang="en-US" sz="1600" b="1" dirty="0">
              <a:ln/>
              <a:solidFill>
                <a:schemeClr val="tx1"/>
              </a:solidFill>
              <a:effectLst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3. 期望的内容深度或风格</a:t>
            </a:r>
            <a:endParaRPr lang="en-US" sz="1600" b="1" dirty="0">
              <a:ln/>
              <a:solidFill>
                <a:schemeClr val="tx1"/>
              </a:solidFill>
              <a:effectLst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4. 输入信息（如有）</a:t>
            </a:r>
            <a:endParaRPr lang="en-US" sz="1600" b="1" dirty="0">
              <a:ln/>
              <a:solidFill>
                <a:schemeClr val="tx1"/>
              </a:solidFill>
              <a:effectLst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5. 输出格式（纯文本/表格/列表/图片比例）</a:t>
            </a:r>
            <a:endParaRPr lang="en-US" sz="1600" b="1" dirty="0">
              <a:ln/>
              <a:solidFill>
                <a:schemeClr val="tx1"/>
              </a:solidFill>
              <a:effectLst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6. 最需要避免的问题</a:t>
            </a:r>
            <a:endParaRPr lang="en-US" sz="1600" b="1" dirty="0">
              <a:ln/>
              <a:solidFill>
                <a:schemeClr val="tx1"/>
              </a:solidFill>
              <a:effectLst/>
              <a:cs typeface="+mn-lt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ln/>
                <a:solidFill>
                  <a:schemeClr val="tx1"/>
                </a:solidFill>
                <a:effectLst/>
                <a:ea typeface="Liter" panose="02000503030000020004" pitchFamily="34" charset="-122"/>
                <a:cs typeface="+mn-lt"/>
              </a:rPr>
              <a:t>最后输出完整的 Prompt。</a:t>
            </a:r>
            <a:endParaRPr lang="en-US" sz="1400" b="1" dirty="0">
              <a:ln/>
              <a:solidFill>
                <a:schemeClr val="tx1"/>
              </a:solidFill>
              <a:effectLst/>
              <a:ea typeface="Liter" panose="02000503030000020004" pitchFamily="34" charset="-122"/>
              <a:cs typeface="+mn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71500" y="5438775"/>
            <a:ext cx="11049000" cy="857250"/>
          </a:xfrm>
          <a:prstGeom prst="roundRect">
            <a:avLst>
              <a:gd name="adj" fmla="val 5000"/>
            </a:avLst>
          </a:prstGeom>
          <a:solidFill>
            <a:srgbClr val="E6F0FA">
              <a:alpha val="18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857250" y="5534025"/>
            <a:ext cx="10477500" cy="666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使用方法</a:t>
            </a:r>
            <a:r>
              <a:rPr lang="en-US" sz="1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：</a:t>
            </a:r>
            <a:r>
              <a:rPr lang="en-US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将上方模板完整复制给 Copilot，它会逐一向你提问，最后生成一个完整的专业 Prompt。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Liter" panose="02000503030000020004" pitchFamily="34" charset="-122"/>
                <a:cs typeface="+mn-lt"/>
              </a:rPr>
              <a:t>适合：刚入门、不确定如何组织 Prompt 的场景。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239500" y="6677025"/>
            <a:ext cx="571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050" dirty="0">
                <a:solidFill>
                  <a:srgbClr val="4A556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22</a:t>
            </a:r>
            <a:endParaRPr lang="en-US" sz="1050" dirty="0"/>
          </a:p>
        </p:txBody>
      </p:sp>
      <p:sp>
        <p:nvSpPr>
          <p:cNvPr id="11" name="Text 2"/>
          <p:cNvSpPr/>
          <p:nvPr/>
        </p:nvSpPr>
        <p:spPr>
          <a:xfrm>
            <a:off x="775335" y="908050"/>
            <a:ext cx="7620000" cy="3556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35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Liter" panose="02000503030000020004" pitchFamily="34" charset="-122"/>
                <a:cs typeface="+mn-lt"/>
              </a:rPr>
              <a:t>不会写复杂 Prompt？让 Copilot 帮你写</a:t>
            </a:r>
            <a:endParaRPr lang="en-US" sz="135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Liter" panose="02000503030000020004" pitchFamily="34" charset="-122"/>
              <a:cs typeface="+mn-lt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23900" y="457200"/>
            <a:ext cx="8572500" cy="361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altLang="en-US" sz="32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常见错误与纠正（Lite 版专属）</a:t>
            </a:r>
            <a:endParaRPr lang="zh-CN" altLang="en-US" sz="2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83565" y="1163955"/>
          <a:ext cx="10986770" cy="53581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75125"/>
                <a:gridCol w="6811645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dirty="0">
                          <a:solidFill>
                            <a:schemeClr val="bg1"/>
                          </a:solidFill>
                        </a:rPr>
                        <a:t>错误认知</a:t>
                      </a:r>
                      <a:endParaRPr lang="en-US" sz="18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dirty="0">
                          <a:solidFill>
                            <a:schemeClr val="bg1"/>
                          </a:solidFill>
                        </a:rPr>
                        <a:t>纠正</a:t>
                      </a:r>
                      <a:endParaRPr lang="en-US" sz="18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96329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"Copilot 能直接生成漂亮的 PPT"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✗ 不能。它生成文字大纲 + 图片，排版仍需人工。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96393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"Excel 分析应该直接出图表"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✗ 不能。它生成表格和文字结论。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96456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"Copilot 不能联网搜索"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支持，并可引用来源。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96393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"Copilot 不能生成带文字的图片"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✓ 能！GPT-Image-2 对文字响应极佳。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  <a:tr h="96393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"必须要求 Copilot 输出 Markdown"</a:t>
                      </a:r>
                      <a:endParaRPr lang="en-US" sz="16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✗ 不需要。让它自然输出即可。</a:t>
                      </a:r>
                      <a:endParaRPr lang="en-US" sz="16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23900" y="457200"/>
            <a:ext cx="8572500" cy="361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32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最佳实践 —— 如何高效使用 Lite 版</a:t>
            </a:r>
            <a:endParaRPr lang="zh-CN" altLang="en-US" sz="32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1500" y="1047750"/>
            <a:ext cx="5429250" cy="1238250"/>
          </a:xfrm>
          <a:prstGeom prst="roundRect">
            <a:avLst>
              <a:gd name="adj" fmla="val 5000"/>
            </a:avLst>
          </a:prstGeom>
          <a:solidFill>
            <a:srgbClr val="FFFFFF">
              <a:alpha val="16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2000" y="1143000"/>
            <a:ext cx="3810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2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90625" y="1143000"/>
            <a:ext cx="19050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PPT 制作流程</a:t>
            </a:r>
            <a:endParaRPr lang="en-US" sz="135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1524000"/>
            <a:ext cx="5048250" cy="66675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12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Copilot 生成大纲 → 复制到 PPT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60000"/>
              </a:lnSpc>
            </a:pPr>
            <a:r>
              <a:rPr lang="en-US" sz="112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 Copilot 生成配图 → 插入幻灯片</a:t>
            </a:r>
            <a:endParaRPr lang="en-US" sz="1125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91250" y="1047750"/>
            <a:ext cx="5429250" cy="1238250"/>
          </a:xfrm>
          <a:prstGeom prst="roundRect">
            <a:avLst>
              <a:gd name="adj" fmla="val 5000"/>
            </a:avLst>
          </a:prstGeom>
          <a:solidFill>
            <a:srgbClr val="FFFFFF">
              <a:alpha val="16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1750" y="1143000"/>
            <a:ext cx="3810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2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10375" y="1143000"/>
            <a:ext cx="19050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Excel 分析流程</a:t>
            </a:r>
            <a:endParaRPr lang="en-US" sz="135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81750" y="1524000"/>
            <a:ext cx="5048250" cy="66675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12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Copilot 生成表格+结论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60000"/>
              </a:lnSpc>
            </a:pPr>
            <a:r>
              <a:rPr lang="en-US" sz="112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 复制到 Excel → 一键生成图表</a:t>
            </a:r>
            <a:endParaRPr lang="en-US" sz="1125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1500" y="2524125"/>
            <a:ext cx="5429250" cy="1238250"/>
          </a:xfrm>
          <a:prstGeom prst="roundRect">
            <a:avLst>
              <a:gd name="adj" fmla="val 5000"/>
            </a:avLst>
          </a:prstGeom>
          <a:solidFill>
            <a:srgbClr val="FFFFFF">
              <a:alpha val="16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2000" y="2619375"/>
            <a:ext cx="3810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2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0625" y="2619375"/>
            <a:ext cx="19050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搜索聚合</a:t>
            </a:r>
            <a:endParaRPr lang="en-US" sz="135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3000375"/>
            <a:ext cx="5048250" cy="66675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12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每周竞品动态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60000"/>
              </a:lnSpc>
            </a:pPr>
            <a:r>
              <a:rPr lang="en-US" sz="112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让 Copilot 先搜再整理</a:t>
            </a:r>
            <a:endParaRPr lang="en-US" sz="1125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91250" y="2524125"/>
            <a:ext cx="5429250" cy="1238250"/>
          </a:xfrm>
          <a:prstGeom prst="roundRect">
            <a:avLst>
              <a:gd name="adj" fmla="val 5000"/>
            </a:avLst>
          </a:prstGeom>
          <a:solidFill>
            <a:srgbClr val="FFFFFF">
              <a:alpha val="16000"/>
            </a:srgbClr>
          </a:solidFill>
          <a:effectLst>
            <a:outerShdw blurRad="762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1750" y="2619375"/>
            <a:ext cx="3810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2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10375" y="2619375"/>
            <a:ext cx="238125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保存 Prompt 模板库</a:t>
            </a:r>
            <a:endParaRPr lang="en-US" sz="135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81750" y="3000375"/>
            <a:ext cx="5048250" cy="66675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60000"/>
              </a:lnSpc>
            </a:pPr>
            <a:r>
              <a:rPr lang="en-US" sz="112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按场景分类，复用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60000"/>
              </a:lnSpc>
            </a:pPr>
            <a:r>
              <a:rPr lang="en-US" sz="1125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PPT / Excel / 邮件 / 图像</a:t>
            </a:r>
            <a:endParaRPr lang="en-US" sz="1125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1500" y="4095750"/>
            <a:ext cx="11049000" cy="2143125"/>
          </a:xfrm>
          <a:prstGeom prst="roundRect">
            <a:avLst>
              <a:gd name="adj" fmla="val 5000"/>
            </a:avLst>
          </a:prstGeom>
          <a:solidFill>
            <a:srgbClr val="E6F0FA">
              <a:alpha val="16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900589" y="438150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6374" y="-16877"/>
                </a:moveTo>
                <a:cubicBezTo>
                  <a:pt x="272713" y="-24021"/>
                  <a:pt x="265301" y="-28575"/>
                  <a:pt x="257264" y="-28575"/>
                </a:cubicBezTo>
                <a:cubicBezTo>
                  <a:pt x="249228" y="-28575"/>
                  <a:pt x="241816" y="-24021"/>
                  <a:pt x="238155" y="-16877"/>
                </a:cubicBezTo>
                <a:lnTo>
                  <a:pt x="172432" y="111889"/>
                </a:lnTo>
                <a:lnTo>
                  <a:pt x="29647" y="134570"/>
                </a:lnTo>
                <a:cubicBezTo>
                  <a:pt x="21699" y="135821"/>
                  <a:pt x="15091" y="141446"/>
                  <a:pt x="12591" y="149126"/>
                </a:cubicBezTo>
                <a:cubicBezTo>
                  <a:pt x="10091" y="156805"/>
                  <a:pt x="12144" y="165199"/>
                  <a:pt x="17770" y="170914"/>
                </a:cubicBezTo>
                <a:lnTo>
                  <a:pt x="119926" y="273159"/>
                </a:lnTo>
                <a:lnTo>
                  <a:pt x="97423" y="415945"/>
                </a:lnTo>
                <a:cubicBezTo>
                  <a:pt x="96173" y="423892"/>
                  <a:pt x="99477" y="431929"/>
                  <a:pt x="105995" y="436662"/>
                </a:cubicBezTo>
                <a:cubicBezTo>
                  <a:pt x="112514" y="441394"/>
                  <a:pt x="121087" y="442109"/>
                  <a:pt x="128320" y="438448"/>
                </a:cubicBezTo>
                <a:lnTo>
                  <a:pt x="257264" y="372904"/>
                </a:lnTo>
                <a:lnTo>
                  <a:pt x="386120" y="438448"/>
                </a:lnTo>
                <a:cubicBezTo>
                  <a:pt x="393263" y="442109"/>
                  <a:pt x="401925" y="441394"/>
                  <a:pt x="408444" y="436662"/>
                </a:cubicBezTo>
                <a:cubicBezTo>
                  <a:pt x="414963" y="431929"/>
                  <a:pt x="418267" y="423982"/>
                  <a:pt x="417016" y="415945"/>
                </a:cubicBezTo>
                <a:lnTo>
                  <a:pt x="394424" y="273159"/>
                </a:lnTo>
                <a:lnTo>
                  <a:pt x="496580" y="170914"/>
                </a:lnTo>
                <a:cubicBezTo>
                  <a:pt x="502295" y="165199"/>
                  <a:pt x="504259" y="156805"/>
                  <a:pt x="501759" y="149126"/>
                </a:cubicBezTo>
                <a:cubicBezTo>
                  <a:pt x="499259" y="141446"/>
                  <a:pt x="492740" y="135821"/>
                  <a:pt x="484703" y="134570"/>
                </a:cubicBezTo>
                <a:lnTo>
                  <a:pt x="342007" y="111889"/>
                </a:lnTo>
                <a:lnTo>
                  <a:pt x="276374" y="-16877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22" name="Text 20"/>
          <p:cNvSpPr/>
          <p:nvPr/>
        </p:nvSpPr>
        <p:spPr>
          <a:xfrm>
            <a:off x="1428750" y="4381500"/>
            <a:ext cx="28575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核心原则</a:t>
            </a:r>
            <a:endParaRPr lang="en-US" sz="15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2500" y="4857750"/>
            <a:ext cx="10287000" cy="1190625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70000"/>
              </a:lnSpc>
            </a:pPr>
            <a:r>
              <a:rPr lang="en-US" sz="135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Copilot 负责</a:t>
            </a:r>
            <a:r>
              <a:rPr lang="en-US" sz="135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"想内容"</a:t>
            </a:r>
            <a:r>
              <a:rPr lang="en-US" sz="135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，你负责</a:t>
            </a:r>
            <a:r>
              <a:rPr lang="en-US" sz="135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"做排版"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70000"/>
              </a:lnSpc>
            </a:pPr>
            <a:r>
              <a:rPr lang="en-US" sz="135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建立个人 Prompt 模板库，按场景分类保存</a:t>
            </a:r>
            <a:endParaRPr lang="en-US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70000"/>
              </a:lnSpc>
            </a:pPr>
            <a:r>
              <a:rPr lang="en-US" sz="135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图像生成是 PPT 效率的倍增器，善加利用</a:t>
            </a:r>
            <a:endParaRPr lang="en-US" sz="135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39500" y="6524625"/>
            <a:ext cx="57150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050" dirty="0">
                <a:solidFill>
                  <a:srgbClr val="4A556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>
            <p:custDataLst>
              <p:tags r:id="rId1"/>
            </p:custDataLst>
          </p:nvPr>
        </p:nvSpPr>
        <p:spPr>
          <a:xfrm>
            <a:off x="895350" y="1654810"/>
            <a:ext cx="571500" cy="476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00" b="1" dirty="0">
                <a:solidFill>
                  <a:srgbClr val="0066B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562100" y="1515745"/>
            <a:ext cx="904875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Copilot Chat </a:t>
            </a:r>
            <a:r>
              <a:rPr lang="en-US" sz="1500" b="1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不能帮你排版</a:t>
            </a:r>
            <a:r>
              <a:rPr lang="en-US" sz="1500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，但能给你</a:t>
            </a:r>
            <a:endParaRPr lang="en-US" sz="1200" dirty="0"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高质量的</a:t>
            </a:r>
            <a:r>
              <a:rPr lang="en-US" sz="1500" b="1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文字内容 + 配图</a:t>
            </a:r>
            <a:r>
              <a:rPr lang="en-US" sz="1500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。</a:t>
            </a:r>
            <a:endParaRPr lang="en-US" sz="1200" dirty="0">
              <a:cs typeface="+mn-lt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895350" y="2797810"/>
            <a:ext cx="571500" cy="476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00" b="1" dirty="0">
                <a:solidFill>
                  <a:srgbClr val="0066B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562100" y="2658745"/>
            <a:ext cx="904875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高级 Prompt 的核心是：</a:t>
            </a:r>
            <a:endParaRPr lang="en-US" sz="1200" dirty="0"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角色 + 结构 + 深度要求 + 格式指令</a:t>
            </a:r>
            <a:endParaRPr lang="en-US" sz="1200" dirty="0">
              <a:cs typeface="+mn-lt"/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895350" y="3940810"/>
            <a:ext cx="571500" cy="476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00" b="1" dirty="0">
                <a:solidFill>
                  <a:srgbClr val="00D4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562100" y="3801745"/>
            <a:ext cx="904875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图像生成是 PPT 效率神器：</a:t>
            </a:r>
            <a:endParaRPr lang="en-US" sz="1200" dirty="0">
              <a:cs typeface="+mn-lt"/>
            </a:endParaRPr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ea typeface="Liter" panose="02000503030000020004" pitchFamily="34" charset="-122"/>
                <a:cs typeface="+mn-lt"/>
              </a:rPr>
              <a:t>背景图、海报、UI、社交截图，一句话搞定。</a:t>
            </a:r>
            <a:endParaRPr lang="en-US" sz="1200" dirty="0">
              <a:cs typeface="+mn-lt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23900" y="457200"/>
            <a:ext cx="8572500" cy="361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32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总结：三句话记住今天的内容</a:t>
            </a:r>
            <a:endParaRPr lang="zh-CN" altLang="en-US" sz="32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12800" y="205740"/>
            <a:ext cx="4203065" cy="720090"/>
          </a:xfrm>
        </p:spPr>
        <p:txBody>
          <a:bodyPr>
            <a:normAutofit/>
          </a:bodyPr>
          <a:lstStyle/>
          <a:p>
            <a:pPr algn="l"/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6" name="Shape 25"/>
          <p:cNvSpPr/>
          <p:nvPr/>
        </p:nvSpPr>
        <p:spPr>
          <a:xfrm>
            <a:off x="1144905" y="1278890"/>
            <a:ext cx="9700260" cy="2241550"/>
          </a:xfrm>
          <a:custGeom>
            <a:avLst/>
            <a:gdLst/>
            <a:ahLst/>
            <a:cxnLst/>
            <a:rect l="l" t="t" r="r" b="b"/>
            <a:pathLst>
              <a:path w="9018377" h="1868911">
                <a:moveTo>
                  <a:pt x="141047" y="0"/>
                </a:moveTo>
                <a:lnTo>
                  <a:pt x="8877331" y="0"/>
                </a:lnTo>
                <a:cubicBezTo>
                  <a:pt x="8955229" y="0"/>
                  <a:pt x="9018377" y="63149"/>
                  <a:pt x="9018377" y="141047"/>
                </a:cubicBezTo>
                <a:lnTo>
                  <a:pt x="9018377" y="1727864"/>
                </a:lnTo>
                <a:cubicBezTo>
                  <a:pt x="9018377" y="1805762"/>
                  <a:pt x="8955229" y="1868911"/>
                  <a:pt x="8877331" y="1868911"/>
                </a:cubicBezTo>
                <a:lnTo>
                  <a:pt x="141047" y="1868911"/>
                </a:lnTo>
                <a:cubicBezTo>
                  <a:pt x="63149" y="1868911"/>
                  <a:pt x="0" y="1805762"/>
                  <a:pt x="0" y="1727864"/>
                </a:cubicBezTo>
                <a:lnTo>
                  <a:pt x="0" y="141047"/>
                </a:lnTo>
                <a:cubicBezTo>
                  <a:pt x="0" y="63201"/>
                  <a:pt x="63201" y="0"/>
                  <a:pt x="141047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7" name="Shape 26"/>
          <p:cNvSpPr/>
          <p:nvPr/>
        </p:nvSpPr>
        <p:spPr>
          <a:xfrm>
            <a:off x="1789644" y="1620319"/>
            <a:ext cx="264469" cy="264469"/>
          </a:xfrm>
          <a:custGeom>
            <a:avLst/>
            <a:gdLst/>
            <a:ahLst/>
            <a:cxnLst/>
            <a:rect l="l" t="t" r="r" b="b"/>
            <a:pathLst>
              <a:path w="264469" h="264469">
                <a:moveTo>
                  <a:pt x="166068" y="35538"/>
                </a:moveTo>
                <a:cubicBezTo>
                  <a:pt x="169993" y="28875"/>
                  <a:pt x="177122" y="24794"/>
                  <a:pt x="184818" y="24794"/>
                </a:cubicBezTo>
                <a:lnTo>
                  <a:pt x="185954" y="24794"/>
                </a:lnTo>
                <a:cubicBezTo>
                  <a:pt x="197370" y="24794"/>
                  <a:pt x="206616" y="34040"/>
                  <a:pt x="206616" y="45456"/>
                </a:cubicBezTo>
                <a:cubicBezTo>
                  <a:pt x="206616" y="56871"/>
                  <a:pt x="197370" y="66117"/>
                  <a:pt x="185954" y="66117"/>
                </a:cubicBezTo>
                <a:lnTo>
                  <a:pt x="148092" y="66117"/>
                </a:lnTo>
                <a:lnTo>
                  <a:pt x="166068" y="35538"/>
                </a:lnTo>
                <a:close/>
                <a:moveTo>
                  <a:pt x="98401" y="35538"/>
                </a:moveTo>
                <a:lnTo>
                  <a:pt x="116376" y="66117"/>
                </a:lnTo>
                <a:lnTo>
                  <a:pt x="78514" y="66117"/>
                </a:lnTo>
                <a:cubicBezTo>
                  <a:pt x="67099" y="66117"/>
                  <a:pt x="57852" y="56871"/>
                  <a:pt x="57852" y="45456"/>
                </a:cubicBezTo>
                <a:cubicBezTo>
                  <a:pt x="57852" y="34040"/>
                  <a:pt x="67099" y="24794"/>
                  <a:pt x="78514" y="24794"/>
                </a:cubicBezTo>
                <a:lnTo>
                  <a:pt x="79650" y="24794"/>
                </a:lnTo>
                <a:cubicBezTo>
                  <a:pt x="87347" y="24794"/>
                  <a:pt x="94527" y="28875"/>
                  <a:pt x="98401" y="35538"/>
                </a:cubicBezTo>
                <a:close/>
                <a:moveTo>
                  <a:pt x="144683" y="22986"/>
                </a:moveTo>
                <a:lnTo>
                  <a:pt x="132234" y="44164"/>
                </a:lnTo>
                <a:lnTo>
                  <a:pt x="119786" y="22986"/>
                </a:lnTo>
                <a:cubicBezTo>
                  <a:pt x="111418" y="8730"/>
                  <a:pt x="96128" y="0"/>
                  <a:pt x="79650" y="0"/>
                </a:cubicBezTo>
                <a:lnTo>
                  <a:pt x="78514" y="0"/>
                </a:lnTo>
                <a:cubicBezTo>
                  <a:pt x="53410" y="0"/>
                  <a:pt x="33059" y="20352"/>
                  <a:pt x="33059" y="45456"/>
                </a:cubicBezTo>
                <a:cubicBezTo>
                  <a:pt x="33059" y="52894"/>
                  <a:pt x="34866" y="59919"/>
                  <a:pt x="38017" y="66117"/>
                </a:cubicBezTo>
                <a:lnTo>
                  <a:pt x="16529" y="66117"/>
                </a:lnTo>
                <a:cubicBezTo>
                  <a:pt x="7387" y="66117"/>
                  <a:pt x="0" y="73504"/>
                  <a:pt x="0" y="82646"/>
                </a:cubicBezTo>
                <a:lnTo>
                  <a:pt x="0" y="99176"/>
                </a:lnTo>
                <a:cubicBezTo>
                  <a:pt x="0" y="108318"/>
                  <a:pt x="7387" y="115705"/>
                  <a:pt x="16529" y="115705"/>
                </a:cubicBezTo>
                <a:lnTo>
                  <a:pt x="247939" y="115705"/>
                </a:lnTo>
                <a:cubicBezTo>
                  <a:pt x="257082" y="115705"/>
                  <a:pt x="264469" y="108318"/>
                  <a:pt x="264469" y="99176"/>
                </a:cubicBezTo>
                <a:lnTo>
                  <a:pt x="264469" y="82646"/>
                </a:lnTo>
                <a:cubicBezTo>
                  <a:pt x="264469" y="73504"/>
                  <a:pt x="257082" y="66117"/>
                  <a:pt x="247939" y="66117"/>
                </a:cubicBezTo>
                <a:lnTo>
                  <a:pt x="226451" y="66117"/>
                </a:lnTo>
                <a:cubicBezTo>
                  <a:pt x="229602" y="59919"/>
                  <a:pt x="231410" y="52894"/>
                  <a:pt x="231410" y="45456"/>
                </a:cubicBezTo>
                <a:cubicBezTo>
                  <a:pt x="231410" y="20352"/>
                  <a:pt x="211058" y="0"/>
                  <a:pt x="185954" y="0"/>
                </a:cubicBezTo>
                <a:lnTo>
                  <a:pt x="184818" y="0"/>
                </a:lnTo>
                <a:cubicBezTo>
                  <a:pt x="168340" y="0"/>
                  <a:pt x="153051" y="8730"/>
                  <a:pt x="144683" y="22934"/>
                </a:cubicBezTo>
                <a:close/>
                <a:moveTo>
                  <a:pt x="247939" y="140499"/>
                </a:moveTo>
                <a:lnTo>
                  <a:pt x="144631" y="140499"/>
                </a:lnTo>
                <a:lnTo>
                  <a:pt x="144631" y="247939"/>
                </a:lnTo>
                <a:lnTo>
                  <a:pt x="214881" y="247939"/>
                </a:lnTo>
                <a:cubicBezTo>
                  <a:pt x="233115" y="247939"/>
                  <a:pt x="247939" y="233115"/>
                  <a:pt x="247939" y="214881"/>
                </a:cubicBezTo>
                <a:lnTo>
                  <a:pt x="247939" y="140499"/>
                </a:lnTo>
                <a:close/>
                <a:moveTo>
                  <a:pt x="119837" y="140499"/>
                </a:moveTo>
                <a:lnTo>
                  <a:pt x="16529" y="140499"/>
                </a:lnTo>
                <a:lnTo>
                  <a:pt x="16529" y="214881"/>
                </a:lnTo>
                <a:cubicBezTo>
                  <a:pt x="16529" y="233115"/>
                  <a:pt x="31354" y="247939"/>
                  <a:pt x="49588" y="247939"/>
                </a:cubicBezTo>
                <a:lnTo>
                  <a:pt x="119837" y="247939"/>
                </a:lnTo>
                <a:lnTo>
                  <a:pt x="119837" y="140499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38" name="Text 27"/>
          <p:cNvSpPr/>
          <p:nvPr/>
        </p:nvSpPr>
        <p:spPr>
          <a:xfrm>
            <a:off x="2226017" y="1523347"/>
            <a:ext cx="1216555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C8A45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课后作业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2226017" y="1770184"/>
            <a:ext cx="1198924" cy="211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8E9EA">
                    <a:alpha val="7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极具吸引力的挑战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18945" y="2032000"/>
            <a:ext cx="8508365" cy="1511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实践任务：</a:t>
            </a:r>
            <a:r>
              <a:rPr lang="en-US" altLang="zh-CN" sz="1400">
                <a:cs typeface="BMWGroupTN Condensed TT Medium" charset="0"/>
              </a:rPr>
              <a:t> </a:t>
            </a:r>
            <a:r>
              <a:rPr lang="zh-CN" altLang="en-US" sz="1400">
                <a:cs typeface="BMWGroupTN Condensed TT Medium" charset="0"/>
              </a:rPr>
              <a:t>用</a:t>
            </a:r>
            <a:r>
              <a:rPr lang="en-US" altLang="zh-CN" sz="1400">
                <a:cs typeface="BMWGroupTN Condensed TT Medium" charset="0"/>
              </a:rPr>
              <a:t> Copilot </a:t>
            </a:r>
            <a:r>
              <a:rPr lang="zh-CN" altLang="en-US" sz="1400">
                <a:cs typeface="BMWGroupTN Condensed TT Medium" charset="0"/>
              </a:rPr>
              <a:t>完成一份真实工作文档（邮件</a:t>
            </a:r>
            <a:r>
              <a:rPr lang="en-US" altLang="zh-CN" sz="1400">
                <a:cs typeface="BMWGroupTN Condensed TT Medium" charset="0"/>
              </a:rPr>
              <a:t>/</a:t>
            </a:r>
            <a:r>
              <a:rPr lang="zh-CN" altLang="en-US" sz="1400">
                <a:cs typeface="BMWGroupTN Condensed TT Medium" charset="0"/>
              </a:rPr>
              <a:t>议程</a:t>
            </a:r>
            <a:r>
              <a:rPr lang="en-US" altLang="zh-CN" sz="1400">
                <a:cs typeface="BMWGroupTN Condensed TT Medium" charset="0"/>
              </a:rPr>
              <a:t>/</a:t>
            </a:r>
            <a:r>
              <a:rPr lang="zh-CN" altLang="en-US" sz="1400">
                <a:cs typeface="BMWGroupTN Condensed TT Medium" charset="0"/>
              </a:rPr>
              <a:t>须知）</a:t>
            </a:r>
            <a:endParaRPr lang="en-US" altLang="zh-CN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从零生成结构化大纲（使用角色</a:t>
            </a:r>
            <a:r>
              <a:rPr lang="en-US" altLang="zh-CN" sz="1400">
                <a:cs typeface="BMWGroupTN Condensed TT Medium" charset="0"/>
              </a:rPr>
              <a:t>+</a:t>
            </a:r>
            <a:r>
              <a:rPr lang="zh-CN" altLang="en-US" sz="1400">
                <a:cs typeface="BMWGroupTN Condensed TT Medium" charset="0"/>
              </a:rPr>
              <a:t>受众</a:t>
            </a:r>
            <a:r>
              <a:rPr lang="en-US" altLang="zh-CN" sz="1400">
                <a:cs typeface="BMWGroupTN Condensed TT Medium" charset="0"/>
              </a:rPr>
              <a:t>+</a:t>
            </a:r>
            <a:r>
              <a:rPr lang="zh-CN" altLang="en-US" sz="1400">
                <a:cs typeface="BMWGroupTN Condensed TT Medium" charset="0"/>
              </a:rPr>
              <a:t>分节要求的</a:t>
            </a:r>
            <a:r>
              <a:rPr lang="en-US" altLang="zh-CN" sz="1400">
                <a:cs typeface="BMWGroupTN Condensed TT Medium" charset="0"/>
              </a:rPr>
              <a:t> Prompt</a:t>
            </a:r>
            <a:r>
              <a:rPr lang="zh-CN" altLang="en-US" sz="1400">
                <a:cs typeface="BMWGroupTN Condensed TT Medium" charset="0"/>
              </a:rPr>
              <a:t>）</a:t>
            </a:r>
            <a:endParaRPr lang="en-US" altLang="zh-CN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改写一段口语化文字（专业风</a:t>
            </a:r>
            <a:r>
              <a:rPr lang="en-US" altLang="zh-CN" sz="1400">
                <a:cs typeface="BMWGroupTN Condensed TT Medium" charset="0"/>
              </a:rPr>
              <a:t> / </a:t>
            </a:r>
            <a:r>
              <a:rPr lang="zh-CN" altLang="en-US" sz="1400">
                <a:cs typeface="BMWGroupTN Condensed TT Medium" charset="0"/>
              </a:rPr>
              <a:t>简洁风，任选一种）</a:t>
            </a:r>
            <a:endParaRPr lang="en-US" altLang="zh-CN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尝试用图像生成为本周的</a:t>
            </a:r>
            <a:r>
              <a:rPr lang="en-US" altLang="zh-CN" sz="1400">
                <a:cs typeface="BMWGroupTN Condensed TT Medium" charset="0"/>
              </a:rPr>
              <a:t> PPT </a:t>
            </a:r>
            <a:r>
              <a:rPr lang="zh-CN" altLang="en-US" sz="1400">
                <a:cs typeface="BMWGroupTN Condensed TT Medium" charset="0"/>
              </a:rPr>
              <a:t>生成一张背景图</a:t>
            </a:r>
            <a:endParaRPr lang="zh-CN" altLang="en-US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对比分析：无</a:t>
            </a:r>
            <a:r>
              <a:rPr lang="en-US" altLang="zh-CN" sz="1400">
                <a:cs typeface="BMWGroupTN Condensed TT Medium" charset="0"/>
              </a:rPr>
              <a:t> Copilot </a:t>
            </a:r>
            <a:r>
              <a:rPr lang="zh-CN" altLang="en-US" sz="1400">
                <a:cs typeface="BMWGroupTN Condensed TT Medium" charset="0"/>
              </a:rPr>
              <a:t>需多久？</a:t>
            </a:r>
            <a:r>
              <a:rPr lang="en-US" altLang="zh-CN" sz="1400">
                <a:cs typeface="BMWGroupTN Condensed TT Medium" charset="0"/>
              </a:rPr>
              <a:t>AI </a:t>
            </a:r>
            <a:r>
              <a:rPr lang="zh-CN" altLang="en-US" sz="1400">
                <a:cs typeface="BMWGroupTN Condensed TT Medium" charset="0"/>
              </a:rPr>
              <a:t>有无事实错误或品牌调性问题？</a:t>
            </a:r>
            <a:endParaRPr lang="zh-CN" altLang="en-US" sz="1400">
              <a:cs typeface="BMWGroupTN Condensed TT Medium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720" y="4104640"/>
            <a:ext cx="9815195" cy="157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cs typeface="BMWGroupTN Condensed TT Medium" charset="0"/>
              </a:rPr>
              <a:t>上传使用</a:t>
            </a:r>
            <a:r>
              <a:rPr lang="en-US" altLang="zh-CN">
                <a:cs typeface="BMWGroupTN Condensed TT Medium" charset="0"/>
              </a:rPr>
              <a:t>copilot</a:t>
            </a:r>
            <a:r>
              <a:rPr lang="zh-CN" altLang="en-US">
                <a:cs typeface="BMWGroupTN Condensed TT Medium" charset="0"/>
              </a:rPr>
              <a:t>完成的真实文档（任意格式）</a:t>
            </a:r>
            <a:endParaRPr lang="zh-CN" altLang="en-US">
              <a:cs typeface="BMWGroupTN Condensed TT Medium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cs typeface="BMWGroupTN Condensed TT Medium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cs typeface="BMWGroupTN Condensed TT Medium" charset="0"/>
              </a:rPr>
              <a:t>上传时请描述使用</a:t>
            </a:r>
            <a:r>
              <a:rPr lang="en-US" altLang="zh-CN">
                <a:cs typeface="BMWGroupTN Condensed TT Medium" charset="0"/>
              </a:rPr>
              <a:t>copilot</a:t>
            </a:r>
            <a:r>
              <a:rPr lang="zh-CN" altLang="en-US">
                <a:cs typeface="BMWGroupTN Condensed TT Medium" charset="0"/>
              </a:rPr>
              <a:t>是否满足预期，跟你的产出预期有什么差异点，</a:t>
            </a:r>
            <a:r>
              <a:rPr lang="en-US" altLang="zh-CN">
                <a:cs typeface="BMWGroupTN Condensed TT Medium" charset="0"/>
              </a:rPr>
              <a:t>AI </a:t>
            </a:r>
            <a:r>
              <a:rPr lang="zh-CN" altLang="en-US">
                <a:cs typeface="BMWGroupTN Condensed TT Medium" charset="0"/>
              </a:rPr>
              <a:t>有无事实错误或品牌调性问题。</a:t>
            </a:r>
            <a:endParaRPr lang="zh-CN" altLang="en-US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378075" y="2023745"/>
            <a:ext cx="7190740" cy="25761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问题答疑</a:t>
            </a:r>
            <a:br>
              <a:rPr lang="zh-CN" altLang="en-US"/>
            </a:br>
            <a:r>
              <a:rPr lang="en-US" altLang="zh-CN"/>
              <a:t>Q&amp;A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再见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2026</a:t>
            </a:r>
            <a:r>
              <a:t>年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2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6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296"/>
</p:tagLst>
</file>

<file path=ppt/tags/tag8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96"/>
  <p:tag name="KSO_WM_TEMPLATE_THUMBS_INDEX" val="1、9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1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f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SUBTYPE" val="b"/>
  <p:tag name="KSO_WM_UNIT_TEXT_LAYER_COUNT" val="1"/>
  <p:tag name="KSO_WM_UNIT_VALUE" val="44"/>
  <p:tag name="KSO_WM_UNIT_TYPE" val="f"/>
  <p:tag name="KSO_WM_UNIT_INDEX" val="1"/>
  <p:tag name="KSO_WM_UNIT_TEXT_TYPE" val="1"/>
  <p:tag name="KSO_WM_UNIT_NOCLEAR" val="0"/>
  <p:tag name="KSO_WM_UNIT_PRESET_TEXT" val="汇报人：WPS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a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YPE" val="a"/>
  <p:tag name="KSO_WM_UNIT_INDEX" val="1"/>
  <p:tag name="KSO_WM_UNIT_TEXT_TYPE" val="0"/>
  <p:tag name="KSO_WM_UNIT_NOCLEAR" val="0"/>
  <p:tag name="KSO_WM_UNIT_PRESET_TEXT" val="感谢您的观看"/>
</p:tagLst>
</file>

<file path=ppt/tags/tag91.xml><?xml version="1.0" encoding="utf-8"?>
<p:tagLst xmlns:p="http://schemas.openxmlformats.org/presentationml/2006/main">
  <p:tag name="KSO_WM_SLIDE_ID" val="custom202302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96"/>
  <p:tag name="KSO_WM_SLIDE_LAYOUT" val="a_b_f"/>
  <p:tag name="KSO_WM_SLIDE_LAYOUT_CNT" val="1_1_1"/>
  <p:tag name="KSO_WM_TEMPLATE_THUMBS_INDEX" val="1、9"/>
  <p:tag name="KSO_WM_SLIDE_CONTENT_AREA" val="{&quot;left&quot;:&quot;140.25&quot;,&quot;top&quot;:&quot;121.15&quot;,&quot;width&quot;:&quot;679.5&quot;,&quot;height&quot;:&quot;208.75&quot;}"/>
</p:tagLst>
</file>

<file path=ppt/tags/tag9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4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DIAGRAM_GROUP_CODE" val="l1-1"/>
  <p:tag name="KSO_WM_UNIT_TEXT_FILL_FORE_SCHEMECOLOR_INDEX" val="5"/>
  <p:tag name="KSO_WM_UNIT_USESOURCEFORMAT_APPLY" val="1"/>
</p:tagLst>
</file>

<file path=ppt/tags/tag93.xml><?xml version="1.0" encoding="utf-8"?>
<p:tagLst xmlns:p="http://schemas.openxmlformats.org/presentationml/2006/main">
  <p:tag name="KSO_WM_SLIDE_ID" val="custom20230296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96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95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97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9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0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03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05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07.xml><?xml version="1.0" encoding="utf-8"?>
<p:tagLst xmlns:p="http://schemas.openxmlformats.org/presentationml/2006/main">
  <p:tag name="TABLE_ENDDRAG_ORIGIN_RECT" val="485*151"/>
  <p:tag name="TABLE_ENDDRAG_RECT" val="443*261*485*151"/>
</p:tagLst>
</file>

<file path=ppt/tags/tag10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2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2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2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1.xml><?xml version="1.0" encoding="utf-8"?>
<p:tagLst xmlns:p="http://schemas.openxmlformats.org/presentationml/2006/main">
  <p:tag name="KSO_WM_DIAGRAM_VIRTUALLY_FRAME" val="{&quot;height&quot;:262.2,&quot;left&quot;:70.5,&quot;top&quot;:119.35,&quot;width&quot;:765}"/>
</p:tagLst>
</file>

<file path=ppt/tags/tag142.xml><?xml version="1.0" encoding="utf-8"?>
<p:tagLst xmlns:p="http://schemas.openxmlformats.org/presentationml/2006/main">
  <p:tag name="KSO_WM_DIAGRAM_VIRTUALLY_FRAME" val="{&quot;height&quot;:262.2,&quot;left&quot;:70.5,&quot;top&quot;:119.35,&quot;width&quot;:765}"/>
</p:tagLst>
</file>

<file path=ppt/tags/tag143.xml><?xml version="1.0" encoding="utf-8"?>
<p:tagLst xmlns:p="http://schemas.openxmlformats.org/presentationml/2006/main">
  <p:tag name="KSO_WM_DIAGRAM_VIRTUALLY_FRAME" val="{&quot;height&quot;:262.2,&quot;left&quot;:70.5,&quot;top&quot;:119.35,&quot;width&quot;:765}"/>
</p:tagLst>
</file>

<file path=ppt/tags/tag144.xml><?xml version="1.0" encoding="utf-8"?>
<p:tagLst xmlns:p="http://schemas.openxmlformats.org/presentationml/2006/main">
  <p:tag name="KSO_WM_DIAGRAM_VIRTUALLY_FRAME" val="{&quot;height&quot;:262.2,&quot;left&quot;:70.5,&quot;top&quot;:119.35,&quot;width&quot;:765}"/>
</p:tagLst>
</file>

<file path=ppt/tags/tag145.xml><?xml version="1.0" encoding="utf-8"?>
<p:tagLst xmlns:p="http://schemas.openxmlformats.org/presentationml/2006/main">
  <p:tag name="KSO_WM_DIAGRAM_VIRTUALLY_FRAME" val="{&quot;height&quot;:262.2,&quot;left&quot;:70.5,&quot;top&quot;:119.35,&quot;width&quot;:765}"/>
</p:tagLst>
</file>

<file path=ppt/tags/tag146.xml><?xml version="1.0" encoding="utf-8"?>
<p:tagLst xmlns:p="http://schemas.openxmlformats.org/presentationml/2006/main">
  <p:tag name="KSO_WM_DIAGRAM_VIRTUALLY_FRAME" val="{&quot;height&quot;:262.2,&quot;left&quot;:70.5,&quot;top&quot;:119.35,&quot;width&quot;:765}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50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9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52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96_9*f*1"/>
  <p:tag name="KSO_WM_TEMPLATE_CATEGORY" val="custom"/>
  <p:tag name="KSO_WM_TEMPLATE_INDEX" val="20230296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SLIDE_ID" val="custom20230296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96"/>
  <p:tag name="KSO_WM_SLIDE_LAYOUT" val="a_f"/>
  <p:tag name="KSO_WM_SLIDE_LAYOUT_CNT" val="1_1"/>
  <p:tag name="KSO_WM_SLIDE_TYPE" val="endPage"/>
  <p:tag name="KSO_WM_SLIDE_SUBTYPE" val="pureTxt"/>
  <p:tag name="KSO_WM_SLIDE_CONTENT_AREA" val="{&quot;left&quot;:&quot;140.25&quot;,&quot;top&quot;:&quot;121.15&quot;,&quot;width&quot;:&quot;679.5&quot;,&quot;height&quot;:&quot;208.75&quot;}"/>
</p:tagLst>
</file>

<file path=ppt/theme/theme1.xml><?xml version="1.0" encoding="utf-8"?>
<a:theme xmlns:a="http://schemas.openxmlformats.org/drawingml/2006/main" name="科技风蓝色渐变职场办公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自定义 77">
      <a:majorFont>
        <a:latin typeface="BMWGroupTN Condensed TT Medium"/>
        <a:ea typeface="BMWGroupTN Condensed TT Medium"/>
        <a:cs typeface=""/>
      </a:majorFont>
      <a:minorFont>
        <a:latin typeface="BMWGroupTN Condensed TT Medium"/>
        <a:ea typeface="BMWGroupTN Condensed TT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MWGroupTN Condensed TT Medium"/>
        <a:ea typeface=""/>
        <a:cs typeface=""/>
        <a:font script="Jpan" typeface="游ゴシック"/>
        <a:font script="Hang" typeface="맑은 고딕"/>
        <a:font script="Hans" typeface="BMWGroupTN Condensed TT Medium"/>
        <a:font script="Hant" typeface="新細明體"/>
        <a:font script="Arab" typeface="BMWGroupTN Condensed TT Medium"/>
        <a:font script="Hebr" typeface="BMWGroupTN Condensed TT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WGroupTN Condensed TT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BMWGroupTN Condensed TT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MWGroupTN Condensed TT Medium"/>
        <a:ea typeface=""/>
        <a:cs typeface=""/>
        <a:font script="Jpan" typeface="ＭＳ Ｐゴシック"/>
        <a:font script="Hang" typeface="맑은 고딕"/>
        <a:font script="Hans" typeface="BMWGroupTN Condensed TT Medium"/>
        <a:font script="Hant" typeface="新細明體"/>
        <a:font script="Arab" typeface="BMWGroupTN Condensed TT Medium"/>
        <a:font script="Hebr" typeface="BMWGroupTN Condensed TT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WGroupTN Condensed TT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6976</Words>
  <Application>WPS 演示</Application>
  <PresentationFormat>On-screen Show (16:9)</PresentationFormat>
  <Paragraphs>720</Paragraphs>
  <Slides>32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Arial</vt:lpstr>
      <vt:lpstr>宋体</vt:lpstr>
      <vt:lpstr>Wingdings</vt:lpstr>
      <vt:lpstr>BMWGroupTN Condensed TT Medium</vt:lpstr>
      <vt:lpstr>微软雅黑</vt:lpstr>
      <vt:lpstr>Arial Unicode MS</vt:lpstr>
      <vt:lpstr>Liter</vt:lpstr>
      <vt:lpstr>DejaVu Math TeX Gyre</vt:lpstr>
      <vt:lpstr>Liter</vt:lpstr>
      <vt:lpstr>Liter</vt:lpstr>
      <vt:lpstr>PMingLiU-ExtB</vt:lpstr>
      <vt:lpstr>Calibri</vt:lpstr>
      <vt:lpstr>Wingdings</vt:lpstr>
      <vt:lpstr>科技风蓝色渐变职场办公</vt:lpstr>
      <vt:lpstr>AI EASY OFFICE LEARNING CAMP</vt:lpstr>
      <vt:lpstr>目录</vt:lpstr>
      <vt:lpstr>痛点共鸣：你遇到过这些情况吗？</vt:lpstr>
      <vt:lpstr>版本澄清 —— Copilot Chat ≠ M365 Copilot</vt:lpstr>
      <vt:lpstr>Copilot Chat 核心能力一览</vt:lpstr>
      <vt:lpstr>版本澄清 —— Copilot Chat ≠ M365 Copilot</vt:lpstr>
      <vt:lpstr>场景一 · PPT 生成</vt:lpstr>
      <vt:lpstr>演示</vt:lpstr>
      <vt:lpstr>场景二 · Excel 分析</vt:lpstr>
      <vt:lpstr>演示</vt:lpstr>
      <vt:lpstr>场景三 &amp; 四 · Word 与邮件</vt:lpstr>
      <vt:lpstr>演示</vt:lpstr>
      <vt:lpstr>场景三  · Word 会议纪要</vt:lpstr>
      <vt:lpstr>演示</vt:lpstr>
      <vt:lpstr>注意</vt:lpstr>
      <vt:lpstr>好消息</vt:lpstr>
      <vt:lpstr>图像生成 —— 通用 Prompt 模板</vt:lpstr>
      <vt:lpstr>现场演示 ① —— 生成 PPT 背景图</vt:lpstr>
      <vt:lpstr>现场演示 ② —— 生成带文字的活动海报</vt:lpstr>
      <vt:lpstr>现场演示 ② —— 生成带文字的活动海报</vt:lpstr>
      <vt:lpstr>更多场景 ② —— 复古旅行海报</vt:lpstr>
      <vt:lpstr>附赠：万能 Prompt 生成器</vt:lpstr>
      <vt:lpstr>图像生成 —— 风格速查表</vt:lpstr>
      <vt:lpstr>图像生成 —— 进阶技巧与注意事项</vt:lpstr>
      <vt:lpstr>最佳实践与常见陷阱</vt:lpstr>
      <vt:lpstr>PowerPoint 演示文稿</vt:lpstr>
      <vt:lpstr>PowerPoint 演示文稿</vt:lpstr>
      <vt:lpstr>PowerPoint 演示文稿</vt:lpstr>
      <vt:lpstr>PowerPoint 演示文稿</vt:lpstr>
      <vt:lpstr>课后作业</vt:lpstr>
      <vt:lpstr>问题答疑 Q&amp;A</vt:lpstr>
      <vt:lpstr>下一课见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AI赋能高效文档处理</dc:title>
  <dc:creator>Kimi</dc:creator>
  <dc:subject>AI赋能高效文档处理</dc:subject>
  <cp:lastModifiedBy>卿</cp:lastModifiedBy>
  <cp:revision>28</cp:revision>
  <dcterms:created xsi:type="dcterms:W3CDTF">2025-11-18T15:44:00Z</dcterms:created>
  <dcterms:modified xsi:type="dcterms:W3CDTF">2026-04-23T02:32:37Z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{"Label":"AI赋能高效文档处理","ContentProducer":"001191110108MACG2KBH8F10000","ProduceID":"d45m05vahd887atuib4g","ReservedCode1":"","ContentPropagator":"001191110108MACG2KBH8F20000","PropagateID":"d45m05vahd887atuib4g","ReservedCode2":""}</vt:lpwstr>
  </property>
  <property fmtid="{D5CDD505-2E9C-101B-9397-08002B2CF9AE}" pid="3" name="ICV">
    <vt:lpwstr>36508DD2EAAC437DBCB1CE4AED721361_13</vt:lpwstr>
  </property>
  <property fmtid="{D5CDD505-2E9C-101B-9397-08002B2CF9AE}" pid="4" name="KSOProductBuildVer">
    <vt:lpwstr>2052-12.1.0.25225</vt:lpwstr>
  </property>
</Properties>
</file>